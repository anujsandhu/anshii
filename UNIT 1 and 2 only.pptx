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8"/>
  </p:notesMasterIdLst>
  <p:sldIdLst>
    <p:sldId id="256" r:id="rId2"/>
    <p:sldId id="259" r:id="rId3"/>
    <p:sldId id="261" r:id="rId4"/>
    <p:sldId id="263" r:id="rId5"/>
    <p:sldId id="265" r:id="rId6"/>
    <p:sldId id="266" r:id="rId7"/>
    <p:sldId id="267" r:id="rId8"/>
    <p:sldId id="272" r:id="rId9"/>
    <p:sldId id="273" r:id="rId10"/>
    <p:sldId id="274" r:id="rId11"/>
    <p:sldId id="279" r:id="rId12"/>
    <p:sldId id="280" r:id="rId13"/>
    <p:sldId id="285" r:id="rId14"/>
    <p:sldId id="286" r:id="rId15"/>
    <p:sldId id="288" r:id="rId16"/>
    <p:sldId id="290" r:id="rId17"/>
    <p:sldId id="291" r:id="rId18"/>
    <p:sldId id="292" r:id="rId19"/>
    <p:sldId id="293" r:id="rId20"/>
    <p:sldId id="311" r:id="rId21"/>
    <p:sldId id="322" r:id="rId22"/>
    <p:sldId id="323" r:id="rId23"/>
    <p:sldId id="324" r:id="rId24"/>
    <p:sldId id="325" r:id="rId25"/>
    <p:sldId id="326" r:id="rId26"/>
    <p:sldId id="327" r:id="rId27"/>
    <p:sldId id="328" r:id="rId28"/>
    <p:sldId id="329" r:id="rId29"/>
    <p:sldId id="358" r:id="rId30"/>
    <p:sldId id="359" r:id="rId31"/>
    <p:sldId id="360" r:id="rId32"/>
    <p:sldId id="361" r:id="rId33"/>
    <p:sldId id="362" r:id="rId34"/>
    <p:sldId id="363" r:id="rId35"/>
    <p:sldId id="364" r:id="rId36"/>
    <p:sldId id="365" r:id="rId37"/>
    <p:sldId id="366" r:id="rId38"/>
    <p:sldId id="369" r:id="rId39"/>
    <p:sldId id="387" r:id="rId40"/>
    <p:sldId id="388" r:id="rId41"/>
    <p:sldId id="389" r:id="rId42"/>
    <p:sldId id="390" r:id="rId43"/>
    <p:sldId id="391" r:id="rId44"/>
    <p:sldId id="392" r:id="rId45"/>
    <p:sldId id="420" r:id="rId46"/>
    <p:sldId id="421" r:id="rId47"/>
    <p:sldId id="422" r:id="rId48"/>
    <p:sldId id="423" r:id="rId49"/>
    <p:sldId id="424" r:id="rId50"/>
    <p:sldId id="425" r:id="rId51"/>
    <p:sldId id="431" r:id="rId52"/>
    <p:sldId id="438" r:id="rId53"/>
    <p:sldId id="439" r:id="rId54"/>
    <p:sldId id="440" r:id="rId55"/>
    <p:sldId id="441" r:id="rId56"/>
    <p:sldId id="442" r:id="rId57"/>
    <p:sldId id="443" r:id="rId58"/>
    <p:sldId id="444" r:id="rId59"/>
    <p:sldId id="445" r:id="rId60"/>
    <p:sldId id="446" r:id="rId61"/>
    <p:sldId id="447" r:id="rId62"/>
    <p:sldId id="449" r:id="rId63"/>
    <p:sldId id="450" r:id="rId64"/>
    <p:sldId id="451" r:id="rId65"/>
    <p:sldId id="452" r:id="rId66"/>
    <p:sldId id="453" r:id="rId67"/>
    <p:sldId id="454" r:id="rId68"/>
    <p:sldId id="455" r:id="rId69"/>
    <p:sldId id="456" r:id="rId70"/>
    <p:sldId id="457" r:id="rId71"/>
    <p:sldId id="458" r:id="rId72"/>
    <p:sldId id="459" r:id="rId73"/>
    <p:sldId id="460" r:id="rId74"/>
    <p:sldId id="461" r:id="rId75"/>
    <p:sldId id="462" r:id="rId76"/>
    <p:sldId id="463" r:id="rId77"/>
    <p:sldId id="464" r:id="rId78"/>
    <p:sldId id="465" r:id="rId79"/>
    <p:sldId id="466" r:id="rId80"/>
    <p:sldId id="467" r:id="rId81"/>
    <p:sldId id="468" r:id="rId82"/>
    <p:sldId id="469" r:id="rId83"/>
    <p:sldId id="470" r:id="rId84"/>
    <p:sldId id="471" r:id="rId85"/>
    <p:sldId id="472" r:id="rId86"/>
    <p:sldId id="473" r:id="rId87"/>
    <p:sldId id="474" r:id="rId88"/>
    <p:sldId id="475" r:id="rId89"/>
    <p:sldId id="476" r:id="rId90"/>
    <p:sldId id="477" r:id="rId91"/>
    <p:sldId id="478" r:id="rId92"/>
    <p:sldId id="479" r:id="rId93"/>
    <p:sldId id="480" r:id="rId94"/>
    <p:sldId id="481" r:id="rId95"/>
    <p:sldId id="482" r:id="rId96"/>
    <p:sldId id="483" r:id="rId97"/>
    <p:sldId id="484" r:id="rId98"/>
    <p:sldId id="485" r:id="rId99"/>
    <p:sldId id="486" r:id="rId100"/>
    <p:sldId id="487" r:id="rId101"/>
    <p:sldId id="488" r:id="rId102"/>
    <p:sldId id="489" r:id="rId103"/>
    <p:sldId id="490" r:id="rId104"/>
    <p:sldId id="491" r:id="rId105"/>
    <p:sldId id="492" r:id="rId106"/>
    <p:sldId id="493" r:id="rId107"/>
    <p:sldId id="494" r:id="rId108"/>
    <p:sldId id="496" r:id="rId109"/>
    <p:sldId id="497" r:id="rId110"/>
    <p:sldId id="498" r:id="rId111"/>
    <p:sldId id="499" r:id="rId112"/>
    <p:sldId id="500" r:id="rId113"/>
    <p:sldId id="501" r:id="rId114"/>
    <p:sldId id="502" r:id="rId115"/>
    <p:sldId id="503" r:id="rId116"/>
    <p:sldId id="504" r:id="rId117"/>
    <p:sldId id="520" r:id="rId118"/>
    <p:sldId id="521" r:id="rId119"/>
    <p:sldId id="522" r:id="rId120"/>
    <p:sldId id="523" r:id="rId121"/>
    <p:sldId id="524" r:id="rId122"/>
    <p:sldId id="525" r:id="rId123"/>
    <p:sldId id="526" r:id="rId124"/>
    <p:sldId id="527" r:id="rId125"/>
    <p:sldId id="528" r:id="rId126"/>
    <p:sldId id="529" r:id="rId127"/>
    <p:sldId id="530" r:id="rId128"/>
    <p:sldId id="531" r:id="rId129"/>
    <p:sldId id="532" r:id="rId130"/>
    <p:sldId id="533" r:id="rId131"/>
    <p:sldId id="534" r:id="rId132"/>
    <p:sldId id="535" r:id="rId133"/>
    <p:sldId id="536" r:id="rId134"/>
    <p:sldId id="537" r:id="rId135"/>
    <p:sldId id="538" r:id="rId136"/>
    <p:sldId id="539" r:id="rId137"/>
    <p:sldId id="540" r:id="rId138"/>
    <p:sldId id="541" r:id="rId139"/>
    <p:sldId id="542" r:id="rId140"/>
    <p:sldId id="543" r:id="rId141"/>
    <p:sldId id="544" r:id="rId142"/>
    <p:sldId id="545" r:id="rId143"/>
    <p:sldId id="546" r:id="rId144"/>
    <p:sldId id="547" r:id="rId145"/>
    <p:sldId id="548" r:id="rId146"/>
    <p:sldId id="549" r:id="rId147"/>
    <p:sldId id="550" r:id="rId148"/>
    <p:sldId id="551" r:id="rId149"/>
    <p:sldId id="552" r:id="rId150"/>
    <p:sldId id="553" r:id="rId151"/>
    <p:sldId id="554" r:id="rId152"/>
    <p:sldId id="555" r:id="rId153"/>
    <p:sldId id="556" r:id="rId154"/>
    <p:sldId id="557" r:id="rId155"/>
    <p:sldId id="558" r:id="rId156"/>
    <p:sldId id="559" r:id="rId157"/>
    <p:sldId id="560" r:id="rId158"/>
    <p:sldId id="561" r:id="rId159"/>
    <p:sldId id="562" r:id="rId160"/>
    <p:sldId id="563" r:id="rId161"/>
    <p:sldId id="564" r:id="rId162"/>
    <p:sldId id="565" r:id="rId163"/>
    <p:sldId id="566" r:id="rId164"/>
    <p:sldId id="567" r:id="rId165"/>
    <p:sldId id="568" r:id="rId166"/>
    <p:sldId id="569" r:id="rId167"/>
    <p:sldId id="570" r:id="rId168"/>
    <p:sldId id="571" r:id="rId169"/>
    <p:sldId id="572" r:id="rId170"/>
    <p:sldId id="573" r:id="rId171"/>
    <p:sldId id="574" r:id="rId172"/>
    <p:sldId id="575" r:id="rId173"/>
    <p:sldId id="576" r:id="rId174"/>
    <p:sldId id="577" r:id="rId175"/>
    <p:sldId id="578" r:id="rId176"/>
    <p:sldId id="579" r:id="rId177"/>
    <p:sldId id="580" r:id="rId178"/>
    <p:sldId id="581" r:id="rId179"/>
    <p:sldId id="582" r:id="rId180"/>
    <p:sldId id="583" r:id="rId181"/>
    <p:sldId id="584" r:id="rId182"/>
    <p:sldId id="585" r:id="rId183"/>
    <p:sldId id="586" r:id="rId184"/>
    <p:sldId id="587" r:id="rId185"/>
    <p:sldId id="588" r:id="rId186"/>
    <p:sldId id="589" r:id="rId187"/>
    <p:sldId id="590" r:id="rId188"/>
    <p:sldId id="591" r:id="rId189"/>
    <p:sldId id="592" r:id="rId190"/>
    <p:sldId id="593" r:id="rId191"/>
    <p:sldId id="594" r:id="rId192"/>
    <p:sldId id="595" r:id="rId193"/>
    <p:sldId id="596" r:id="rId194"/>
    <p:sldId id="597" r:id="rId195"/>
    <p:sldId id="598" r:id="rId196"/>
    <p:sldId id="599" r:id="rId197"/>
    <p:sldId id="600" r:id="rId198"/>
    <p:sldId id="601" r:id="rId199"/>
    <p:sldId id="602" r:id="rId200"/>
    <p:sldId id="603" r:id="rId201"/>
    <p:sldId id="604" r:id="rId202"/>
    <p:sldId id="605" r:id="rId203"/>
    <p:sldId id="606" r:id="rId204"/>
    <p:sldId id="607" r:id="rId205"/>
    <p:sldId id="608" r:id="rId206"/>
    <p:sldId id="609" r:id="rId207"/>
    <p:sldId id="610" r:id="rId208"/>
    <p:sldId id="611" r:id="rId209"/>
    <p:sldId id="612" r:id="rId210"/>
    <p:sldId id="613" r:id="rId211"/>
    <p:sldId id="614" r:id="rId212"/>
    <p:sldId id="615" r:id="rId213"/>
    <p:sldId id="616" r:id="rId214"/>
    <p:sldId id="617" r:id="rId215"/>
    <p:sldId id="618" r:id="rId216"/>
    <p:sldId id="619" r:id="rId217"/>
    <p:sldId id="620" r:id="rId218"/>
    <p:sldId id="621" r:id="rId219"/>
    <p:sldId id="622" r:id="rId220"/>
    <p:sldId id="623" r:id="rId221"/>
    <p:sldId id="624" r:id="rId222"/>
    <p:sldId id="625" r:id="rId223"/>
    <p:sldId id="626" r:id="rId224"/>
    <p:sldId id="627" r:id="rId225"/>
    <p:sldId id="628" r:id="rId226"/>
    <p:sldId id="629" r:id="rId227"/>
    <p:sldId id="630" r:id="rId228"/>
    <p:sldId id="631" r:id="rId229"/>
    <p:sldId id="632" r:id="rId230"/>
    <p:sldId id="633" r:id="rId231"/>
    <p:sldId id="634" r:id="rId232"/>
    <p:sldId id="635" r:id="rId233"/>
    <p:sldId id="636" r:id="rId234"/>
    <p:sldId id="637" r:id="rId235"/>
    <p:sldId id="638" r:id="rId236"/>
    <p:sldId id="639" r:id="rId2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notesMaster" Target="notesMasters/notesMaster1.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presProps" Target="presProps.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viewProps" Target="viewProps.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tableStyles" Target="tableStyles.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C068F21-86E4-4055-B325-B1D791335DE0}" type="doc">
      <dgm:prSet loTypeId="urn:microsoft.com/office/officeart/2016/7/layout/VerticalDownArrowProcess" loCatId="process" qsTypeId="urn:microsoft.com/office/officeart/2005/8/quickstyle/simple5" qsCatId="simple" csTypeId="urn:microsoft.com/office/officeart/2005/8/colors/colorful2" csCatId="colorful" phldr="1"/>
      <dgm:spPr/>
      <dgm:t>
        <a:bodyPr/>
        <a:lstStyle/>
        <a:p>
          <a:endParaRPr lang="en-US"/>
        </a:p>
      </dgm:t>
    </dgm:pt>
    <dgm:pt modelId="{426BEACD-EE9E-4CBD-98C5-910A3E6E109E}">
      <dgm:prSet/>
      <dgm:spPr/>
      <dgm:t>
        <a:bodyPr/>
        <a:lstStyle/>
        <a:p>
          <a:r>
            <a:rPr lang="en-US"/>
            <a:t>Dependency injection in Spring can be done through</a:t>
          </a:r>
        </a:p>
      </dgm:t>
    </dgm:pt>
    <dgm:pt modelId="{111C8D58-1E87-478E-B47E-9BD6AAD67761}" type="parTrans" cxnId="{FF2F46A7-D409-446D-9F31-A5CB1922B6B7}">
      <dgm:prSet/>
      <dgm:spPr/>
      <dgm:t>
        <a:bodyPr/>
        <a:lstStyle/>
        <a:p>
          <a:endParaRPr lang="en-US"/>
        </a:p>
      </dgm:t>
    </dgm:pt>
    <dgm:pt modelId="{0F460AEB-BA1E-46D4-8EA0-6FE8AC4B4BE5}" type="sibTrans" cxnId="{FF2F46A7-D409-446D-9F31-A5CB1922B6B7}">
      <dgm:prSet/>
      <dgm:spPr/>
      <dgm:t>
        <a:bodyPr/>
        <a:lstStyle/>
        <a:p>
          <a:endParaRPr lang="en-US"/>
        </a:p>
      </dgm:t>
    </dgm:pt>
    <dgm:pt modelId="{4DAC6F98-1709-4044-9D88-151E127E6684}">
      <dgm:prSet/>
      <dgm:spPr/>
      <dgm:t>
        <a:bodyPr/>
        <a:lstStyle/>
        <a:p>
          <a:r>
            <a:rPr lang="en-US" b="1"/>
            <a:t>Constructor injection</a:t>
          </a:r>
          <a:endParaRPr lang="en-US"/>
        </a:p>
      </dgm:t>
    </dgm:pt>
    <dgm:pt modelId="{B4380977-9606-4F78-AD46-BDEEA2C549C5}" type="parTrans" cxnId="{621E1217-EA60-4A43-92EE-E0880270370B}">
      <dgm:prSet/>
      <dgm:spPr/>
      <dgm:t>
        <a:bodyPr/>
        <a:lstStyle/>
        <a:p>
          <a:endParaRPr lang="en-US"/>
        </a:p>
      </dgm:t>
    </dgm:pt>
    <dgm:pt modelId="{1A37B3AA-DACD-424E-8A60-1EC041C00510}" type="sibTrans" cxnId="{621E1217-EA60-4A43-92EE-E0880270370B}">
      <dgm:prSet/>
      <dgm:spPr/>
      <dgm:t>
        <a:bodyPr/>
        <a:lstStyle/>
        <a:p>
          <a:endParaRPr lang="en-US"/>
        </a:p>
      </dgm:t>
    </dgm:pt>
    <dgm:pt modelId="{E7462D9C-DDC7-4F46-9322-C623EDE52C3C}">
      <dgm:prSet/>
      <dgm:spPr/>
      <dgm:t>
        <a:bodyPr/>
        <a:lstStyle/>
        <a:p>
          <a:r>
            <a:rPr lang="en-US" b="1"/>
            <a:t>Setters injection</a:t>
          </a:r>
          <a:endParaRPr lang="en-US"/>
        </a:p>
      </dgm:t>
    </dgm:pt>
    <dgm:pt modelId="{CF1DA07D-AFB2-4A13-8EEB-08058CA105C9}" type="parTrans" cxnId="{94207F5D-5D73-4942-BFAA-D557FAAD0509}">
      <dgm:prSet/>
      <dgm:spPr/>
      <dgm:t>
        <a:bodyPr/>
        <a:lstStyle/>
        <a:p>
          <a:endParaRPr lang="en-US"/>
        </a:p>
      </dgm:t>
    </dgm:pt>
    <dgm:pt modelId="{3A37840D-BC96-4F07-AAD5-2B9853E2834F}" type="sibTrans" cxnId="{94207F5D-5D73-4942-BFAA-D557FAAD0509}">
      <dgm:prSet/>
      <dgm:spPr/>
      <dgm:t>
        <a:bodyPr/>
        <a:lstStyle/>
        <a:p>
          <a:endParaRPr lang="en-US"/>
        </a:p>
      </dgm:t>
    </dgm:pt>
    <dgm:pt modelId="{2C919DCC-9B56-45B8-9267-B53881B99D32}">
      <dgm:prSet/>
      <dgm:spPr/>
      <dgm:t>
        <a:bodyPr/>
        <a:lstStyle/>
        <a:p>
          <a:r>
            <a:rPr lang="en-US" b="1"/>
            <a:t>Field injection</a:t>
          </a:r>
          <a:endParaRPr lang="en-US"/>
        </a:p>
      </dgm:t>
    </dgm:pt>
    <dgm:pt modelId="{CD7B67BA-F481-41BC-9B7E-3E8E059D4765}" type="parTrans" cxnId="{33C78F9C-C9B7-4D7D-AFDA-AEF86FEF1475}">
      <dgm:prSet/>
      <dgm:spPr/>
      <dgm:t>
        <a:bodyPr/>
        <a:lstStyle/>
        <a:p>
          <a:endParaRPr lang="en-US"/>
        </a:p>
      </dgm:t>
    </dgm:pt>
    <dgm:pt modelId="{B710F785-9BEF-49FC-82D3-CBF4D0966950}" type="sibTrans" cxnId="{33C78F9C-C9B7-4D7D-AFDA-AEF86FEF1475}">
      <dgm:prSet/>
      <dgm:spPr/>
      <dgm:t>
        <a:bodyPr/>
        <a:lstStyle/>
        <a:p>
          <a:endParaRPr lang="en-US"/>
        </a:p>
      </dgm:t>
    </dgm:pt>
    <dgm:pt modelId="{5A8776E1-E298-4C60-87B9-9B82D7BF9A84}">
      <dgm:prSet/>
      <dgm:spPr/>
      <dgm:t>
        <a:bodyPr/>
        <a:lstStyle/>
        <a:p>
          <a:r>
            <a:rPr lang="en-US"/>
            <a:t>Now, each approach can be executed in two ways — you can:</a:t>
          </a:r>
        </a:p>
      </dgm:t>
    </dgm:pt>
    <dgm:pt modelId="{1796615B-CD5D-43DD-B14E-43E10EF0A74E}" type="parTrans" cxnId="{05377220-FC78-477D-9195-D12B74D3A450}">
      <dgm:prSet/>
      <dgm:spPr/>
      <dgm:t>
        <a:bodyPr/>
        <a:lstStyle/>
        <a:p>
          <a:endParaRPr lang="en-US"/>
        </a:p>
      </dgm:t>
    </dgm:pt>
    <dgm:pt modelId="{B72A82C0-CFB4-41C5-B0E5-94A5F8103C0D}" type="sibTrans" cxnId="{05377220-FC78-477D-9195-D12B74D3A450}">
      <dgm:prSet/>
      <dgm:spPr/>
      <dgm:t>
        <a:bodyPr/>
        <a:lstStyle/>
        <a:p>
          <a:endParaRPr lang="en-US"/>
        </a:p>
      </dgm:t>
    </dgm:pt>
    <dgm:pt modelId="{67B7CBE0-DFBE-477C-AEDC-DACC2714F2E6}">
      <dgm:prSet/>
      <dgm:spPr/>
      <dgm:t>
        <a:bodyPr/>
        <a:lstStyle/>
        <a:p>
          <a:r>
            <a:rPr lang="en-US" b="1" dirty="0"/>
            <a:t>use Java annotations like @</a:t>
          </a:r>
          <a:r>
            <a:rPr lang="en-US" b="1" dirty="0" err="1"/>
            <a:t>Autowired</a:t>
          </a:r>
          <a:r>
            <a:rPr lang="en-US" b="1" dirty="0"/>
            <a:t> and let Spring scan for components in your codebase</a:t>
          </a:r>
        </a:p>
      </dgm:t>
    </dgm:pt>
    <dgm:pt modelId="{C58A34EB-BF62-4E2D-BF6A-92787CDB6569}" type="parTrans" cxnId="{0A5B6FD1-D66F-4870-A108-56B662110ED7}">
      <dgm:prSet/>
      <dgm:spPr/>
      <dgm:t>
        <a:bodyPr/>
        <a:lstStyle/>
        <a:p>
          <a:endParaRPr lang="en-US"/>
        </a:p>
      </dgm:t>
    </dgm:pt>
    <dgm:pt modelId="{A1B50CFC-58D8-40C7-91E0-48DCF5B7AC38}" type="sibTrans" cxnId="{0A5B6FD1-D66F-4870-A108-56B662110ED7}">
      <dgm:prSet/>
      <dgm:spPr/>
      <dgm:t>
        <a:bodyPr/>
        <a:lstStyle/>
        <a:p>
          <a:endParaRPr lang="en-US"/>
        </a:p>
      </dgm:t>
    </dgm:pt>
    <dgm:pt modelId="{4E8767B6-1C91-4DE0-AA18-2C81CF2E9625}">
      <dgm:prSet/>
      <dgm:spPr/>
      <dgm:t>
        <a:bodyPr/>
        <a:lstStyle/>
        <a:p>
          <a:endParaRPr lang="en-US" b="1" dirty="0" smtClean="0"/>
        </a:p>
        <a:p>
          <a:r>
            <a:rPr lang="en-US" b="1" dirty="0" smtClean="0"/>
            <a:t>define </a:t>
          </a:r>
          <a:r>
            <a:rPr lang="en-US" b="1" dirty="0"/>
            <a:t>each bean in your spring </a:t>
          </a:r>
          <a:r>
            <a:rPr lang="en-US" b="1" dirty="0" err="1"/>
            <a:t>config</a:t>
          </a:r>
          <a:r>
            <a:rPr lang="en-US" b="1" dirty="0"/>
            <a:t> XML file.</a:t>
          </a:r>
        </a:p>
      </dgm:t>
    </dgm:pt>
    <dgm:pt modelId="{C657BF6E-832C-40C4-BCF3-D841813FFD59}" type="parTrans" cxnId="{5CCCA2EB-8062-49F4-B5F8-0AF8D6D71557}">
      <dgm:prSet/>
      <dgm:spPr/>
      <dgm:t>
        <a:bodyPr/>
        <a:lstStyle/>
        <a:p>
          <a:endParaRPr lang="en-US"/>
        </a:p>
      </dgm:t>
    </dgm:pt>
    <dgm:pt modelId="{A1B9A1E6-F14B-4794-8B8D-64BD7F66240F}" type="sibTrans" cxnId="{5CCCA2EB-8062-49F4-B5F8-0AF8D6D71557}">
      <dgm:prSet/>
      <dgm:spPr/>
      <dgm:t>
        <a:bodyPr/>
        <a:lstStyle/>
        <a:p>
          <a:endParaRPr lang="en-US"/>
        </a:p>
      </dgm:t>
    </dgm:pt>
    <dgm:pt modelId="{34B6153C-1D13-44A5-AF74-255BD2D0786F}" type="pres">
      <dgm:prSet presAssocID="{4C068F21-86E4-4055-B325-B1D791335DE0}" presName="Name0" presStyleCnt="0">
        <dgm:presLayoutVars>
          <dgm:dir/>
          <dgm:animLvl val="lvl"/>
          <dgm:resizeHandles val="exact"/>
        </dgm:presLayoutVars>
      </dgm:prSet>
      <dgm:spPr/>
      <dgm:t>
        <a:bodyPr/>
        <a:lstStyle/>
        <a:p>
          <a:endParaRPr lang="en-US"/>
        </a:p>
      </dgm:t>
    </dgm:pt>
    <dgm:pt modelId="{EE1DD99E-2305-4E75-911D-D4F274635D84}" type="pres">
      <dgm:prSet presAssocID="{5A8776E1-E298-4C60-87B9-9B82D7BF9A84}" presName="boxAndChildren" presStyleCnt="0"/>
      <dgm:spPr/>
    </dgm:pt>
    <dgm:pt modelId="{A9975F76-02FF-444F-9BB7-51D00DD7669D}" type="pres">
      <dgm:prSet presAssocID="{5A8776E1-E298-4C60-87B9-9B82D7BF9A84}" presName="parentTextBox" presStyleLbl="alignNode1" presStyleIdx="0" presStyleCnt="2"/>
      <dgm:spPr/>
      <dgm:t>
        <a:bodyPr/>
        <a:lstStyle/>
        <a:p>
          <a:endParaRPr lang="en-US"/>
        </a:p>
      </dgm:t>
    </dgm:pt>
    <dgm:pt modelId="{CC2AB360-9208-4075-8040-CE74E778FBB5}" type="pres">
      <dgm:prSet presAssocID="{5A8776E1-E298-4C60-87B9-9B82D7BF9A84}" presName="descendantBox" presStyleLbl="bgAccFollowNode1" presStyleIdx="0" presStyleCnt="2"/>
      <dgm:spPr/>
      <dgm:t>
        <a:bodyPr/>
        <a:lstStyle/>
        <a:p>
          <a:endParaRPr lang="en-US"/>
        </a:p>
      </dgm:t>
    </dgm:pt>
    <dgm:pt modelId="{8C12CE2E-D030-496D-AA6B-6FD7AA4DA049}" type="pres">
      <dgm:prSet presAssocID="{0F460AEB-BA1E-46D4-8EA0-6FE8AC4B4BE5}" presName="sp" presStyleCnt="0"/>
      <dgm:spPr/>
    </dgm:pt>
    <dgm:pt modelId="{86B0C654-AB3D-4DD5-AD66-6DB1D1305711}" type="pres">
      <dgm:prSet presAssocID="{426BEACD-EE9E-4CBD-98C5-910A3E6E109E}" presName="arrowAndChildren" presStyleCnt="0"/>
      <dgm:spPr/>
    </dgm:pt>
    <dgm:pt modelId="{A3C767F0-47E9-447F-BE24-33806F6B6258}" type="pres">
      <dgm:prSet presAssocID="{426BEACD-EE9E-4CBD-98C5-910A3E6E109E}" presName="parentTextArrow" presStyleLbl="node1" presStyleIdx="0" presStyleCnt="0"/>
      <dgm:spPr/>
      <dgm:t>
        <a:bodyPr/>
        <a:lstStyle/>
        <a:p>
          <a:endParaRPr lang="en-US"/>
        </a:p>
      </dgm:t>
    </dgm:pt>
    <dgm:pt modelId="{D9D628A1-2BA6-48EA-8BA3-3CCFB883D822}" type="pres">
      <dgm:prSet presAssocID="{426BEACD-EE9E-4CBD-98C5-910A3E6E109E}" presName="arrow" presStyleLbl="alignNode1" presStyleIdx="1" presStyleCnt="2"/>
      <dgm:spPr/>
      <dgm:t>
        <a:bodyPr/>
        <a:lstStyle/>
        <a:p>
          <a:endParaRPr lang="en-US"/>
        </a:p>
      </dgm:t>
    </dgm:pt>
    <dgm:pt modelId="{BB236D18-9101-4498-A166-18196D066B0E}" type="pres">
      <dgm:prSet presAssocID="{426BEACD-EE9E-4CBD-98C5-910A3E6E109E}" presName="descendantArrow" presStyleLbl="bgAccFollowNode1" presStyleIdx="1" presStyleCnt="2"/>
      <dgm:spPr/>
      <dgm:t>
        <a:bodyPr/>
        <a:lstStyle/>
        <a:p>
          <a:endParaRPr lang="en-US"/>
        </a:p>
      </dgm:t>
    </dgm:pt>
  </dgm:ptLst>
  <dgm:cxnLst>
    <dgm:cxn modelId="{073C6BAD-6540-45CB-817C-73402A9F6C5F}" type="presOf" srcId="{5A8776E1-E298-4C60-87B9-9B82D7BF9A84}" destId="{A9975F76-02FF-444F-9BB7-51D00DD7669D}" srcOrd="0" destOrd="0" presId="urn:microsoft.com/office/officeart/2016/7/layout/VerticalDownArrowProcess"/>
    <dgm:cxn modelId="{FF2F46A7-D409-446D-9F31-A5CB1922B6B7}" srcId="{4C068F21-86E4-4055-B325-B1D791335DE0}" destId="{426BEACD-EE9E-4CBD-98C5-910A3E6E109E}" srcOrd="0" destOrd="0" parTransId="{111C8D58-1E87-478E-B47E-9BD6AAD67761}" sibTransId="{0F460AEB-BA1E-46D4-8EA0-6FE8AC4B4BE5}"/>
    <dgm:cxn modelId="{621E1217-EA60-4A43-92EE-E0880270370B}" srcId="{426BEACD-EE9E-4CBD-98C5-910A3E6E109E}" destId="{4DAC6F98-1709-4044-9D88-151E127E6684}" srcOrd="0" destOrd="0" parTransId="{B4380977-9606-4F78-AD46-BDEEA2C549C5}" sibTransId="{1A37B3AA-DACD-424E-8A60-1EC041C00510}"/>
    <dgm:cxn modelId="{25057857-5BEA-486D-9FF3-05ED05ECA198}" type="presOf" srcId="{426BEACD-EE9E-4CBD-98C5-910A3E6E109E}" destId="{D9D628A1-2BA6-48EA-8BA3-3CCFB883D822}" srcOrd="1" destOrd="0" presId="urn:microsoft.com/office/officeart/2016/7/layout/VerticalDownArrowProcess"/>
    <dgm:cxn modelId="{E111D623-98DE-48BE-9ADC-CDD596BD3700}" type="presOf" srcId="{426BEACD-EE9E-4CBD-98C5-910A3E6E109E}" destId="{A3C767F0-47E9-447F-BE24-33806F6B6258}" srcOrd="0" destOrd="0" presId="urn:microsoft.com/office/officeart/2016/7/layout/VerticalDownArrowProcess"/>
    <dgm:cxn modelId="{05377220-FC78-477D-9195-D12B74D3A450}" srcId="{4C068F21-86E4-4055-B325-B1D791335DE0}" destId="{5A8776E1-E298-4C60-87B9-9B82D7BF9A84}" srcOrd="1" destOrd="0" parTransId="{1796615B-CD5D-43DD-B14E-43E10EF0A74E}" sibTransId="{B72A82C0-CFB4-41C5-B0E5-94A5F8103C0D}"/>
    <dgm:cxn modelId="{0A5B6FD1-D66F-4870-A108-56B662110ED7}" srcId="{5A8776E1-E298-4C60-87B9-9B82D7BF9A84}" destId="{67B7CBE0-DFBE-477C-AEDC-DACC2714F2E6}" srcOrd="0" destOrd="0" parTransId="{C58A34EB-BF62-4E2D-BF6A-92787CDB6569}" sibTransId="{A1B50CFC-58D8-40C7-91E0-48DCF5B7AC38}"/>
    <dgm:cxn modelId="{33C78F9C-C9B7-4D7D-AFDA-AEF86FEF1475}" srcId="{426BEACD-EE9E-4CBD-98C5-910A3E6E109E}" destId="{2C919DCC-9B56-45B8-9267-B53881B99D32}" srcOrd="2" destOrd="0" parTransId="{CD7B67BA-F481-41BC-9B7E-3E8E059D4765}" sibTransId="{B710F785-9BEF-49FC-82D3-CBF4D0966950}"/>
    <dgm:cxn modelId="{5CCCA2EB-8062-49F4-B5F8-0AF8D6D71557}" srcId="{5A8776E1-E298-4C60-87B9-9B82D7BF9A84}" destId="{4E8767B6-1C91-4DE0-AA18-2C81CF2E9625}" srcOrd="1" destOrd="0" parTransId="{C657BF6E-832C-40C4-BCF3-D841813FFD59}" sibTransId="{A1B9A1E6-F14B-4794-8B8D-64BD7F66240F}"/>
    <dgm:cxn modelId="{4CFDC989-3889-453E-BE7F-987A07AB73CC}" type="presOf" srcId="{E7462D9C-DDC7-4F46-9322-C623EDE52C3C}" destId="{BB236D18-9101-4498-A166-18196D066B0E}" srcOrd="0" destOrd="1" presId="urn:microsoft.com/office/officeart/2016/7/layout/VerticalDownArrowProcess"/>
    <dgm:cxn modelId="{829AFFCF-1710-44D2-8AD2-6FE1EE9108E4}" type="presOf" srcId="{4C068F21-86E4-4055-B325-B1D791335DE0}" destId="{34B6153C-1D13-44A5-AF74-255BD2D0786F}" srcOrd="0" destOrd="0" presId="urn:microsoft.com/office/officeart/2016/7/layout/VerticalDownArrowProcess"/>
    <dgm:cxn modelId="{BFD21C6C-E463-45FB-8C22-AB66D4D63496}" type="presOf" srcId="{2C919DCC-9B56-45B8-9267-B53881B99D32}" destId="{BB236D18-9101-4498-A166-18196D066B0E}" srcOrd="0" destOrd="2" presId="urn:microsoft.com/office/officeart/2016/7/layout/VerticalDownArrowProcess"/>
    <dgm:cxn modelId="{BD1BBC83-BD9D-4D76-9EFA-F8E6F223D2FA}" type="presOf" srcId="{4DAC6F98-1709-4044-9D88-151E127E6684}" destId="{BB236D18-9101-4498-A166-18196D066B0E}" srcOrd="0" destOrd="0" presId="urn:microsoft.com/office/officeart/2016/7/layout/VerticalDownArrowProcess"/>
    <dgm:cxn modelId="{6CEE6B67-1DF3-4FEF-BA7F-B06808158DA6}" type="presOf" srcId="{4E8767B6-1C91-4DE0-AA18-2C81CF2E9625}" destId="{CC2AB360-9208-4075-8040-CE74E778FBB5}" srcOrd="0" destOrd="1" presId="urn:microsoft.com/office/officeart/2016/7/layout/VerticalDownArrowProcess"/>
    <dgm:cxn modelId="{C381B2AC-E130-4B9E-8F2B-26FFB53BB420}" type="presOf" srcId="{67B7CBE0-DFBE-477C-AEDC-DACC2714F2E6}" destId="{CC2AB360-9208-4075-8040-CE74E778FBB5}" srcOrd="0" destOrd="0" presId="urn:microsoft.com/office/officeart/2016/7/layout/VerticalDownArrowProcess"/>
    <dgm:cxn modelId="{94207F5D-5D73-4942-BFAA-D557FAAD0509}" srcId="{426BEACD-EE9E-4CBD-98C5-910A3E6E109E}" destId="{E7462D9C-DDC7-4F46-9322-C623EDE52C3C}" srcOrd="1" destOrd="0" parTransId="{CF1DA07D-AFB2-4A13-8EEB-08058CA105C9}" sibTransId="{3A37840D-BC96-4F07-AAD5-2B9853E2834F}"/>
    <dgm:cxn modelId="{2CC6B166-864E-4262-BD07-1AD9F9B8859C}" type="presParOf" srcId="{34B6153C-1D13-44A5-AF74-255BD2D0786F}" destId="{EE1DD99E-2305-4E75-911D-D4F274635D84}" srcOrd="0" destOrd="0" presId="urn:microsoft.com/office/officeart/2016/7/layout/VerticalDownArrowProcess"/>
    <dgm:cxn modelId="{1B055197-C510-4F20-A24D-4E0D32B49780}" type="presParOf" srcId="{EE1DD99E-2305-4E75-911D-D4F274635D84}" destId="{A9975F76-02FF-444F-9BB7-51D00DD7669D}" srcOrd="0" destOrd="0" presId="urn:microsoft.com/office/officeart/2016/7/layout/VerticalDownArrowProcess"/>
    <dgm:cxn modelId="{1B3483E8-D962-4DBB-B672-6440F6B89A34}" type="presParOf" srcId="{EE1DD99E-2305-4E75-911D-D4F274635D84}" destId="{CC2AB360-9208-4075-8040-CE74E778FBB5}" srcOrd="1" destOrd="0" presId="urn:microsoft.com/office/officeart/2016/7/layout/VerticalDownArrowProcess"/>
    <dgm:cxn modelId="{640C5A97-6128-4F6C-9B1C-D8E7A5ABFF46}" type="presParOf" srcId="{34B6153C-1D13-44A5-AF74-255BD2D0786F}" destId="{8C12CE2E-D030-496D-AA6B-6FD7AA4DA049}" srcOrd="1" destOrd="0" presId="urn:microsoft.com/office/officeart/2016/7/layout/VerticalDownArrowProcess"/>
    <dgm:cxn modelId="{F872383B-0ABF-4231-8DF8-DA426E074175}" type="presParOf" srcId="{34B6153C-1D13-44A5-AF74-255BD2D0786F}" destId="{86B0C654-AB3D-4DD5-AD66-6DB1D1305711}" srcOrd="2" destOrd="0" presId="urn:microsoft.com/office/officeart/2016/7/layout/VerticalDownArrowProcess"/>
    <dgm:cxn modelId="{5A81ADEE-8F9B-474A-8187-7854BEFEC116}" type="presParOf" srcId="{86B0C654-AB3D-4DD5-AD66-6DB1D1305711}" destId="{A3C767F0-47E9-447F-BE24-33806F6B6258}" srcOrd="0" destOrd="0" presId="urn:microsoft.com/office/officeart/2016/7/layout/VerticalDownArrowProcess"/>
    <dgm:cxn modelId="{EFA86C6E-BA26-4B3D-BFC2-08DB09D67298}" type="presParOf" srcId="{86B0C654-AB3D-4DD5-AD66-6DB1D1305711}" destId="{D9D628A1-2BA6-48EA-8BA3-3CCFB883D822}" srcOrd="1" destOrd="0" presId="urn:microsoft.com/office/officeart/2016/7/layout/VerticalDownArrowProcess"/>
    <dgm:cxn modelId="{E11EF4BB-25BE-4698-B1CF-B577D1BEBC20}" type="presParOf" srcId="{86B0C654-AB3D-4DD5-AD66-6DB1D1305711}" destId="{BB236D18-9101-4498-A166-18196D066B0E}" srcOrd="2" destOrd="0" presId="urn:microsoft.com/office/officeart/2016/7/layout/VerticalDown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975F76-02FF-444F-9BB7-51D00DD7669D}">
      <dsp:nvSpPr>
        <dsp:cNvPr id="0" name=""/>
        <dsp:cNvSpPr/>
      </dsp:nvSpPr>
      <dsp:spPr>
        <a:xfrm>
          <a:off x="0" y="2344628"/>
          <a:ext cx="2446953" cy="153832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74027" tIns="149352" rIns="174027" bIns="149352" numCol="1" spcCol="1270" anchor="ctr" anchorCtr="0">
          <a:noAutofit/>
        </a:bodyPr>
        <a:lstStyle/>
        <a:p>
          <a:pPr lvl="0" algn="ctr" defTabSz="933450">
            <a:lnSpc>
              <a:spcPct val="90000"/>
            </a:lnSpc>
            <a:spcBef>
              <a:spcPct val="0"/>
            </a:spcBef>
            <a:spcAft>
              <a:spcPct val="35000"/>
            </a:spcAft>
          </a:pPr>
          <a:r>
            <a:rPr lang="en-US" sz="2100" kern="1200"/>
            <a:t>Now, each approach can be executed in two ways — you can:</a:t>
          </a:r>
        </a:p>
      </dsp:txBody>
      <dsp:txXfrm>
        <a:off x="0" y="2344628"/>
        <a:ext cx="2446953" cy="1538329"/>
      </dsp:txXfrm>
    </dsp:sp>
    <dsp:sp modelId="{CC2AB360-9208-4075-8040-CE74E778FBB5}">
      <dsp:nvSpPr>
        <dsp:cNvPr id="0" name=""/>
        <dsp:cNvSpPr/>
      </dsp:nvSpPr>
      <dsp:spPr>
        <a:xfrm>
          <a:off x="2446952" y="2344628"/>
          <a:ext cx="7340859" cy="1538329"/>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48907" tIns="203200" rIns="148907" bIns="203200" numCol="1" spcCol="1270" anchor="ctr" anchorCtr="0">
          <a:noAutofit/>
        </a:bodyPr>
        <a:lstStyle/>
        <a:p>
          <a:pPr lvl="0" algn="l" defTabSz="711200">
            <a:lnSpc>
              <a:spcPct val="90000"/>
            </a:lnSpc>
            <a:spcBef>
              <a:spcPct val="0"/>
            </a:spcBef>
            <a:spcAft>
              <a:spcPct val="35000"/>
            </a:spcAft>
          </a:pPr>
          <a:r>
            <a:rPr lang="en-US" sz="1600" b="1" kern="1200" dirty="0"/>
            <a:t>use Java annotations like @</a:t>
          </a:r>
          <a:r>
            <a:rPr lang="en-US" sz="1600" b="1" kern="1200" dirty="0" err="1"/>
            <a:t>Autowired</a:t>
          </a:r>
          <a:r>
            <a:rPr lang="en-US" sz="1600" b="1" kern="1200" dirty="0"/>
            <a:t> and let Spring scan for components in your codebase</a:t>
          </a:r>
        </a:p>
        <a:p>
          <a:pPr lvl="0" algn="l" defTabSz="711200">
            <a:lnSpc>
              <a:spcPct val="90000"/>
            </a:lnSpc>
            <a:spcBef>
              <a:spcPct val="0"/>
            </a:spcBef>
            <a:spcAft>
              <a:spcPct val="35000"/>
            </a:spcAft>
          </a:pPr>
          <a:endParaRPr lang="en-US" sz="1600" b="1" kern="1200" dirty="0" smtClean="0"/>
        </a:p>
        <a:p>
          <a:pPr lvl="0" algn="l" defTabSz="711200">
            <a:lnSpc>
              <a:spcPct val="90000"/>
            </a:lnSpc>
            <a:spcBef>
              <a:spcPct val="0"/>
            </a:spcBef>
            <a:spcAft>
              <a:spcPct val="35000"/>
            </a:spcAft>
          </a:pPr>
          <a:r>
            <a:rPr lang="en-US" sz="1600" b="1" kern="1200" dirty="0" smtClean="0"/>
            <a:t>define </a:t>
          </a:r>
          <a:r>
            <a:rPr lang="en-US" sz="1600" b="1" kern="1200" dirty="0"/>
            <a:t>each bean in your spring </a:t>
          </a:r>
          <a:r>
            <a:rPr lang="en-US" sz="1600" b="1" kern="1200" dirty="0" err="1"/>
            <a:t>config</a:t>
          </a:r>
          <a:r>
            <a:rPr lang="en-US" sz="1600" b="1" kern="1200" dirty="0"/>
            <a:t> XML file.</a:t>
          </a:r>
        </a:p>
      </dsp:txBody>
      <dsp:txXfrm>
        <a:off x="2446952" y="2344628"/>
        <a:ext cx="7340859" cy="1538329"/>
      </dsp:txXfrm>
    </dsp:sp>
    <dsp:sp modelId="{D9D628A1-2BA6-48EA-8BA3-3CCFB883D822}">
      <dsp:nvSpPr>
        <dsp:cNvPr id="0" name=""/>
        <dsp:cNvSpPr/>
      </dsp:nvSpPr>
      <dsp:spPr>
        <a:xfrm rot="10800000">
          <a:off x="0" y="1751"/>
          <a:ext cx="2446953" cy="2365951"/>
        </a:xfrm>
        <a:prstGeom prst="upArrowCallout">
          <a:avLst>
            <a:gd name="adj1" fmla="val 5000"/>
            <a:gd name="adj2" fmla="val 10000"/>
            <a:gd name="adj3" fmla="val 15000"/>
            <a:gd name="adj4" fmla="val 64977"/>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w="6350" cap="flat" cmpd="sng" algn="ctr">
          <a:solidFill>
            <a:schemeClr val="accent2">
              <a:hueOff val="-1455363"/>
              <a:satOff val="-83928"/>
              <a:lumOff val="8628"/>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74027" tIns="149352" rIns="174027" bIns="149352" numCol="1" spcCol="1270" anchor="ctr" anchorCtr="0">
          <a:noAutofit/>
        </a:bodyPr>
        <a:lstStyle/>
        <a:p>
          <a:pPr lvl="0" algn="ctr" defTabSz="933450">
            <a:lnSpc>
              <a:spcPct val="90000"/>
            </a:lnSpc>
            <a:spcBef>
              <a:spcPct val="0"/>
            </a:spcBef>
            <a:spcAft>
              <a:spcPct val="35000"/>
            </a:spcAft>
          </a:pPr>
          <a:r>
            <a:rPr lang="en-US" sz="2100" kern="1200"/>
            <a:t>Dependency injection in Spring can be done through</a:t>
          </a:r>
        </a:p>
      </dsp:txBody>
      <dsp:txXfrm rot="-10800000">
        <a:off x="0" y="1751"/>
        <a:ext cx="2446953" cy="1537868"/>
      </dsp:txXfrm>
    </dsp:sp>
    <dsp:sp modelId="{BB236D18-9101-4498-A166-18196D066B0E}">
      <dsp:nvSpPr>
        <dsp:cNvPr id="0" name=""/>
        <dsp:cNvSpPr/>
      </dsp:nvSpPr>
      <dsp:spPr>
        <a:xfrm>
          <a:off x="2446952" y="1751"/>
          <a:ext cx="7340859" cy="1537868"/>
        </a:xfrm>
        <a:prstGeom prst="rect">
          <a:avLst/>
        </a:prstGeom>
        <a:solidFill>
          <a:schemeClr val="accent2">
            <a:tint val="40000"/>
            <a:alpha val="90000"/>
            <a:hueOff val="-849226"/>
            <a:satOff val="-75346"/>
            <a:lumOff val="-769"/>
            <a:alphaOff val="0"/>
          </a:schemeClr>
        </a:solidFill>
        <a:ln w="6350" cap="flat" cmpd="sng" algn="ctr">
          <a:solidFill>
            <a:schemeClr val="accent2">
              <a:tint val="40000"/>
              <a:alpha val="90000"/>
              <a:hueOff val="-849226"/>
              <a:satOff val="-75346"/>
              <a:lumOff val="-76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48907" tIns="203200" rIns="148907" bIns="203200" numCol="1" spcCol="1270" anchor="ctr" anchorCtr="0">
          <a:noAutofit/>
        </a:bodyPr>
        <a:lstStyle/>
        <a:p>
          <a:pPr lvl="0" algn="l" defTabSz="711200">
            <a:lnSpc>
              <a:spcPct val="90000"/>
            </a:lnSpc>
            <a:spcBef>
              <a:spcPct val="0"/>
            </a:spcBef>
            <a:spcAft>
              <a:spcPct val="35000"/>
            </a:spcAft>
          </a:pPr>
          <a:r>
            <a:rPr lang="en-US" sz="1600" b="1" kern="1200"/>
            <a:t>Constructor injection</a:t>
          </a:r>
          <a:endParaRPr lang="en-US" sz="1600" kern="1200"/>
        </a:p>
        <a:p>
          <a:pPr lvl="0" algn="l" defTabSz="711200">
            <a:lnSpc>
              <a:spcPct val="90000"/>
            </a:lnSpc>
            <a:spcBef>
              <a:spcPct val="0"/>
            </a:spcBef>
            <a:spcAft>
              <a:spcPct val="35000"/>
            </a:spcAft>
          </a:pPr>
          <a:r>
            <a:rPr lang="en-US" sz="1600" b="1" kern="1200"/>
            <a:t>Setters injection</a:t>
          </a:r>
          <a:endParaRPr lang="en-US" sz="1600" kern="1200"/>
        </a:p>
        <a:p>
          <a:pPr lvl="0" algn="l" defTabSz="711200">
            <a:lnSpc>
              <a:spcPct val="90000"/>
            </a:lnSpc>
            <a:spcBef>
              <a:spcPct val="0"/>
            </a:spcBef>
            <a:spcAft>
              <a:spcPct val="35000"/>
            </a:spcAft>
          </a:pPr>
          <a:r>
            <a:rPr lang="en-US" sz="1600" b="1" kern="1200"/>
            <a:t>Field injection</a:t>
          </a:r>
          <a:endParaRPr lang="en-US" sz="1600" kern="1200"/>
        </a:p>
      </dsp:txBody>
      <dsp:txXfrm>
        <a:off x="2446952" y="1751"/>
        <a:ext cx="7340859" cy="1537868"/>
      </dsp:txXfrm>
    </dsp:sp>
  </dsp:spTree>
</dsp:drawing>
</file>

<file path=ppt/diagrams/layout1.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79EBB2-25AD-4C7C-81A3-B5E0A649E68F}"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0D1BBA-D574-4AD7-85B2-7981F08E4A55}" type="slidenum">
              <a:rPr lang="en-IN" smtClean="0"/>
              <a:t>‹#›</a:t>
            </a:fld>
            <a:endParaRPr lang="en-IN"/>
          </a:p>
        </p:txBody>
      </p:sp>
    </p:spTree>
    <p:extLst>
      <p:ext uri="{BB962C8B-B14F-4D97-AF65-F5344CB8AC3E}">
        <p14:creationId xmlns:p14="http://schemas.microsoft.com/office/powerpoint/2010/main" val="1037944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just">
              <a:lnSpc>
                <a:spcPct val="90000"/>
              </a:lnSpc>
              <a:spcBef>
                <a:spcPts val="1000"/>
              </a:spcBef>
              <a:buFont typeface="Arial"/>
              <a:buChar char="•"/>
            </a:pPr>
            <a:r>
              <a:rPr lang="en-US" b="1" i="1"/>
              <a:t>Design Pattern</a:t>
            </a:r>
            <a:r>
              <a:rPr lang="en-US"/>
              <a:t>, in software engineering, is a technique to solve a commonly occurring problem when designing software.</a:t>
            </a:r>
          </a:p>
          <a:p>
            <a:pPr marL="285750" indent="-285750" algn="just">
              <a:lnSpc>
                <a:spcPct val="90000"/>
              </a:lnSpc>
              <a:spcBef>
                <a:spcPts val="1000"/>
              </a:spcBef>
              <a:buFont typeface="Arial"/>
              <a:buChar char="•"/>
            </a:pPr>
            <a:r>
              <a:rPr lang="en-US" b="1" i="1"/>
              <a:t>Designing Model, </a:t>
            </a:r>
            <a:r>
              <a:rPr lang="en-US"/>
              <a:t>specifies what type of architecture you use to solve the problem or design the model.</a:t>
            </a:r>
          </a:p>
          <a:p>
            <a:pPr>
              <a:lnSpc>
                <a:spcPct val="90000"/>
              </a:lnSpc>
              <a:spcBef>
                <a:spcPts val="1000"/>
              </a:spcBef>
            </a:pPr>
            <a:endParaRPr lang="en-US"/>
          </a:p>
          <a:p>
            <a:endParaRPr lang="en-US">
              <a:ea typeface="Calibri"/>
              <a:cs typeface="Calibri"/>
            </a:endParaRPr>
          </a:p>
        </p:txBody>
      </p:sp>
      <p:sp>
        <p:nvSpPr>
          <p:cNvPr id="4" name="Slide Number Placeholder 3"/>
          <p:cNvSpPr>
            <a:spLocks noGrp="1"/>
          </p:cNvSpPr>
          <p:nvPr>
            <p:ph type="sldNum" sz="quarter" idx="5"/>
          </p:nvPr>
        </p:nvSpPr>
        <p:spPr/>
        <p:txBody>
          <a:bodyPr/>
          <a:lstStyle/>
          <a:p>
            <a:fld id="{6949AF60-69E5-4B12-BCD3-63F4C300169B}" type="slidenum">
              <a:t>49</a:t>
            </a:fld>
            <a:endParaRPr lang="en-US"/>
          </a:p>
        </p:txBody>
      </p:sp>
    </p:spTree>
    <p:extLst>
      <p:ext uri="{BB962C8B-B14F-4D97-AF65-F5344CB8AC3E}">
        <p14:creationId xmlns:p14="http://schemas.microsoft.com/office/powerpoint/2010/main" val="2732324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gn="just">
              <a:lnSpc>
                <a:spcPct val="90000"/>
              </a:lnSpc>
              <a:spcBef>
                <a:spcPts val="500"/>
              </a:spcBef>
              <a:buFont typeface="Courier New,monospace"/>
              <a:buChar char="•"/>
            </a:pPr>
            <a:r>
              <a:rPr lang="en-US"/>
              <a:t>It manages the state of the application. This also includes reading and writing data, persisting application state, and it may even include tasks related to data management such as networking and data validation.</a:t>
            </a:r>
          </a:p>
          <a:p>
            <a:endParaRPr lang="en-US">
              <a:cs typeface="Calibri"/>
            </a:endParaRPr>
          </a:p>
        </p:txBody>
      </p:sp>
      <p:sp>
        <p:nvSpPr>
          <p:cNvPr id="4" name="Slide Number Placeholder 3"/>
          <p:cNvSpPr>
            <a:spLocks noGrp="1"/>
          </p:cNvSpPr>
          <p:nvPr>
            <p:ph type="sldNum" sz="quarter" idx="5"/>
          </p:nvPr>
        </p:nvSpPr>
        <p:spPr/>
        <p:txBody>
          <a:bodyPr/>
          <a:lstStyle/>
          <a:p>
            <a:fld id="{6949AF60-69E5-4B12-BCD3-63F4C300169B}" type="slidenum">
              <a:rPr lang="en-US"/>
              <a:t>50</a:t>
            </a:fld>
            <a:endParaRPr lang="en-US"/>
          </a:p>
        </p:txBody>
      </p:sp>
    </p:spTree>
    <p:extLst>
      <p:ext uri="{BB962C8B-B14F-4D97-AF65-F5344CB8AC3E}">
        <p14:creationId xmlns:p14="http://schemas.microsoft.com/office/powerpoint/2010/main" val="3999160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19BC098-C214-4965-A4EA-AC4C48FC3A7F}"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538930-E4CB-42C0-97DB-8EF719423C2E}" type="slidenum">
              <a:rPr lang="en-IN" smtClean="0"/>
              <a:t>‹#›</a:t>
            </a:fld>
            <a:endParaRPr lang="en-IN"/>
          </a:p>
        </p:txBody>
      </p:sp>
    </p:spTree>
    <p:extLst>
      <p:ext uri="{BB962C8B-B14F-4D97-AF65-F5344CB8AC3E}">
        <p14:creationId xmlns:p14="http://schemas.microsoft.com/office/powerpoint/2010/main" val="4192270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19BC098-C214-4965-A4EA-AC4C48FC3A7F}"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538930-E4CB-42C0-97DB-8EF719423C2E}" type="slidenum">
              <a:rPr lang="en-IN" smtClean="0"/>
              <a:t>‹#›</a:t>
            </a:fld>
            <a:endParaRPr lang="en-IN"/>
          </a:p>
        </p:txBody>
      </p:sp>
    </p:spTree>
    <p:extLst>
      <p:ext uri="{BB962C8B-B14F-4D97-AF65-F5344CB8AC3E}">
        <p14:creationId xmlns:p14="http://schemas.microsoft.com/office/powerpoint/2010/main" val="2538782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19BC098-C214-4965-A4EA-AC4C48FC3A7F}"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538930-E4CB-42C0-97DB-8EF719423C2E}" type="slidenum">
              <a:rPr lang="en-IN" smtClean="0"/>
              <a:t>‹#›</a:t>
            </a:fld>
            <a:endParaRPr lang="en-IN"/>
          </a:p>
        </p:txBody>
      </p:sp>
    </p:spTree>
    <p:extLst>
      <p:ext uri="{BB962C8B-B14F-4D97-AF65-F5344CB8AC3E}">
        <p14:creationId xmlns:p14="http://schemas.microsoft.com/office/powerpoint/2010/main" val="1863257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19BC098-C214-4965-A4EA-AC4C48FC3A7F}" type="datetimeFigureOut">
              <a:rPr lang="en-IN" smtClean="0"/>
              <a:t>08-09-2026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8538930-E4CB-42C0-97DB-8EF719423C2E}" type="slidenum">
              <a:rPr lang="en-IN" smtClean="0"/>
              <a:t>‹#›</a:t>
            </a:fld>
            <a:endParaRPr lang="en-IN"/>
          </a:p>
        </p:txBody>
      </p:sp>
    </p:spTree>
    <p:extLst>
      <p:ext uri="{BB962C8B-B14F-4D97-AF65-F5344CB8AC3E}">
        <p14:creationId xmlns:p14="http://schemas.microsoft.com/office/powerpoint/2010/main" val="4071932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19BC098-C214-4965-A4EA-AC4C48FC3A7F}" type="datetimeFigureOut">
              <a:rPr lang="en-IN" smtClean="0"/>
              <a:t>08-09-2026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8538930-E4CB-42C0-97DB-8EF719423C2E}" type="slidenum">
              <a:rPr lang="en-IN" smtClean="0"/>
              <a:t>‹#›</a:t>
            </a:fld>
            <a:endParaRPr lang="en-IN"/>
          </a:p>
        </p:txBody>
      </p:sp>
    </p:spTree>
    <p:extLst>
      <p:ext uri="{BB962C8B-B14F-4D97-AF65-F5344CB8AC3E}">
        <p14:creationId xmlns:p14="http://schemas.microsoft.com/office/powerpoint/2010/main" val="3732543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19BC098-C214-4965-A4EA-AC4C48FC3A7F}" type="datetimeFigureOut">
              <a:rPr lang="en-IN" smtClean="0"/>
              <a:t>08-09-2026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8538930-E4CB-42C0-97DB-8EF719423C2E}" type="slidenum">
              <a:rPr lang="en-IN" smtClean="0"/>
              <a:t>‹#›</a:t>
            </a:fld>
            <a:endParaRPr lang="en-IN"/>
          </a:p>
        </p:txBody>
      </p:sp>
    </p:spTree>
    <p:extLst>
      <p:ext uri="{BB962C8B-B14F-4D97-AF65-F5344CB8AC3E}">
        <p14:creationId xmlns:p14="http://schemas.microsoft.com/office/powerpoint/2010/main" val="3632261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9BC098-C214-4965-A4EA-AC4C48FC3A7F}" type="datetimeFigureOut">
              <a:rPr lang="en-IN" smtClean="0"/>
              <a:t>08-09-2026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8538930-E4CB-42C0-97DB-8EF719423C2E}" type="slidenum">
              <a:rPr lang="en-IN" smtClean="0"/>
              <a:t>‹#›</a:t>
            </a:fld>
            <a:endParaRPr lang="en-IN"/>
          </a:p>
        </p:txBody>
      </p:sp>
    </p:spTree>
    <p:extLst>
      <p:ext uri="{BB962C8B-B14F-4D97-AF65-F5344CB8AC3E}">
        <p14:creationId xmlns:p14="http://schemas.microsoft.com/office/powerpoint/2010/main" val="3120852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19BC098-C214-4965-A4EA-AC4C48FC3A7F}" type="datetimeFigureOut">
              <a:rPr lang="en-IN" smtClean="0"/>
              <a:t>08-09-2026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8538930-E4CB-42C0-97DB-8EF719423C2E}" type="slidenum">
              <a:rPr lang="en-IN" smtClean="0"/>
              <a:t>‹#›</a:t>
            </a:fld>
            <a:endParaRPr lang="en-IN"/>
          </a:p>
        </p:txBody>
      </p:sp>
    </p:spTree>
    <p:extLst>
      <p:ext uri="{BB962C8B-B14F-4D97-AF65-F5344CB8AC3E}">
        <p14:creationId xmlns:p14="http://schemas.microsoft.com/office/powerpoint/2010/main" val="3025034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19BC098-C214-4965-A4EA-AC4C48FC3A7F}" type="datetimeFigureOut">
              <a:rPr lang="en-IN" smtClean="0"/>
              <a:t>08-09-2026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8538930-E4CB-42C0-97DB-8EF719423C2E}" type="slidenum">
              <a:rPr lang="en-IN" smtClean="0"/>
              <a:t>‹#›</a:t>
            </a:fld>
            <a:endParaRPr lang="en-IN"/>
          </a:p>
        </p:txBody>
      </p:sp>
    </p:spTree>
    <p:extLst>
      <p:ext uri="{BB962C8B-B14F-4D97-AF65-F5344CB8AC3E}">
        <p14:creationId xmlns:p14="http://schemas.microsoft.com/office/powerpoint/2010/main" val="47581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19BC098-C214-4965-A4EA-AC4C48FC3A7F}"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538930-E4CB-42C0-97DB-8EF719423C2E}" type="slidenum">
              <a:rPr lang="en-IN" smtClean="0"/>
              <a:t>‹#›</a:t>
            </a:fld>
            <a:endParaRPr lang="en-IN"/>
          </a:p>
        </p:txBody>
      </p:sp>
    </p:spTree>
    <p:extLst>
      <p:ext uri="{BB962C8B-B14F-4D97-AF65-F5344CB8AC3E}">
        <p14:creationId xmlns:p14="http://schemas.microsoft.com/office/powerpoint/2010/main" val="1722299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19BC098-C214-4965-A4EA-AC4C48FC3A7F}"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538930-E4CB-42C0-97DB-8EF719423C2E}" type="slidenum">
              <a:rPr lang="en-IN" smtClean="0"/>
              <a:t>‹#›</a:t>
            </a:fld>
            <a:endParaRPr lang="en-IN"/>
          </a:p>
        </p:txBody>
      </p:sp>
    </p:spTree>
    <p:extLst>
      <p:ext uri="{BB962C8B-B14F-4D97-AF65-F5344CB8AC3E}">
        <p14:creationId xmlns:p14="http://schemas.microsoft.com/office/powerpoint/2010/main" val="1641646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9BC098-C214-4965-A4EA-AC4C48FC3A7F}" type="datetimeFigureOut">
              <a:rPr lang="en-IN" smtClean="0"/>
              <a:t>08-09-2026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538930-E4CB-42C0-97DB-8EF719423C2E}" type="slidenum">
              <a:rPr lang="en-IN" smtClean="0"/>
              <a:t>‹#›</a:t>
            </a:fld>
            <a:endParaRPr lang="en-IN"/>
          </a:p>
        </p:txBody>
      </p:sp>
    </p:spTree>
    <p:extLst>
      <p:ext uri="{BB962C8B-B14F-4D97-AF65-F5344CB8AC3E}">
        <p14:creationId xmlns:p14="http://schemas.microsoft.com/office/powerpoint/2010/main" val="24076637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geeksforgeeks.org/installation-guide/how-to-install-apache-maven-on-window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hyperlink" Target="https://mvnrepository.com/artifact/com.mysql/mysql-connector-j" TargetMode="External"/><Relationship Id="rId2" Type="http://schemas.openxmlformats.org/officeDocument/2006/relationships/hyperlink" Target="http://maven.apache.org/xsd/maven-4.0.0.xsd"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hyperlink" Target="http://maven.apache.org/xsd/maven-4.0.0.xsd" TargetMode="Externa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hyperlink" Target="http://maven.apache.org/xsd/maven-4.0.0.xsd" TargetMode="Externa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image" Target="../media/image144.svg"/><Relationship Id="rId2" Type="http://schemas.openxmlformats.org/officeDocument/2006/relationships/image" Target="../media/image85.png"/><Relationship Id="rId1" Type="http://schemas.openxmlformats.org/officeDocument/2006/relationships/slideLayout" Target="../slideLayouts/slideLayout2.xml"/><Relationship Id="rId4" Type="http://schemas.openxmlformats.org/officeDocument/2006/relationships/image" Target="../media/image86.jpeg"/></Relationships>
</file>

<file path=ppt/slides/_rels/slide198.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9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14.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222.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4279726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550607" y="1803669"/>
            <a:ext cx="1101213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chemeClr val="tx1"/>
                </a:solidFill>
                <a:effectLst/>
                <a:latin typeface="Bahnschrift" panose="020B0502040204020203" pitchFamily="34" charset="0"/>
              </a:rPr>
              <a:t>🔹 Model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smtClean="0">
              <a:ln>
                <a:noFill/>
              </a:ln>
              <a:solidFill>
                <a:schemeClr val="tx1"/>
              </a:solidFill>
              <a:effectLst/>
              <a:latin typeface="Bahnschrift" panose="020B0502040204020203" pitchFamily="34" charset="0"/>
            </a:endParaRPr>
          </a:p>
          <a:p>
            <a:pPr eaLnBrk="0" fontAlgn="base" hangingPunct="0">
              <a:lnSpc>
                <a:spcPct val="100000"/>
              </a:lnSpc>
              <a:spcBef>
                <a:spcPct val="0"/>
              </a:spcBef>
              <a:spcAft>
                <a:spcPct val="0"/>
              </a:spcAft>
            </a:pPr>
            <a:r>
              <a:rPr kumimoji="0" lang="en-US" altLang="en-US" sz="2400" b="1" i="0" u="none" strike="noStrike" cap="none" normalizeH="0" baseline="0" dirty="0" smtClean="0">
                <a:ln>
                  <a:noFill/>
                </a:ln>
                <a:solidFill>
                  <a:schemeClr val="tx1"/>
                </a:solidFill>
                <a:effectLst/>
                <a:latin typeface="Bahnschrift" panose="020B0502040204020203" pitchFamily="34" charset="0"/>
              </a:rPr>
              <a:t>Definition</a:t>
            </a:r>
            <a:r>
              <a:rPr kumimoji="0" lang="en-US" altLang="en-US" sz="2400" b="0" i="0" u="none" strike="noStrike" cap="none" normalizeH="0" baseline="0" dirty="0" smtClean="0">
                <a:ln>
                  <a:noFill/>
                </a:ln>
                <a:solidFill>
                  <a:schemeClr val="tx1"/>
                </a:solidFill>
                <a:effectLst/>
                <a:latin typeface="Bahnschrift" panose="020B0502040204020203" pitchFamily="34" charset="0"/>
              </a:rPr>
              <a:t>: Represents the data of the application.</a:t>
            </a:r>
          </a:p>
          <a:p>
            <a:pPr eaLnBrk="0" fontAlgn="base" hangingPunct="0">
              <a:lnSpc>
                <a:spcPct val="100000"/>
              </a:lnSpc>
              <a:spcBef>
                <a:spcPct val="0"/>
              </a:spcBef>
              <a:spcAft>
                <a:spcPct val="0"/>
              </a:spcAft>
            </a:pPr>
            <a:r>
              <a:rPr kumimoji="0" lang="en-US" altLang="en-US" sz="2400" b="1" i="0" u="none" strike="noStrike" cap="none" normalizeH="0" baseline="0" dirty="0" smtClean="0">
                <a:ln>
                  <a:noFill/>
                </a:ln>
                <a:solidFill>
                  <a:schemeClr val="tx1"/>
                </a:solidFill>
                <a:effectLst/>
                <a:latin typeface="Bahnschrift" panose="020B0502040204020203" pitchFamily="34" charset="0"/>
              </a:rPr>
              <a:t>Responsibilities</a:t>
            </a:r>
            <a:r>
              <a:rPr kumimoji="0" lang="en-US" altLang="en-US" sz="2400" b="0" i="0" u="none" strike="noStrike" cap="none" normalizeH="0" baseline="0" dirty="0" smtClean="0">
                <a:ln>
                  <a:noFill/>
                </a:ln>
                <a:solidFill>
                  <a:schemeClr val="tx1"/>
                </a:solidFill>
                <a:effectLst/>
                <a:latin typeface="Bahnschrift" panose="020B0502040204020203" pitchFamily="34" charset="0"/>
              </a:rPr>
              <a:t>:</a:t>
            </a:r>
          </a:p>
          <a:p>
            <a:pPr lvl="1" eaLnBrk="0" fontAlgn="base" hangingPunct="0">
              <a:lnSpc>
                <a:spcPct val="100000"/>
              </a:lnSpc>
              <a:spcBef>
                <a:spcPct val="0"/>
              </a:spcBef>
              <a:spcAft>
                <a:spcPct val="0"/>
              </a:spcAft>
            </a:pPr>
            <a:r>
              <a:rPr kumimoji="0" lang="en-US" altLang="en-US" b="0" i="0" u="none" strike="noStrike" cap="none" normalizeH="0" baseline="0" dirty="0" smtClean="0">
                <a:ln>
                  <a:noFill/>
                </a:ln>
                <a:solidFill>
                  <a:schemeClr val="tx1"/>
                </a:solidFill>
                <a:effectLst/>
                <a:latin typeface="Bahnschrift" panose="020B0502040204020203" pitchFamily="34" charset="0"/>
              </a:rPr>
              <a:t>Manages application state and data.</a:t>
            </a:r>
          </a:p>
          <a:p>
            <a:pPr lvl="1" eaLnBrk="0" fontAlgn="base" hangingPunct="0">
              <a:lnSpc>
                <a:spcPct val="100000"/>
              </a:lnSpc>
              <a:spcBef>
                <a:spcPct val="0"/>
              </a:spcBef>
              <a:spcAft>
                <a:spcPct val="0"/>
              </a:spcAft>
            </a:pPr>
            <a:r>
              <a:rPr kumimoji="0" lang="en-US" altLang="en-US" b="0" i="0" u="none" strike="noStrike" cap="none" normalizeH="0" baseline="0" dirty="0" smtClean="0">
                <a:ln>
                  <a:noFill/>
                </a:ln>
                <a:solidFill>
                  <a:schemeClr val="tx1"/>
                </a:solidFill>
                <a:effectLst/>
                <a:latin typeface="Bahnschrift" panose="020B0502040204020203" pitchFamily="34" charset="0"/>
              </a:rPr>
              <a:t>Notifies the View when data changes.</a:t>
            </a:r>
          </a:p>
          <a:p>
            <a:pPr eaLnBrk="0" fontAlgn="base" hangingPunct="0">
              <a:lnSpc>
                <a:spcPct val="100000"/>
              </a:lnSpc>
              <a:spcBef>
                <a:spcPct val="0"/>
              </a:spcBef>
              <a:spcAft>
                <a:spcPct val="0"/>
              </a:spcAft>
            </a:pPr>
            <a:r>
              <a:rPr kumimoji="0" lang="en-US" altLang="en-US" sz="2400" b="1" i="0" u="none" strike="noStrike" cap="none" normalizeH="0" baseline="0" dirty="0" smtClean="0">
                <a:ln>
                  <a:noFill/>
                </a:ln>
                <a:solidFill>
                  <a:schemeClr val="tx1"/>
                </a:solidFill>
                <a:effectLst/>
                <a:latin typeface="Bahnschrift" panose="020B0502040204020203" pitchFamily="34" charset="0"/>
              </a:rPr>
              <a:t>Example</a:t>
            </a:r>
            <a:r>
              <a:rPr kumimoji="0" lang="en-US" altLang="en-US" sz="2400" b="0" i="0" u="none" strike="noStrike" cap="none" normalizeH="0" baseline="0" dirty="0" smtClean="0">
                <a:ln>
                  <a:noFill/>
                </a:ln>
                <a:solidFill>
                  <a:schemeClr val="tx1"/>
                </a:solidFill>
                <a:effectLst/>
                <a:latin typeface="Bahnschrift" panose="020B0502040204020203" pitchFamily="34" charset="0"/>
              </a:rPr>
              <a:t>: In an e-commerce app, Product, Cart, and Order classes form the model.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smtClean="0">
              <a:ln>
                <a:noFill/>
              </a:ln>
              <a:solidFill>
                <a:schemeClr val="tx1"/>
              </a:solidFill>
              <a:effectLst/>
              <a:latin typeface="Bahnschrift"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tx1"/>
              </a:solidFill>
              <a:effectLst/>
              <a:latin typeface="Bahnschrift" panose="020B0502040204020203" pitchFamily="34" charset="0"/>
            </a:endParaRPr>
          </a:p>
        </p:txBody>
      </p:sp>
      <p:sp>
        <p:nvSpPr>
          <p:cNvPr id="5" name="Rectangle 4"/>
          <p:cNvSpPr/>
          <p:nvPr/>
        </p:nvSpPr>
        <p:spPr>
          <a:xfrm>
            <a:off x="651932" y="756773"/>
            <a:ext cx="3509294" cy="523220"/>
          </a:xfrm>
          <a:prstGeom prst="rect">
            <a:avLst/>
          </a:prstGeom>
          <a:solidFill>
            <a:srgbClr val="FFFF00"/>
          </a:solidFill>
        </p:spPr>
        <p:txBody>
          <a:bodyPr wrap="none">
            <a:spAutoFit/>
          </a:bodyPr>
          <a:lstStyle/>
          <a:p>
            <a:pPr lvl="0" eaLnBrk="0" fontAlgn="base" hangingPunct="0">
              <a:spcBef>
                <a:spcPct val="0"/>
              </a:spcBef>
              <a:spcAft>
                <a:spcPct val="0"/>
              </a:spcAft>
            </a:pPr>
            <a:r>
              <a:rPr lang="en-US" altLang="en-US" sz="2800" b="1" dirty="0" smtClean="0">
                <a:latin typeface="Bahnschrift" panose="020B0502040204020203" pitchFamily="34" charset="0"/>
              </a:rPr>
              <a:t> </a:t>
            </a:r>
            <a:r>
              <a:rPr lang="en-US" altLang="en-US" sz="2800" b="1" dirty="0">
                <a:latin typeface="Bahnschrift" panose="020B0502040204020203" pitchFamily="34" charset="0"/>
              </a:rPr>
              <a:t>Components of MVC</a:t>
            </a:r>
          </a:p>
        </p:txBody>
      </p:sp>
    </p:spTree>
    <p:extLst>
      <p:ext uri="{BB962C8B-B14F-4D97-AF65-F5344CB8AC3E}">
        <p14:creationId xmlns:p14="http://schemas.microsoft.com/office/powerpoint/2010/main" val="31253810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eaLnBrk="0" fontAlgn="base" hangingPunct="0">
              <a:lnSpc>
                <a:spcPct val="100000"/>
              </a:lnSpc>
              <a:spcBef>
                <a:spcPct val="0"/>
              </a:spcBef>
              <a:spcAft>
                <a:spcPct val="0"/>
              </a:spcAft>
              <a:buNone/>
            </a:pPr>
            <a:r>
              <a:rPr lang="en-US" altLang="en-US" sz="2400" b="1" dirty="0">
                <a:latin typeface="Bahnschrift" panose="020B0502040204020203" pitchFamily="34" charset="0"/>
              </a:rPr>
              <a:t>🔹 </a:t>
            </a:r>
            <a:r>
              <a:rPr lang="en-US" altLang="en-US" sz="2400" b="1" dirty="0" smtClean="0">
                <a:latin typeface="Bahnschrift" panose="020B0502040204020203" pitchFamily="34" charset="0"/>
              </a:rPr>
              <a:t>View</a:t>
            </a:r>
          </a:p>
          <a:p>
            <a:pPr marL="0" indent="0" eaLnBrk="0" fontAlgn="base" hangingPunct="0">
              <a:lnSpc>
                <a:spcPct val="100000"/>
              </a:lnSpc>
              <a:spcBef>
                <a:spcPct val="0"/>
              </a:spcBef>
              <a:spcAft>
                <a:spcPct val="0"/>
              </a:spcAft>
              <a:buNone/>
            </a:pPr>
            <a:endParaRPr lang="en-US" altLang="en-US" sz="2400" b="1" dirty="0">
              <a:latin typeface="Bahnschrift" panose="020B0502040204020203" pitchFamily="34" charset="0"/>
            </a:endParaRPr>
          </a:p>
          <a:p>
            <a:pPr eaLnBrk="0" fontAlgn="base" hangingPunct="0">
              <a:lnSpc>
                <a:spcPct val="100000"/>
              </a:lnSpc>
              <a:spcBef>
                <a:spcPct val="0"/>
              </a:spcBef>
              <a:spcAft>
                <a:spcPct val="0"/>
              </a:spcAft>
            </a:pPr>
            <a:r>
              <a:rPr lang="en-US" altLang="en-US" sz="2400" b="1" dirty="0">
                <a:latin typeface="Bahnschrift" panose="020B0502040204020203" pitchFamily="34" charset="0"/>
              </a:rPr>
              <a:t>Definition</a:t>
            </a:r>
            <a:r>
              <a:rPr lang="en-US" altLang="en-US" sz="2400" dirty="0">
                <a:latin typeface="Bahnschrift" panose="020B0502040204020203" pitchFamily="34" charset="0"/>
              </a:rPr>
              <a:t>: The presentation layer responsible for rendering data to the user.</a:t>
            </a:r>
          </a:p>
          <a:p>
            <a:pPr eaLnBrk="0" fontAlgn="base" hangingPunct="0">
              <a:lnSpc>
                <a:spcPct val="100000"/>
              </a:lnSpc>
              <a:spcBef>
                <a:spcPct val="0"/>
              </a:spcBef>
              <a:spcAft>
                <a:spcPct val="0"/>
              </a:spcAft>
            </a:pPr>
            <a:r>
              <a:rPr lang="en-US" altLang="en-US" sz="2400" b="1" dirty="0">
                <a:latin typeface="Bahnschrift" panose="020B0502040204020203" pitchFamily="34" charset="0"/>
              </a:rPr>
              <a:t>Responsibilities</a:t>
            </a:r>
            <a:r>
              <a:rPr lang="en-US" altLang="en-US" sz="2400" dirty="0">
                <a:latin typeface="Bahnschrift" panose="020B0502040204020203" pitchFamily="34" charset="0"/>
              </a:rPr>
              <a:t>:</a:t>
            </a:r>
          </a:p>
          <a:p>
            <a:pPr lvl="1" eaLnBrk="0" fontAlgn="base" hangingPunct="0">
              <a:lnSpc>
                <a:spcPct val="100000"/>
              </a:lnSpc>
              <a:spcBef>
                <a:spcPct val="0"/>
              </a:spcBef>
              <a:spcAft>
                <a:spcPct val="0"/>
              </a:spcAft>
            </a:pPr>
            <a:r>
              <a:rPr lang="en-US" altLang="en-US" dirty="0">
                <a:latin typeface="Bahnschrift" panose="020B0502040204020203" pitchFamily="34" charset="0"/>
              </a:rPr>
              <a:t>Displays information to the user (UI elements, templates).</a:t>
            </a:r>
          </a:p>
          <a:p>
            <a:pPr lvl="1" eaLnBrk="0" fontAlgn="base" hangingPunct="0">
              <a:lnSpc>
                <a:spcPct val="100000"/>
              </a:lnSpc>
              <a:spcBef>
                <a:spcPct val="0"/>
              </a:spcBef>
              <a:spcAft>
                <a:spcPct val="0"/>
              </a:spcAft>
            </a:pPr>
            <a:r>
              <a:rPr lang="en-US" altLang="en-US" dirty="0">
                <a:latin typeface="Bahnschrift" panose="020B0502040204020203" pitchFamily="34" charset="0"/>
              </a:rPr>
              <a:t>Updates when the Model changes.</a:t>
            </a:r>
          </a:p>
          <a:p>
            <a:pPr lvl="1" eaLnBrk="0" fontAlgn="base" hangingPunct="0">
              <a:lnSpc>
                <a:spcPct val="100000"/>
              </a:lnSpc>
              <a:spcBef>
                <a:spcPct val="0"/>
              </a:spcBef>
              <a:spcAft>
                <a:spcPct val="0"/>
              </a:spcAft>
            </a:pPr>
            <a:r>
              <a:rPr lang="en-US" altLang="en-US" dirty="0">
                <a:latin typeface="Bahnschrift" panose="020B0502040204020203" pitchFamily="34" charset="0"/>
              </a:rPr>
              <a:t>Should not contain business logic.</a:t>
            </a:r>
          </a:p>
          <a:p>
            <a:pPr eaLnBrk="0" fontAlgn="base" hangingPunct="0">
              <a:lnSpc>
                <a:spcPct val="100000"/>
              </a:lnSpc>
              <a:spcBef>
                <a:spcPct val="0"/>
              </a:spcBef>
              <a:spcAft>
                <a:spcPct val="0"/>
              </a:spcAft>
            </a:pPr>
            <a:r>
              <a:rPr lang="en-US" altLang="en-US" sz="2400" b="1" dirty="0">
                <a:latin typeface="Bahnschrift" panose="020B0502040204020203" pitchFamily="34" charset="0"/>
              </a:rPr>
              <a:t>Example</a:t>
            </a:r>
            <a:r>
              <a:rPr lang="en-US" altLang="en-US" sz="2400" dirty="0">
                <a:latin typeface="Bahnschrift" panose="020B0502040204020203" pitchFamily="34" charset="0"/>
              </a:rPr>
              <a:t>: HTML/CSS page showing products and cart items</a:t>
            </a:r>
            <a:r>
              <a:rPr lang="en-US" altLang="en-US" sz="2400" dirty="0" smtClean="0">
                <a:latin typeface="Bahnschrift" panose="020B0502040204020203" pitchFamily="34" charset="0"/>
              </a:rPr>
              <a:t>.</a:t>
            </a:r>
            <a:endParaRPr lang="en-US" altLang="en-US" sz="2400" dirty="0">
              <a:latin typeface="Bahnschrift" panose="020B0502040204020203" pitchFamily="34" charset="0"/>
            </a:endParaRPr>
          </a:p>
        </p:txBody>
      </p:sp>
      <p:sp>
        <p:nvSpPr>
          <p:cNvPr id="4" name="Rectangle 3"/>
          <p:cNvSpPr/>
          <p:nvPr/>
        </p:nvSpPr>
        <p:spPr>
          <a:xfrm>
            <a:off x="651932" y="756773"/>
            <a:ext cx="3776996" cy="523220"/>
          </a:xfrm>
          <a:prstGeom prst="rect">
            <a:avLst/>
          </a:prstGeom>
          <a:solidFill>
            <a:srgbClr val="FFFF00"/>
          </a:solidFill>
        </p:spPr>
        <p:txBody>
          <a:bodyPr wrap="none">
            <a:spAutoFit/>
          </a:bodyPr>
          <a:lstStyle/>
          <a:p>
            <a:pPr lvl="0" eaLnBrk="0" fontAlgn="base" hangingPunct="0">
              <a:spcBef>
                <a:spcPct val="0"/>
              </a:spcBef>
              <a:spcAft>
                <a:spcPct val="0"/>
              </a:spcAft>
            </a:pPr>
            <a:r>
              <a:rPr lang="en-US" altLang="en-US" sz="2800" b="1" dirty="0">
                <a:latin typeface="Bahnschrift" panose="020B0502040204020203" pitchFamily="34" charset="0"/>
              </a:rPr>
              <a:t>2. Components of MVC</a:t>
            </a:r>
          </a:p>
        </p:txBody>
      </p:sp>
    </p:spTree>
    <p:extLst>
      <p:ext uri="{BB962C8B-B14F-4D97-AF65-F5344CB8AC3E}">
        <p14:creationId xmlns:p14="http://schemas.microsoft.com/office/powerpoint/2010/main" val="1239468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eaLnBrk="0" fontAlgn="base" hangingPunct="0">
              <a:lnSpc>
                <a:spcPct val="100000"/>
              </a:lnSpc>
              <a:spcBef>
                <a:spcPct val="0"/>
              </a:spcBef>
              <a:spcAft>
                <a:spcPct val="0"/>
              </a:spcAft>
              <a:buNone/>
            </a:pPr>
            <a:r>
              <a:rPr lang="en-US" altLang="en-US" sz="2400" b="1" dirty="0">
                <a:latin typeface="Arial" panose="020B0604020202020204" pitchFamily="34" charset="0"/>
              </a:rPr>
              <a:t>🔹 </a:t>
            </a:r>
            <a:r>
              <a:rPr lang="en-US" altLang="en-US" sz="2400" b="1" dirty="0" smtClean="0">
                <a:latin typeface="Arial" panose="020B0604020202020204" pitchFamily="34" charset="0"/>
              </a:rPr>
              <a:t>Controller</a:t>
            </a:r>
          </a:p>
          <a:p>
            <a:pPr marL="0" indent="0" eaLnBrk="0" fontAlgn="base" hangingPunct="0">
              <a:lnSpc>
                <a:spcPct val="100000"/>
              </a:lnSpc>
              <a:spcBef>
                <a:spcPct val="0"/>
              </a:spcBef>
              <a:spcAft>
                <a:spcPct val="0"/>
              </a:spcAft>
              <a:buNone/>
            </a:pPr>
            <a:endParaRPr lang="en-US" altLang="en-US" sz="2400" b="1" dirty="0">
              <a:latin typeface="Arial" panose="020B0604020202020204" pitchFamily="34" charset="0"/>
            </a:endParaRPr>
          </a:p>
          <a:p>
            <a:pPr eaLnBrk="0" fontAlgn="base" hangingPunct="0">
              <a:lnSpc>
                <a:spcPct val="100000"/>
              </a:lnSpc>
              <a:spcBef>
                <a:spcPct val="0"/>
              </a:spcBef>
              <a:spcAft>
                <a:spcPct val="0"/>
              </a:spcAft>
            </a:pPr>
            <a:r>
              <a:rPr lang="en-US" altLang="en-US" sz="2400" b="1" dirty="0">
                <a:latin typeface="Arial" panose="020B0604020202020204" pitchFamily="34" charset="0"/>
              </a:rPr>
              <a:t>Definition</a:t>
            </a:r>
            <a:r>
              <a:rPr lang="en-US" altLang="en-US" sz="2400" dirty="0">
                <a:latin typeface="Arial" panose="020B0604020202020204" pitchFamily="34" charset="0"/>
              </a:rPr>
              <a:t>: The mediator that handles user input and updates the Model or View accordingly.</a:t>
            </a:r>
          </a:p>
          <a:p>
            <a:pPr eaLnBrk="0" fontAlgn="base" hangingPunct="0">
              <a:lnSpc>
                <a:spcPct val="100000"/>
              </a:lnSpc>
              <a:spcBef>
                <a:spcPct val="0"/>
              </a:spcBef>
              <a:spcAft>
                <a:spcPct val="0"/>
              </a:spcAft>
            </a:pPr>
            <a:r>
              <a:rPr lang="en-US" altLang="en-US" sz="2400" b="1" dirty="0">
                <a:latin typeface="Arial" panose="020B0604020202020204" pitchFamily="34" charset="0"/>
              </a:rPr>
              <a:t>Responsibilities</a:t>
            </a:r>
            <a:r>
              <a:rPr lang="en-US" altLang="en-US" sz="2400" dirty="0">
                <a:latin typeface="Arial" panose="020B0604020202020204" pitchFamily="34" charset="0"/>
              </a:rPr>
              <a:t>:</a:t>
            </a:r>
          </a:p>
          <a:p>
            <a:pPr lvl="1" eaLnBrk="0" fontAlgn="base" hangingPunct="0">
              <a:lnSpc>
                <a:spcPct val="100000"/>
              </a:lnSpc>
              <a:spcBef>
                <a:spcPct val="0"/>
              </a:spcBef>
              <a:spcAft>
                <a:spcPct val="0"/>
              </a:spcAft>
            </a:pPr>
            <a:r>
              <a:rPr lang="en-US" altLang="en-US" dirty="0">
                <a:latin typeface="Arial" panose="020B0604020202020204" pitchFamily="34" charset="0"/>
              </a:rPr>
              <a:t>Interprets user actions (clicks, inputs, gestures).</a:t>
            </a:r>
          </a:p>
          <a:p>
            <a:pPr lvl="1" eaLnBrk="0" fontAlgn="base" hangingPunct="0">
              <a:lnSpc>
                <a:spcPct val="100000"/>
              </a:lnSpc>
              <a:spcBef>
                <a:spcPct val="0"/>
              </a:spcBef>
              <a:spcAft>
                <a:spcPct val="0"/>
              </a:spcAft>
            </a:pPr>
            <a:r>
              <a:rPr lang="en-US" altLang="en-US" dirty="0">
                <a:latin typeface="Arial" panose="020B0604020202020204" pitchFamily="34" charset="0"/>
              </a:rPr>
              <a:t>Updates the Model state based on user input.</a:t>
            </a:r>
          </a:p>
          <a:p>
            <a:pPr lvl="1" eaLnBrk="0" fontAlgn="base" hangingPunct="0">
              <a:lnSpc>
                <a:spcPct val="100000"/>
              </a:lnSpc>
              <a:spcBef>
                <a:spcPct val="0"/>
              </a:spcBef>
              <a:spcAft>
                <a:spcPct val="0"/>
              </a:spcAft>
            </a:pPr>
            <a:r>
              <a:rPr lang="en-US" altLang="en-US" dirty="0">
                <a:latin typeface="Arial" panose="020B0604020202020204" pitchFamily="34" charset="0"/>
              </a:rPr>
              <a:t>Chooses the View to render.</a:t>
            </a:r>
          </a:p>
          <a:p>
            <a:pPr eaLnBrk="0" fontAlgn="base" hangingPunct="0">
              <a:lnSpc>
                <a:spcPct val="100000"/>
              </a:lnSpc>
              <a:spcBef>
                <a:spcPct val="0"/>
              </a:spcBef>
              <a:spcAft>
                <a:spcPct val="0"/>
              </a:spcAft>
            </a:pPr>
            <a:r>
              <a:rPr lang="en-US" altLang="en-US" sz="2400" b="1" dirty="0">
                <a:latin typeface="Arial" panose="020B0604020202020204" pitchFamily="34" charset="0"/>
              </a:rPr>
              <a:t>Example</a:t>
            </a:r>
            <a:r>
              <a:rPr lang="en-US" altLang="en-US" sz="2400" dirty="0">
                <a:latin typeface="Arial" panose="020B0604020202020204" pitchFamily="34" charset="0"/>
              </a:rPr>
              <a:t>: In Spring MVC, a controller method handles HTTP requests, updates the model, and returns a view</a:t>
            </a:r>
            <a:r>
              <a:rPr lang="en-US" altLang="en-US" sz="2400" dirty="0" smtClean="0">
                <a:latin typeface="Arial" panose="020B0604020202020204" pitchFamily="34" charset="0"/>
              </a:rPr>
              <a:t>.</a:t>
            </a:r>
            <a:endParaRPr lang="en-US" altLang="en-US" sz="2400" dirty="0">
              <a:latin typeface="Arial" panose="020B0604020202020204" pitchFamily="34" charset="0"/>
            </a:endParaRPr>
          </a:p>
        </p:txBody>
      </p:sp>
      <p:sp>
        <p:nvSpPr>
          <p:cNvPr id="4" name="Rectangle 3"/>
          <p:cNvSpPr/>
          <p:nvPr/>
        </p:nvSpPr>
        <p:spPr>
          <a:xfrm>
            <a:off x="651932" y="756773"/>
            <a:ext cx="3776996" cy="523220"/>
          </a:xfrm>
          <a:prstGeom prst="rect">
            <a:avLst/>
          </a:prstGeom>
          <a:solidFill>
            <a:srgbClr val="FFFF00"/>
          </a:solidFill>
        </p:spPr>
        <p:txBody>
          <a:bodyPr wrap="none">
            <a:spAutoFit/>
          </a:bodyPr>
          <a:lstStyle/>
          <a:p>
            <a:pPr lvl="0" eaLnBrk="0" fontAlgn="base" hangingPunct="0">
              <a:spcBef>
                <a:spcPct val="0"/>
              </a:spcBef>
              <a:spcAft>
                <a:spcPct val="0"/>
              </a:spcAft>
            </a:pPr>
            <a:r>
              <a:rPr lang="en-US" altLang="en-US" sz="2800" b="1" dirty="0">
                <a:latin typeface="Bahnschrift" panose="020B0502040204020203" pitchFamily="34" charset="0"/>
              </a:rPr>
              <a:t>2. Components of MVC</a:t>
            </a:r>
          </a:p>
        </p:txBody>
      </p:sp>
    </p:spTree>
    <p:extLst>
      <p:ext uri="{BB962C8B-B14F-4D97-AF65-F5344CB8AC3E}">
        <p14:creationId xmlns:p14="http://schemas.microsoft.com/office/powerpoint/2010/main" val="29178022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IN" b="1" dirty="0"/>
              <a:t>🔄 </a:t>
            </a:r>
            <a:r>
              <a:rPr lang="en-IN" b="1" dirty="0" smtClean="0"/>
              <a:t>Interactions of M V C</a:t>
            </a:r>
            <a:endParaRPr lang="en-IN" b="1" dirty="0"/>
          </a:p>
        </p:txBody>
      </p:sp>
      <p:sp>
        <p:nvSpPr>
          <p:cNvPr id="3" name="Content Placeholder 2"/>
          <p:cNvSpPr>
            <a:spLocks noGrp="1"/>
          </p:cNvSpPr>
          <p:nvPr>
            <p:ph idx="1"/>
          </p:nvPr>
        </p:nvSpPr>
        <p:spPr>
          <a:xfrm>
            <a:off x="178904" y="1825625"/>
            <a:ext cx="4442257" cy="4351338"/>
          </a:xfrm>
          <a:solidFill>
            <a:srgbClr val="FFFF00"/>
          </a:solidFill>
        </p:spPr>
        <p:txBody>
          <a:bodyPr/>
          <a:lstStyle/>
          <a:p>
            <a:r>
              <a:rPr lang="en-IN" b="1" dirty="0" smtClean="0"/>
              <a:t>Flow</a:t>
            </a:r>
            <a:r>
              <a:rPr lang="en-IN" dirty="0"/>
              <a:t>:</a:t>
            </a:r>
          </a:p>
          <a:p>
            <a:pPr lvl="1"/>
            <a:r>
              <a:rPr lang="en-IN" dirty="0"/>
              <a:t>User interacts with </a:t>
            </a:r>
            <a:r>
              <a:rPr lang="en-IN" b="1" dirty="0"/>
              <a:t>View</a:t>
            </a:r>
            <a:r>
              <a:rPr lang="en-IN" dirty="0"/>
              <a:t>.</a:t>
            </a:r>
          </a:p>
          <a:p>
            <a:pPr lvl="1"/>
            <a:r>
              <a:rPr lang="en-IN" b="1" dirty="0"/>
              <a:t>Controller</a:t>
            </a:r>
            <a:r>
              <a:rPr lang="en-IN" dirty="0"/>
              <a:t> interprets input, updates </a:t>
            </a:r>
            <a:r>
              <a:rPr lang="en-IN" b="1" dirty="0"/>
              <a:t>Model</a:t>
            </a:r>
            <a:r>
              <a:rPr lang="en-IN" dirty="0"/>
              <a:t>.</a:t>
            </a:r>
          </a:p>
          <a:p>
            <a:pPr lvl="1"/>
            <a:r>
              <a:rPr lang="en-IN" b="1" dirty="0"/>
              <a:t>Model</a:t>
            </a:r>
            <a:r>
              <a:rPr lang="en-IN" dirty="0"/>
              <a:t> changes → notifies </a:t>
            </a:r>
            <a:r>
              <a:rPr lang="en-IN" b="1" dirty="0"/>
              <a:t>View</a:t>
            </a:r>
            <a:r>
              <a:rPr lang="en-IN" dirty="0"/>
              <a:t>.</a:t>
            </a:r>
          </a:p>
          <a:p>
            <a:pPr lvl="1"/>
            <a:r>
              <a:rPr lang="en-IN" b="1" dirty="0"/>
              <a:t>View</a:t>
            </a:r>
            <a:r>
              <a:rPr lang="en-IN" dirty="0"/>
              <a:t> re-renders updated data.</a:t>
            </a:r>
          </a:p>
          <a:p>
            <a:endParaRPr lang="en-IN" dirty="0"/>
          </a:p>
        </p:txBody>
      </p:sp>
      <p:pic>
        <p:nvPicPr>
          <p:cNvPr id="9218" name="Picture 2" descr="No alt text provided for this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9188" y="1326895"/>
            <a:ext cx="6333715" cy="5381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80521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Understanding </a:t>
            </a:r>
            <a:r>
              <a:rPr lang="en-IN" b="1" dirty="0" smtClean="0"/>
              <a:t>MVC</a:t>
            </a:r>
            <a:endParaRPr lang="en-IN" b="1" dirty="0"/>
          </a:p>
        </p:txBody>
      </p:sp>
      <p:sp>
        <p:nvSpPr>
          <p:cNvPr id="4" name="Rectangle 1"/>
          <p:cNvSpPr>
            <a:spLocks noGrp="1" noChangeArrowheads="1"/>
          </p:cNvSpPr>
          <p:nvPr>
            <p:ph idx="1"/>
          </p:nvPr>
        </p:nvSpPr>
        <p:spPr bwMode="auto">
          <a:xfrm>
            <a:off x="738648" y="1465994"/>
            <a:ext cx="10714703"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kumimoji="0" lang="en-US" altLang="en-US" sz="2000" b="1" i="0" u="none" strike="noStrike" cap="none" normalizeH="0" baseline="0" dirty="0" smtClean="0">
                <a:ln>
                  <a:noFill/>
                </a:ln>
                <a:solidFill>
                  <a:schemeClr val="tx1"/>
                </a:solidFill>
                <a:effectLst/>
                <a:latin typeface="Arial" panose="020B0604020202020204" pitchFamily="34" charset="0"/>
              </a:rPr>
              <a:t>Model</a:t>
            </a:r>
            <a:r>
              <a:rPr kumimoji="0" lang="en-US" altLang="en-US" sz="2000" b="0" i="0" u="none" strike="noStrike" cap="none" normalizeH="0" baseline="0" dirty="0" smtClean="0">
                <a:ln>
                  <a:noFill/>
                </a:ln>
                <a:solidFill>
                  <a:schemeClr val="tx1"/>
                </a:solidFill>
                <a:effectLst/>
                <a:latin typeface="Arial" panose="020B0604020202020204" pitchFamily="34" charset="0"/>
              </a:rPr>
              <a:t> is the kitchen—it holds the "data" (like ingredients, recipes, and stock). It doesn't care how the food is served; it just manages what's available and updates if something changes (e.g., "out of pizza dough"). </a:t>
            </a:r>
          </a:p>
          <a:p>
            <a:pPr algn="just" eaLnBrk="0" fontAlgn="base" hangingPunct="0">
              <a:lnSpc>
                <a:spcPct val="150000"/>
              </a:lnSpc>
              <a:spcBef>
                <a:spcPct val="0"/>
              </a:spcBef>
              <a:spcAft>
                <a:spcPct val="0"/>
              </a:spcAf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algn="just" eaLnBrk="0" fontAlgn="base" hangingPunct="0">
              <a:lnSpc>
                <a:spcPct val="150000"/>
              </a:lnSpc>
              <a:spcBef>
                <a:spcPct val="0"/>
              </a:spcBef>
              <a:spcAft>
                <a:spcPct val="0"/>
              </a:spcAft>
            </a:pPr>
            <a:r>
              <a:rPr kumimoji="0" lang="en-US" altLang="en-US" sz="2000" b="1" i="0" u="none" strike="noStrike" cap="none" normalizeH="0" baseline="0" dirty="0" smtClean="0">
                <a:ln>
                  <a:noFill/>
                </a:ln>
                <a:solidFill>
                  <a:schemeClr val="tx1"/>
                </a:solidFill>
                <a:effectLst/>
                <a:latin typeface="Arial" panose="020B0604020202020204" pitchFamily="34" charset="0"/>
              </a:rPr>
              <a:t>View</a:t>
            </a:r>
            <a:r>
              <a:rPr kumimoji="0" lang="en-US" altLang="en-US" sz="2000" b="0" i="0" u="none" strike="noStrike" cap="none" normalizeH="0" baseline="0" dirty="0" smtClean="0">
                <a:ln>
                  <a:noFill/>
                </a:ln>
                <a:solidFill>
                  <a:schemeClr val="tx1"/>
                </a:solidFill>
                <a:effectLst/>
                <a:latin typeface="Arial" panose="020B0604020202020204" pitchFamily="34" charset="0"/>
              </a:rPr>
              <a:t> is the menu and your table—it shows the pretty presentation (what the user sees, like "Pizza: $10"). It doesn't cook or decide; it just displays and takes your order input. </a:t>
            </a:r>
          </a:p>
          <a:p>
            <a:pPr algn="just" eaLnBrk="0" fontAlgn="base" hangingPunct="0">
              <a:lnSpc>
                <a:spcPct val="150000"/>
              </a:lnSpc>
              <a:spcBef>
                <a:spcPct val="0"/>
              </a:spcBef>
              <a:spcAft>
                <a:spcPct val="0"/>
              </a:spcAft>
            </a:pPr>
            <a:endParaRPr kumimoji="0" lang="en-US" altLang="en-US" sz="2000" b="1" i="0" u="none" strike="noStrike" cap="none" normalizeH="0" baseline="0" dirty="0" smtClean="0">
              <a:ln>
                <a:noFill/>
              </a:ln>
              <a:solidFill>
                <a:schemeClr val="tx1"/>
              </a:solidFill>
              <a:effectLst/>
              <a:latin typeface="Arial" panose="020B0604020202020204" pitchFamily="34" charset="0"/>
            </a:endParaRPr>
          </a:p>
          <a:p>
            <a:pPr algn="just" eaLnBrk="0" fontAlgn="base" hangingPunct="0">
              <a:lnSpc>
                <a:spcPct val="150000"/>
              </a:lnSpc>
              <a:spcBef>
                <a:spcPct val="0"/>
              </a:spcBef>
              <a:spcAft>
                <a:spcPct val="0"/>
              </a:spcAft>
            </a:pPr>
            <a:r>
              <a:rPr kumimoji="0" lang="en-US" altLang="en-US" sz="2000" b="1" i="0" u="none" strike="noStrike" cap="none" normalizeH="0" baseline="0" dirty="0" smtClean="0">
                <a:ln>
                  <a:noFill/>
                </a:ln>
                <a:solidFill>
                  <a:schemeClr val="tx1"/>
                </a:solidFill>
                <a:effectLst/>
                <a:latin typeface="Arial" panose="020B0604020202020204" pitchFamily="34" charset="0"/>
              </a:rPr>
              <a:t>Controller</a:t>
            </a:r>
            <a:r>
              <a:rPr kumimoji="0" lang="en-US" altLang="en-US" sz="2000" b="0" i="0" u="none" strike="noStrike" cap="none" normalizeH="0" baseline="0" dirty="0" smtClean="0">
                <a:ln>
                  <a:noFill/>
                </a:ln>
                <a:solidFill>
                  <a:schemeClr val="tx1"/>
                </a:solidFill>
                <a:effectLst/>
                <a:latin typeface="Arial" panose="020B0604020202020204" pitchFamily="34" charset="0"/>
              </a:rPr>
              <a:t> is the waiter—they take your order from the table (View), yell it to the kitchen (Model) to prepare/update, and bring back the result to show you (e.g., "Your pizza is ready!"). </a:t>
            </a:r>
          </a:p>
        </p:txBody>
      </p:sp>
    </p:spTree>
    <p:extLst>
      <p:ext uri="{BB962C8B-B14F-4D97-AF65-F5344CB8AC3E}">
        <p14:creationId xmlns:p14="http://schemas.microsoft.com/office/powerpoint/2010/main" val="32205562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00"/>
          </a:solidFill>
        </p:spPr>
        <p:txBody>
          <a:bodyPr/>
          <a:lstStyle/>
          <a:p>
            <a:r>
              <a:rPr lang="en-IN" b="1" dirty="0"/>
              <a:t>Understanding MVC</a:t>
            </a:r>
            <a:endParaRPr lang="en-IN" dirty="0"/>
          </a:p>
        </p:txBody>
      </p:sp>
      <p:sp>
        <p:nvSpPr>
          <p:cNvPr id="3" name="Content Placeholder 2"/>
          <p:cNvSpPr>
            <a:spLocks noGrp="1"/>
          </p:cNvSpPr>
          <p:nvPr>
            <p:ph idx="1"/>
          </p:nvPr>
        </p:nvSpPr>
        <p:spPr>
          <a:xfrm>
            <a:off x="218661" y="1825625"/>
            <a:ext cx="5516217" cy="4351338"/>
          </a:xfrm>
        </p:spPr>
        <p:txBody>
          <a:bodyPr>
            <a:normAutofit/>
          </a:bodyPr>
          <a:lstStyle/>
          <a:p>
            <a:r>
              <a:rPr lang="en-US" sz="2400" dirty="0"/>
              <a:t>The flow: </a:t>
            </a:r>
            <a:endParaRPr lang="en-US" sz="2400" dirty="0" smtClean="0"/>
          </a:p>
          <a:p>
            <a:pPr marL="0" indent="0">
              <a:buNone/>
            </a:pPr>
            <a:r>
              <a:rPr lang="en-US" sz="1900" b="1" dirty="0" smtClean="0"/>
              <a:t>User </a:t>
            </a:r>
            <a:r>
              <a:rPr lang="en-US" sz="1900" b="1" dirty="0"/>
              <a:t>picks from</a:t>
            </a:r>
            <a:r>
              <a:rPr lang="en-US" sz="1900" dirty="0"/>
              <a:t> </a:t>
            </a:r>
            <a:r>
              <a:rPr lang="en-US" sz="1900" b="1" dirty="0" smtClean="0"/>
              <a:t>View </a:t>
            </a:r>
            <a:r>
              <a:rPr lang="en-US" sz="1900" b="1" dirty="0"/>
              <a:t>→ </a:t>
            </a:r>
            <a:endParaRPr lang="en-US" sz="1900" b="1" dirty="0" smtClean="0"/>
          </a:p>
          <a:p>
            <a:pPr marL="0" indent="0">
              <a:buNone/>
            </a:pPr>
            <a:r>
              <a:rPr lang="en-US" sz="1900" b="1" dirty="0" smtClean="0"/>
              <a:t>Controller </a:t>
            </a:r>
            <a:r>
              <a:rPr lang="en-US" sz="1900" b="1" dirty="0"/>
              <a:t>handles it → </a:t>
            </a:r>
            <a:endParaRPr lang="en-US" sz="1900" b="1" dirty="0" smtClean="0"/>
          </a:p>
          <a:p>
            <a:pPr marL="0" indent="0">
              <a:buNone/>
            </a:pPr>
            <a:r>
              <a:rPr lang="en-US" sz="1900" b="1" dirty="0" smtClean="0"/>
              <a:t>Model </a:t>
            </a:r>
            <a:r>
              <a:rPr lang="en-US" sz="1900" b="1" dirty="0"/>
              <a:t>updates data → </a:t>
            </a:r>
            <a:r>
              <a:rPr lang="en-US" sz="1900" b="1" dirty="0" smtClean="0"/>
              <a:t>		</a:t>
            </a:r>
          </a:p>
          <a:p>
            <a:pPr marL="0" indent="0">
              <a:buNone/>
            </a:pPr>
            <a:r>
              <a:rPr lang="en-US" sz="1900" b="1" dirty="0" smtClean="0"/>
              <a:t>View </a:t>
            </a:r>
            <a:r>
              <a:rPr lang="en-US" sz="1900" b="1" dirty="0"/>
              <a:t>refreshes to show changes.</a:t>
            </a:r>
            <a:r>
              <a:rPr lang="en-US" sz="1900" dirty="0"/>
              <a:t> </a:t>
            </a:r>
            <a:endParaRPr lang="en-US" sz="1900" dirty="0" smtClean="0"/>
          </a:p>
          <a:p>
            <a:endParaRPr lang="en-US" sz="2400" b="1" dirty="0" smtClean="0"/>
          </a:p>
          <a:p>
            <a:r>
              <a:rPr lang="en-US" sz="2400" b="1" dirty="0" smtClean="0"/>
              <a:t>Real-World </a:t>
            </a:r>
            <a:r>
              <a:rPr lang="en-US" sz="2400" b="1" dirty="0"/>
              <a:t>Example</a:t>
            </a:r>
            <a:r>
              <a:rPr lang="en-US" sz="2400" dirty="0"/>
              <a:t>: In a weather app, Model fetches real rain data, View shows a sunny icon, Controller decides when to update the icon based on user location clicks.</a:t>
            </a:r>
          </a:p>
          <a:p>
            <a:endParaRPr lang="en-IN" dirty="0"/>
          </a:p>
        </p:txBody>
      </p:sp>
      <p:pic>
        <p:nvPicPr>
          <p:cNvPr id="4" name="Picture 3"/>
          <p:cNvPicPr>
            <a:picLocks noChangeAspect="1"/>
          </p:cNvPicPr>
          <p:nvPr/>
        </p:nvPicPr>
        <p:blipFill>
          <a:blip r:embed="rId2"/>
          <a:stretch>
            <a:fillRect/>
          </a:stretch>
        </p:blipFill>
        <p:spPr>
          <a:xfrm>
            <a:off x="6110786" y="1690688"/>
            <a:ext cx="5243014" cy="5082980"/>
          </a:xfrm>
          <a:prstGeom prst="rect">
            <a:avLst/>
          </a:prstGeom>
        </p:spPr>
      </p:pic>
    </p:spTree>
    <p:extLst>
      <p:ext uri="{BB962C8B-B14F-4D97-AF65-F5344CB8AC3E}">
        <p14:creationId xmlns:p14="http://schemas.microsoft.com/office/powerpoint/2010/main" val="12599272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00"/>
          </a:solidFill>
        </p:spPr>
        <p:txBody>
          <a:bodyPr>
            <a:normAutofit/>
          </a:bodyPr>
          <a:lstStyle/>
          <a:p>
            <a:r>
              <a:rPr lang="en-IN" sz="3200" b="1" dirty="0"/>
              <a:t>Understanding </a:t>
            </a:r>
            <a:r>
              <a:rPr lang="en-IN" sz="3200" b="1" dirty="0" smtClean="0"/>
              <a:t>MVP(Model-View-Presenter)</a:t>
            </a:r>
            <a:endParaRPr lang="en-IN" sz="3200" b="1" dirty="0"/>
          </a:p>
        </p:txBody>
      </p:sp>
      <p:sp>
        <p:nvSpPr>
          <p:cNvPr id="3" name="Content Placeholder 2"/>
          <p:cNvSpPr>
            <a:spLocks noGrp="1"/>
          </p:cNvSpPr>
          <p:nvPr>
            <p:ph idx="1"/>
          </p:nvPr>
        </p:nvSpPr>
        <p:spPr/>
        <p:txBody>
          <a:bodyPr>
            <a:normAutofit/>
          </a:bodyPr>
          <a:lstStyle/>
          <a:p>
            <a:r>
              <a:rPr lang="en-US" sz="2400" dirty="0"/>
              <a:t>Like MVC, but the </a:t>
            </a:r>
            <a:r>
              <a:rPr lang="en-US" sz="2400" b="1" dirty="0"/>
              <a:t>Presenter</a:t>
            </a:r>
            <a:r>
              <a:rPr lang="en-US" sz="2400" dirty="0"/>
              <a:t> is a super-smart waiter (or manager) who does </a:t>
            </a:r>
            <a:r>
              <a:rPr lang="en-US" sz="2400" i="1" dirty="0"/>
              <a:t>everything</a:t>
            </a:r>
            <a:r>
              <a:rPr lang="en-US" sz="2400" dirty="0"/>
              <a:t> for the View—making the View "dumb" (it just shows stuff and says "Hey, user clicked this!").</a:t>
            </a:r>
          </a:p>
          <a:p>
            <a:r>
              <a:rPr lang="en-US" sz="2400" b="1" dirty="0"/>
              <a:t>Model</a:t>
            </a:r>
            <a:r>
              <a:rPr lang="en-US" sz="2400" dirty="0"/>
              <a:t>: Still the kitchen (data and rules).</a:t>
            </a:r>
          </a:p>
          <a:p>
            <a:r>
              <a:rPr lang="en-US" sz="2400" b="1" dirty="0"/>
              <a:t>View</a:t>
            </a:r>
            <a:r>
              <a:rPr lang="en-US" sz="2400" dirty="0"/>
              <a:t>: Now just the menu/table—it reports user actions to the Presenter but doesn't talk to the Model at all.</a:t>
            </a:r>
          </a:p>
          <a:p>
            <a:r>
              <a:rPr lang="en-US" sz="2400" b="1" dirty="0"/>
              <a:t>Presenter</a:t>
            </a:r>
            <a:r>
              <a:rPr lang="en-US" sz="2400" dirty="0"/>
              <a:t>: Takes input from View, talks to Model, formats the response perfectly, and </a:t>
            </a:r>
            <a:r>
              <a:rPr lang="en-US" sz="2400" i="1" dirty="0"/>
              <a:t>tells</a:t>
            </a:r>
            <a:r>
              <a:rPr lang="en-US" sz="2400" dirty="0"/>
              <a:t> the View exactly what to show (no direct Model-View chit-chat).</a:t>
            </a:r>
          </a:p>
        </p:txBody>
      </p:sp>
    </p:spTree>
    <p:extLst>
      <p:ext uri="{BB962C8B-B14F-4D97-AF65-F5344CB8AC3E}">
        <p14:creationId xmlns:p14="http://schemas.microsoft.com/office/powerpoint/2010/main" val="5332479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sz="2400" b="1" dirty="0">
                <a:latin typeface="Bahnschrift" panose="020B0502040204020203" pitchFamily="34" charset="0"/>
              </a:rPr>
              <a:t>Flow:</a:t>
            </a:r>
            <a:r>
              <a:rPr lang="en-US" sz="2400" dirty="0">
                <a:latin typeface="Bahnschrift" panose="020B0502040204020203" pitchFamily="34" charset="0"/>
              </a:rPr>
              <a:t> </a:t>
            </a:r>
            <a:endParaRPr lang="en-US" sz="2400" dirty="0" smtClean="0">
              <a:latin typeface="Bahnschrift" panose="020B0502040204020203" pitchFamily="34" charset="0"/>
            </a:endParaRPr>
          </a:p>
          <a:p>
            <a:pPr lvl="1"/>
            <a:r>
              <a:rPr lang="en-US" sz="2000" dirty="0" smtClean="0">
                <a:latin typeface="Bahnschrift" panose="020B0502040204020203" pitchFamily="34" charset="0"/>
              </a:rPr>
              <a:t>User </a:t>
            </a:r>
            <a:r>
              <a:rPr lang="en-US" sz="2000" dirty="0">
                <a:latin typeface="Bahnschrift" panose="020B0502040204020203" pitchFamily="34" charset="0"/>
              </a:rPr>
              <a:t>interacts with View → </a:t>
            </a:r>
            <a:endParaRPr lang="en-US" sz="2000" dirty="0" smtClean="0">
              <a:latin typeface="Bahnschrift" panose="020B0502040204020203" pitchFamily="34" charset="0"/>
            </a:endParaRPr>
          </a:p>
          <a:p>
            <a:pPr lvl="1"/>
            <a:r>
              <a:rPr lang="en-US" sz="2000" dirty="0" smtClean="0">
                <a:latin typeface="Bahnschrift" panose="020B0502040204020203" pitchFamily="34" charset="0"/>
              </a:rPr>
              <a:t>View </a:t>
            </a:r>
            <a:r>
              <a:rPr lang="en-US" sz="2000" dirty="0">
                <a:latin typeface="Bahnschrift" panose="020B0502040204020203" pitchFamily="34" charset="0"/>
              </a:rPr>
              <a:t>tells Presenter → </a:t>
            </a:r>
            <a:endParaRPr lang="en-US" sz="2000" dirty="0" smtClean="0">
              <a:latin typeface="Bahnschrift" panose="020B0502040204020203" pitchFamily="34" charset="0"/>
            </a:endParaRPr>
          </a:p>
          <a:p>
            <a:pPr lvl="1"/>
            <a:r>
              <a:rPr lang="en-US" sz="2000" dirty="0" smtClean="0">
                <a:latin typeface="Bahnschrift" panose="020B0502040204020203" pitchFamily="34" charset="0"/>
              </a:rPr>
              <a:t>Presenter </a:t>
            </a:r>
            <a:r>
              <a:rPr lang="en-US" sz="2000" dirty="0">
                <a:latin typeface="Bahnschrift" panose="020B0502040204020203" pitchFamily="34" charset="0"/>
              </a:rPr>
              <a:t>updates Model and pushes results back to View. </a:t>
            </a:r>
            <a:endParaRPr lang="en-US" sz="2000" dirty="0" smtClean="0">
              <a:latin typeface="Bahnschrift" panose="020B0502040204020203" pitchFamily="34" charset="0"/>
            </a:endParaRPr>
          </a:p>
          <a:p>
            <a:pPr lvl="1"/>
            <a:endParaRPr lang="en-US" sz="2000" dirty="0">
              <a:latin typeface="Bahnschrift" panose="020B0502040204020203" pitchFamily="34" charset="0"/>
            </a:endParaRPr>
          </a:p>
          <a:p>
            <a:pPr lvl="1"/>
            <a:r>
              <a:rPr lang="en-US" sz="2000" dirty="0" smtClean="0">
                <a:latin typeface="Bahnschrift" panose="020B0502040204020203" pitchFamily="34" charset="0"/>
              </a:rPr>
              <a:t>Great </a:t>
            </a:r>
            <a:r>
              <a:rPr lang="en-US" sz="2000" dirty="0">
                <a:latin typeface="Bahnschrift" panose="020B0502040204020203" pitchFamily="34" charset="0"/>
              </a:rPr>
              <a:t>for testing, since the Presenter can be mocked without a real screen.</a:t>
            </a:r>
          </a:p>
          <a:p>
            <a:endParaRPr lang="en-US" sz="2400" b="1" dirty="0" smtClean="0">
              <a:latin typeface="Bahnschrift" panose="020B0502040204020203" pitchFamily="34" charset="0"/>
            </a:endParaRPr>
          </a:p>
          <a:p>
            <a:r>
              <a:rPr lang="en-US" sz="2400" b="1" dirty="0" smtClean="0">
                <a:latin typeface="Bahnschrift" panose="020B0502040204020203" pitchFamily="34" charset="0"/>
              </a:rPr>
              <a:t>Real-World </a:t>
            </a:r>
            <a:r>
              <a:rPr lang="en-US" sz="2400" b="1" dirty="0">
                <a:latin typeface="Bahnschrift" panose="020B0502040204020203" pitchFamily="34" charset="0"/>
              </a:rPr>
              <a:t>Example</a:t>
            </a:r>
            <a:r>
              <a:rPr lang="en-US" sz="2400" dirty="0">
                <a:latin typeface="Bahnschrift" panose="020B0502040204020203" pitchFamily="34" charset="0"/>
              </a:rPr>
              <a:t>: In a login app, View shows username/password fields, Presenter checks credentials via Model (database), and directly tells View "Show success page" or "Show error popup</a:t>
            </a:r>
            <a:r>
              <a:rPr lang="en-US" sz="2400" dirty="0" smtClean="0">
                <a:latin typeface="Bahnschrift" panose="020B0502040204020203" pitchFamily="34" charset="0"/>
              </a:rPr>
              <a:t>."</a:t>
            </a:r>
            <a:endParaRPr lang="en-US" sz="2400" dirty="0">
              <a:latin typeface="Bahnschrift" panose="020B0502040204020203" pitchFamily="34" charset="0"/>
            </a:endParaRPr>
          </a:p>
        </p:txBody>
      </p:sp>
    </p:spTree>
    <p:extLst>
      <p:ext uri="{BB962C8B-B14F-4D97-AF65-F5344CB8AC3E}">
        <p14:creationId xmlns:p14="http://schemas.microsoft.com/office/powerpoint/2010/main" val="36334855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141683" y="1249129"/>
            <a:ext cx="5570703" cy="5075360"/>
          </a:xfrm>
          <a:prstGeom prst="rect">
            <a:avLst/>
          </a:prstGeom>
        </p:spPr>
      </p:pic>
    </p:spTree>
    <p:extLst>
      <p:ext uri="{BB962C8B-B14F-4D97-AF65-F5344CB8AC3E}">
        <p14:creationId xmlns:p14="http://schemas.microsoft.com/office/powerpoint/2010/main" val="33712966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00"/>
          </a:solidFill>
        </p:spPr>
        <p:txBody>
          <a:bodyPr>
            <a:normAutofit/>
          </a:bodyPr>
          <a:lstStyle/>
          <a:p>
            <a:r>
              <a:rPr lang="en-IN" sz="3200" b="1" dirty="0"/>
              <a:t>Understanding MVVM (Model-View-</a:t>
            </a:r>
            <a:r>
              <a:rPr lang="en-IN" sz="3200" b="1" dirty="0" err="1"/>
              <a:t>ViewModel</a:t>
            </a:r>
            <a:r>
              <a:rPr lang="en-IN" sz="3200" b="1" dirty="0"/>
              <a:t>)</a:t>
            </a:r>
          </a:p>
        </p:txBody>
      </p:sp>
      <p:sp>
        <p:nvSpPr>
          <p:cNvPr id="3" name="Content Placeholder 2"/>
          <p:cNvSpPr>
            <a:spLocks noGrp="1"/>
          </p:cNvSpPr>
          <p:nvPr>
            <p:ph idx="1"/>
          </p:nvPr>
        </p:nvSpPr>
        <p:spPr/>
        <p:txBody>
          <a:bodyPr>
            <a:normAutofit fontScale="92500"/>
          </a:bodyPr>
          <a:lstStyle/>
          <a:p>
            <a:r>
              <a:rPr lang="en-US" sz="2400" dirty="0">
                <a:latin typeface="Bahnschrift" panose="020B0502040204020203" pitchFamily="34" charset="0"/>
              </a:rPr>
              <a:t>This is for "smart" apps with automatic updates, like a magic restaurant where the menu auto-refreshes.</a:t>
            </a:r>
          </a:p>
          <a:p>
            <a:endParaRPr lang="en-US" sz="2400" b="1" dirty="0" smtClean="0">
              <a:latin typeface="Bahnschrift" panose="020B0502040204020203" pitchFamily="34" charset="0"/>
            </a:endParaRPr>
          </a:p>
          <a:p>
            <a:r>
              <a:rPr lang="en-US" sz="2400" b="1" dirty="0" smtClean="0">
                <a:latin typeface="Bahnschrift" panose="020B0502040204020203" pitchFamily="34" charset="0"/>
              </a:rPr>
              <a:t>Model</a:t>
            </a:r>
            <a:r>
              <a:rPr lang="en-US" sz="2400" dirty="0">
                <a:latin typeface="Bahnschrift" panose="020B0502040204020203" pitchFamily="34" charset="0"/>
              </a:rPr>
              <a:t>: Kitchen again (raw data).</a:t>
            </a:r>
          </a:p>
          <a:p>
            <a:endParaRPr lang="en-US" sz="2400" b="1" dirty="0" smtClean="0">
              <a:latin typeface="Bahnschrift" panose="020B0502040204020203" pitchFamily="34" charset="0"/>
            </a:endParaRPr>
          </a:p>
          <a:p>
            <a:r>
              <a:rPr lang="en-US" sz="2400" b="1" dirty="0" smtClean="0">
                <a:latin typeface="Bahnschrift" panose="020B0502040204020203" pitchFamily="34" charset="0"/>
              </a:rPr>
              <a:t>View</a:t>
            </a:r>
            <a:r>
              <a:rPr lang="en-US" sz="2400" dirty="0">
                <a:latin typeface="Bahnschrift" panose="020B0502040204020203" pitchFamily="34" charset="0"/>
              </a:rPr>
              <a:t>: Menu/table—binds directly to </a:t>
            </a:r>
            <a:r>
              <a:rPr lang="en-US" sz="2400" dirty="0" err="1">
                <a:latin typeface="Bahnschrift" panose="020B0502040204020203" pitchFamily="34" charset="0"/>
              </a:rPr>
              <a:t>ViewModel</a:t>
            </a:r>
            <a:r>
              <a:rPr lang="en-US" sz="2400" dirty="0">
                <a:latin typeface="Bahnschrift" panose="020B0502040204020203" pitchFamily="34" charset="0"/>
              </a:rPr>
              <a:t> for auto-updates (e.g., if stock drops, it shows "Low stock!" without asking).</a:t>
            </a:r>
          </a:p>
          <a:p>
            <a:endParaRPr lang="en-US" sz="2400" b="1" dirty="0" smtClean="0">
              <a:latin typeface="Bahnschrift" panose="020B0502040204020203" pitchFamily="34" charset="0"/>
            </a:endParaRPr>
          </a:p>
          <a:p>
            <a:r>
              <a:rPr lang="en-US" sz="2400" b="1" dirty="0" err="1" smtClean="0">
                <a:latin typeface="Bahnschrift" panose="020B0502040204020203" pitchFamily="34" charset="0"/>
              </a:rPr>
              <a:t>ViewModel</a:t>
            </a:r>
            <a:r>
              <a:rPr lang="en-US" sz="2400" dirty="0">
                <a:latin typeface="Bahnschrift" panose="020B0502040204020203" pitchFamily="34" charset="0"/>
              </a:rPr>
              <a:t>: A "translator" layer—it takes Model data, makes it View-friendly (e.g., formats prices), and exposes it via "bindings" so changes auto-sync. No direct Controller; the </a:t>
            </a:r>
            <a:r>
              <a:rPr lang="en-US" sz="2400" dirty="0" err="1">
                <a:latin typeface="Bahnschrift" panose="020B0502040204020203" pitchFamily="34" charset="0"/>
              </a:rPr>
              <a:t>ViewModel</a:t>
            </a:r>
            <a:r>
              <a:rPr lang="en-US" sz="2400" dirty="0">
                <a:latin typeface="Bahnschrift" panose="020B0502040204020203" pitchFamily="34" charset="0"/>
              </a:rPr>
              <a:t> handles commands from the View</a:t>
            </a:r>
            <a:r>
              <a:rPr lang="en-US" sz="2400" dirty="0" smtClean="0">
                <a:latin typeface="Bahnschrift" panose="020B0502040204020203" pitchFamily="34" charset="0"/>
              </a:rPr>
              <a:t>.</a:t>
            </a:r>
            <a:endParaRPr lang="en-US" sz="2400" dirty="0">
              <a:latin typeface="Bahnschrift" panose="020B0502040204020203" pitchFamily="34" charset="0"/>
            </a:endParaRPr>
          </a:p>
        </p:txBody>
      </p:sp>
    </p:spTree>
    <p:extLst>
      <p:ext uri="{BB962C8B-B14F-4D97-AF65-F5344CB8AC3E}">
        <p14:creationId xmlns:p14="http://schemas.microsoft.com/office/powerpoint/2010/main" val="36003898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8113" y="523599"/>
            <a:ext cx="4691270" cy="2746375"/>
          </a:xfrm>
        </p:spPr>
        <p:txBody>
          <a:bodyPr>
            <a:normAutofit/>
          </a:bodyPr>
          <a:lstStyle/>
          <a:p>
            <a:pPr marL="0" indent="0">
              <a:buNone/>
            </a:pPr>
            <a:r>
              <a:rPr lang="en-IN" sz="2000" dirty="0">
                <a:latin typeface="Bahnschrift" panose="020B0502040204020203" pitchFamily="34" charset="0"/>
              </a:rPr>
              <a:t>Flow: </a:t>
            </a:r>
            <a:endParaRPr lang="en-IN" sz="2000" dirty="0" smtClean="0">
              <a:latin typeface="Bahnschrift" panose="020B0502040204020203" pitchFamily="34" charset="0"/>
            </a:endParaRPr>
          </a:p>
          <a:p>
            <a:r>
              <a:rPr lang="en-IN" sz="2000" dirty="0" smtClean="0">
                <a:latin typeface="Bahnschrift" panose="020B0502040204020203" pitchFamily="34" charset="0"/>
              </a:rPr>
              <a:t>View </a:t>
            </a:r>
            <a:r>
              <a:rPr lang="en-IN" sz="2000" dirty="0">
                <a:latin typeface="Bahnschrift" panose="020B0502040204020203" pitchFamily="34" charset="0"/>
              </a:rPr>
              <a:t>binds to </a:t>
            </a:r>
            <a:r>
              <a:rPr lang="en-IN" sz="2000" dirty="0" err="1">
                <a:latin typeface="Bahnschrift" panose="020B0502040204020203" pitchFamily="34" charset="0"/>
              </a:rPr>
              <a:t>ViewModel</a:t>
            </a:r>
            <a:r>
              <a:rPr lang="en-IN" sz="2000" dirty="0">
                <a:latin typeface="Bahnschrift" panose="020B0502040204020203" pitchFamily="34" charset="0"/>
              </a:rPr>
              <a:t> → </a:t>
            </a:r>
            <a:endParaRPr lang="en-IN" sz="2000" dirty="0" smtClean="0">
              <a:latin typeface="Bahnschrift" panose="020B0502040204020203" pitchFamily="34" charset="0"/>
            </a:endParaRPr>
          </a:p>
          <a:p>
            <a:r>
              <a:rPr lang="en-IN" sz="2000" dirty="0" smtClean="0">
                <a:latin typeface="Bahnschrift" panose="020B0502040204020203" pitchFamily="34" charset="0"/>
              </a:rPr>
              <a:t>User </a:t>
            </a:r>
            <a:r>
              <a:rPr lang="en-IN" sz="2000" dirty="0">
                <a:latin typeface="Bahnschrift" panose="020B0502040204020203" pitchFamily="34" charset="0"/>
              </a:rPr>
              <a:t>acts on View → </a:t>
            </a:r>
            <a:endParaRPr lang="en-IN" sz="2000" dirty="0" smtClean="0">
              <a:latin typeface="Bahnschrift" panose="020B0502040204020203" pitchFamily="34" charset="0"/>
            </a:endParaRPr>
          </a:p>
          <a:p>
            <a:r>
              <a:rPr lang="en-IN" sz="2000" dirty="0" err="1" smtClean="0">
                <a:latin typeface="Bahnschrift" panose="020B0502040204020203" pitchFamily="34" charset="0"/>
              </a:rPr>
              <a:t>ViewModel</a:t>
            </a:r>
            <a:r>
              <a:rPr lang="en-IN" sz="2000" dirty="0" smtClean="0">
                <a:latin typeface="Bahnschrift" panose="020B0502040204020203" pitchFamily="34" charset="0"/>
              </a:rPr>
              <a:t> </a:t>
            </a:r>
            <a:r>
              <a:rPr lang="en-IN" sz="2000" dirty="0">
                <a:latin typeface="Bahnschrift" panose="020B0502040204020203" pitchFamily="34" charset="0"/>
              </a:rPr>
              <a:t>updates Model and </a:t>
            </a:r>
            <a:r>
              <a:rPr lang="en-IN" sz="2000" dirty="0" smtClean="0">
                <a:latin typeface="Bahnschrift" panose="020B0502040204020203" pitchFamily="34" charset="0"/>
              </a:rPr>
              <a:t>auto-refreshes </a:t>
            </a:r>
            <a:r>
              <a:rPr lang="en-IN" sz="2000" dirty="0">
                <a:latin typeface="Bahnschrift" panose="020B0502040204020203" pitchFamily="34" charset="0"/>
              </a:rPr>
              <a:t>View via bindings. </a:t>
            </a:r>
            <a:endParaRPr lang="en-IN" sz="2000" dirty="0" smtClean="0">
              <a:latin typeface="Bahnschrift" panose="020B0502040204020203" pitchFamily="34" charset="0"/>
            </a:endParaRPr>
          </a:p>
          <a:p>
            <a:r>
              <a:rPr lang="en-IN" sz="2000" dirty="0" smtClean="0">
                <a:latin typeface="Bahnschrift" panose="020B0502040204020203" pitchFamily="34" charset="0"/>
              </a:rPr>
              <a:t>Perfect </a:t>
            </a:r>
            <a:r>
              <a:rPr lang="en-IN" sz="2000" dirty="0">
                <a:latin typeface="Bahnschrift" panose="020B0502040204020203" pitchFamily="34" charset="0"/>
              </a:rPr>
              <a:t>for apps where data changes fast (like live stock tickers</a:t>
            </a:r>
            <a:r>
              <a:rPr lang="en-IN" sz="2000" dirty="0" smtClean="0">
                <a:latin typeface="Bahnschrift" panose="020B0502040204020203" pitchFamily="34" charset="0"/>
              </a:rPr>
              <a:t>).</a:t>
            </a:r>
            <a:endParaRPr lang="en-IN" sz="2000" dirty="0">
              <a:latin typeface="Bahnschrift" panose="020B0502040204020203" pitchFamily="34" charset="0"/>
            </a:endParaRPr>
          </a:p>
        </p:txBody>
      </p:sp>
      <p:sp>
        <p:nvSpPr>
          <p:cNvPr id="4" name="Rectangle 3"/>
          <p:cNvSpPr/>
          <p:nvPr/>
        </p:nvSpPr>
        <p:spPr>
          <a:xfrm>
            <a:off x="308113" y="3436198"/>
            <a:ext cx="4240696" cy="2554545"/>
          </a:xfrm>
          <a:prstGeom prst="rect">
            <a:avLst/>
          </a:prstGeom>
        </p:spPr>
        <p:txBody>
          <a:bodyPr wrap="square">
            <a:spAutoFit/>
          </a:bodyPr>
          <a:lstStyle/>
          <a:p>
            <a:r>
              <a:rPr lang="en-US" sz="2000" b="1" dirty="0">
                <a:latin typeface="Bahnschrift" panose="020B0502040204020203" pitchFamily="34" charset="0"/>
              </a:rPr>
              <a:t>Real-World Example: </a:t>
            </a:r>
            <a:endParaRPr lang="en-US" sz="2000" b="1" dirty="0" smtClean="0">
              <a:latin typeface="Bahnschrift" panose="020B0502040204020203" pitchFamily="34" charset="0"/>
            </a:endParaRPr>
          </a:p>
          <a:p>
            <a:r>
              <a:rPr lang="en-US" sz="2000" dirty="0" smtClean="0">
                <a:latin typeface="Bahnschrift" panose="020B0502040204020203" pitchFamily="34" charset="0"/>
              </a:rPr>
              <a:t>In </a:t>
            </a:r>
            <a:r>
              <a:rPr lang="en-US" sz="2000" dirty="0">
                <a:latin typeface="Bahnschrift" panose="020B0502040204020203" pitchFamily="34" charset="0"/>
              </a:rPr>
              <a:t>a shopping cart app, View shows item list bound to </a:t>
            </a:r>
            <a:r>
              <a:rPr lang="en-US" sz="2000" dirty="0" err="1">
                <a:latin typeface="Bahnschrift" panose="020B0502040204020203" pitchFamily="34" charset="0"/>
              </a:rPr>
              <a:t>ViewModel</a:t>
            </a:r>
            <a:r>
              <a:rPr lang="en-US" sz="2000" dirty="0">
                <a:latin typeface="Bahnschrift" panose="020B0502040204020203" pitchFamily="34" charset="0"/>
              </a:rPr>
              <a:t>, which pulls from Model (cart data). </a:t>
            </a:r>
            <a:endParaRPr lang="en-US" sz="2000" dirty="0" smtClean="0">
              <a:latin typeface="Bahnschrift" panose="020B0502040204020203" pitchFamily="34" charset="0"/>
            </a:endParaRPr>
          </a:p>
          <a:p>
            <a:endParaRPr lang="en-US" sz="2000" dirty="0">
              <a:latin typeface="Bahnschrift" panose="020B0502040204020203" pitchFamily="34" charset="0"/>
            </a:endParaRPr>
          </a:p>
          <a:p>
            <a:r>
              <a:rPr lang="en-US" sz="2000" dirty="0" smtClean="0">
                <a:latin typeface="Bahnschrift" panose="020B0502040204020203" pitchFamily="34" charset="0"/>
              </a:rPr>
              <a:t>Add </a:t>
            </a:r>
            <a:r>
              <a:rPr lang="en-US" sz="2000" dirty="0">
                <a:latin typeface="Bahnschrift" panose="020B0502040204020203" pitchFamily="34" charset="0"/>
              </a:rPr>
              <a:t>an item? </a:t>
            </a:r>
            <a:r>
              <a:rPr lang="en-US" sz="2000" dirty="0" err="1">
                <a:latin typeface="Bahnschrift" panose="020B0502040204020203" pitchFamily="34" charset="0"/>
              </a:rPr>
              <a:t>ViewModel</a:t>
            </a:r>
            <a:r>
              <a:rPr lang="en-US" sz="2000" dirty="0">
                <a:latin typeface="Bahnschrift" panose="020B0502040204020203" pitchFamily="34" charset="0"/>
              </a:rPr>
              <a:t> updates, and View auto-shows the new total—no manual refresh!</a:t>
            </a:r>
            <a:endParaRPr lang="en-US" sz="2000" dirty="0">
              <a:effectLst/>
              <a:latin typeface="Bahnschrift" panose="020B0502040204020203" pitchFamily="34" charset="0"/>
            </a:endParaRPr>
          </a:p>
        </p:txBody>
      </p:sp>
      <p:pic>
        <p:nvPicPr>
          <p:cNvPr id="5" name="Picture 4"/>
          <p:cNvPicPr>
            <a:picLocks noChangeAspect="1"/>
          </p:cNvPicPr>
          <p:nvPr/>
        </p:nvPicPr>
        <p:blipFill>
          <a:blip r:embed="rId2"/>
          <a:stretch>
            <a:fillRect/>
          </a:stretch>
        </p:blipFill>
        <p:spPr>
          <a:xfrm>
            <a:off x="5740532" y="638283"/>
            <a:ext cx="5928007" cy="5750849"/>
          </a:xfrm>
          <a:prstGeom prst="rect">
            <a:avLst/>
          </a:prstGeom>
        </p:spPr>
      </p:pic>
    </p:spTree>
    <p:extLst>
      <p:ext uri="{BB962C8B-B14F-4D97-AF65-F5344CB8AC3E}">
        <p14:creationId xmlns:p14="http://schemas.microsoft.com/office/powerpoint/2010/main" val="54990230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00"/>
          </a:solidFill>
        </p:spPr>
        <p:txBody>
          <a:bodyPr>
            <a:normAutofit/>
          </a:bodyPr>
          <a:lstStyle/>
          <a:p>
            <a:r>
              <a:rPr lang="en-US" sz="3600" b="1" dirty="0"/>
              <a:t>3. Comparison with Traditional Monolithic </a:t>
            </a:r>
            <a:r>
              <a:rPr lang="en-US" sz="3600" b="1" dirty="0" smtClean="0"/>
              <a:t>Architecture</a:t>
            </a:r>
            <a:endParaRPr lang="en-IN" sz="3600" dirty="0"/>
          </a:p>
        </p:txBody>
      </p:sp>
      <p:sp>
        <p:nvSpPr>
          <p:cNvPr id="3" name="Content Placeholder 2"/>
          <p:cNvSpPr>
            <a:spLocks noGrp="1"/>
          </p:cNvSpPr>
          <p:nvPr>
            <p:ph idx="1"/>
          </p:nvPr>
        </p:nvSpPr>
        <p:spPr/>
        <p:txBody>
          <a:bodyPr>
            <a:normAutofit/>
          </a:bodyPr>
          <a:lstStyle/>
          <a:p>
            <a:pPr marL="0" indent="0">
              <a:buNone/>
            </a:pPr>
            <a:r>
              <a:rPr lang="en-US" b="1" dirty="0" smtClean="0"/>
              <a:t>🔹 </a:t>
            </a:r>
            <a:r>
              <a:rPr lang="en-US" b="1" dirty="0"/>
              <a:t>Monolithic Applications</a:t>
            </a:r>
          </a:p>
          <a:p>
            <a:r>
              <a:rPr lang="en-US" dirty="0"/>
              <a:t>UI, business logic, and data handling are </a:t>
            </a:r>
            <a:r>
              <a:rPr lang="en-US" b="1" dirty="0"/>
              <a:t>tightly coupled</a:t>
            </a:r>
            <a:r>
              <a:rPr lang="en-US" dirty="0"/>
              <a:t> in one block.</a:t>
            </a:r>
          </a:p>
          <a:p>
            <a:r>
              <a:rPr lang="en-US" b="1" dirty="0"/>
              <a:t>Problems</a:t>
            </a:r>
            <a:r>
              <a:rPr lang="en-US" dirty="0"/>
              <a:t>:</a:t>
            </a:r>
          </a:p>
          <a:p>
            <a:pPr lvl="1"/>
            <a:r>
              <a:rPr lang="en-US" dirty="0"/>
              <a:t>Difficult to maintain.</a:t>
            </a:r>
          </a:p>
          <a:p>
            <a:pPr lvl="1"/>
            <a:r>
              <a:rPr lang="en-US" dirty="0"/>
              <a:t>Hard to scale parts independently.</a:t>
            </a:r>
          </a:p>
          <a:p>
            <a:pPr lvl="1"/>
            <a:r>
              <a:rPr lang="en-US" dirty="0"/>
              <a:t>Poor separation of concerns.</a:t>
            </a:r>
          </a:p>
          <a:p>
            <a:pPr lvl="1"/>
            <a:r>
              <a:rPr lang="en-US" dirty="0"/>
              <a:t>Testing and debugging are harder</a:t>
            </a:r>
            <a:r>
              <a:rPr lang="en-US" dirty="0" smtClean="0"/>
              <a:t>.</a:t>
            </a:r>
            <a:endParaRPr lang="en-US" dirty="0"/>
          </a:p>
        </p:txBody>
      </p:sp>
    </p:spTree>
    <p:extLst>
      <p:ext uri="{BB962C8B-B14F-4D97-AF65-F5344CB8AC3E}">
        <p14:creationId xmlns:p14="http://schemas.microsoft.com/office/powerpoint/2010/main" val="27341083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2400" b="1" dirty="0"/>
              <a:t>🔹 MVC Advantages</a:t>
            </a:r>
          </a:p>
          <a:p>
            <a:r>
              <a:rPr lang="en-US" sz="2400" b="1" dirty="0"/>
              <a:t>Separation of Concerns</a:t>
            </a:r>
            <a:r>
              <a:rPr lang="en-US" sz="2400" dirty="0"/>
              <a:t> → Easier to maintain and extend.</a:t>
            </a:r>
          </a:p>
          <a:p>
            <a:r>
              <a:rPr lang="en-US" sz="2400" b="1" dirty="0"/>
              <a:t>Parallel Development</a:t>
            </a:r>
            <a:r>
              <a:rPr lang="en-US" sz="2400" dirty="0"/>
              <a:t> → Different teams can work on Model, View, and Controller separately.</a:t>
            </a:r>
          </a:p>
          <a:p>
            <a:r>
              <a:rPr lang="en-US" sz="2400" b="1" dirty="0"/>
              <a:t>Reusability</a:t>
            </a:r>
            <a:r>
              <a:rPr lang="en-US" sz="2400" dirty="0"/>
              <a:t> → Views can be reused with different Models.</a:t>
            </a:r>
          </a:p>
          <a:p>
            <a:r>
              <a:rPr lang="en-US" sz="2400" b="1" dirty="0"/>
              <a:t>Testability</a:t>
            </a:r>
            <a:r>
              <a:rPr lang="en-US" sz="2400" dirty="0"/>
              <a:t> → Business logic (Model) can be tested without worrying about UI.</a:t>
            </a:r>
          </a:p>
          <a:p>
            <a:r>
              <a:rPr lang="en-US" sz="2400" b="1" dirty="0"/>
              <a:t>Flexibility</a:t>
            </a:r>
            <a:r>
              <a:rPr lang="en-US" sz="2400" dirty="0"/>
              <a:t> → Easier to swap Views or Controllers without affecting the core logic</a:t>
            </a:r>
            <a:r>
              <a:rPr lang="en-US" sz="2400" dirty="0" smtClean="0"/>
              <a:t>.</a:t>
            </a:r>
            <a:endParaRPr lang="en-US" sz="2400" dirty="0"/>
          </a:p>
        </p:txBody>
      </p:sp>
      <p:sp>
        <p:nvSpPr>
          <p:cNvPr id="4" name="Title 1"/>
          <p:cNvSpPr txBox="1">
            <a:spLocks/>
          </p:cNvSpPr>
          <p:nvPr/>
        </p:nvSpPr>
        <p:spPr>
          <a:xfrm>
            <a:off x="1059427" y="497861"/>
            <a:ext cx="10515600" cy="1325563"/>
          </a:xfrm>
          <a:prstGeom prst="rect">
            <a:avLst/>
          </a:prstGeom>
          <a:solidFill>
            <a:srgbClr val="FFFF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smtClean="0"/>
              <a:t>3. Comparison with Traditional Monolithic Architecture</a:t>
            </a:r>
            <a:endParaRPr lang="en-IN" sz="3600" dirty="0"/>
          </a:p>
        </p:txBody>
      </p:sp>
    </p:spTree>
    <p:extLst>
      <p:ext uri="{BB962C8B-B14F-4D97-AF65-F5344CB8AC3E}">
        <p14:creationId xmlns:p14="http://schemas.microsoft.com/office/powerpoint/2010/main" val="286422718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838200" y="2081054"/>
          <a:ext cx="10515600" cy="2895600"/>
        </p:xfrm>
        <a:graphic>
          <a:graphicData uri="http://schemas.openxmlformats.org/drawingml/2006/table">
            <a:tbl>
              <a:tblPr/>
              <a:tblGrid>
                <a:gridCol w="2083904">
                  <a:extLst>
                    <a:ext uri="{9D8B030D-6E8A-4147-A177-3AD203B41FA5}">
                      <a16:colId xmlns:a16="http://schemas.microsoft.com/office/drawing/2014/main" val="3793877972"/>
                    </a:ext>
                  </a:extLst>
                </a:gridCol>
                <a:gridCol w="3836505">
                  <a:extLst>
                    <a:ext uri="{9D8B030D-6E8A-4147-A177-3AD203B41FA5}">
                      <a16:colId xmlns:a16="http://schemas.microsoft.com/office/drawing/2014/main" val="285314076"/>
                    </a:ext>
                  </a:extLst>
                </a:gridCol>
                <a:gridCol w="4595191">
                  <a:extLst>
                    <a:ext uri="{9D8B030D-6E8A-4147-A177-3AD203B41FA5}">
                      <a16:colId xmlns:a16="http://schemas.microsoft.com/office/drawing/2014/main" val="1450261466"/>
                    </a:ext>
                  </a:extLst>
                </a:gridCol>
              </a:tblGrid>
              <a:tr h="0">
                <a:tc>
                  <a:txBody>
                    <a:bodyPr/>
                    <a:lstStyle/>
                    <a:p>
                      <a:r>
                        <a:rPr lang="en-IN" sz="2800" b="1" dirty="0"/>
                        <a:t>Aspect</a:t>
                      </a:r>
                    </a:p>
                  </a:txBody>
                  <a:tcPr anchor="ctr">
                    <a:lnL>
                      <a:noFill/>
                    </a:lnL>
                    <a:lnR>
                      <a:noFill/>
                    </a:lnR>
                    <a:lnT>
                      <a:noFill/>
                    </a:lnT>
                    <a:lnB>
                      <a:noFill/>
                    </a:lnB>
                  </a:tcPr>
                </a:tc>
                <a:tc>
                  <a:txBody>
                    <a:bodyPr/>
                    <a:lstStyle/>
                    <a:p>
                      <a:r>
                        <a:rPr lang="en-IN" sz="2800" b="1" dirty="0"/>
                        <a:t>MVC</a:t>
                      </a:r>
                    </a:p>
                  </a:txBody>
                  <a:tcPr anchor="ctr">
                    <a:lnL>
                      <a:noFill/>
                    </a:lnL>
                    <a:lnR>
                      <a:noFill/>
                    </a:lnR>
                    <a:lnT>
                      <a:noFill/>
                    </a:lnT>
                    <a:lnB>
                      <a:noFill/>
                    </a:lnB>
                  </a:tcPr>
                </a:tc>
                <a:tc>
                  <a:txBody>
                    <a:bodyPr/>
                    <a:lstStyle/>
                    <a:p>
                      <a:r>
                        <a:rPr lang="en-IN" sz="2800" b="1" dirty="0"/>
                        <a:t>MVP</a:t>
                      </a:r>
                    </a:p>
                  </a:txBody>
                  <a:tcPr anchor="ctr">
                    <a:lnL>
                      <a:noFill/>
                    </a:lnL>
                    <a:lnR>
                      <a:noFill/>
                    </a:lnR>
                    <a:lnT>
                      <a:noFill/>
                    </a:lnT>
                    <a:lnB>
                      <a:noFill/>
                    </a:lnB>
                  </a:tcPr>
                </a:tc>
                <a:extLst>
                  <a:ext uri="{0D108BD9-81ED-4DB2-BD59-A6C34878D82A}">
                    <a16:rowId xmlns:a16="http://schemas.microsoft.com/office/drawing/2014/main" val="1977960999"/>
                  </a:ext>
                </a:extLst>
              </a:tr>
              <a:tr h="0">
                <a:tc>
                  <a:txBody>
                    <a:bodyPr/>
                    <a:lstStyle/>
                    <a:p>
                      <a:r>
                        <a:rPr lang="en-IN" b="1" dirty="0"/>
                        <a:t>Origin</a:t>
                      </a:r>
                      <a:endParaRPr lang="en-IN" dirty="0"/>
                    </a:p>
                  </a:txBody>
                  <a:tcPr anchor="ctr">
                    <a:lnL>
                      <a:noFill/>
                    </a:lnL>
                    <a:lnR>
                      <a:noFill/>
                    </a:lnR>
                    <a:lnT>
                      <a:noFill/>
                    </a:lnT>
                    <a:lnB>
                      <a:noFill/>
                    </a:lnB>
                  </a:tcPr>
                </a:tc>
                <a:tc>
                  <a:txBody>
                    <a:bodyPr/>
                    <a:lstStyle/>
                    <a:p>
                      <a:r>
                        <a:rPr lang="en-IN"/>
                        <a:t>Oldest (1979, Smalltalk)</a:t>
                      </a:r>
                    </a:p>
                  </a:txBody>
                  <a:tcPr anchor="ctr">
                    <a:lnL>
                      <a:noFill/>
                    </a:lnL>
                    <a:lnR>
                      <a:noFill/>
                    </a:lnR>
                    <a:lnT>
                      <a:noFill/>
                    </a:lnT>
                    <a:lnB>
                      <a:noFill/>
                    </a:lnB>
                  </a:tcPr>
                </a:tc>
                <a:tc>
                  <a:txBody>
                    <a:bodyPr/>
                    <a:lstStyle/>
                    <a:p>
                      <a:r>
                        <a:rPr lang="en-US"/>
                        <a:t>Evolved later (used in WinForms, Android, etc.)</a:t>
                      </a:r>
                    </a:p>
                  </a:txBody>
                  <a:tcPr anchor="ctr">
                    <a:lnL>
                      <a:noFill/>
                    </a:lnL>
                    <a:lnR>
                      <a:noFill/>
                    </a:lnR>
                    <a:lnT>
                      <a:noFill/>
                    </a:lnT>
                    <a:lnB>
                      <a:noFill/>
                    </a:lnB>
                  </a:tcPr>
                </a:tc>
                <a:extLst>
                  <a:ext uri="{0D108BD9-81ED-4DB2-BD59-A6C34878D82A}">
                    <a16:rowId xmlns:a16="http://schemas.microsoft.com/office/drawing/2014/main" val="2307205731"/>
                  </a:ext>
                </a:extLst>
              </a:tr>
              <a:tr h="0">
                <a:tc>
                  <a:txBody>
                    <a:bodyPr/>
                    <a:lstStyle/>
                    <a:p>
                      <a:r>
                        <a:rPr lang="en-IN" b="1" dirty="0"/>
                        <a:t>View’s Role</a:t>
                      </a:r>
                      <a:endParaRPr lang="en-IN" dirty="0"/>
                    </a:p>
                  </a:txBody>
                  <a:tcPr anchor="ctr">
                    <a:lnL>
                      <a:noFill/>
                    </a:lnL>
                    <a:lnR>
                      <a:noFill/>
                    </a:lnR>
                    <a:lnT>
                      <a:noFill/>
                    </a:lnT>
                    <a:lnB>
                      <a:noFill/>
                    </a:lnB>
                  </a:tcPr>
                </a:tc>
                <a:tc>
                  <a:txBody>
                    <a:bodyPr/>
                    <a:lstStyle/>
                    <a:p>
                      <a:r>
                        <a:rPr lang="en-IN" dirty="0"/>
                        <a:t>Passive → waits for Model updates</a:t>
                      </a:r>
                    </a:p>
                  </a:txBody>
                  <a:tcPr anchor="ctr">
                    <a:lnL>
                      <a:noFill/>
                    </a:lnL>
                    <a:lnR>
                      <a:noFill/>
                    </a:lnR>
                    <a:lnT>
                      <a:noFill/>
                    </a:lnT>
                    <a:lnB>
                      <a:noFill/>
                    </a:lnB>
                  </a:tcPr>
                </a:tc>
                <a:tc>
                  <a:txBody>
                    <a:bodyPr/>
                    <a:lstStyle/>
                    <a:p>
                      <a:r>
                        <a:rPr lang="en-US"/>
                        <a:t>Active → interacts with Presenter directly</a:t>
                      </a:r>
                    </a:p>
                  </a:txBody>
                  <a:tcPr anchor="ctr">
                    <a:lnL>
                      <a:noFill/>
                    </a:lnL>
                    <a:lnR>
                      <a:noFill/>
                    </a:lnR>
                    <a:lnT>
                      <a:noFill/>
                    </a:lnT>
                    <a:lnB>
                      <a:noFill/>
                    </a:lnB>
                  </a:tcPr>
                </a:tc>
                <a:extLst>
                  <a:ext uri="{0D108BD9-81ED-4DB2-BD59-A6C34878D82A}">
                    <a16:rowId xmlns:a16="http://schemas.microsoft.com/office/drawing/2014/main" val="2736728130"/>
                  </a:ext>
                </a:extLst>
              </a:tr>
              <a:tr h="0">
                <a:tc>
                  <a:txBody>
                    <a:bodyPr/>
                    <a:lstStyle/>
                    <a:p>
                      <a:r>
                        <a:rPr lang="en-IN" b="1" dirty="0"/>
                        <a:t>Controller / Presenter</a:t>
                      </a:r>
                      <a:endParaRPr lang="en-IN" dirty="0"/>
                    </a:p>
                  </a:txBody>
                  <a:tcPr anchor="ctr">
                    <a:lnL>
                      <a:noFill/>
                    </a:lnL>
                    <a:lnR>
                      <a:noFill/>
                    </a:lnR>
                    <a:lnT>
                      <a:noFill/>
                    </a:lnT>
                    <a:lnB>
                      <a:noFill/>
                    </a:lnB>
                  </a:tcPr>
                </a:tc>
                <a:tc>
                  <a:txBody>
                    <a:bodyPr/>
                    <a:lstStyle/>
                    <a:p>
                      <a:r>
                        <a:rPr lang="en-IN" dirty="0"/>
                        <a:t>Controller interprets input, updates Model</a:t>
                      </a:r>
                    </a:p>
                  </a:txBody>
                  <a:tcPr anchor="ctr">
                    <a:lnL>
                      <a:noFill/>
                    </a:lnL>
                    <a:lnR>
                      <a:noFill/>
                    </a:lnR>
                    <a:lnT>
                      <a:noFill/>
                    </a:lnT>
                    <a:lnB>
                      <a:noFill/>
                    </a:lnB>
                  </a:tcPr>
                </a:tc>
                <a:tc>
                  <a:txBody>
                    <a:bodyPr/>
                    <a:lstStyle/>
                    <a:p>
                      <a:r>
                        <a:rPr lang="en-US"/>
                        <a:t>Presenter takes full control of View updates</a:t>
                      </a:r>
                    </a:p>
                  </a:txBody>
                  <a:tcPr anchor="ctr">
                    <a:lnL>
                      <a:noFill/>
                    </a:lnL>
                    <a:lnR>
                      <a:noFill/>
                    </a:lnR>
                    <a:lnT>
                      <a:noFill/>
                    </a:lnT>
                    <a:lnB>
                      <a:noFill/>
                    </a:lnB>
                  </a:tcPr>
                </a:tc>
                <a:extLst>
                  <a:ext uri="{0D108BD9-81ED-4DB2-BD59-A6C34878D82A}">
                    <a16:rowId xmlns:a16="http://schemas.microsoft.com/office/drawing/2014/main" val="3853897493"/>
                  </a:ext>
                </a:extLst>
              </a:tr>
              <a:tr h="0">
                <a:tc>
                  <a:txBody>
                    <a:bodyPr/>
                    <a:lstStyle/>
                    <a:p>
                      <a:r>
                        <a:rPr lang="en-IN" b="1"/>
                        <a:t>Dependency</a:t>
                      </a:r>
                      <a:endParaRPr lang="en-IN"/>
                    </a:p>
                  </a:txBody>
                  <a:tcPr anchor="ctr">
                    <a:lnL>
                      <a:noFill/>
                    </a:lnL>
                    <a:lnR>
                      <a:noFill/>
                    </a:lnR>
                    <a:lnT>
                      <a:noFill/>
                    </a:lnT>
                    <a:lnB>
                      <a:noFill/>
                    </a:lnB>
                  </a:tcPr>
                </a:tc>
                <a:tc>
                  <a:txBody>
                    <a:bodyPr/>
                    <a:lstStyle/>
                    <a:p>
                      <a:r>
                        <a:rPr lang="en-IN" dirty="0"/>
                        <a:t>View depends on Model</a:t>
                      </a:r>
                    </a:p>
                  </a:txBody>
                  <a:tcPr anchor="ctr">
                    <a:lnL>
                      <a:noFill/>
                    </a:lnL>
                    <a:lnR>
                      <a:noFill/>
                    </a:lnR>
                    <a:lnT>
                      <a:noFill/>
                    </a:lnT>
                    <a:lnB>
                      <a:noFill/>
                    </a:lnB>
                  </a:tcPr>
                </a:tc>
                <a:tc>
                  <a:txBody>
                    <a:bodyPr/>
                    <a:lstStyle/>
                    <a:p>
                      <a:r>
                        <a:rPr lang="en-IN" dirty="0"/>
                        <a:t>View depends on Presenter</a:t>
                      </a:r>
                    </a:p>
                  </a:txBody>
                  <a:tcPr anchor="ctr">
                    <a:lnL>
                      <a:noFill/>
                    </a:lnL>
                    <a:lnR>
                      <a:noFill/>
                    </a:lnR>
                    <a:lnT>
                      <a:noFill/>
                    </a:lnT>
                    <a:lnB>
                      <a:noFill/>
                    </a:lnB>
                  </a:tcPr>
                </a:tc>
                <a:extLst>
                  <a:ext uri="{0D108BD9-81ED-4DB2-BD59-A6C34878D82A}">
                    <a16:rowId xmlns:a16="http://schemas.microsoft.com/office/drawing/2014/main" val="3431284256"/>
                  </a:ext>
                </a:extLst>
              </a:tr>
              <a:tr h="0">
                <a:tc>
                  <a:txBody>
                    <a:bodyPr/>
                    <a:lstStyle/>
                    <a:p>
                      <a:r>
                        <a:rPr lang="en-IN" b="1"/>
                        <a:t>Usage</a:t>
                      </a:r>
                      <a:endParaRPr lang="en-IN"/>
                    </a:p>
                  </a:txBody>
                  <a:tcPr anchor="ctr">
                    <a:lnL>
                      <a:noFill/>
                    </a:lnL>
                    <a:lnR>
                      <a:noFill/>
                    </a:lnR>
                    <a:lnT>
                      <a:noFill/>
                    </a:lnT>
                    <a:lnB>
                      <a:noFill/>
                    </a:lnB>
                  </a:tcPr>
                </a:tc>
                <a:tc>
                  <a:txBody>
                    <a:bodyPr/>
                    <a:lstStyle/>
                    <a:p>
                      <a:r>
                        <a:rPr lang="en-IN"/>
                        <a:t>Web frameworks (Spring MVC, ASP.NET MVC)</a:t>
                      </a:r>
                    </a:p>
                  </a:txBody>
                  <a:tcPr anchor="ctr">
                    <a:lnL>
                      <a:noFill/>
                    </a:lnL>
                    <a:lnR>
                      <a:noFill/>
                    </a:lnR>
                    <a:lnT>
                      <a:noFill/>
                    </a:lnT>
                    <a:lnB>
                      <a:noFill/>
                    </a:lnB>
                  </a:tcPr>
                </a:tc>
                <a:tc>
                  <a:txBody>
                    <a:bodyPr/>
                    <a:lstStyle/>
                    <a:p>
                      <a:r>
                        <a:rPr lang="en-US" dirty="0"/>
                        <a:t>Desktop &amp; mobile apps (</a:t>
                      </a:r>
                      <a:r>
                        <a:rPr lang="en-US" dirty="0" err="1"/>
                        <a:t>WinForms</a:t>
                      </a:r>
                      <a:r>
                        <a:rPr lang="en-US" dirty="0"/>
                        <a:t>, early Android)</a:t>
                      </a:r>
                    </a:p>
                  </a:txBody>
                  <a:tcPr anchor="ctr">
                    <a:lnL>
                      <a:noFill/>
                    </a:lnL>
                    <a:lnR>
                      <a:noFill/>
                    </a:lnR>
                    <a:lnT>
                      <a:noFill/>
                    </a:lnT>
                    <a:lnB>
                      <a:noFill/>
                    </a:lnB>
                  </a:tcPr>
                </a:tc>
                <a:extLst>
                  <a:ext uri="{0D108BD9-81ED-4DB2-BD59-A6C34878D82A}">
                    <a16:rowId xmlns:a16="http://schemas.microsoft.com/office/drawing/2014/main" val="171727722"/>
                  </a:ext>
                </a:extLst>
              </a:tr>
            </a:tbl>
          </a:graphicData>
        </a:graphic>
      </p:graphicFrame>
      <p:sp>
        <p:nvSpPr>
          <p:cNvPr id="5" name="Rectangle 1"/>
          <p:cNvSpPr>
            <a:spLocks noChangeArrowheads="1"/>
          </p:cNvSpPr>
          <p:nvPr/>
        </p:nvSpPr>
        <p:spPr bwMode="auto">
          <a:xfrm>
            <a:off x="963561" y="1116084"/>
            <a:ext cx="7993626" cy="584775"/>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smtClean="0">
                <a:ln>
                  <a:noFill/>
                </a:ln>
                <a:solidFill>
                  <a:schemeClr val="tx1"/>
                </a:solidFill>
                <a:effectLst/>
                <a:latin typeface="Arial" panose="020B0604020202020204" pitchFamily="34" charset="0"/>
              </a:rPr>
              <a:t>5. MVC vs. MVP (Model-View-Presenter)</a:t>
            </a:r>
          </a:p>
        </p:txBody>
      </p:sp>
    </p:spTree>
    <p:extLst>
      <p:ext uri="{BB962C8B-B14F-4D97-AF65-F5344CB8AC3E}">
        <p14:creationId xmlns:p14="http://schemas.microsoft.com/office/powerpoint/2010/main" val="31018261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sz="2400" dirty="0" smtClean="0">
                <a:latin typeface="Bahnschrift" panose="020B0502040204020203" pitchFamily="34" charset="0"/>
              </a:rPr>
              <a:t>Maven </a:t>
            </a:r>
            <a:r>
              <a:rPr lang="en-IN" sz="2400" dirty="0">
                <a:latin typeface="Bahnschrift" panose="020B0502040204020203" pitchFamily="34" charset="0"/>
              </a:rPr>
              <a:t>is a </a:t>
            </a:r>
            <a:endParaRPr lang="en-IN" sz="2400" dirty="0" smtClean="0">
              <a:latin typeface="Bahnschrift" panose="020B0502040204020203" pitchFamily="34" charset="0"/>
            </a:endParaRPr>
          </a:p>
          <a:p>
            <a:pPr lvl="1"/>
            <a:r>
              <a:rPr lang="en-IN" sz="2000" b="1" dirty="0" smtClean="0">
                <a:latin typeface="Bahnschrift" panose="020B0502040204020203" pitchFamily="34" charset="0"/>
              </a:rPr>
              <a:t>build </a:t>
            </a:r>
            <a:r>
              <a:rPr lang="en-IN" sz="2000" b="1" dirty="0">
                <a:latin typeface="Bahnschrift" panose="020B0502040204020203" pitchFamily="34" charset="0"/>
              </a:rPr>
              <a:t>tool</a:t>
            </a:r>
            <a:r>
              <a:rPr lang="en-IN" sz="2000" dirty="0">
                <a:latin typeface="Bahnschrift" panose="020B0502040204020203" pitchFamily="34" charset="0"/>
              </a:rPr>
              <a:t> (compiles source to </a:t>
            </a:r>
            <a:r>
              <a:rPr lang="en-IN" sz="2000" dirty="0" smtClean="0">
                <a:latin typeface="Bahnschrift" panose="020B0502040204020203" pitchFamily="34" charset="0"/>
              </a:rPr>
              <a:t>JAR/WAR), </a:t>
            </a:r>
          </a:p>
          <a:p>
            <a:pPr lvl="1"/>
            <a:r>
              <a:rPr lang="en-IN" sz="2000" b="1" dirty="0" smtClean="0">
                <a:latin typeface="Bahnschrift" panose="020B0502040204020203" pitchFamily="34" charset="0"/>
              </a:rPr>
              <a:t>dependency </a:t>
            </a:r>
            <a:r>
              <a:rPr lang="en-IN" sz="2000" b="1" dirty="0">
                <a:latin typeface="Bahnschrift" panose="020B0502040204020203" pitchFamily="34" charset="0"/>
              </a:rPr>
              <a:t>manager</a:t>
            </a:r>
            <a:r>
              <a:rPr lang="en-IN" sz="2000" dirty="0">
                <a:latin typeface="Bahnschrift" panose="020B0502040204020203" pitchFamily="34" charset="0"/>
              </a:rPr>
              <a:t> (auto-downloads libraries/</a:t>
            </a:r>
            <a:r>
              <a:rPr lang="en-IN" sz="2000" dirty="0" err="1">
                <a:latin typeface="Bahnschrift" panose="020B0502040204020203" pitchFamily="34" charset="0"/>
              </a:rPr>
              <a:t>transitives</a:t>
            </a:r>
            <a:r>
              <a:rPr lang="en-IN" sz="2000" dirty="0">
                <a:latin typeface="Bahnschrift" panose="020B0502040204020203" pitchFamily="34" charset="0"/>
              </a:rPr>
              <a:t>), </a:t>
            </a:r>
            <a:endParaRPr lang="en-IN" sz="2000" dirty="0" smtClean="0">
              <a:latin typeface="Bahnschrift" panose="020B0502040204020203" pitchFamily="34" charset="0"/>
            </a:endParaRPr>
          </a:p>
          <a:p>
            <a:pPr lvl="1"/>
            <a:r>
              <a:rPr lang="en-IN" sz="2000" b="1" dirty="0" smtClean="0">
                <a:latin typeface="Bahnschrift" panose="020B0502040204020203" pitchFamily="34" charset="0"/>
              </a:rPr>
              <a:t>project </a:t>
            </a:r>
            <a:r>
              <a:rPr lang="en-IN" sz="2000" b="1" dirty="0">
                <a:latin typeface="Bahnschrift" panose="020B0502040204020203" pitchFamily="34" charset="0"/>
              </a:rPr>
              <a:t>manager</a:t>
            </a:r>
            <a:r>
              <a:rPr lang="en-IN" sz="2000" dirty="0">
                <a:latin typeface="Bahnschrift" panose="020B0502040204020203" pitchFamily="34" charset="0"/>
              </a:rPr>
              <a:t> (POM for metadata like versions/developers), and </a:t>
            </a:r>
            <a:endParaRPr lang="en-IN" sz="2000" dirty="0" smtClean="0">
              <a:latin typeface="Bahnschrift" panose="020B0502040204020203" pitchFamily="34" charset="0"/>
            </a:endParaRPr>
          </a:p>
          <a:p>
            <a:pPr lvl="1"/>
            <a:r>
              <a:rPr lang="en-IN" sz="2000" b="1" dirty="0" smtClean="0">
                <a:latin typeface="Bahnschrift" panose="020B0502040204020203" pitchFamily="34" charset="0"/>
              </a:rPr>
              <a:t>standardizer</a:t>
            </a:r>
            <a:r>
              <a:rPr lang="en-IN" sz="2000" dirty="0" smtClean="0">
                <a:latin typeface="Bahnschrift" panose="020B0502040204020203" pitchFamily="34" charset="0"/>
              </a:rPr>
              <a:t> </a:t>
            </a:r>
            <a:r>
              <a:rPr lang="en-IN" sz="2000" dirty="0">
                <a:latin typeface="Bahnschrift" panose="020B0502040204020203" pitchFamily="34" charset="0"/>
              </a:rPr>
              <a:t>(uniform structure/lifecycle). </a:t>
            </a:r>
            <a:endParaRPr lang="en-IN" sz="2000" dirty="0" smtClean="0">
              <a:latin typeface="Bahnschrift" panose="020B0502040204020203" pitchFamily="34" charset="0"/>
            </a:endParaRPr>
          </a:p>
          <a:p>
            <a:r>
              <a:rPr lang="en-IN" sz="2400" dirty="0" smtClean="0">
                <a:latin typeface="Bahnschrift" panose="020B0502040204020203" pitchFamily="34" charset="0"/>
              </a:rPr>
              <a:t>Primarily </a:t>
            </a:r>
            <a:r>
              <a:rPr lang="en-IN" sz="2400" dirty="0">
                <a:latin typeface="Bahnschrift" panose="020B0502040204020203" pitchFamily="34" charset="0"/>
              </a:rPr>
              <a:t>command-line, but IDE-integrated (Eclipse/NetBeans).</a:t>
            </a:r>
            <a:endParaRPr lang="en-IN" dirty="0">
              <a:effectLst/>
              <a:latin typeface="Bahnschrift" panose="020B0502040204020203" pitchFamily="34" charset="0"/>
            </a:endParaRPr>
          </a:p>
        </p:txBody>
      </p:sp>
      <p:pic>
        <p:nvPicPr>
          <p:cNvPr id="4" name="Picture 3" descr="A colorful feather on a black background&#10;&#10;Description automatically generated">
            <a:extLst>
              <a:ext uri="{FF2B5EF4-FFF2-40B4-BE49-F238E27FC236}">
                <a16:creationId xmlns:a16="http://schemas.microsoft.com/office/drawing/2014/main" id="{006B4AE1-7F99-5955-EF18-6D587DC21C19}"/>
              </a:ext>
            </a:extLst>
          </p:cNvPr>
          <p:cNvPicPr>
            <a:picLocks noChangeAspect="1"/>
          </p:cNvPicPr>
          <p:nvPr/>
        </p:nvPicPr>
        <p:blipFill>
          <a:blip r:embed="rId2"/>
          <a:stretch>
            <a:fillRect/>
          </a:stretch>
        </p:blipFill>
        <p:spPr>
          <a:xfrm>
            <a:off x="1216326" y="681047"/>
            <a:ext cx="2743198" cy="693868"/>
          </a:xfrm>
          <a:prstGeom prst="rect">
            <a:avLst/>
          </a:prstGeom>
        </p:spPr>
      </p:pic>
    </p:spTree>
    <p:extLst>
      <p:ext uri="{BB962C8B-B14F-4D97-AF65-F5344CB8AC3E}">
        <p14:creationId xmlns:p14="http://schemas.microsoft.com/office/powerpoint/2010/main" val="105801513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7865" y="1343845"/>
            <a:ext cx="10515600" cy="4351338"/>
          </a:xfrm>
        </p:spPr>
        <p:txBody>
          <a:bodyPr>
            <a:normAutofit fontScale="85000" lnSpcReduction="20000"/>
          </a:bodyPr>
          <a:lstStyle/>
          <a:p>
            <a:pPr marL="0" indent="0">
              <a:buNone/>
            </a:pPr>
            <a:r>
              <a:rPr lang="en-IN" b="1" dirty="0">
                <a:latin typeface="Arial" panose="020B0604020202020204" pitchFamily="34" charset="0"/>
                <a:cs typeface="Arial" panose="020B0604020202020204" pitchFamily="34" charset="0"/>
              </a:rPr>
              <a:t>Build Tools Benefits</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Automates repeatable builds (compile, test, Javadoc, deploy).</a:t>
            </a:r>
          </a:p>
          <a:p>
            <a:r>
              <a:rPr lang="en-IN" dirty="0">
                <a:latin typeface="Arial" panose="020B0604020202020204" pitchFamily="34" charset="0"/>
                <a:cs typeface="Arial" panose="020B0604020202020204" pitchFamily="34" charset="0"/>
              </a:rPr>
              <a:t>IDE-agnostic; </a:t>
            </a:r>
          </a:p>
          <a:p>
            <a:pPr marL="0" indent="0">
              <a:buNone/>
            </a:pPr>
            <a:r>
              <a:rPr lang="en-IN" b="1" dirty="0">
                <a:latin typeface="Arial" panose="020B0604020202020204" pitchFamily="34" charset="0"/>
                <a:cs typeface="Arial" panose="020B0604020202020204" pitchFamily="34" charset="0"/>
              </a:rPr>
              <a:t>Dependency Management</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Pulls from remote repos (e.g., Maven Central) via POM coordinates.</a:t>
            </a:r>
          </a:p>
          <a:p>
            <a:r>
              <a:rPr lang="en-IN" dirty="0">
                <a:latin typeface="Arial" panose="020B0604020202020204" pitchFamily="34" charset="0"/>
                <a:cs typeface="Arial" panose="020B0604020202020204" pitchFamily="34" charset="0"/>
              </a:rPr>
              <a:t>Handles </a:t>
            </a:r>
            <a:r>
              <a:rPr lang="en-IN" dirty="0" err="1">
                <a:latin typeface="Arial" panose="020B0604020202020204" pitchFamily="34" charset="0"/>
                <a:cs typeface="Arial" panose="020B0604020202020204" pitchFamily="34" charset="0"/>
              </a:rPr>
              <a:t>transitives</a:t>
            </a:r>
            <a:r>
              <a:rPr lang="en-IN" dirty="0">
                <a:latin typeface="Arial" panose="020B0604020202020204" pitchFamily="34" charset="0"/>
                <a:cs typeface="Arial" panose="020B0604020202020204" pitchFamily="34" charset="0"/>
              </a:rPr>
              <a:t> (e.g., Spring's deps) and scopes (e.g., test-only).</a:t>
            </a:r>
          </a:p>
          <a:p>
            <a:pPr marL="0" indent="0">
              <a:buNone/>
            </a:pPr>
            <a:r>
              <a:rPr lang="en-IN" b="1" dirty="0">
                <a:latin typeface="Arial" panose="020B0604020202020204" pitchFamily="34" charset="0"/>
                <a:cs typeface="Arial" panose="020B0604020202020204" pitchFamily="34" charset="0"/>
              </a:rPr>
              <a:t>Project Management</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POM lists versions, developers, generates </a:t>
            </a:r>
            <a:r>
              <a:rPr lang="en-IN" dirty="0" smtClean="0">
                <a:latin typeface="Arial" panose="020B0604020202020204" pitchFamily="34" charset="0"/>
                <a:cs typeface="Arial" panose="020B0604020202020204" pitchFamily="34" charset="0"/>
              </a:rPr>
              <a:t>changelogs/docs/reports. </a:t>
            </a:r>
          </a:p>
          <a:p>
            <a:pPr marL="0" indent="0">
              <a:buNone/>
            </a:pPr>
            <a:r>
              <a:rPr lang="en-IN" b="1" dirty="0" smtClean="0">
                <a:latin typeface="Arial" panose="020B0604020202020204" pitchFamily="34" charset="0"/>
                <a:cs typeface="Arial" panose="020B0604020202020204" pitchFamily="34" charset="0"/>
              </a:rPr>
              <a:t>Standardization</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Convention over configuration: Fixed directory layout (e.g., </a:t>
            </a:r>
            <a:r>
              <a:rPr lang="en-IN" dirty="0" err="1">
                <a:latin typeface="Arial" panose="020B0604020202020204" pitchFamily="34" charset="0"/>
                <a:cs typeface="Arial" panose="020B0604020202020204" pitchFamily="34" charset="0"/>
              </a:rPr>
              <a:t>src</a:t>
            </a:r>
            <a:r>
              <a:rPr lang="en-IN" dirty="0">
                <a:latin typeface="Arial" panose="020B0604020202020204" pitchFamily="34" charset="0"/>
                <a:cs typeface="Arial" panose="020B0604020202020204" pitchFamily="34" charset="0"/>
              </a:rPr>
              <a:t>/main/java).</a:t>
            </a:r>
          </a:p>
          <a:p>
            <a:r>
              <a:rPr lang="en-IN" dirty="0">
                <a:latin typeface="Arial" panose="020B0604020202020204" pitchFamily="34" charset="0"/>
                <a:cs typeface="Arial" panose="020B0604020202020204" pitchFamily="34" charset="0"/>
              </a:rPr>
              <a:t>Lifecycle phases: Compile → Test → Package → Deploy.</a:t>
            </a:r>
          </a:p>
        </p:txBody>
      </p:sp>
    </p:spTree>
    <p:extLst>
      <p:ext uri="{BB962C8B-B14F-4D97-AF65-F5344CB8AC3E}">
        <p14:creationId xmlns:p14="http://schemas.microsoft.com/office/powerpoint/2010/main" val="142373450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Maven Installation</a:t>
            </a:r>
            <a:endParaRPr lang="en-IN" b="1" dirty="0">
              <a:effectLst/>
            </a:endParaRPr>
          </a:p>
        </p:txBody>
      </p:sp>
      <p:sp>
        <p:nvSpPr>
          <p:cNvPr id="4" name="Rectangle 1"/>
          <p:cNvSpPr>
            <a:spLocks noGrp="1" noChangeArrowheads="1"/>
          </p:cNvSpPr>
          <p:nvPr>
            <p:ph idx="1"/>
          </p:nvPr>
        </p:nvSpPr>
        <p:spPr bwMode="auto">
          <a:xfrm>
            <a:off x="769374" y="2007096"/>
            <a:ext cx="10388228"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400" b="0" i="0" u="none" strike="noStrike" cap="none" normalizeH="0" baseline="0" dirty="0" smtClean="0">
                <a:ln>
                  <a:noFill/>
                </a:ln>
                <a:solidFill>
                  <a:schemeClr val="tx1"/>
                </a:solidFill>
                <a:effectLst/>
                <a:latin typeface="Arial" panose="020B0604020202020204" pitchFamily="34" charset="0"/>
              </a:rPr>
              <a:t>Download binary ZIP from maven.apache.org (3.2.5: 7.7MB). </a:t>
            </a:r>
          </a:p>
          <a:p>
            <a:pPr eaLnBrk="0" fontAlgn="base" hangingPunct="0">
              <a:lnSpc>
                <a:spcPct val="100000"/>
              </a:lnSpc>
              <a:spcBef>
                <a:spcPct val="0"/>
              </a:spcBef>
              <a:spcAft>
                <a:spcPct val="0"/>
              </a:spcAft>
            </a:pPr>
            <a:r>
              <a:rPr kumimoji="0" lang="en-US" altLang="en-US" sz="2400" b="0" i="0" u="none" strike="noStrike" cap="none" normalizeH="0" baseline="0" dirty="0" smtClean="0">
                <a:ln>
                  <a:noFill/>
                </a:ln>
                <a:solidFill>
                  <a:schemeClr val="tx1"/>
                </a:solidFill>
                <a:effectLst/>
                <a:latin typeface="Arial" panose="020B0604020202020204" pitchFamily="34" charset="0"/>
              </a:rPr>
              <a:t>Extract to e.g., C:\Software\apache-maven-3.2.5. </a:t>
            </a:r>
          </a:p>
          <a:p>
            <a:pPr eaLnBrk="0" fontAlgn="base" hangingPunct="0">
              <a:lnSpc>
                <a:spcPct val="100000"/>
              </a:lnSpc>
              <a:spcBef>
                <a:spcPct val="0"/>
              </a:spcBef>
              <a:spcAft>
                <a:spcPct val="0"/>
              </a:spcAft>
            </a:pPr>
            <a:r>
              <a:rPr kumimoji="0" lang="en-US" altLang="en-US" sz="2400" b="0" i="0" u="none" strike="noStrike" cap="none" normalizeH="0" baseline="0" dirty="0" smtClean="0">
                <a:ln>
                  <a:noFill/>
                </a:ln>
                <a:solidFill>
                  <a:schemeClr val="tx1"/>
                </a:solidFill>
                <a:effectLst/>
                <a:latin typeface="Arial" panose="020B0604020202020204" pitchFamily="34" charset="0"/>
              </a:rPr>
              <a:t>Add bin/ to PATH (System Properties → Environment Variables → Path). </a:t>
            </a:r>
          </a:p>
          <a:p>
            <a:pPr eaLnBrk="0" fontAlgn="base" hangingPunct="0">
              <a:lnSpc>
                <a:spcPct val="100000"/>
              </a:lnSpc>
              <a:spcBef>
                <a:spcPct val="0"/>
              </a:spcBef>
              <a:spcAft>
                <a:spcPct val="0"/>
              </a:spcAft>
            </a:pPr>
            <a:r>
              <a:rPr kumimoji="0" lang="en-US" altLang="en-US" sz="2400" b="0" i="0" u="none" strike="noStrike" cap="none" normalizeH="0" baseline="0" dirty="0" smtClean="0">
                <a:ln>
                  <a:noFill/>
                </a:ln>
                <a:solidFill>
                  <a:schemeClr val="tx1"/>
                </a:solidFill>
                <a:effectLst/>
                <a:latin typeface="Arial" panose="020B0604020202020204" pitchFamily="34" charset="0"/>
              </a:rPr>
              <a:t>Verify: </a:t>
            </a:r>
            <a:r>
              <a:rPr kumimoji="0" lang="en-US" altLang="en-US" sz="2400" b="0" i="0" u="none" strike="noStrike" cap="none" normalizeH="0" baseline="0" dirty="0" err="1" smtClean="0">
                <a:ln>
                  <a:noFill/>
                </a:ln>
                <a:solidFill>
                  <a:schemeClr val="tx1"/>
                </a:solidFill>
                <a:effectLst/>
                <a:latin typeface="Arial" panose="020B0604020202020204" pitchFamily="34" charset="0"/>
              </a:rPr>
              <a:t>mvn</a:t>
            </a:r>
            <a:r>
              <a:rPr kumimoji="0" lang="en-US" altLang="en-US" sz="2400" b="0" i="0" u="none" strike="noStrike" cap="none" normalizeH="0" baseline="0" dirty="0" smtClean="0">
                <a:ln>
                  <a:noFill/>
                </a:ln>
                <a:solidFill>
                  <a:schemeClr val="tx1"/>
                </a:solidFill>
                <a:effectLst/>
                <a:latin typeface="Arial" panose="020B0604020202020204" pitchFamily="34" charset="0"/>
              </a:rPr>
              <a:t> -version (shows Maven home, Java version). </a:t>
            </a:r>
          </a:p>
        </p:txBody>
      </p:sp>
      <p:sp>
        <p:nvSpPr>
          <p:cNvPr id="5" name="Rectangle 4"/>
          <p:cNvSpPr/>
          <p:nvPr/>
        </p:nvSpPr>
        <p:spPr>
          <a:xfrm>
            <a:off x="698090" y="4619154"/>
            <a:ext cx="10655710" cy="923330"/>
          </a:xfrm>
          <a:prstGeom prst="rect">
            <a:avLst/>
          </a:prstGeom>
        </p:spPr>
        <p:txBody>
          <a:bodyPr wrap="square">
            <a:spAutoFit/>
          </a:bodyPr>
          <a:lstStyle/>
          <a:p>
            <a:r>
              <a:rPr lang="en-IN" b="1" dirty="0">
                <a:hlinkClick r:id="rId2"/>
              </a:rPr>
              <a:t>https://www.geeksforgeeks.org/installation-guide/how-to-install-apache-maven-on-windows</a:t>
            </a:r>
            <a:r>
              <a:rPr lang="en-IN" b="1" dirty="0" smtClean="0">
                <a:hlinkClick r:id="rId2"/>
              </a:rPr>
              <a:t>/</a:t>
            </a:r>
            <a:endParaRPr lang="en-IN" b="1" dirty="0" smtClean="0"/>
          </a:p>
          <a:p>
            <a:endParaRPr lang="en-IN" b="1" dirty="0"/>
          </a:p>
        </p:txBody>
      </p:sp>
    </p:spTree>
    <p:extLst>
      <p:ext uri="{BB962C8B-B14F-4D97-AF65-F5344CB8AC3E}">
        <p14:creationId xmlns:p14="http://schemas.microsoft.com/office/powerpoint/2010/main" val="12059067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IntelliJ IDEA Installation</a:t>
            </a:r>
          </a:p>
        </p:txBody>
      </p:sp>
      <p:sp>
        <p:nvSpPr>
          <p:cNvPr id="3" name="Content Placeholder 2"/>
          <p:cNvSpPr>
            <a:spLocks noGrp="1"/>
          </p:cNvSpPr>
          <p:nvPr>
            <p:ph idx="1"/>
          </p:nvPr>
        </p:nvSpPr>
        <p:spPr/>
        <p:txBody>
          <a:bodyPr>
            <a:normAutofit/>
          </a:bodyPr>
          <a:lstStyle/>
          <a:p>
            <a:r>
              <a:rPr lang="en-IN" sz="2400" dirty="0" smtClean="0">
                <a:latin typeface="Bahnschrift" panose="020B0502040204020203" pitchFamily="34" charset="0"/>
              </a:rPr>
              <a:t>Download </a:t>
            </a:r>
            <a:r>
              <a:rPr lang="en-IN" sz="2400" dirty="0">
                <a:latin typeface="Bahnschrift" panose="020B0502040204020203" pitchFamily="34" charset="0"/>
              </a:rPr>
              <a:t>IntelliJ IDEA Community/Ultimate (2024.2.4) ZIP/TGZ from jetbrains.com/idea/download.</a:t>
            </a:r>
          </a:p>
          <a:p>
            <a:r>
              <a:rPr lang="en-IN" sz="2400" dirty="0">
                <a:latin typeface="Bahnschrift" panose="020B0502040204020203" pitchFamily="34" charset="0"/>
              </a:rPr>
              <a:t>Extract/rename to ideaIC-2024.2.4; run bin/idea64.exe (Windows) or bin/idea.sh (Unix).</a:t>
            </a:r>
          </a:p>
          <a:p>
            <a:r>
              <a:rPr lang="en-IN" sz="2400" dirty="0">
                <a:latin typeface="Bahnschrift" panose="020B0502040204020203" pitchFamily="34" charset="0"/>
              </a:rPr>
              <a:t>Set up: Choose theme/plugins; create project </a:t>
            </a:r>
            <a:r>
              <a:rPr lang="en-IN" sz="2400" dirty="0" err="1">
                <a:latin typeface="Bahnschrift" panose="020B0502040204020203" pitchFamily="34" charset="0"/>
              </a:rPr>
              <a:t>dir</a:t>
            </a:r>
            <a:r>
              <a:rPr lang="en-IN" sz="2400" dirty="0">
                <a:latin typeface="Bahnschrift" panose="020B0502040204020203" pitchFamily="34" charset="0"/>
              </a:rPr>
              <a:t> (e.g., ~/idea-workspace).</a:t>
            </a:r>
          </a:p>
          <a:p>
            <a:r>
              <a:rPr lang="en-IN" sz="2400" dirty="0">
                <a:latin typeface="Bahnschrift" panose="020B0502040204020203" pitchFamily="34" charset="0"/>
              </a:rPr>
              <a:t>Maven bundled; enable: </a:t>
            </a:r>
            <a:endParaRPr lang="en-IN" sz="2400" dirty="0" smtClean="0">
              <a:latin typeface="Bahnschrift" panose="020B0502040204020203" pitchFamily="34" charset="0"/>
            </a:endParaRPr>
          </a:p>
          <a:p>
            <a:pPr lvl="1"/>
            <a:r>
              <a:rPr lang="en-IN" sz="2000" dirty="0" smtClean="0">
                <a:latin typeface="Bahnschrift" panose="020B0502040204020203" pitchFamily="34" charset="0"/>
              </a:rPr>
              <a:t>File </a:t>
            </a:r>
            <a:r>
              <a:rPr lang="en-IN" sz="2000" dirty="0">
                <a:latin typeface="Bahnschrift" panose="020B0502040204020203" pitchFamily="34" charset="0"/>
              </a:rPr>
              <a:t>→ Settings → Build → Build Tools → Maven → Importing → "Import Maven projects automatically".</a:t>
            </a:r>
          </a:p>
          <a:p>
            <a:r>
              <a:rPr lang="en-IN" sz="2400" dirty="0">
                <a:latin typeface="Bahnschrift" panose="020B0502040204020203" pitchFamily="34" charset="0"/>
              </a:rPr>
              <a:t>Verify: New Project → Maven → </a:t>
            </a:r>
            <a:r>
              <a:rPr lang="en-IN" sz="2400" dirty="0" err="1">
                <a:latin typeface="Bahnschrift" panose="020B0502040204020203" pitchFamily="34" charset="0"/>
              </a:rPr>
              <a:t>Quickstart</a:t>
            </a:r>
            <a:r>
              <a:rPr lang="en-IN" sz="2400" dirty="0">
                <a:latin typeface="Bahnschrift" panose="020B0502040204020203" pitchFamily="34" charset="0"/>
              </a:rPr>
              <a:t> Archetype → Generate.</a:t>
            </a:r>
          </a:p>
        </p:txBody>
      </p:sp>
    </p:spTree>
    <p:extLst>
      <p:ext uri="{BB962C8B-B14F-4D97-AF65-F5344CB8AC3E}">
        <p14:creationId xmlns:p14="http://schemas.microsoft.com/office/powerpoint/2010/main" val="333375725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382555" y="1767927"/>
          <a:ext cx="11485983" cy="3657600"/>
        </p:xfrm>
        <a:graphic>
          <a:graphicData uri="http://schemas.openxmlformats.org/drawingml/2006/table">
            <a:tbl>
              <a:tblPr/>
              <a:tblGrid>
                <a:gridCol w="3788387">
                  <a:extLst>
                    <a:ext uri="{9D8B030D-6E8A-4147-A177-3AD203B41FA5}">
                      <a16:colId xmlns:a16="http://schemas.microsoft.com/office/drawing/2014/main" val="924781005"/>
                    </a:ext>
                  </a:extLst>
                </a:gridCol>
                <a:gridCol w="7697596">
                  <a:extLst>
                    <a:ext uri="{9D8B030D-6E8A-4147-A177-3AD203B41FA5}">
                      <a16:colId xmlns:a16="http://schemas.microsoft.com/office/drawing/2014/main" val="2355892144"/>
                    </a:ext>
                  </a:extLst>
                </a:gridCol>
              </a:tblGrid>
              <a:tr h="0">
                <a:tc>
                  <a:txBody>
                    <a:bodyPr/>
                    <a:lstStyle/>
                    <a:p>
                      <a:r>
                        <a:rPr lang="en-IN" sz="2400" b="1" dirty="0">
                          <a:solidFill>
                            <a:srgbClr val="FF0000"/>
                          </a:solidFill>
                        </a:rPr>
                        <a:t>Directory</a:t>
                      </a:r>
                    </a:p>
                  </a:txBody>
                  <a:tcPr anchor="ctr">
                    <a:lnL>
                      <a:noFill/>
                    </a:lnL>
                    <a:lnR>
                      <a:noFill/>
                    </a:lnR>
                    <a:lnT>
                      <a:noFill/>
                    </a:lnT>
                    <a:lnB>
                      <a:noFill/>
                    </a:lnB>
                  </a:tcPr>
                </a:tc>
                <a:tc>
                  <a:txBody>
                    <a:bodyPr/>
                    <a:lstStyle/>
                    <a:p>
                      <a:r>
                        <a:rPr lang="en-IN" sz="2400" b="1" dirty="0">
                          <a:solidFill>
                            <a:srgbClr val="FF0000"/>
                          </a:solidFill>
                        </a:rPr>
                        <a:t>Purpose</a:t>
                      </a:r>
                    </a:p>
                  </a:txBody>
                  <a:tcPr anchor="ctr">
                    <a:lnL>
                      <a:noFill/>
                    </a:lnL>
                    <a:lnR>
                      <a:noFill/>
                    </a:lnR>
                    <a:lnT>
                      <a:noFill/>
                    </a:lnT>
                    <a:lnB>
                      <a:noFill/>
                    </a:lnB>
                  </a:tcPr>
                </a:tc>
                <a:extLst>
                  <a:ext uri="{0D108BD9-81ED-4DB2-BD59-A6C34878D82A}">
                    <a16:rowId xmlns:a16="http://schemas.microsoft.com/office/drawing/2014/main" val="1332935895"/>
                  </a:ext>
                </a:extLst>
              </a:tr>
              <a:tr h="0">
                <a:tc>
                  <a:txBody>
                    <a:bodyPr/>
                    <a:lstStyle/>
                    <a:p>
                      <a:r>
                        <a:rPr lang="en-IN" sz="2400" b="1" dirty="0" err="1">
                          <a:effectLst/>
                        </a:rPr>
                        <a:t>src</a:t>
                      </a:r>
                      <a:r>
                        <a:rPr lang="en-IN" sz="2400" b="1" dirty="0">
                          <a:effectLst/>
                        </a:rPr>
                        <a:t>/main/java</a:t>
                      </a:r>
                    </a:p>
                  </a:txBody>
                  <a:tcPr anchor="ctr">
                    <a:lnL>
                      <a:noFill/>
                    </a:lnL>
                    <a:lnR>
                      <a:noFill/>
                    </a:lnR>
                    <a:lnT>
                      <a:noFill/>
                    </a:lnT>
                    <a:lnB>
                      <a:noFill/>
                    </a:lnB>
                  </a:tcPr>
                </a:tc>
                <a:tc>
                  <a:txBody>
                    <a:bodyPr/>
                    <a:lstStyle/>
                    <a:p>
                      <a:r>
                        <a:rPr lang="en-IN" sz="2400" b="1" dirty="0">
                          <a:effectLst/>
                        </a:rPr>
                        <a:t>Main sources.</a:t>
                      </a:r>
                    </a:p>
                  </a:txBody>
                  <a:tcPr anchor="ctr">
                    <a:lnL>
                      <a:noFill/>
                    </a:lnL>
                    <a:lnR>
                      <a:noFill/>
                    </a:lnR>
                    <a:lnT>
                      <a:noFill/>
                    </a:lnT>
                    <a:lnB>
                      <a:noFill/>
                    </a:lnB>
                  </a:tcPr>
                </a:tc>
                <a:extLst>
                  <a:ext uri="{0D108BD9-81ED-4DB2-BD59-A6C34878D82A}">
                    <a16:rowId xmlns:a16="http://schemas.microsoft.com/office/drawing/2014/main" val="1105449535"/>
                  </a:ext>
                </a:extLst>
              </a:tr>
              <a:tr h="0">
                <a:tc>
                  <a:txBody>
                    <a:bodyPr/>
                    <a:lstStyle/>
                    <a:p>
                      <a:r>
                        <a:rPr lang="en-IN" sz="2400" b="1">
                          <a:effectLst/>
                        </a:rPr>
                        <a:t>src/main/resources</a:t>
                      </a:r>
                    </a:p>
                  </a:txBody>
                  <a:tcPr anchor="ctr">
                    <a:lnL>
                      <a:noFill/>
                    </a:lnL>
                    <a:lnR>
                      <a:noFill/>
                    </a:lnR>
                    <a:lnT>
                      <a:noFill/>
                    </a:lnT>
                    <a:lnB>
                      <a:noFill/>
                    </a:lnB>
                  </a:tcPr>
                </a:tc>
                <a:tc>
                  <a:txBody>
                    <a:bodyPr/>
                    <a:lstStyle/>
                    <a:p>
                      <a:r>
                        <a:rPr lang="en-IN" sz="2400" b="1">
                          <a:effectLst/>
                        </a:rPr>
                        <a:t>Config/resources (e.g., properties).</a:t>
                      </a:r>
                    </a:p>
                  </a:txBody>
                  <a:tcPr anchor="ctr">
                    <a:lnL>
                      <a:noFill/>
                    </a:lnL>
                    <a:lnR>
                      <a:noFill/>
                    </a:lnR>
                    <a:lnT>
                      <a:noFill/>
                    </a:lnT>
                    <a:lnB>
                      <a:noFill/>
                    </a:lnB>
                  </a:tcPr>
                </a:tc>
                <a:extLst>
                  <a:ext uri="{0D108BD9-81ED-4DB2-BD59-A6C34878D82A}">
                    <a16:rowId xmlns:a16="http://schemas.microsoft.com/office/drawing/2014/main" val="4236935541"/>
                  </a:ext>
                </a:extLst>
              </a:tr>
              <a:tr h="0">
                <a:tc>
                  <a:txBody>
                    <a:bodyPr/>
                    <a:lstStyle/>
                    <a:p>
                      <a:r>
                        <a:rPr lang="en-IN" sz="2400" b="1">
                          <a:effectLst/>
                        </a:rPr>
                        <a:t>src/main/webapp</a:t>
                      </a:r>
                    </a:p>
                  </a:txBody>
                  <a:tcPr anchor="ctr">
                    <a:lnL>
                      <a:noFill/>
                    </a:lnL>
                    <a:lnR>
                      <a:noFill/>
                    </a:lnR>
                    <a:lnT>
                      <a:noFill/>
                    </a:lnT>
                    <a:lnB>
                      <a:noFill/>
                    </a:lnB>
                  </a:tcPr>
                </a:tc>
                <a:tc>
                  <a:txBody>
                    <a:bodyPr/>
                    <a:lstStyle/>
                    <a:p>
                      <a:r>
                        <a:rPr lang="en-IN" sz="2400" b="1">
                          <a:effectLst/>
                        </a:rPr>
                        <a:t>Web files (JSP/HTML/CSS/JS).</a:t>
                      </a:r>
                    </a:p>
                  </a:txBody>
                  <a:tcPr anchor="ctr">
                    <a:lnL>
                      <a:noFill/>
                    </a:lnL>
                    <a:lnR>
                      <a:noFill/>
                    </a:lnR>
                    <a:lnT>
                      <a:noFill/>
                    </a:lnT>
                    <a:lnB>
                      <a:noFill/>
                    </a:lnB>
                  </a:tcPr>
                </a:tc>
                <a:extLst>
                  <a:ext uri="{0D108BD9-81ED-4DB2-BD59-A6C34878D82A}">
                    <a16:rowId xmlns:a16="http://schemas.microsoft.com/office/drawing/2014/main" val="1009004008"/>
                  </a:ext>
                </a:extLst>
              </a:tr>
              <a:tr h="0">
                <a:tc>
                  <a:txBody>
                    <a:bodyPr/>
                    <a:lstStyle/>
                    <a:p>
                      <a:r>
                        <a:rPr lang="en-IN" sz="2400" b="1">
                          <a:effectLst/>
                        </a:rPr>
                        <a:t>src/test/java</a:t>
                      </a:r>
                    </a:p>
                  </a:txBody>
                  <a:tcPr anchor="ctr">
                    <a:lnL>
                      <a:noFill/>
                    </a:lnL>
                    <a:lnR>
                      <a:noFill/>
                    </a:lnR>
                    <a:lnT>
                      <a:noFill/>
                    </a:lnT>
                    <a:lnB>
                      <a:noFill/>
                    </a:lnB>
                  </a:tcPr>
                </a:tc>
                <a:tc>
                  <a:txBody>
                    <a:bodyPr/>
                    <a:lstStyle/>
                    <a:p>
                      <a:r>
                        <a:rPr lang="en-IN" sz="2400" b="1">
                          <a:effectLst/>
                        </a:rPr>
                        <a:t>Test sources.</a:t>
                      </a:r>
                    </a:p>
                  </a:txBody>
                  <a:tcPr anchor="ctr">
                    <a:lnL>
                      <a:noFill/>
                    </a:lnL>
                    <a:lnR>
                      <a:noFill/>
                    </a:lnR>
                    <a:lnT>
                      <a:noFill/>
                    </a:lnT>
                    <a:lnB>
                      <a:noFill/>
                    </a:lnB>
                  </a:tcPr>
                </a:tc>
                <a:extLst>
                  <a:ext uri="{0D108BD9-81ED-4DB2-BD59-A6C34878D82A}">
                    <a16:rowId xmlns:a16="http://schemas.microsoft.com/office/drawing/2014/main" val="3931767153"/>
                  </a:ext>
                </a:extLst>
              </a:tr>
              <a:tr h="0">
                <a:tc>
                  <a:txBody>
                    <a:bodyPr/>
                    <a:lstStyle/>
                    <a:p>
                      <a:r>
                        <a:rPr lang="en-IN" sz="2400" b="1" dirty="0" err="1">
                          <a:effectLst/>
                        </a:rPr>
                        <a:t>src</a:t>
                      </a:r>
                      <a:r>
                        <a:rPr lang="en-IN" sz="2400" b="1" dirty="0">
                          <a:effectLst/>
                        </a:rPr>
                        <a:t>/test/resources</a:t>
                      </a:r>
                    </a:p>
                  </a:txBody>
                  <a:tcPr anchor="ctr">
                    <a:lnL>
                      <a:noFill/>
                    </a:lnL>
                    <a:lnR>
                      <a:noFill/>
                    </a:lnR>
                    <a:lnT>
                      <a:noFill/>
                    </a:lnT>
                    <a:lnB>
                      <a:noFill/>
                    </a:lnB>
                  </a:tcPr>
                </a:tc>
                <a:tc>
                  <a:txBody>
                    <a:bodyPr/>
                    <a:lstStyle/>
                    <a:p>
                      <a:r>
                        <a:rPr lang="en-IN" sz="2400" b="1">
                          <a:effectLst/>
                        </a:rPr>
                        <a:t>Test resources.</a:t>
                      </a:r>
                    </a:p>
                  </a:txBody>
                  <a:tcPr anchor="ctr">
                    <a:lnL>
                      <a:noFill/>
                    </a:lnL>
                    <a:lnR>
                      <a:noFill/>
                    </a:lnR>
                    <a:lnT>
                      <a:noFill/>
                    </a:lnT>
                    <a:lnB>
                      <a:noFill/>
                    </a:lnB>
                  </a:tcPr>
                </a:tc>
                <a:extLst>
                  <a:ext uri="{0D108BD9-81ED-4DB2-BD59-A6C34878D82A}">
                    <a16:rowId xmlns:a16="http://schemas.microsoft.com/office/drawing/2014/main" val="16204312"/>
                  </a:ext>
                </a:extLst>
              </a:tr>
              <a:tr h="0">
                <a:tc>
                  <a:txBody>
                    <a:bodyPr/>
                    <a:lstStyle/>
                    <a:p>
                      <a:r>
                        <a:rPr lang="en-IN" sz="2400" b="1">
                          <a:effectLst/>
                        </a:rPr>
                        <a:t>target</a:t>
                      </a:r>
                    </a:p>
                  </a:txBody>
                  <a:tcPr anchor="ctr">
                    <a:lnL>
                      <a:noFill/>
                    </a:lnL>
                    <a:lnR>
                      <a:noFill/>
                    </a:lnR>
                    <a:lnT>
                      <a:noFill/>
                    </a:lnT>
                    <a:lnB>
                      <a:noFill/>
                    </a:lnB>
                  </a:tcPr>
                </a:tc>
                <a:tc>
                  <a:txBody>
                    <a:bodyPr/>
                    <a:lstStyle/>
                    <a:p>
                      <a:r>
                        <a:rPr lang="en-IN" sz="2400" b="1" dirty="0">
                          <a:effectLst/>
                        </a:rPr>
                        <a:t>Build output (auto-generated).</a:t>
                      </a:r>
                    </a:p>
                  </a:txBody>
                  <a:tcPr anchor="ctr">
                    <a:lnL>
                      <a:noFill/>
                    </a:lnL>
                    <a:lnR>
                      <a:noFill/>
                    </a:lnR>
                    <a:lnT>
                      <a:noFill/>
                    </a:lnT>
                    <a:lnB>
                      <a:noFill/>
                    </a:lnB>
                  </a:tcPr>
                </a:tc>
                <a:extLst>
                  <a:ext uri="{0D108BD9-81ED-4DB2-BD59-A6C34878D82A}">
                    <a16:rowId xmlns:a16="http://schemas.microsoft.com/office/drawing/2014/main" val="2191791605"/>
                  </a:ext>
                </a:extLst>
              </a:tr>
              <a:tr h="0">
                <a:tc>
                  <a:txBody>
                    <a:bodyPr/>
                    <a:lstStyle/>
                    <a:p>
                      <a:r>
                        <a:rPr lang="en-IN" sz="2400" b="1">
                          <a:effectLst/>
                        </a:rPr>
                        <a:t>LICENSE.txt, README.txt</a:t>
                      </a:r>
                    </a:p>
                  </a:txBody>
                  <a:tcPr anchor="ctr">
                    <a:lnL>
                      <a:noFill/>
                    </a:lnL>
                    <a:lnR>
                      <a:noFill/>
                    </a:lnR>
                    <a:lnT>
                      <a:noFill/>
                    </a:lnT>
                    <a:lnB>
                      <a:noFill/>
                    </a:lnB>
                  </a:tcPr>
                </a:tc>
                <a:tc>
                  <a:txBody>
                    <a:bodyPr/>
                    <a:lstStyle/>
                    <a:p>
                      <a:r>
                        <a:rPr lang="en-IN" sz="2400" b="1" dirty="0">
                          <a:effectLst/>
                        </a:rPr>
                        <a:t>Metadata.</a:t>
                      </a:r>
                    </a:p>
                  </a:txBody>
                  <a:tcPr anchor="ctr">
                    <a:lnL>
                      <a:noFill/>
                    </a:lnL>
                    <a:lnR>
                      <a:noFill/>
                    </a:lnR>
                    <a:lnT>
                      <a:noFill/>
                    </a:lnT>
                    <a:lnB>
                      <a:noFill/>
                    </a:lnB>
                  </a:tcPr>
                </a:tc>
                <a:extLst>
                  <a:ext uri="{0D108BD9-81ED-4DB2-BD59-A6C34878D82A}">
                    <a16:rowId xmlns:a16="http://schemas.microsoft.com/office/drawing/2014/main" val="410069720"/>
                  </a:ext>
                </a:extLst>
              </a:tr>
            </a:tbl>
          </a:graphicData>
        </a:graphic>
      </p:graphicFrame>
      <p:sp>
        <p:nvSpPr>
          <p:cNvPr id="5" name="Rectangle 1"/>
          <p:cNvSpPr>
            <a:spLocks noChangeArrowheads="1"/>
          </p:cNvSpPr>
          <p:nvPr/>
        </p:nvSpPr>
        <p:spPr bwMode="auto">
          <a:xfrm>
            <a:off x="838200" y="778352"/>
            <a:ext cx="6496665" cy="830997"/>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chemeClr val="tx1"/>
                </a:solidFill>
                <a:effectLst/>
                <a:latin typeface="Arial" panose="020B0604020202020204" pitchFamily="34" charset="0"/>
              </a:rPr>
              <a:t>Standard Directory Structure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Arial" panose="020B0604020202020204" pitchFamily="34" charset="0"/>
              </a:rPr>
              <a:t>Maven conventions (from maven.apache.org):</a:t>
            </a:r>
          </a:p>
        </p:txBody>
      </p:sp>
    </p:spTree>
    <p:extLst>
      <p:ext uri="{BB962C8B-B14F-4D97-AF65-F5344CB8AC3E}">
        <p14:creationId xmlns:p14="http://schemas.microsoft.com/office/powerpoint/2010/main" val="41664098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727587" y="1423103"/>
            <a:ext cx="11139948" cy="3785652"/>
          </a:xfrm>
          <a:prstGeom prst="rect">
            <a:avLst/>
          </a:prstGeom>
          <a:solidFill>
            <a:srgbClr val="FFFF00"/>
          </a:solidFill>
          <a:ln>
            <a:noFill/>
          </a:ln>
          <a:effectLs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smtClean="0">
                <a:ln>
                  <a:noFill/>
                </a:ln>
                <a:solidFill>
                  <a:schemeClr val="tx1"/>
                </a:solidFill>
                <a:effectLst/>
                <a:latin typeface="Bahnschrift" panose="020B0502040204020203" pitchFamily="34" charset="0"/>
              </a:rPr>
              <a:t>Useful Maven Commands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smtClean="0">
                <a:ln>
                  <a:noFill/>
                </a:ln>
                <a:solidFill>
                  <a:schemeClr val="tx1"/>
                </a:solidFill>
                <a:effectLst/>
                <a:latin typeface="Bahnschrift" panose="020B0502040204020203" pitchFamily="34" charset="0"/>
              </a:rPr>
              <a:t>Compile</a:t>
            </a:r>
            <a:r>
              <a:rPr kumimoji="0" lang="en-US" altLang="en-US" sz="2400" b="0" i="0" u="none" strike="noStrike" cap="none" normalizeH="0" baseline="0" dirty="0" smtClean="0">
                <a:ln>
                  <a:noFill/>
                </a:ln>
                <a:solidFill>
                  <a:schemeClr val="tx1"/>
                </a:solidFill>
                <a:effectLst/>
                <a:latin typeface="Bahnschrift" panose="020B0502040204020203" pitchFamily="34" charset="0"/>
              </a:rPr>
              <a:t>:</a:t>
            </a:r>
          </a:p>
          <a:p>
            <a:pPr marR="0" lvl="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smtClean="0">
                <a:ln>
                  <a:noFill/>
                </a:ln>
                <a:solidFill>
                  <a:schemeClr val="tx1"/>
                </a:solidFill>
                <a:effectLst/>
                <a:latin typeface="Bahnschrift" panose="020B0502040204020203" pitchFamily="34" charset="0"/>
              </a:rPr>
              <a:t>		</a:t>
            </a:r>
            <a:r>
              <a:rPr kumimoji="0" lang="en-US" altLang="en-US" sz="2400" b="0" i="0" u="none" strike="noStrike" cap="none" normalizeH="0" baseline="0" dirty="0" err="1" smtClean="0">
                <a:ln>
                  <a:noFill/>
                </a:ln>
                <a:solidFill>
                  <a:schemeClr val="tx1"/>
                </a:solidFill>
                <a:effectLst/>
                <a:latin typeface="Bahnschrift" panose="020B0502040204020203" pitchFamily="34" charset="0"/>
              </a:rPr>
              <a:t>mvn</a:t>
            </a:r>
            <a:r>
              <a:rPr kumimoji="0" lang="en-US" altLang="en-US" sz="2400" b="0" i="0" u="none" strike="noStrike" cap="none" normalizeH="0" baseline="0" dirty="0" smtClean="0">
                <a:ln>
                  <a:noFill/>
                </a:ln>
                <a:solidFill>
                  <a:schemeClr val="tx1"/>
                </a:solidFill>
                <a:effectLst/>
                <a:latin typeface="Bahnschrift" panose="020B0502040204020203" pitchFamily="34" charset="0"/>
              </a:rPr>
              <a:t> compile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smtClean="0">
                <a:ln>
                  <a:noFill/>
                </a:ln>
                <a:solidFill>
                  <a:schemeClr val="tx1"/>
                </a:solidFill>
                <a:effectLst/>
                <a:latin typeface="Bahnschrift" panose="020B0502040204020203" pitchFamily="34" charset="0"/>
              </a:rPr>
              <a:t>Run tests</a:t>
            </a:r>
            <a:r>
              <a:rPr kumimoji="0" lang="en-US" altLang="en-US" sz="2400" b="0" i="0" u="none" strike="noStrike" cap="none" normalizeH="0" baseline="0" dirty="0" smtClean="0">
                <a:ln>
                  <a:noFill/>
                </a:ln>
                <a:solidFill>
                  <a:schemeClr val="tx1"/>
                </a:solidFill>
                <a:effectLst/>
                <a:latin typeface="Bahnschrift" panose="020B0502040204020203" pitchFamily="34" charset="0"/>
              </a:rPr>
              <a:t>:</a:t>
            </a:r>
          </a:p>
          <a:p>
            <a:pPr marR="0" lvl="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smtClean="0">
                <a:ln>
                  <a:noFill/>
                </a:ln>
                <a:solidFill>
                  <a:schemeClr val="tx1"/>
                </a:solidFill>
                <a:effectLst/>
                <a:latin typeface="Bahnschrift" panose="020B0502040204020203" pitchFamily="34" charset="0"/>
              </a:rPr>
              <a:t>		</a:t>
            </a:r>
            <a:r>
              <a:rPr kumimoji="0" lang="en-US" altLang="en-US" sz="2400" b="0" i="0" u="none" strike="noStrike" cap="none" normalizeH="0" baseline="0" dirty="0" err="1" smtClean="0">
                <a:ln>
                  <a:noFill/>
                </a:ln>
                <a:solidFill>
                  <a:schemeClr val="tx1"/>
                </a:solidFill>
                <a:effectLst/>
                <a:latin typeface="Bahnschrift" panose="020B0502040204020203" pitchFamily="34" charset="0"/>
              </a:rPr>
              <a:t>mvn</a:t>
            </a:r>
            <a:r>
              <a:rPr kumimoji="0" lang="en-US" altLang="en-US" sz="2400" b="0" i="0" u="none" strike="noStrike" cap="none" normalizeH="0" baseline="0" dirty="0" smtClean="0">
                <a:ln>
                  <a:noFill/>
                </a:ln>
                <a:solidFill>
                  <a:schemeClr val="tx1"/>
                </a:solidFill>
                <a:effectLst/>
                <a:latin typeface="Bahnschrift" panose="020B0502040204020203" pitchFamily="34" charset="0"/>
              </a:rPr>
              <a:t> test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smtClean="0">
                <a:ln>
                  <a:noFill/>
                </a:ln>
                <a:solidFill>
                  <a:schemeClr val="tx1"/>
                </a:solidFill>
                <a:effectLst/>
                <a:latin typeface="Bahnschrift" panose="020B0502040204020203" pitchFamily="34" charset="0"/>
              </a:rPr>
              <a:t>Package into JAR</a:t>
            </a:r>
            <a:r>
              <a:rPr kumimoji="0" lang="en-US" altLang="en-US" sz="2400" b="0" i="0" u="none" strike="noStrike" cap="none" normalizeH="0" baseline="0" dirty="0" smtClean="0">
                <a:ln>
                  <a:noFill/>
                </a:ln>
                <a:solidFill>
                  <a:schemeClr val="tx1"/>
                </a:solidFill>
                <a:effectLst/>
                <a:latin typeface="Bahnschrift" panose="020B0502040204020203" pitchFamily="34" charset="0"/>
              </a:rPr>
              <a:t>:</a:t>
            </a:r>
          </a:p>
          <a:p>
            <a:pPr marR="0" lvl="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smtClean="0">
                <a:ln>
                  <a:noFill/>
                </a:ln>
                <a:solidFill>
                  <a:schemeClr val="tx1"/>
                </a:solidFill>
                <a:effectLst/>
                <a:latin typeface="Bahnschrift" panose="020B0502040204020203" pitchFamily="34" charset="0"/>
              </a:rPr>
              <a:t>		</a:t>
            </a:r>
            <a:r>
              <a:rPr kumimoji="0" lang="en-US" altLang="en-US" sz="2400" b="0" i="0" u="none" strike="noStrike" cap="none" normalizeH="0" baseline="0" dirty="0" err="1" smtClean="0">
                <a:ln>
                  <a:noFill/>
                </a:ln>
                <a:solidFill>
                  <a:schemeClr val="tx1"/>
                </a:solidFill>
                <a:effectLst/>
                <a:latin typeface="Bahnschrift" panose="020B0502040204020203" pitchFamily="34" charset="0"/>
              </a:rPr>
              <a:t>mvn</a:t>
            </a:r>
            <a:r>
              <a:rPr kumimoji="0" lang="en-US" altLang="en-US" sz="2400" b="0" i="0" u="none" strike="noStrike" cap="none" normalizeH="0" baseline="0" dirty="0" smtClean="0">
                <a:ln>
                  <a:noFill/>
                </a:ln>
                <a:solidFill>
                  <a:schemeClr val="tx1"/>
                </a:solidFill>
                <a:effectLst/>
                <a:latin typeface="Bahnschrift" panose="020B0502040204020203" pitchFamily="34" charset="0"/>
              </a:rPr>
              <a:t> package </a:t>
            </a:r>
          </a:p>
          <a:p>
            <a:pPr marR="0" lvl="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smtClean="0">
                <a:ln>
                  <a:noFill/>
                </a:ln>
                <a:solidFill>
                  <a:schemeClr val="tx1"/>
                </a:solidFill>
                <a:effectLst/>
                <a:latin typeface="Bahnschrift" panose="020B0502040204020203" pitchFamily="34" charset="0"/>
              </a:rPr>
              <a:t>	→ Creates target/more-maven-examples-1.0.jar</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smtClean="0">
                <a:ln>
                  <a:noFill/>
                </a:ln>
                <a:solidFill>
                  <a:schemeClr val="tx1"/>
                </a:solidFill>
                <a:effectLst/>
                <a:latin typeface="Bahnschrift" panose="020B0502040204020203" pitchFamily="34" charset="0"/>
              </a:rPr>
              <a:t>Run the JAR</a:t>
            </a:r>
            <a:r>
              <a:rPr kumimoji="0" lang="en-US" altLang="en-US" sz="2400" b="0" i="0" u="none" strike="noStrike" cap="none" normalizeH="0" baseline="0" dirty="0" smtClean="0">
                <a:ln>
                  <a:noFill/>
                </a:ln>
                <a:solidFill>
                  <a:schemeClr val="tx1"/>
                </a:solidFill>
                <a:effectLst/>
                <a:latin typeface="Bahnschrift" panose="020B0502040204020203" pitchFamily="34" charset="0"/>
              </a:rPr>
              <a:t>:</a:t>
            </a:r>
          </a:p>
          <a:p>
            <a:pPr marR="0" lvl="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smtClean="0">
                <a:ln>
                  <a:noFill/>
                </a:ln>
                <a:solidFill>
                  <a:schemeClr val="tx1"/>
                </a:solidFill>
                <a:effectLst/>
                <a:latin typeface="Bahnschrift" panose="020B0502040204020203" pitchFamily="34" charset="0"/>
              </a:rPr>
              <a:t>	java -</a:t>
            </a:r>
            <a:r>
              <a:rPr kumimoji="0" lang="en-US" altLang="en-US" sz="2400" b="0" i="0" u="none" strike="noStrike" cap="none" normalizeH="0" baseline="0" dirty="0" err="1" smtClean="0">
                <a:ln>
                  <a:noFill/>
                </a:ln>
                <a:solidFill>
                  <a:schemeClr val="tx1"/>
                </a:solidFill>
                <a:effectLst/>
                <a:latin typeface="Bahnschrift" panose="020B0502040204020203" pitchFamily="34" charset="0"/>
              </a:rPr>
              <a:t>cp</a:t>
            </a:r>
            <a:r>
              <a:rPr kumimoji="0" lang="en-US" altLang="en-US" sz="2400" b="0" i="0" u="none" strike="noStrike" cap="none" normalizeH="0" baseline="0" dirty="0" smtClean="0">
                <a:ln>
                  <a:noFill/>
                </a:ln>
                <a:solidFill>
                  <a:schemeClr val="tx1"/>
                </a:solidFill>
                <a:effectLst/>
                <a:latin typeface="Bahnschrift" panose="020B0502040204020203" pitchFamily="34" charset="0"/>
              </a:rPr>
              <a:t> target/more-maven-examples-1.0.jar </a:t>
            </a:r>
            <a:r>
              <a:rPr kumimoji="0" lang="en-US" altLang="en-US" sz="2400" b="0" i="0" u="none" strike="noStrike" cap="none" normalizeH="0" baseline="0" dirty="0" err="1" smtClean="0">
                <a:ln>
                  <a:noFill/>
                </a:ln>
                <a:solidFill>
                  <a:schemeClr val="tx1"/>
                </a:solidFill>
                <a:effectLst/>
                <a:latin typeface="Bahnschrift" panose="020B0502040204020203" pitchFamily="34" charset="0"/>
              </a:rPr>
              <a:t>com.atuluttam.maven.App</a:t>
            </a:r>
            <a:endParaRPr kumimoji="0" lang="en-US" altLang="en-US" sz="2400" b="0" i="0" u="none" strike="noStrike" cap="none" normalizeH="0" baseline="0" dirty="0" smtClean="0">
              <a:ln>
                <a:noFill/>
              </a:ln>
              <a:solidFill>
                <a:schemeClr val="tx1"/>
              </a:solidFill>
              <a:effectLst/>
              <a:latin typeface="Bahnschrift" panose="020B0502040204020203" pitchFamily="34" charset="0"/>
            </a:endParaRPr>
          </a:p>
        </p:txBody>
      </p:sp>
    </p:spTree>
    <p:extLst>
      <p:ext uri="{BB962C8B-B14F-4D97-AF65-F5344CB8AC3E}">
        <p14:creationId xmlns:p14="http://schemas.microsoft.com/office/powerpoint/2010/main" val="211440681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Maven </a:t>
            </a:r>
            <a:r>
              <a:rPr lang="en-IN" b="1" dirty="0" smtClean="0"/>
              <a:t>Lifecycle</a:t>
            </a:r>
            <a:endParaRPr lang="en-IN" b="1" dirty="0">
              <a:effectLst/>
            </a:endParaRPr>
          </a:p>
        </p:txBody>
      </p:sp>
      <p:sp>
        <p:nvSpPr>
          <p:cNvPr id="3" name="Content Placeholder 2"/>
          <p:cNvSpPr>
            <a:spLocks noGrp="1"/>
          </p:cNvSpPr>
          <p:nvPr>
            <p:ph idx="1"/>
          </p:nvPr>
        </p:nvSpPr>
        <p:spPr/>
        <p:txBody>
          <a:bodyPr>
            <a:normAutofit/>
          </a:bodyPr>
          <a:lstStyle/>
          <a:p>
            <a:r>
              <a:rPr lang="en-US" sz="2400" dirty="0"/>
              <a:t>In </a:t>
            </a:r>
            <a:r>
              <a:rPr lang="en-US" sz="2400" b="1" dirty="0"/>
              <a:t>Maven</a:t>
            </a:r>
            <a:r>
              <a:rPr lang="en-US" sz="2400" dirty="0"/>
              <a:t>, a </a:t>
            </a:r>
            <a:r>
              <a:rPr lang="en-US" sz="2400" b="1" dirty="0"/>
              <a:t>build lifecycle</a:t>
            </a:r>
            <a:r>
              <a:rPr lang="en-US" sz="2400" dirty="0"/>
              <a:t> is a sequence of </a:t>
            </a:r>
            <a:r>
              <a:rPr lang="en-US" sz="2400" b="1" dirty="0"/>
              <a:t>phases</a:t>
            </a:r>
            <a:r>
              <a:rPr lang="en-US" sz="2400" dirty="0"/>
              <a:t> that define the steps to build and deploy a project.</a:t>
            </a:r>
            <a:br>
              <a:rPr lang="en-US" sz="2400" dirty="0"/>
            </a:br>
            <a:endParaRPr lang="en-US" sz="2400" dirty="0" smtClean="0"/>
          </a:p>
          <a:p>
            <a:r>
              <a:rPr lang="en-US" sz="2400" dirty="0" smtClean="0"/>
              <a:t>Each </a:t>
            </a:r>
            <a:r>
              <a:rPr lang="en-US" sz="2400" b="1" dirty="0"/>
              <a:t>phase</a:t>
            </a:r>
            <a:r>
              <a:rPr lang="en-US" sz="2400" dirty="0"/>
              <a:t> consists of </a:t>
            </a:r>
            <a:r>
              <a:rPr lang="en-US" sz="2400" b="1" dirty="0"/>
              <a:t>goals</a:t>
            </a:r>
            <a:r>
              <a:rPr lang="en-US" sz="2400" dirty="0"/>
              <a:t> that perform tasks like compiling code, running tests, packaging, and deployment</a:t>
            </a:r>
            <a:r>
              <a:rPr lang="en-US" sz="2400" dirty="0" smtClean="0"/>
              <a:t>.</a:t>
            </a:r>
          </a:p>
          <a:p>
            <a:pPr marL="0" indent="0">
              <a:buNone/>
            </a:pPr>
            <a:endParaRPr lang="en-US" sz="2400" dirty="0"/>
          </a:p>
          <a:p>
            <a:pPr marL="0" indent="0">
              <a:buNone/>
            </a:pPr>
            <a:r>
              <a:rPr lang="en-US" sz="2400" b="1" dirty="0">
                <a:solidFill>
                  <a:srgbClr val="FF0000"/>
                </a:solidFill>
              </a:rPr>
              <a:t>👉</a:t>
            </a:r>
            <a:r>
              <a:rPr lang="en-US" sz="2400" dirty="0"/>
              <a:t> A lifecycle is just an ordered set of build phases.</a:t>
            </a:r>
            <a:br>
              <a:rPr lang="en-US" sz="2400" dirty="0"/>
            </a:br>
            <a:r>
              <a:rPr lang="en-US" sz="2400" b="1" dirty="0">
                <a:solidFill>
                  <a:srgbClr val="FF0000"/>
                </a:solidFill>
              </a:rPr>
              <a:t>👉</a:t>
            </a:r>
            <a:r>
              <a:rPr lang="en-US" sz="2400" dirty="0"/>
              <a:t> When you run a phase, Maven executes </a:t>
            </a:r>
            <a:r>
              <a:rPr lang="en-US" sz="2400" b="1" dirty="0"/>
              <a:t>all previous phases</a:t>
            </a:r>
            <a:r>
              <a:rPr lang="en-US" sz="2400" dirty="0"/>
              <a:t> in order before it.</a:t>
            </a:r>
          </a:p>
        </p:txBody>
      </p:sp>
    </p:spTree>
    <p:extLst>
      <p:ext uri="{BB962C8B-B14F-4D97-AF65-F5344CB8AC3E}">
        <p14:creationId xmlns:p14="http://schemas.microsoft.com/office/powerpoint/2010/main" val="71681770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b="1" dirty="0"/>
              <a:t>Types of Maven Build Lifecycles</a:t>
            </a:r>
          </a:p>
        </p:txBody>
      </p:sp>
      <p:sp>
        <p:nvSpPr>
          <p:cNvPr id="3" name="Content Placeholder 2"/>
          <p:cNvSpPr>
            <a:spLocks noGrp="1"/>
          </p:cNvSpPr>
          <p:nvPr>
            <p:ph idx="1"/>
          </p:nvPr>
        </p:nvSpPr>
        <p:spPr/>
        <p:txBody>
          <a:bodyPr/>
          <a:lstStyle/>
          <a:p>
            <a:pPr marL="0" indent="0">
              <a:buNone/>
            </a:pPr>
            <a:r>
              <a:rPr lang="en-IN" dirty="0" smtClean="0"/>
              <a:t>Maven </a:t>
            </a:r>
            <a:r>
              <a:rPr lang="en-IN" dirty="0"/>
              <a:t>defines </a:t>
            </a:r>
            <a:r>
              <a:rPr lang="en-IN" b="1" dirty="0"/>
              <a:t>3 standard lifecycles</a:t>
            </a:r>
            <a:r>
              <a:rPr lang="en-IN" dirty="0"/>
              <a:t>:</a:t>
            </a:r>
          </a:p>
          <a:p>
            <a:r>
              <a:rPr lang="en-IN" sz="2400" b="1" dirty="0"/>
              <a:t>default</a:t>
            </a:r>
            <a:r>
              <a:rPr lang="en-IN" sz="2400" dirty="0"/>
              <a:t> – handles project deployment </a:t>
            </a:r>
            <a:endParaRPr lang="en-IN" sz="2400" dirty="0" smtClean="0"/>
          </a:p>
          <a:p>
            <a:pPr marL="0" indent="0">
              <a:buNone/>
            </a:pPr>
            <a:r>
              <a:rPr lang="en-IN" sz="2400" dirty="0"/>
              <a:t>	</a:t>
            </a:r>
            <a:r>
              <a:rPr lang="en-IN" sz="2400" dirty="0" smtClean="0"/>
              <a:t>(</a:t>
            </a:r>
            <a:r>
              <a:rPr lang="en-IN" sz="2400" dirty="0"/>
              <a:t>compile → test → package → install → deploy).</a:t>
            </a:r>
          </a:p>
          <a:p>
            <a:r>
              <a:rPr lang="en-IN" sz="2400" b="1" dirty="0"/>
              <a:t>clean</a:t>
            </a:r>
            <a:r>
              <a:rPr lang="en-IN" sz="2400" dirty="0"/>
              <a:t> – handles project cleaning </a:t>
            </a:r>
            <a:endParaRPr lang="en-IN" sz="2400" dirty="0" smtClean="0"/>
          </a:p>
          <a:p>
            <a:pPr marL="0" indent="0">
              <a:buNone/>
            </a:pPr>
            <a:r>
              <a:rPr lang="en-IN" sz="2400" dirty="0"/>
              <a:t>	</a:t>
            </a:r>
            <a:r>
              <a:rPr lang="en-IN" sz="2400" dirty="0" smtClean="0"/>
              <a:t>(</a:t>
            </a:r>
            <a:r>
              <a:rPr lang="en-IN" sz="2400" dirty="0"/>
              <a:t>delete compiled files, </a:t>
            </a:r>
            <a:r>
              <a:rPr lang="en-IN" sz="2400" dirty="0" err="1"/>
              <a:t>artifacts</a:t>
            </a:r>
            <a:r>
              <a:rPr lang="en-IN" sz="2400" dirty="0"/>
              <a:t>).</a:t>
            </a:r>
          </a:p>
          <a:p>
            <a:r>
              <a:rPr lang="en-IN" sz="2400" b="1" dirty="0"/>
              <a:t>site</a:t>
            </a:r>
            <a:r>
              <a:rPr lang="en-IN" sz="2400" dirty="0"/>
              <a:t> – handles project documentation </a:t>
            </a:r>
            <a:endParaRPr lang="en-IN" sz="2400" dirty="0" smtClean="0"/>
          </a:p>
          <a:p>
            <a:pPr marL="0" indent="0">
              <a:buNone/>
            </a:pPr>
            <a:r>
              <a:rPr lang="en-IN" sz="2400" dirty="0"/>
              <a:t>	</a:t>
            </a:r>
            <a:r>
              <a:rPr lang="en-IN" sz="2400" dirty="0" smtClean="0"/>
              <a:t>(</a:t>
            </a:r>
            <a:r>
              <a:rPr lang="en-IN" sz="2400" dirty="0"/>
              <a:t>generates reports, site docs).</a:t>
            </a:r>
          </a:p>
        </p:txBody>
      </p:sp>
    </p:spTree>
    <p:extLst>
      <p:ext uri="{BB962C8B-B14F-4D97-AF65-F5344CB8AC3E}">
        <p14:creationId xmlns:p14="http://schemas.microsoft.com/office/powerpoint/2010/main" val="44706860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993639" y="1697806"/>
          <a:ext cx="10674900" cy="4516975"/>
        </p:xfrm>
        <a:graphic>
          <a:graphicData uri="http://schemas.openxmlformats.org/drawingml/2006/table">
            <a:tbl>
              <a:tblPr/>
              <a:tblGrid>
                <a:gridCol w="2033929">
                  <a:extLst>
                    <a:ext uri="{9D8B030D-6E8A-4147-A177-3AD203B41FA5}">
                      <a16:colId xmlns:a16="http://schemas.microsoft.com/office/drawing/2014/main" val="1822096001"/>
                    </a:ext>
                  </a:extLst>
                </a:gridCol>
                <a:gridCol w="8640971">
                  <a:extLst>
                    <a:ext uri="{9D8B030D-6E8A-4147-A177-3AD203B41FA5}">
                      <a16:colId xmlns:a16="http://schemas.microsoft.com/office/drawing/2014/main" val="1682065474"/>
                    </a:ext>
                  </a:extLst>
                </a:gridCol>
              </a:tblGrid>
              <a:tr h="348107">
                <a:tc>
                  <a:txBody>
                    <a:bodyPr/>
                    <a:lstStyle/>
                    <a:p>
                      <a:r>
                        <a:rPr lang="en-IN" sz="2800" b="1" dirty="0"/>
                        <a:t>Phase</a:t>
                      </a:r>
                    </a:p>
                  </a:txBody>
                  <a:tcPr marL="87027" marR="87027" marT="43513" marB="43513" anchor="ctr">
                    <a:lnL>
                      <a:noFill/>
                    </a:lnL>
                    <a:lnR>
                      <a:noFill/>
                    </a:lnR>
                    <a:lnT>
                      <a:noFill/>
                    </a:lnT>
                    <a:lnB>
                      <a:noFill/>
                    </a:lnB>
                  </a:tcPr>
                </a:tc>
                <a:tc>
                  <a:txBody>
                    <a:bodyPr/>
                    <a:lstStyle/>
                    <a:p>
                      <a:r>
                        <a:rPr lang="en-IN" sz="2800" b="1" dirty="0"/>
                        <a:t>Description</a:t>
                      </a:r>
                    </a:p>
                  </a:txBody>
                  <a:tcPr marL="87027" marR="87027" marT="43513" marB="43513" anchor="ctr">
                    <a:lnL>
                      <a:noFill/>
                    </a:lnL>
                    <a:lnR>
                      <a:noFill/>
                    </a:lnR>
                    <a:lnT>
                      <a:noFill/>
                    </a:lnT>
                    <a:lnB>
                      <a:noFill/>
                    </a:lnB>
                  </a:tcPr>
                </a:tc>
                <a:extLst>
                  <a:ext uri="{0D108BD9-81ED-4DB2-BD59-A6C34878D82A}">
                    <a16:rowId xmlns:a16="http://schemas.microsoft.com/office/drawing/2014/main" val="2485668271"/>
                  </a:ext>
                </a:extLst>
              </a:tr>
              <a:tr h="609187">
                <a:tc>
                  <a:txBody>
                    <a:bodyPr/>
                    <a:lstStyle/>
                    <a:p>
                      <a:r>
                        <a:rPr lang="en-IN" sz="1700" b="1" dirty="0"/>
                        <a:t>validate</a:t>
                      </a:r>
                      <a:endParaRPr lang="en-IN" sz="1700" dirty="0"/>
                    </a:p>
                  </a:txBody>
                  <a:tcPr marL="87027" marR="87027" marT="43513" marB="43513" anchor="ctr">
                    <a:lnL>
                      <a:noFill/>
                    </a:lnL>
                    <a:lnR>
                      <a:noFill/>
                    </a:lnR>
                    <a:lnT>
                      <a:noFill/>
                    </a:lnT>
                    <a:lnB>
                      <a:noFill/>
                    </a:lnB>
                    <a:solidFill>
                      <a:srgbClr val="FFFF00"/>
                    </a:solidFill>
                  </a:tcPr>
                </a:tc>
                <a:tc>
                  <a:txBody>
                    <a:bodyPr/>
                    <a:lstStyle/>
                    <a:p>
                      <a:r>
                        <a:rPr lang="en-US" sz="1700" b="1" dirty="0"/>
                        <a:t>Validates project structure and configuration.</a:t>
                      </a:r>
                    </a:p>
                  </a:txBody>
                  <a:tcPr marL="87027" marR="87027" marT="43513" marB="43513" anchor="ctr">
                    <a:lnL>
                      <a:noFill/>
                    </a:lnL>
                    <a:lnR>
                      <a:noFill/>
                    </a:lnR>
                    <a:lnT>
                      <a:noFill/>
                    </a:lnT>
                    <a:lnB>
                      <a:noFill/>
                    </a:lnB>
                    <a:solidFill>
                      <a:srgbClr val="FFFF00"/>
                    </a:solidFill>
                  </a:tcPr>
                </a:tc>
                <a:extLst>
                  <a:ext uri="{0D108BD9-81ED-4DB2-BD59-A6C34878D82A}">
                    <a16:rowId xmlns:a16="http://schemas.microsoft.com/office/drawing/2014/main" val="4270002745"/>
                  </a:ext>
                </a:extLst>
              </a:tr>
              <a:tr h="348107">
                <a:tc>
                  <a:txBody>
                    <a:bodyPr/>
                    <a:lstStyle/>
                    <a:p>
                      <a:r>
                        <a:rPr lang="en-IN" sz="1700" b="1" dirty="0"/>
                        <a:t>compile</a:t>
                      </a:r>
                      <a:endParaRPr lang="en-IN" sz="1700" dirty="0"/>
                    </a:p>
                  </a:txBody>
                  <a:tcPr marL="87027" marR="87027" marT="43513" marB="43513" anchor="ctr">
                    <a:lnL>
                      <a:noFill/>
                    </a:lnL>
                    <a:lnR>
                      <a:noFill/>
                    </a:lnR>
                    <a:lnT>
                      <a:noFill/>
                    </a:lnT>
                    <a:lnB>
                      <a:noFill/>
                    </a:lnB>
                    <a:solidFill>
                      <a:schemeClr val="accent2">
                        <a:lumMod val="40000"/>
                        <a:lumOff val="60000"/>
                      </a:schemeClr>
                    </a:solidFill>
                  </a:tcPr>
                </a:tc>
                <a:tc>
                  <a:txBody>
                    <a:bodyPr/>
                    <a:lstStyle/>
                    <a:p>
                      <a:r>
                        <a:rPr lang="en-IN" sz="1700" b="1" dirty="0"/>
                        <a:t>Compiles the source code.</a:t>
                      </a:r>
                    </a:p>
                  </a:txBody>
                  <a:tcPr marL="87027" marR="87027" marT="43513" marB="43513" anchor="ctr">
                    <a:lnL>
                      <a:noFill/>
                    </a:lnL>
                    <a:lnR>
                      <a:noFill/>
                    </a:lnR>
                    <a:lnT>
                      <a:noFill/>
                    </a:lnT>
                    <a:lnB>
                      <a:noFill/>
                    </a:lnB>
                    <a:solidFill>
                      <a:schemeClr val="accent2">
                        <a:lumMod val="40000"/>
                        <a:lumOff val="60000"/>
                      </a:schemeClr>
                    </a:solidFill>
                  </a:tcPr>
                </a:tc>
                <a:extLst>
                  <a:ext uri="{0D108BD9-81ED-4DB2-BD59-A6C34878D82A}">
                    <a16:rowId xmlns:a16="http://schemas.microsoft.com/office/drawing/2014/main" val="571200364"/>
                  </a:ext>
                </a:extLst>
              </a:tr>
              <a:tr h="609187">
                <a:tc>
                  <a:txBody>
                    <a:bodyPr/>
                    <a:lstStyle/>
                    <a:p>
                      <a:r>
                        <a:rPr lang="en-IN" sz="1700" b="1" dirty="0"/>
                        <a:t>test</a:t>
                      </a:r>
                      <a:endParaRPr lang="en-IN" sz="1700" dirty="0"/>
                    </a:p>
                  </a:txBody>
                  <a:tcPr marL="87027" marR="87027" marT="43513" marB="43513" anchor="ctr">
                    <a:lnL>
                      <a:noFill/>
                    </a:lnL>
                    <a:lnR>
                      <a:noFill/>
                    </a:lnR>
                    <a:lnT>
                      <a:noFill/>
                    </a:lnT>
                    <a:lnB>
                      <a:noFill/>
                    </a:lnB>
                    <a:solidFill>
                      <a:schemeClr val="accent4">
                        <a:lumMod val="20000"/>
                        <a:lumOff val="80000"/>
                      </a:schemeClr>
                    </a:solidFill>
                  </a:tcPr>
                </a:tc>
                <a:tc>
                  <a:txBody>
                    <a:bodyPr/>
                    <a:lstStyle/>
                    <a:p>
                      <a:r>
                        <a:rPr lang="en-US" sz="1700" b="1" dirty="0"/>
                        <a:t>Runs unit tests using a testing framework (JUnit/</a:t>
                      </a:r>
                      <a:r>
                        <a:rPr lang="en-US" sz="1700" b="1" dirty="0" err="1"/>
                        <a:t>TestNG</a:t>
                      </a:r>
                      <a:r>
                        <a:rPr lang="en-US" sz="1700" b="1" dirty="0"/>
                        <a:t>).</a:t>
                      </a:r>
                    </a:p>
                  </a:txBody>
                  <a:tcPr marL="87027" marR="87027" marT="43513" marB="43513" anchor="ctr">
                    <a:lnL>
                      <a:noFill/>
                    </a:lnL>
                    <a:lnR>
                      <a:noFill/>
                    </a:lnR>
                    <a:lnT>
                      <a:noFill/>
                    </a:lnT>
                    <a:lnB>
                      <a:noFill/>
                    </a:lnB>
                    <a:solidFill>
                      <a:schemeClr val="accent4">
                        <a:lumMod val="20000"/>
                        <a:lumOff val="80000"/>
                      </a:schemeClr>
                    </a:solidFill>
                  </a:tcPr>
                </a:tc>
                <a:extLst>
                  <a:ext uri="{0D108BD9-81ED-4DB2-BD59-A6C34878D82A}">
                    <a16:rowId xmlns:a16="http://schemas.microsoft.com/office/drawing/2014/main" val="1954135615"/>
                  </a:ext>
                </a:extLst>
              </a:tr>
              <a:tr h="609187">
                <a:tc>
                  <a:txBody>
                    <a:bodyPr/>
                    <a:lstStyle/>
                    <a:p>
                      <a:r>
                        <a:rPr lang="en-IN" sz="1700" b="1" dirty="0"/>
                        <a:t>package</a:t>
                      </a:r>
                      <a:endParaRPr lang="en-IN" sz="1700" dirty="0"/>
                    </a:p>
                  </a:txBody>
                  <a:tcPr marL="87027" marR="87027" marT="43513" marB="43513" anchor="ctr">
                    <a:lnL>
                      <a:noFill/>
                    </a:lnL>
                    <a:lnR>
                      <a:noFill/>
                    </a:lnR>
                    <a:lnT>
                      <a:noFill/>
                    </a:lnT>
                    <a:lnB>
                      <a:noFill/>
                    </a:lnB>
                    <a:solidFill>
                      <a:schemeClr val="accent5">
                        <a:lumMod val="20000"/>
                        <a:lumOff val="80000"/>
                      </a:schemeClr>
                    </a:solidFill>
                  </a:tcPr>
                </a:tc>
                <a:tc>
                  <a:txBody>
                    <a:bodyPr/>
                    <a:lstStyle/>
                    <a:p>
                      <a:r>
                        <a:rPr lang="en-US" sz="1700" b="1" dirty="0"/>
                        <a:t>Packages compiled code into a distributable format (JAR/WAR).</a:t>
                      </a:r>
                    </a:p>
                  </a:txBody>
                  <a:tcPr marL="87027" marR="87027" marT="43513" marB="43513" anchor="ctr">
                    <a:lnL>
                      <a:noFill/>
                    </a:lnL>
                    <a:lnR>
                      <a:noFill/>
                    </a:lnR>
                    <a:lnT>
                      <a:noFill/>
                    </a:lnT>
                    <a:lnB>
                      <a:noFill/>
                    </a:lnB>
                    <a:solidFill>
                      <a:schemeClr val="accent5">
                        <a:lumMod val="20000"/>
                        <a:lumOff val="80000"/>
                      </a:schemeClr>
                    </a:solidFill>
                  </a:tcPr>
                </a:tc>
                <a:extLst>
                  <a:ext uri="{0D108BD9-81ED-4DB2-BD59-A6C34878D82A}">
                    <a16:rowId xmlns:a16="http://schemas.microsoft.com/office/drawing/2014/main" val="1933987338"/>
                  </a:ext>
                </a:extLst>
              </a:tr>
              <a:tr h="609187">
                <a:tc>
                  <a:txBody>
                    <a:bodyPr/>
                    <a:lstStyle/>
                    <a:p>
                      <a:r>
                        <a:rPr lang="en-IN" sz="1700" b="1" dirty="0"/>
                        <a:t>verify</a:t>
                      </a:r>
                      <a:endParaRPr lang="en-IN" sz="1700" dirty="0"/>
                    </a:p>
                  </a:txBody>
                  <a:tcPr marL="87027" marR="87027" marT="43513" marB="43513" anchor="ctr">
                    <a:lnL>
                      <a:noFill/>
                    </a:lnL>
                    <a:lnR>
                      <a:noFill/>
                    </a:lnR>
                    <a:lnT>
                      <a:noFill/>
                    </a:lnT>
                    <a:lnB>
                      <a:noFill/>
                    </a:lnB>
                    <a:solidFill>
                      <a:schemeClr val="accent6">
                        <a:lumMod val="20000"/>
                        <a:lumOff val="80000"/>
                      </a:schemeClr>
                    </a:solidFill>
                  </a:tcPr>
                </a:tc>
                <a:tc>
                  <a:txBody>
                    <a:bodyPr/>
                    <a:lstStyle/>
                    <a:p>
                      <a:r>
                        <a:rPr lang="en-US" sz="1700" b="1" dirty="0"/>
                        <a:t>Runs checks to verify the package is valid.</a:t>
                      </a:r>
                    </a:p>
                  </a:txBody>
                  <a:tcPr marL="87027" marR="87027" marT="43513" marB="43513"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714477556"/>
                  </a:ext>
                </a:extLst>
              </a:tr>
              <a:tr h="609187">
                <a:tc>
                  <a:txBody>
                    <a:bodyPr/>
                    <a:lstStyle/>
                    <a:p>
                      <a:r>
                        <a:rPr lang="en-IN" sz="1700" b="1" dirty="0"/>
                        <a:t>install</a:t>
                      </a:r>
                      <a:endParaRPr lang="en-IN" sz="1700" dirty="0"/>
                    </a:p>
                  </a:txBody>
                  <a:tcPr marL="87027" marR="87027" marT="43513" marB="43513" anchor="ctr">
                    <a:lnL>
                      <a:noFill/>
                    </a:lnL>
                    <a:lnR>
                      <a:noFill/>
                    </a:lnR>
                    <a:lnT>
                      <a:noFill/>
                    </a:lnT>
                    <a:lnB>
                      <a:noFill/>
                    </a:lnB>
                    <a:solidFill>
                      <a:schemeClr val="tx2">
                        <a:lumMod val="10000"/>
                        <a:lumOff val="90000"/>
                      </a:schemeClr>
                    </a:solidFill>
                  </a:tcPr>
                </a:tc>
                <a:tc>
                  <a:txBody>
                    <a:bodyPr/>
                    <a:lstStyle/>
                    <a:p>
                      <a:r>
                        <a:rPr lang="en-US" sz="1700" b="1" dirty="0"/>
                        <a:t>Installs the package into the local Maven repository (~/.m2/repository).</a:t>
                      </a:r>
                    </a:p>
                  </a:txBody>
                  <a:tcPr marL="87027" marR="87027" marT="43513" marB="43513" anchor="ctr">
                    <a:lnL>
                      <a:noFill/>
                    </a:lnL>
                    <a:lnR>
                      <a:noFill/>
                    </a:lnR>
                    <a:lnT>
                      <a:noFill/>
                    </a:lnT>
                    <a:lnB>
                      <a:noFill/>
                    </a:lnB>
                    <a:solidFill>
                      <a:schemeClr val="tx2">
                        <a:lumMod val="10000"/>
                        <a:lumOff val="90000"/>
                      </a:schemeClr>
                    </a:solidFill>
                  </a:tcPr>
                </a:tc>
                <a:extLst>
                  <a:ext uri="{0D108BD9-81ED-4DB2-BD59-A6C34878D82A}">
                    <a16:rowId xmlns:a16="http://schemas.microsoft.com/office/drawing/2014/main" val="3290892973"/>
                  </a:ext>
                </a:extLst>
              </a:tr>
              <a:tr h="609187">
                <a:tc>
                  <a:txBody>
                    <a:bodyPr/>
                    <a:lstStyle/>
                    <a:p>
                      <a:r>
                        <a:rPr lang="en-IN" sz="1700" b="1"/>
                        <a:t>deploy</a:t>
                      </a:r>
                      <a:endParaRPr lang="en-IN" sz="1700"/>
                    </a:p>
                  </a:txBody>
                  <a:tcPr marL="87027" marR="87027" marT="43513" marB="43513" anchor="ctr">
                    <a:lnL>
                      <a:noFill/>
                    </a:lnL>
                    <a:lnR>
                      <a:noFill/>
                    </a:lnR>
                    <a:lnT>
                      <a:noFill/>
                    </a:lnT>
                    <a:lnB>
                      <a:noFill/>
                    </a:lnB>
                  </a:tcPr>
                </a:tc>
                <a:tc>
                  <a:txBody>
                    <a:bodyPr/>
                    <a:lstStyle/>
                    <a:p>
                      <a:r>
                        <a:rPr lang="en-US" sz="1700" b="1" dirty="0"/>
                        <a:t>Copies the package to a remote repository for sharing with others.</a:t>
                      </a:r>
                    </a:p>
                  </a:txBody>
                  <a:tcPr marL="87027" marR="87027" marT="43513" marB="43513" anchor="ctr">
                    <a:lnL>
                      <a:noFill/>
                    </a:lnL>
                    <a:lnR>
                      <a:noFill/>
                    </a:lnR>
                    <a:lnT>
                      <a:noFill/>
                    </a:lnT>
                    <a:lnB>
                      <a:noFill/>
                    </a:lnB>
                  </a:tcPr>
                </a:tc>
                <a:extLst>
                  <a:ext uri="{0D108BD9-81ED-4DB2-BD59-A6C34878D82A}">
                    <a16:rowId xmlns:a16="http://schemas.microsoft.com/office/drawing/2014/main" val="86042200"/>
                  </a:ext>
                </a:extLst>
              </a:tr>
            </a:tbl>
          </a:graphicData>
        </a:graphic>
      </p:graphicFrame>
      <p:sp>
        <p:nvSpPr>
          <p:cNvPr id="5" name="Rectangle 1"/>
          <p:cNvSpPr>
            <a:spLocks noChangeArrowheads="1"/>
          </p:cNvSpPr>
          <p:nvPr/>
        </p:nvSpPr>
        <p:spPr bwMode="auto">
          <a:xfrm>
            <a:off x="1092200" y="743995"/>
            <a:ext cx="6881762" cy="830997"/>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chemeClr val="tx1"/>
                </a:solidFill>
                <a:effectLst/>
                <a:latin typeface="Arial" panose="020B0604020202020204" pitchFamily="34" charset="0"/>
              </a:rPr>
              <a:t>🔹 Common Phases in the Default Lifecycle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Arial" panose="020B0604020202020204" pitchFamily="34" charset="0"/>
              </a:rPr>
              <a:t>Here are the main phases you’ll use:</a:t>
            </a:r>
          </a:p>
        </p:txBody>
      </p:sp>
    </p:spTree>
    <p:extLst>
      <p:ext uri="{BB962C8B-B14F-4D97-AF65-F5344CB8AC3E}">
        <p14:creationId xmlns:p14="http://schemas.microsoft.com/office/powerpoint/2010/main" val="208050813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803132" y="2307360"/>
          <a:ext cx="10515600" cy="1828800"/>
        </p:xfrm>
        <a:graphic>
          <a:graphicData uri="http://schemas.openxmlformats.org/drawingml/2006/table">
            <a:tbl>
              <a:tblPr/>
              <a:tblGrid>
                <a:gridCol w="2305828">
                  <a:extLst>
                    <a:ext uri="{9D8B030D-6E8A-4147-A177-3AD203B41FA5}">
                      <a16:colId xmlns:a16="http://schemas.microsoft.com/office/drawing/2014/main" val="2815489967"/>
                    </a:ext>
                  </a:extLst>
                </a:gridCol>
                <a:gridCol w="8209772">
                  <a:extLst>
                    <a:ext uri="{9D8B030D-6E8A-4147-A177-3AD203B41FA5}">
                      <a16:colId xmlns:a16="http://schemas.microsoft.com/office/drawing/2014/main" val="3771429525"/>
                    </a:ext>
                  </a:extLst>
                </a:gridCol>
              </a:tblGrid>
              <a:tr h="0">
                <a:tc>
                  <a:txBody>
                    <a:bodyPr/>
                    <a:lstStyle/>
                    <a:p>
                      <a:r>
                        <a:rPr lang="en-IN" sz="2400" b="1" dirty="0"/>
                        <a:t>Phase</a:t>
                      </a:r>
                    </a:p>
                  </a:txBody>
                  <a:tcPr anchor="ctr">
                    <a:lnL>
                      <a:noFill/>
                    </a:lnL>
                    <a:lnR>
                      <a:noFill/>
                    </a:lnR>
                    <a:lnT>
                      <a:noFill/>
                    </a:lnT>
                    <a:lnB>
                      <a:noFill/>
                    </a:lnB>
                  </a:tcPr>
                </a:tc>
                <a:tc>
                  <a:txBody>
                    <a:bodyPr/>
                    <a:lstStyle/>
                    <a:p>
                      <a:r>
                        <a:rPr lang="en-IN" sz="2400" b="1" dirty="0"/>
                        <a:t>Description</a:t>
                      </a:r>
                    </a:p>
                  </a:txBody>
                  <a:tcPr anchor="ctr">
                    <a:lnL>
                      <a:noFill/>
                    </a:lnL>
                    <a:lnR>
                      <a:noFill/>
                    </a:lnR>
                    <a:lnT>
                      <a:noFill/>
                    </a:lnT>
                    <a:lnB>
                      <a:noFill/>
                    </a:lnB>
                  </a:tcPr>
                </a:tc>
                <a:extLst>
                  <a:ext uri="{0D108BD9-81ED-4DB2-BD59-A6C34878D82A}">
                    <a16:rowId xmlns:a16="http://schemas.microsoft.com/office/drawing/2014/main" val="3786341606"/>
                  </a:ext>
                </a:extLst>
              </a:tr>
              <a:tr h="0">
                <a:tc>
                  <a:txBody>
                    <a:bodyPr/>
                    <a:lstStyle/>
                    <a:p>
                      <a:r>
                        <a:rPr lang="en-IN" sz="2400" b="1" dirty="0"/>
                        <a:t>pre-clean</a:t>
                      </a:r>
                      <a:endParaRPr lang="en-IN" sz="2400" dirty="0"/>
                    </a:p>
                  </a:txBody>
                  <a:tcPr anchor="ctr">
                    <a:lnL>
                      <a:noFill/>
                    </a:lnL>
                    <a:lnR>
                      <a:noFill/>
                    </a:lnR>
                    <a:lnT>
                      <a:noFill/>
                    </a:lnT>
                    <a:lnB>
                      <a:noFill/>
                    </a:lnB>
                  </a:tcPr>
                </a:tc>
                <a:tc>
                  <a:txBody>
                    <a:bodyPr/>
                    <a:lstStyle/>
                    <a:p>
                      <a:r>
                        <a:rPr lang="en-IN" sz="2400"/>
                        <a:t>Executes tasks before cleaning.</a:t>
                      </a:r>
                    </a:p>
                  </a:txBody>
                  <a:tcPr anchor="ctr">
                    <a:lnL>
                      <a:noFill/>
                    </a:lnL>
                    <a:lnR>
                      <a:noFill/>
                    </a:lnR>
                    <a:lnT>
                      <a:noFill/>
                    </a:lnT>
                    <a:lnB>
                      <a:noFill/>
                    </a:lnB>
                  </a:tcPr>
                </a:tc>
                <a:extLst>
                  <a:ext uri="{0D108BD9-81ED-4DB2-BD59-A6C34878D82A}">
                    <a16:rowId xmlns:a16="http://schemas.microsoft.com/office/drawing/2014/main" val="1644459127"/>
                  </a:ext>
                </a:extLst>
              </a:tr>
              <a:tr h="0">
                <a:tc>
                  <a:txBody>
                    <a:bodyPr/>
                    <a:lstStyle/>
                    <a:p>
                      <a:r>
                        <a:rPr lang="en-IN" sz="2400" b="1" dirty="0"/>
                        <a:t>clean</a:t>
                      </a:r>
                      <a:endParaRPr lang="en-IN" sz="2400" dirty="0"/>
                    </a:p>
                  </a:txBody>
                  <a:tcPr anchor="ctr">
                    <a:lnL>
                      <a:noFill/>
                    </a:lnL>
                    <a:lnR>
                      <a:noFill/>
                    </a:lnR>
                    <a:lnT>
                      <a:noFill/>
                    </a:lnT>
                    <a:lnB>
                      <a:noFill/>
                    </a:lnB>
                  </a:tcPr>
                </a:tc>
                <a:tc>
                  <a:txBody>
                    <a:bodyPr/>
                    <a:lstStyle/>
                    <a:p>
                      <a:r>
                        <a:rPr lang="en-US" sz="2400" dirty="0"/>
                        <a:t>Removes target/ directory (compiled files &amp; artifacts).</a:t>
                      </a:r>
                    </a:p>
                  </a:txBody>
                  <a:tcPr anchor="ctr">
                    <a:lnL>
                      <a:noFill/>
                    </a:lnL>
                    <a:lnR>
                      <a:noFill/>
                    </a:lnR>
                    <a:lnT>
                      <a:noFill/>
                    </a:lnT>
                    <a:lnB>
                      <a:noFill/>
                    </a:lnB>
                  </a:tcPr>
                </a:tc>
                <a:extLst>
                  <a:ext uri="{0D108BD9-81ED-4DB2-BD59-A6C34878D82A}">
                    <a16:rowId xmlns:a16="http://schemas.microsoft.com/office/drawing/2014/main" val="1375479816"/>
                  </a:ext>
                </a:extLst>
              </a:tr>
              <a:tr h="0">
                <a:tc>
                  <a:txBody>
                    <a:bodyPr/>
                    <a:lstStyle/>
                    <a:p>
                      <a:r>
                        <a:rPr lang="en-IN" sz="2400" b="1" dirty="0"/>
                        <a:t>post-clean</a:t>
                      </a:r>
                      <a:endParaRPr lang="en-IN" sz="2400" dirty="0"/>
                    </a:p>
                  </a:txBody>
                  <a:tcPr anchor="ctr">
                    <a:lnL>
                      <a:noFill/>
                    </a:lnL>
                    <a:lnR>
                      <a:noFill/>
                    </a:lnR>
                    <a:lnT>
                      <a:noFill/>
                    </a:lnT>
                    <a:lnB>
                      <a:noFill/>
                    </a:lnB>
                  </a:tcPr>
                </a:tc>
                <a:tc>
                  <a:txBody>
                    <a:bodyPr/>
                    <a:lstStyle/>
                    <a:p>
                      <a:r>
                        <a:rPr lang="en-IN" sz="2400" dirty="0"/>
                        <a:t>Executes tasks after cleaning.</a:t>
                      </a:r>
                    </a:p>
                  </a:txBody>
                  <a:tcPr anchor="ctr">
                    <a:lnL>
                      <a:noFill/>
                    </a:lnL>
                    <a:lnR>
                      <a:noFill/>
                    </a:lnR>
                    <a:lnT>
                      <a:noFill/>
                    </a:lnT>
                    <a:lnB>
                      <a:noFill/>
                    </a:lnB>
                  </a:tcPr>
                </a:tc>
                <a:extLst>
                  <a:ext uri="{0D108BD9-81ED-4DB2-BD59-A6C34878D82A}">
                    <a16:rowId xmlns:a16="http://schemas.microsoft.com/office/drawing/2014/main" val="2248283314"/>
                  </a:ext>
                </a:extLst>
              </a:tr>
            </a:tbl>
          </a:graphicData>
        </a:graphic>
      </p:graphicFrame>
      <p:sp>
        <p:nvSpPr>
          <p:cNvPr id="5" name="Rectangle 1"/>
          <p:cNvSpPr>
            <a:spLocks noChangeArrowheads="1"/>
          </p:cNvSpPr>
          <p:nvPr/>
        </p:nvSpPr>
        <p:spPr bwMode="auto">
          <a:xfrm>
            <a:off x="1244600" y="1098203"/>
            <a:ext cx="3312125" cy="400110"/>
          </a:xfrm>
          <a:prstGeom prst="rect">
            <a:avLst/>
          </a:prstGeom>
          <a:solidFill>
            <a:srgbClr val="FFFF00"/>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Arial" panose="020B0604020202020204" pitchFamily="34" charset="0"/>
              </a:rPr>
              <a:t>🔹 Clean Lifecycle Phases</a:t>
            </a:r>
            <a:endParaRPr kumimoji="0" lang="en-US" altLang="en-US" sz="3200" b="1"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7835555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848139" y="1541669"/>
            <a:ext cx="10815320"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smtClean="0">
                <a:ln>
                  <a:noFill/>
                </a:ln>
                <a:solidFill>
                  <a:schemeClr val="tx1"/>
                </a:solidFill>
                <a:effectLst/>
                <a:latin typeface="Arial" panose="020B0604020202020204" pitchFamily="34" charset="0"/>
              </a:rPr>
              <a:t>Example Commands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err="1" smtClean="0">
                <a:ln>
                  <a:noFill/>
                </a:ln>
                <a:solidFill>
                  <a:schemeClr val="tx1"/>
                </a:solidFill>
                <a:effectLst/>
                <a:latin typeface="Arial Unicode MS"/>
              </a:rPr>
              <a:t>mvn</a:t>
            </a:r>
            <a:r>
              <a:rPr kumimoji="0" lang="en-US" altLang="en-US" sz="2000" b="1" i="0" u="none" strike="noStrike" cap="none" normalizeH="0" baseline="0" dirty="0" smtClean="0">
                <a:ln>
                  <a:noFill/>
                </a:ln>
                <a:solidFill>
                  <a:schemeClr val="tx1"/>
                </a:solidFill>
                <a:effectLst/>
                <a:latin typeface="Arial Unicode MS"/>
              </a:rPr>
              <a:t>   clean        </a:t>
            </a:r>
            <a:r>
              <a:rPr kumimoji="0" lang="en-US" altLang="en-US" sz="2000" b="0" i="0" u="none" strike="noStrike" cap="none" normalizeH="0" baseline="0" dirty="0" smtClean="0">
                <a:ln>
                  <a:noFill/>
                </a:ln>
                <a:solidFill>
                  <a:schemeClr val="tx1"/>
                </a:solidFill>
                <a:effectLst/>
                <a:latin typeface="Arial Unicode MS"/>
              </a:rPr>
              <a:t># Executes the clean lifecycle (pre-clean, clean, post-clean)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err="1" smtClean="0">
                <a:ln>
                  <a:noFill/>
                </a:ln>
                <a:solidFill>
                  <a:schemeClr val="tx1"/>
                </a:solidFill>
                <a:effectLst/>
                <a:latin typeface="Arial Unicode MS"/>
              </a:rPr>
              <a:t>mvn</a:t>
            </a:r>
            <a:r>
              <a:rPr kumimoji="0" lang="en-US" altLang="en-US" sz="2000" b="1" i="0" u="none" strike="noStrike" cap="none" normalizeH="0" baseline="0" dirty="0" smtClean="0">
                <a:ln>
                  <a:noFill/>
                </a:ln>
                <a:solidFill>
                  <a:schemeClr val="tx1"/>
                </a:solidFill>
                <a:effectLst/>
                <a:latin typeface="Arial Unicode MS"/>
              </a:rPr>
              <a:t>   compile    </a:t>
            </a:r>
            <a:r>
              <a:rPr kumimoji="0" lang="en-US" altLang="en-US" sz="2000" b="0" i="0" u="none" strike="noStrike" cap="none" normalizeH="0" baseline="0" dirty="0" smtClean="0">
                <a:ln>
                  <a:noFill/>
                </a:ln>
                <a:solidFill>
                  <a:schemeClr val="tx1"/>
                </a:solidFill>
                <a:effectLst/>
                <a:latin typeface="Arial Unicode MS"/>
              </a:rPr>
              <a:t># Executes validate + compile phases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err="1" smtClean="0">
                <a:ln>
                  <a:noFill/>
                </a:ln>
                <a:solidFill>
                  <a:schemeClr val="tx1"/>
                </a:solidFill>
                <a:effectLst/>
                <a:latin typeface="Arial Unicode MS"/>
              </a:rPr>
              <a:t>mvn</a:t>
            </a:r>
            <a:r>
              <a:rPr kumimoji="0" lang="en-US" altLang="en-US" sz="2000" b="1" i="0" u="none" strike="noStrike" cap="none" normalizeH="0" baseline="0" dirty="0" smtClean="0">
                <a:ln>
                  <a:noFill/>
                </a:ln>
                <a:solidFill>
                  <a:schemeClr val="tx1"/>
                </a:solidFill>
                <a:effectLst/>
                <a:latin typeface="Arial Unicode MS"/>
              </a:rPr>
              <a:t>   test           </a:t>
            </a:r>
            <a:r>
              <a:rPr kumimoji="0" lang="en-US" altLang="en-US" sz="2000" b="0" i="0" u="none" strike="noStrike" cap="none" normalizeH="0" baseline="0" dirty="0" smtClean="0">
                <a:ln>
                  <a:noFill/>
                </a:ln>
                <a:solidFill>
                  <a:schemeClr val="tx1"/>
                </a:solidFill>
                <a:effectLst/>
                <a:latin typeface="Arial Unicode MS"/>
              </a:rPr>
              <a:t># Executes validate + compile + test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err="1" smtClean="0">
                <a:ln>
                  <a:noFill/>
                </a:ln>
                <a:solidFill>
                  <a:schemeClr val="tx1"/>
                </a:solidFill>
                <a:effectLst/>
                <a:latin typeface="Arial Unicode MS"/>
              </a:rPr>
              <a:t>mvn</a:t>
            </a:r>
            <a:r>
              <a:rPr kumimoji="0" lang="en-US" altLang="en-US" sz="2000" b="1" i="0" u="none" strike="noStrike" cap="none" normalizeH="0" baseline="0" dirty="0" smtClean="0">
                <a:ln>
                  <a:noFill/>
                </a:ln>
                <a:solidFill>
                  <a:schemeClr val="tx1"/>
                </a:solidFill>
                <a:effectLst/>
                <a:latin typeface="Arial Unicode MS"/>
              </a:rPr>
              <a:t>   package   </a:t>
            </a:r>
            <a:r>
              <a:rPr kumimoji="0" lang="en-US" altLang="en-US" sz="2000" b="0" i="0" u="none" strike="noStrike" cap="none" normalizeH="0" baseline="0" dirty="0" smtClean="0">
                <a:ln>
                  <a:noFill/>
                </a:ln>
                <a:solidFill>
                  <a:schemeClr val="tx1"/>
                </a:solidFill>
                <a:effectLst/>
                <a:latin typeface="Arial Unicode MS"/>
              </a:rPr>
              <a:t># Executes validate → compile → test → package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err="1" smtClean="0">
                <a:ln>
                  <a:noFill/>
                </a:ln>
                <a:solidFill>
                  <a:schemeClr val="tx1"/>
                </a:solidFill>
                <a:effectLst/>
                <a:latin typeface="Arial Unicode MS"/>
              </a:rPr>
              <a:t>mvn</a:t>
            </a:r>
            <a:r>
              <a:rPr kumimoji="0" lang="en-US" altLang="en-US" sz="2000" b="1" i="0" u="none" strike="noStrike" cap="none" normalizeH="0" baseline="0" dirty="0" smtClean="0">
                <a:ln>
                  <a:noFill/>
                </a:ln>
                <a:solidFill>
                  <a:schemeClr val="tx1"/>
                </a:solidFill>
                <a:effectLst/>
                <a:latin typeface="Arial Unicode MS"/>
              </a:rPr>
              <a:t>   install        </a:t>
            </a:r>
            <a:r>
              <a:rPr kumimoji="0" lang="en-US" altLang="en-US" sz="2000" b="0" i="0" u="none" strike="noStrike" cap="none" normalizeH="0" baseline="0" dirty="0" smtClean="0">
                <a:ln>
                  <a:noFill/>
                </a:ln>
                <a:solidFill>
                  <a:schemeClr val="tx1"/>
                </a:solidFill>
                <a:effectLst/>
                <a:latin typeface="Arial Unicode MS"/>
              </a:rPr>
              <a:t># Executes all phases up to install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err="1" smtClean="0">
                <a:ln>
                  <a:noFill/>
                </a:ln>
                <a:solidFill>
                  <a:schemeClr val="tx1"/>
                </a:solidFill>
                <a:effectLst/>
                <a:latin typeface="Arial Unicode MS"/>
              </a:rPr>
              <a:t>mvn</a:t>
            </a:r>
            <a:r>
              <a:rPr kumimoji="0" lang="en-US" altLang="en-US" sz="2000" b="1" i="0" u="none" strike="noStrike" cap="none" normalizeH="0" baseline="0" dirty="0" smtClean="0">
                <a:ln>
                  <a:noFill/>
                </a:ln>
                <a:solidFill>
                  <a:schemeClr val="tx1"/>
                </a:solidFill>
                <a:effectLst/>
                <a:latin typeface="Arial Unicode MS"/>
              </a:rPr>
              <a:t>   deploy       </a:t>
            </a:r>
            <a:r>
              <a:rPr kumimoji="0" lang="en-US" altLang="en-US" sz="2000" b="0" i="0" u="none" strike="noStrike" cap="none" normalizeH="0" baseline="0" dirty="0" smtClean="0">
                <a:ln>
                  <a:noFill/>
                </a:ln>
                <a:solidFill>
                  <a:schemeClr val="tx1"/>
                </a:solidFill>
                <a:effectLst/>
                <a:latin typeface="Arial Unicode MS"/>
              </a:rPr>
              <a:t># Executes full lifecycle, ending with deploy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err="1" smtClean="0">
                <a:ln>
                  <a:noFill/>
                </a:ln>
                <a:solidFill>
                  <a:schemeClr val="tx1"/>
                </a:solidFill>
                <a:effectLst/>
                <a:latin typeface="Arial Unicode MS"/>
              </a:rPr>
              <a:t>mvn</a:t>
            </a:r>
            <a:r>
              <a:rPr kumimoji="0" lang="en-US" altLang="en-US" sz="2000" b="1" i="0" u="none" strike="noStrike" cap="none" normalizeH="0" baseline="0" dirty="0" smtClean="0">
                <a:ln>
                  <a:noFill/>
                </a:ln>
                <a:solidFill>
                  <a:schemeClr val="tx1"/>
                </a:solidFill>
                <a:effectLst/>
                <a:latin typeface="Arial Unicode MS"/>
              </a:rPr>
              <a:t>   site            </a:t>
            </a:r>
            <a:r>
              <a:rPr kumimoji="0" lang="en-US" altLang="en-US" sz="2000" b="0" i="0" u="none" strike="noStrike" cap="none" normalizeH="0" baseline="0" dirty="0" smtClean="0">
                <a:ln>
                  <a:noFill/>
                </a:ln>
                <a:solidFill>
                  <a:schemeClr val="tx1"/>
                </a:solidFill>
                <a:effectLst/>
                <a:latin typeface="Arial Unicode MS"/>
              </a:rPr>
              <a:t># Generates site documentation</a:t>
            </a:r>
            <a:endParaRPr kumimoji="0" lang="en-US" altLang="en-US" sz="4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4991106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00"/>
          </a:solidFill>
        </p:spPr>
        <p:txBody>
          <a:bodyPr/>
          <a:lstStyle/>
          <a:p>
            <a:r>
              <a:rPr lang="en-IN" b="1" dirty="0"/>
              <a:t>Apache Tomcat</a:t>
            </a:r>
          </a:p>
        </p:txBody>
      </p:sp>
      <p:sp>
        <p:nvSpPr>
          <p:cNvPr id="3" name="Content Placeholder 2"/>
          <p:cNvSpPr>
            <a:spLocks noGrp="1"/>
          </p:cNvSpPr>
          <p:nvPr>
            <p:ph idx="1"/>
          </p:nvPr>
        </p:nvSpPr>
        <p:spPr/>
        <p:txBody>
          <a:bodyPr>
            <a:normAutofit fontScale="92500" lnSpcReduction="10000"/>
          </a:bodyPr>
          <a:lstStyle/>
          <a:p>
            <a:pPr marL="0" indent="0">
              <a:buNone/>
            </a:pPr>
            <a:r>
              <a:rPr lang="en-IN" b="1" dirty="0"/>
              <a:t>1. Overview of Tomcat</a:t>
            </a:r>
          </a:p>
          <a:p>
            <a:r>
              <a:rPr lang="en-IN" b="1" dirty="0"/>
              <a:t>Apache Tomcat</a:t>
            </a:r>
            <a:r>
              <a:rPr lang="en-IN" dirty="0"/>
              <a:t> is an </a:t>
            </a:r>
            <a:r>
              <a:rPr lang="en-IN" b="1" dirty="0"/>
              <a:t>open-source Java Servlet Container</a:t>
            </a:r>
            <a:r>
              <a:rPr lang="en-IN" dirty="0"/>
              <a:t> developed by the Apache Software Foundation.</a:t>
            </a:r>
          </a:p>
          <a:p>
            <a:r>
              <a:rPr lang="en-IN" dirty="0"/>
              <a:t>It implements:</a:t>
            </a:r>
          </a:p>
          <a:p>
            <a:pPr lvl="1"/>
            <a:r>
              <a:rPr lang="en-IN" b="1" dirty="0"/>
              <a:t>Java Servlet</a:t>
            </a:r>
            <a:r>
              <a:rPr lang="en-IN" dirty="0"/>
              <a:t> API</a:t>
            </a:r>
          </a:p>
          <a:p>
            <a:pPr lvl="1"/>
            <a:r>
              <a:rPr lang="en-IN" b="1" dirty="0" err="1"/>
              <a:t>JavaServer</a:t>
            </a:r>
            <a:r>
              <a:rPr lang="en-IN" b="1" dirty="0"/>
              <a:t> Pages (JSP)</a:t>
            </a:r>
            <a:endParaRPr lang="en-IN" dirty="0"/>
          </a:p>
          <a:p>
            <a:pPr lvl="1"/>
            <a:r>
              <a:rPr lang="en-IN" b="1" dirty="0"/>
              <a:t>Java Expression Language (EL)</a:t>
            </a:r>
            <a:endParaRPr lang="en-IN" dirty="0"/>
          </a:p>
          <a:p>
            <a:r>
              <a:rPr lang="en-IN" dirty="0" smtClean="0"/>
              <a:t>Often </a:t>
            </a:r>
            <a:r>
              <a:rPr lang="en-IN" dirty="0"/>
              <a:t>referred to as a </a:t>
            </a:r>
            <a:r>
              <a:rPr lang="en-IN" b="1" dirty="0"/>
              <a:t>lightweight application server</a:t>
            </a:r>
            <a:r>
              <a:rPr lang="en-IN" dirty="0"/>
              <a:t> (not a full JEE server like </a:t>
            </a:r>
            <a:r>
              <a:rPr lang="en-IN" dirty="0" err="1"/>
              <a:t>WildFly</a:t>
            </a:r>
            <a:r>
              <a:rPr lang="en-IN" dirty="0"/>
              <a:t> or </a:t>
            </a:r>
            <a:r>
              <a:rPr lang="en-IN" dirty="0" err="1" smtClean="0"/>
              <a:t>GlassFish</a:t>
            </a:r>
            <a:r>
              <a:rPr lang="en-IN" dirty="0" smtClean="0"/>
              <a:t>).</a:t>
            </a:r>
            <a:endParaRPr lang="en-IN" dirty="0"/>
          </a:p>
          <a:p>
            <a:pPr marL="0" indent="0">
              <a:buNone/>
            </a:pPr>
            <a:r>
              <a:rPr lang="en-IN" sz="4200" b="1" dirty="0">
                <a:solidFill>
                  <a:srgbClr val="FF0000"/>
                </a:solidFill>
              </a:rPr>
              <a:t>👉</a:t>
            </a:r>
            <a:r>
              <a:rPr lang="en-IN" dirty="0"/>
              <a:t> Mainly used to </a:t>
            </a:r>
            <a:r>
              <a:rPr lang="en-IN" b="1" dirty="0"/>
              <a:t>deploy and run Java-based web applications (WAR files).</a:t>
            </a:r>
            <a:endParaRPr lang="en-IN" dirty="0"/>
          </a:p>
        </p:txBody>
      </p:sp>
    </p:spTree>
    <p:extLst>
      <p:ext uri="{BB962C8B-B14F-4D97-AF65-F5344CB8AC3E}">
        <p14:creationId xmlns:p14="http://schemas.microsoft.com/office/powerpoint/2010/main" val="151030472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IN" b="1" dirty="0"/>
              <a:t>2. Features and Capabilities</a:t>
            </a:r>
          </a:p>
        </p:txBody>
      </p:sp>
      <p:sp>
        <p:nvSpPr>
          <p:cNvPr id="3" name="Content Placeholder 2"/>
          <p:cNvSpPr>
            <a:spLocks noGrp="1"/>
          </p:cNvSpPr>
          <p:nvPr>
            <p:ph idx="1"/>
          </p:nvPr>
        </p:nvSpPr>
        <p:spPr/>
        <p:txBody>
          <a:bodyPr>
            <a:normAutofit/>
          </a:bodyPr>
          <a:lstStyle/>
          <a:p>
            <a:r>
              <a:rPr lang="en-IN" sz="2400" dirty="0" smtClean="0"/>
              <a:t>Open-source </a:t>
            </a:r>
            <a:r>
              <a:rPr lang="en-IN" sz="2400" dirty="0"/>
              <a:t>and </a:t>
            </a:r>
            <a:r>
              <a:rPr lang="en-IN" sz="2400" dirty="0" smtClean="0"/>
              <a:t>free.</a:t>
            </a:r>
          </a:p>
          <a:p>
            <a:r>
              <a:rPr lang="en-IN" sz="2400" dirty="0" smtClean="0"/>
              <a:t>Lightweight </a:t>
            </a:r>
            <a:r>
              <a:rPr lang="en-IN" sz="2400" dirty="0"/>
              <a:t>and easy to </a:t>
            </a:r>
            <a:r>
              <a:rPr lang="en-IN" sz="2400" dirty="0" smtClean="0"/>
              <a:t>configure.</a:t>
            </a:r>
          </a:p>
          <a:p>
            <a:r>
              <a:rPr lang="en-IN" sz="2400" dirty="0" smtClean="0"/>
              <a:t>Supports </a:t>
            </a:r>
            <a:r>
              <a:rPr lang="en-IN" sz="2400" b="1" dirty="0"/>
              <a:t>Servlets, </a:t>
            </a:r>
            <a:r>
              <a:rPr lang="en-IN" sz="2400" b="1" dirty="0" err="1" smtClean="0"/>
              <a:t>JSP,etc</a:t>
            </a:r>
            <a:r>
              <a:rPr lang="en-IN" sz="2400" dirty="0" smtClean="0"/>
              <a:t>.</a:t>
            </a:r>
          </a:p>
          <a:p>
            <a:r>
              <a:rPr lang="en-IN" sz="2400" dirty="0" smtClean="0"/>
              <a:t>Cross-platform </a:t>
            </a:r>
            <a:r>
              <a:rPr lang="en-IN" sz="2400" dirty="0"/>
              <a:t>(Windows, Linux, </a:t>
            </a:r>
            <a:r>
              <a:rPr lang="en-IN" sz="2400" dirty="0" err="1"/>
              <a:t>macOS</a:t>
            </a:r>
            <a:r>
              <a:rPr lang="en-IN" sz="2400" dirty="0" smtClean="0"/>
              <a:t>).</a:t>
            </a:r>
          </a:p>
          <a:p>
            <a:r>
              <a:rPr lang="en-IN" sz="2400" dirty="0" smtClean="0"/>
              <a:t>SSL </a:t>
            </a:r>
            <a:r>
              <a:rPr lang="en-IN" sz="2400" dirty="0"/>
              <a:t>(HTTPS) </a:t>
            </a:r>
            <a:r>
              <a:rPr lang="en-IN" sz="2400" dirty="0" smtClean="0"/>
              <a:t>support.</a:t>
            </a:r>
          </a:p>
          <a:p>
            <a:r>
              <a:rPr lang="en-IN" sz="2400" dirty="0" smtClean="0"/>
              <a:t>Supports </a:t>
            </a:r>
            <a:r>
              <a:rPr lang="en-IN" sz="2400" b="1" dirty="0"/>
              <a:t>hot deployment</a:t>
            </a:r>
            <a:r>
              <a:rPr lang="en-IN" sz="2400" dirty="0"/>
              <a:t> (redeploy apps without restarting server</a:t>
            </a:r>
            <a:r>
              <a:rPr lang="en-IN" sz="2400" dirty="0" smtClean="0"/>
              <a:t>).</a:t>
            </a:r>
          </a:p>
          <a:p>
            <a:r>
              <a:rPr lang="en-IN" sz="2400" dirty="0" smtClean="0"/>
              <a:t>Provides </a:t>
            </a:r>
            <a:r>
              <a:rPr lang="en-IN" sz="2400" b="1" dirty="0"/>
              <a:t>Tomcat Manager</a:t>
            </a:r>
            <a:r>
              <a:rPr lang="en-IN" sz="2400" dirty="0"/>
              <a:t> web app for deployment, monitoring, and </a:t>
            </a:r>
            <a:r>
              <a:rPr lang="en-IN" sz="2400" dirty="0" smtClean="0"/>
              <a:t>management.</a:t>
            </a:r>
          </a:p>
          <a:p>
            <a:r>
              <a:rPr lang="en-IN" sz="2400" dirty="0" smtClean="0"/>
              <a:t>Can </a:t>
            </a:r>
            <a:r>
              <a:rPr lang="en-IN" sz="2400" dirty="0"/>
              <a:t>be integrated with </a:t>
            </a:r>
            <a:r>
              <a:rPr lang="en-IN" sz="2400" b="1" dirty="0"/>
              <a:t>Apache HTTP Server</a:t>
            </a:r>
            <a:r>
              <a:rPr lang="en-IN" sz="2400" dirty="0"/>
              <a:t>.</a:t>
            </a:r>
          </a:p>
        </p:txBody>
      </p:sp>
    </p:spTree>
    <p:extLst>
      <p:ext uri="{BB962C8B-B14F-4D97-AF65-F5344CB8AC3E}">
        <p14:creationId xmlns:p14="http://schemas.microsoft.com/office/powerpoint/2010/main" val="236240144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0AC92-31D5-F239-DD95-BC97A13C2C35}"/>
              </a:ext>
            </a:extLst>
          </p:cNvPr>
          <p:cNvSpPr>
            <a:spLocks noGrp="1"/>
          </p:cNvSpPr>
          <p:nvPr>
            <p:ph type="title"/>
          </p:nvPr>
        </p:nvSpPr>
        <p:spPr/>
        <p:txBody>
          <a:bodyPr/>
          <a:lstStyle/>
          <a:p>
            <a:endParaRPr lang="en-US"/>
          </a:p>
        </p:txBody>
      </p:sp>
      <p:pic>
        <p:nvPicPr>
          <p:cNvPr id="4" name="Content Placeholder 3" descr="A black text on a white background&#10;&#10;Description automatically generated">
            <a:extLst>
              <a:ext uri="{FF2B5EF4-FFF2-40B4-BE49-F238E27FC236}">
                <a16:creationId xmlns:a16="http://schemas.microsoft.com/office/drawing/2014/main" id="{83140979-F508-1C28-9478-30946F998F08}"/>
              </a:ext>
            </a:extLst>
          </p:cNvPr>
          <p:cNvPicPr>
            <a:picLocks noGrp="1" noChangeAspect="1"/>
          </p:cNvPicPr>
          <p:nvPr>
            <p:ph idx="1"/>
          </p:nvPr>
        </p:nvPicPr>
        <p:blipFill>
          <a:blip r:embed="rId2"/>
          <a:stretch>
            <a:fillRect/>
          </a:stretch>
        </p:blipFill>
        <p:spPr>
          <a:xfrm>
            <a:off x="830113" y="1824921"/>
            <a:ext cx="10531774" cy="2196141"/>
          </a:xfrm>
        </p:spPr>
      </p:pic>
    </p:spTree>
    <p:extLst>
      <p:ext uri="{BB962C8B-B14F-4D97-AF65-F5344CB8AC3E}">
        <p14:creationId xmlns:p14="http://schemas.microsoft.com/office/powerpoint/2010/main" val="135469891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46B3F-9BB6-F263-22E8-99297522AABC}"/>
              </a:ext>
            </a:extLst>
          </p:cNvPr>
          <p:cNvSpPr>
            <a:spLocks noGrp="1"/>
          </p:cNvSpPr>
          <p:nvPr>
            <p:ph type="title"/>
          </p:nvPr>
        </p:nvSpPr>
        <p:spPr/>
        <p:txBody>
          <a:bodyPr>
            <a:normAutofit/>
          </a:bodyPr>
          <a:lstStyle/>
          <a:p>
            <a:r>
              <a:rPr lang="en-US" sz="3200" b="1" dirty="0"/>
              <a:t>Based on application development we have:</a:t>
            </a:r>
          </a:p>
        </p:txBody>
      </p:sp>
      <p:sp>
        <p:nvSpPr>
          <p:cNvPr id="3" name="Content Placeholder 2">
            <a:extLst>
              <a:ext uri="{FF2B5EF4-FFF2-40B4-BE49-F238E27FC236}">
                <a16:creationId xmlns:a16="http://schemas.microsoft.com/office/drawing/2014/main" id="{05671F30-1876-4A8A-FCF8-6F4ED0F4E6F4}"/>
              </a:ext>
            </a:extLst>
          </p:cNvPr>
          <p:cNvSpPr>
            <a:spLocks noGrp="1"/>
          </p:cNvSpPr>
          <p:nvPr>
            <p:ph idx="1"/>
          </p:nvPr>
        </p:nvSpPr>
        <p:spPr/>
        <p:txBody>
          <a:bodyPr vert="horz" lIns="91440" tIns="45720" rIns="91440" bIns="45720" rtlCol="0" anchor="t">
            <a:normAutofit/>
          </a:bodyPr>
          <a:lstStyle/>
          <a:p>
            <a:pPr marL="0" indent="0">
              <a:buNone/>
            </a:pPr>
            <a:r>
              <a:rPr lang="en-US" b="1" dirty="0" err="1"/>
              <a:t>i</a:t>
            </a:r>
            <a:r>
              <a:rPr lang="en-US" b="1" dirty="0"/>
              <a:t>)  Web application Frameworks</a:t>
            </a:r>
          </a:p>
        </p:txBody>
      </p:sp>
      <p:pic>
        <p:nvPicPr>
          <p:cNvPr id="4" name="Picture 3" descr="A white paper with black text&#10;&#10;Description automatically generated">
            <a:extLst>
              <a:ext uri="{FF2B5EF4-FFF2-40B4-BE49-F238E27FC236}">
                <a16:creationId xmlns:a16="http://schemas.microsoft.com/office/drawing/2014/main" id="{7BFA9A73-1671-24D8-1689-5F7D5DE3617F}"/>
              </a:ext>
            </a:extLst>
          </p:cNvPr>
          <p:cNvPicPr>
            <a:picLocks noChangeAspect="1"/>
          </p:cNvPicPr>
          <p:nvPr/>
        </p:nvPicPr>
        <p:blipFill>
          <a:blip r:embed="rId2"/>
          <a:stretch>
            <a:fillRect/>
          </a:stretch>
        </p:blipFill>
        <p:spPr>
          <a:xfrm>
            <a:off x="1096992" y="2678322"/>
            <a:ext cx="9667335" cy="2435883"/>
          </a:xfrm>
          <a:prstGeom prst="rect">
            <a:avLst/>
          </a:prstGeom>
        </p:spPr>
      </p:pic>
    </p:spTree>
    <p:extLst>
      <p:ext uri="{BB962C8B-B14F-4D97-AF65-F5344CB8AC3E}">
        <p14:creationId xmlns:p14="http://schemas.microsoft.com/office/powerpoint/2010/main" val="8504736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black text on a white background&#10;&#10;Description automatically generated">
            <a:extLst>
              <a:ext uri="{FF2B5EF4-FFF2-40B4-BE49-F238E27FC236}">
                <a16:creationId xmlns:a16="http://schemas.microsoft.com/office/drawing/2014/main" id="{CB55A276-B7E0-6441-75CF-0148D5FABAA1}"/>
              </a:ext>
            </a:extLst>
          </p:cNvPr>
          <p:cNvPicPr>
            <a:picLocks noGrp="1" noChangeAspect="1"/>
          </p:cNvPicPr>
          <p:nvPr>
            <p:ph idx="1"/>
          </p:nvPr>
        </p:nvPicPr>
        <p:blipFill>
          <a:blip r:embed="rId2"/>
          <a:stretch>
            <a:fillRect/>
          </a:stretch>
        </p:blipFill>
        <p:spPr>
          <a:xfrm>
            <a:off x="735671" y="886889"/>
            <a:ext cx="10519374" cy="2691980"/>
          </a:xfrm>
        </p:spPr>
      </p:pic>
      <p:pic>
        <p:nvPicPr>
          <p:cNvPr id="5" name="Picture 4" descr="A blue and orange sign with white text&#10;&#10;Description automatically generated">
            <a:extLst>
              <a:ext uri="{FF2B5EF4-FFF2-40B4-BE49-F238E27FC236}">
                <a16:creationId xmlns:a16="http://schemas.microsoft.com/office/drawing/2014/main" id="{416E8B18-FF9A-28C7-FE1B-379CD7CE3338}"/>
              </a:ext>
            </a:extLst>
          </p:cNvPr>
          <p:cNvPicPr>
            <a:picLocks noChangeAspect="1"/>
          </p:cNvPicPr>
          <p:nvPr/>
        </p:nvPicPr>
        <p:blipFill>
          <a:blip r:embed="rId3"/>
          <a:stretch>
            <a:fillRect/>
          </a:stretch>
        </p:blipFill>
        <p:spPr>
          <a:xfrm>
            <a:off x="2260300" y="3666931"/>
            <a:ext cx="8012704" cy="3057360"/>
          </a:xfrm>
          <a:prstGeom prst="rect">
            <a:avLst/>
          </a:prstGeom>
        </p:spPr>
      </p:pic>
    </p:spTree>
    <p:extLst>
      <p:ext uri="{BB962C8B-B14F-4D97-AF65-F5344CB8AC3E}">
        <p14:creationId xmlns:p14="http://schemas.microsoft.com/office/powerpoint/2010/main" val="314684568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DDE54-56DB-89DA-A2CC-26C26A31EE36}"/>
              </a:ext>
            </a:extLst>
          </p:cNvPr>
          <p:cNvSpPr>
            <a:spLocks noGrp="1"/>
          </p:cNvSpPr>
          <p:nvPr>
            <p:ph type="title"/>
          </p:nvPr>
        </p:nvSpPr>
        <p:spPr/>
        <p:txBody>
          <a:bodyPr/>
          <a:lstStyle/>
          <a:p>
            <a:r>
              <a:rPr lang="en-US" b="1" dirty="0"/>
              <a:t>Spring Framework</a:t>
            </a:r>
          </a:p>
        </p:txBody>
      </p:sp>
      <p:pic>
        <p:nvPicPr>
          <p:cNvPr id="4" name="Content Placeholder 3" descr="A blue text on a white background&#10;&#10;Description automatically generated">
            <a:extLst>
              <a:ext uri="{FF2B5EF4-FFF2-40B4-BE49-F238E27FC236}">
                <a16:creationId xmlns:a16="http://schemas.microsoft.com/office/drawing/2014/main" id="{3BC942E9-3062-5D91-1F68-5D51AD8B793C}"/>
              </a:ext>
            </a:extLst>
          </p:cNvPr>
          <p:cNvPicPr>
            <a:picLocks noGrp="1" noChangeAspect="1"/>
          </p:cNvPicPr>
          <p:nvPr>
            <p:ph idx="1"/>
          </p:nvPr>
        </p:nvPicPr>
        <p:blipFill>
          <a:blip r:embed="rId2"/>
          <a:stretch>
            <a:fillRect/>
          </a:stretch>
        </p:blipFill>
        <p:spPr>
          <a:xfrm>
            <a:off x="843412" y="1809555"/>
            <a:ext cx="10433288" cy="2893074"/>
          </a:xfrm>
        </p:spPr>
      </p:pic>
    </p:spTree>
    <p:extLst>
      <p:ext uri="{BB962C8B-B14F-4D97-AF65-F5344CB8AC3E}">
        <p14:creationId xmlns:p14="http://schemas.microsoft.com/office/powerpoint/2010/main" val="409703487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BD786-2B81-5675-6F59-29330BA564D7}"/>
              </a:ext>
            </a:extLst>
          </p:cNvPr>
          <p:cNvSpPr>
            <a:spLocks noGrp="1"/>
          </p:cNvSpPr>
          <p:nvPr>
            <p:ph type="title"/>
          </p:nvPr>
        </p:nvSpPr>
        <p:spPr/>
        <p:txBody>
          <a:bodyPr/>
          <a:lstStyle/>
          <a:p>
            <a:r>
              <a:rPr lang="en-US" b="1" dirty="0"/>
              <a:t>Spring MVC</a:t>
            </a:r>
          </a:p>
        </p:txBody>
      </p:sp>
      <p:sp>
        <p:nvSpPr>
          <p:cNvPr id="3" name="Content Placeholder 2">
            <a:extLst>
              <a:ext uri="{FF2B5EF4-FFF2-40B4-BE49-F238E27FC236}">
                <a16:creationId xmlns:a16="http://schemas.microsoft.com/office/drawing/2014/main" id="{5438F4E2-C0DC-30D1-9231-05BD5BF03F64}"/>
              </a:ext>
            </a:extLst>
          </p:cNvPr>
          <p:cNvSpPr>
            <a:spLocks noGrp="1"/>
          </p:cNvSpPr>
          <p:nvPr>
            <p:ph idx="1"/>
          </p:nvPr>
        </p:nvSpPr>
        <p:spPr/>
        <p:txBody>
          <a:bodyPr vert="horz" lIns="91440" tIns="45720" rIns="91440" bIns="45720" rtlCol="0" anchor="t">
            <a:normAutofit/>
          </a:bodyPr>
          <a:lstStyle/>
          <a:p>
            <a:r>
              <a:rPr lang="en-US"/>
              <a:t>A spring MVC is a sub framework of Spring Framework.</a:t>
            </a:r>
          </a:p>
          <a:p>
            <a:r>
              <a:rPr lang="en-US"/>
              <a:t>Used to build web application.</a:t>
            </a:r>
          </a:p>
          <a:p>
            <a:r>
              <a:rPr lang="en-US"/>
              <a:t>It is built on top of the servlet API</a:t>
            </a:r>
          </a:p>
          <a:p>
            <a:r>
              <a:rPr lang="en-US"/>
              <a:t>It follows MVC design pattern.</a:t>
            </a:r>
          </a:p>
          <a:p>
            <a:r>
              <a:rPr lang="en-US"/>
              <a:t>It implements all the basic features of core spring framework</a:t>
            </a:r>
          </a:p>
          <a:p>
            <a:pPr lvl="1">
              <a:buFont typeface="Courier New" panose="020B0604020202020204" pitchFamily="34" charset="0"/>
              <a:buChar char="o"/>
            </a:pPr>
            <a:r>
              <a:rPr lang="en-US"/>
              <a:t>Inversion of control, Dependency Injection, etc..</a:t>
            </a:r>
          </a:p>
          <a:p>
            <a:endParaRPr lang="en-US"/>
          </a:p>
          <a:p>
            <a:endParaRPr lang="en-US"/>
          </a:p>
        </p:txBody>
      </p:sp>
    </p:spTree>
    <p:extLst>
      <p:ext uri="{BB962C8B-B14F-4D97-AF65-F5344CB8AC3E}">
        <p14:creationId xmlns:p14="http://schemas.microsoft.com/office/powerpoint/2010/main" val="202463901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white background with black text&#10;&#10;Description automatically generated">
            <a:extLst>
              <a:ext uri="{FF2B5EF4-FFF2-40B4-BE49-F238E27FC236}">
                <a16:creationId xmlns:a16="http://schemas.microsoft.com/office/drawing/2014/main" id="{4618A64F-1E5E-E59C-AACA-1BA0F551A234}"/>
              </a:ext>
            </a:extLst>
          </p:cNvPr>
          <p:cNvPicPr>
            <a:picLocks noGrp="1" noChangeAspect="1"/>
          </p:cNvPicPr>
          <p:nvPr>
            <p:ph idx="1"/>
          </p:nvPr>
        </p:nvPicPr>
        <p:blipFill>
          <a:blip r:embed="rId2"/>
          <a:srcRect l="65" t="12369" r="-183" b="14675"/>
          <a:stretch/>
        </p:blipFill>
        <p:spPr>
          <a:xfrm>
            <a:off x="117987" y="848274"/>
            <a:ext cx="11916697" cy="5005976"/>
          </a:xfrm>
          <a:prstGeom prst="rect">
            <a:avLst/>
          </a:prstGeom>
        </p:spPr>
      </p:pic>
    </p:spTree>
    <p:extLst>
      <p:ext uri="{BB962C8B-B14F-4D97-AF65-F5344CB8AC3E}">
        <p14:creationId xmlns:p14="http://schemas.microsoft.com/office/powerpoint/2010/main" val="425845399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purple rectangular object with text&#10;&#10;Description automatically generated">
            <a:extLst>
              <a:ext uri="{FF2B5EF4-FFF2-40B4-BE49-F238E27FC236}">
                <a16:creationId xmlns:a16="http://schemas.microsoft.com/office/drawing/2014/main" id="{CB25FFF0-DA09-D195-5CBB-1AD5C798F01D}"/>
              </a:ext>
            </a:extLst>
          </p:cNvPr>
          <p:cNvPicPr>
            <a:picLocks noGrp="1" noChangeAspect="1"/>
          </p:cNvPicPr>
          <p:nvPr>
            <p:ph idx="1"/>
          </p:nvPr>
        </p:nvPicPr>
        <p:blipFill>
          <a:blip r:embed="rId2"/>
          <a:srcRect l="19195" t="27577" r="15385" b="258"/>
          <a:stretch/>
        </p:blipFill>
        <p:spPr>
          <a:xfrm>
            <a:off x="2858471" y="1419843"/>
            <a:ext cx="6479337" cy="4020361"/>
          </a:xfrm>
          <a:prstGeom prst="rect">
            <a:avLst/>
          </a:prstGeom>
        </p:spPr>
      </p:pic>
    </p:spTree>
    <p:extLst>
      <p:ext uri="{BB962C8B-B14F-4D97-AF65-F5344CB8AC3E}">
        <p14:creationId xmlns:p14="http://schemas.microsoft.com/office/powerpoint/2010/main" val="391546055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0F4A8F21-4CB9-8C79-3C9F-EB4F5FA2CD73}"/>
              </a:ext>
            </a:extLst>
          </p:cNvPr>
          <p:cNvPicPr>
            <a:picLocks noGrp="1" noChangeAspect="1"/>
          </p:cNvPicPr>
          <p:nvPr>
            <p:ph idx="1"/>
          </p:nvPr>
        </p:nvPicPr>
        <p:blipFill>
          <a:blip r:embed="rId2"/>
          <a:srcRect l="18824" t="30672" r="18353" b="23109"/>
          <a:stretch/>
        </p:blipFill>
        <p:spPr>
          <a:xfrm>
            <a:off x="690114" y="2086348"/>
            <a:ext cx="10673349" cy="4617686"/>
          </a:xfrm>
        </p:spPr>
      </p:pic>
    </p:spTree>
    <p:extLst>
      <p:ext uri="{BB962C8B-B14F-4D97-AF65-F5344CB8AC3E}">
        <p14:creationId xmlns:p14="http://schemas.microsoft.com/office/powerpoint/2010/main" val="18095334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43F1D-07C1-DE77-FE64-D48CCC0BB680}"/>
              </a:ext>
            </a:extLst>
          </p:cNvPr>
          <p:cNvSpPr>
            <a:spLocks noGrp="1"/>
          </p:cNvSpPr>
          <p:nvPr>
            <p:ph type="title"/>
          </p:nvPr>
        </p:nvSpPr>
        <p:spPr/>
        <p:txBody>
          <a:bodyPr/>
          <a:lstStyle/>
          <a:p>
            <a:endParaRPr lang="en-US"/>
          </a:p>
        </p:txBody>
      </p:sp>
      <p:pic>
        <p:nvPicPr>
          <p:cNvPr id="4" name="Content Placeholder 3" descr="A diagram of a person&#10;&#10;Description automatically generated">
            <a:extLst>
              <a:ext uri="{FF2B5EF4-FFF2-40B4-BE49-F238E27FC236}">
                <a16:creationId xmlns:a16="http://schemas.microsoft.com/office/drawing/2014/main" id="{C64D7876-1641-5FEB-B9AE-4467D1FA87AA}"/>
              </a:ext>
            </a:extLst>
          </p:cNvPr>
          <p:cNvPicPr>
            <a:picLocks noGrp="1" noChangeAspect="1"/>
          </p:cNvPicPr>
          <p:nvPr>
            <p:ph idx="1"/>
          </p:nvPr>
        </p:nvPicPr>
        <p:blipFill>
          <a:blip r:embed="rId2"/>
          <a:srcRect l="3620" t="7760" r="6968" b="5814"/>
          <a:stretch/>
        </p:blipFill>
        <p:spPr>
          <a:xfrm>
            <a:off x="612597" y="619859"/>
            <a:ext cx="10975558" cy="5853181"/>
          </a:xfrm>
        </p:spPr>
      </p:pic>
    </p:spTree>
    <p:extLst>
      <p:ext uri="{BB962C8B-B14F-4D97-AF65-F5344CB8AC3E}">
        <p14:creationId xmlns:p14="http://schemas.microsoft.com/office/powerpoint/2010/main" val="38959680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BCDEF5-ECFA-EB12-9BFA-852C88C4F577}"/>
              </a:ext>
            </a:extLst>
          </p:cNvPr>
          <p:cNvSpPr txBox="1"/>
          <p:nvPr/>
        </p:nvSpPr>
        <p:spPr>
          <a:xfrm>
            <a:off x="1816137" y="2682305"/>
            <a:ext cx="6428117" cy="1477328"/>
          </a:xfrm>
          <a:prstGeom prst="rect">
            <a:avLst/>
          </a:prstGeom>
          <a:solidFill>
            <a:srgbClr val="FFFF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a:t>
            </a:r>
            <a:r>
              <a:rPr lang="en-US" b="1" dirty="0" err="1"/>
              <a:t>SpringBootApplication</a:t>
            </a:r>
            <a:r>
              <a:rPr lang="en-US" dirty="0"/>
              <a:t>: This annotation is a convenience annotation that includes @Configuration, @</a:t>
            </a:r>
            <a:r>
              <a:rPr lang="en-US" dirty="0" err="1"/>
              <a:t>EnableAutoConfiguration</a:t>
            </a:r>
            <a:r>
              <a:rPr lang="en-US" dirty="0"/>
              <a:t>, and @</a:t>
            </a:r>
            <a:r>
              <a:rPr lang="en-US" dirty="0" err="1"/>
              <a:t>ComponentScan</a:t>
            </a:r>
            <a:r>
              <a:rPr lang="en-US" dirty="0"/>
              <a:t>. It marks the main class of a Spring Boot application.</a:t>
            </a:r>
          </a:p>
        </p:txBody>
      </p:sp>
    </p:spTree>
    <p:extLst>
      <p:ext uri="{BB962C8B-B14F-4D97-AF65-F5344CB8AC3E}">
        <p14:creationId xmlns:p14="http://schemas.microsoft.com/office/powerpoint/2010/main" val="8793852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07740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80057-7DBF-B7BF-1931-73989760EEB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1398301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33784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76123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BB334-F20E-7CD7-6B09-48B755278E49}"/>
              </a:ext>
            </a:extLst>
          </p:cNvPr>
          <p:cNvSpPr>
            <a:spLocks noGrp="1"/>
          </p:cNvSpPr>
          <p:nvPr>
            <p:ph type="title"/>
          </p:nvPr>
        </p:nvSpPr>
        <p:spPr>
          <a:xfrm>
            <a:off x="838200" y="2607993"/>
            <a:ext cx="10515600" cy="1325563"/>
          </a:xfrm>
          <a:solidFill>
            <a:srgbClr val="ED7D31"/>
          </a:solidFill>
          <a:ln>
            <a:solidFill>
              <a:srgbClr val="4472C4"/>
            </a:solidFill>
          </a:ln>
        </p:spPr>
        <p:txBody>
          <a:bodyPr>
            <a:normAutofit fontScale="90000"/>
          </a:bodyPr>
          <a:lstStyle/>
          <a:p>
            <a:pPr algn="ctr"/>
            <a:r>
              <a:rPr lang="en-US" b="1"/>
              <a:t>Hello World !!! In Spring Boot</a:t>
            </a:r>
            <a:br>
              <a:rPr lang="en-US" b="1"/>
            </a:br>
            <a:r>
              <a:rPr lang="en-US" sz="6600" b="1"/>
              <a:t>Using STS</a:t>
            </a:r>
          </a:p>
        </p:txBody>
      </p:sp>
    </p:spTree>
    <p:extLst>
      <p:ext uri="{BB962C8B-B14F-4D97-AF65-F5344CB8AC3E}">
        <p14:creationId xmlns:p14="http://schemas.microsoft.com/office/powerpoint/2010/main" val="16767541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4" name="Content Placeholder 63" descr="A screenshot of a computer&#10;&#10;Description automatically generated">
            <a:extLst>
              <a:ext uri="{FF2B5EF4-FFF2-40B4-BE49-F238E27FC236}">
                <a16:creationId xmlns:a16="http://schemas.microsoft.com/office/drawing/2014/main" id="{170B90AF-F5D5-2B22-BBFF-4CFBA40DBB4B}"/>
              </a:ext>
            </a:extLst>
          </p:cNvPr>
          <p:cNvPicPr>
            <a:picLocks noGrp="1" noChangeAspect="1"/>
          </p:cNvPicPr>
          <p:nvPr>
            <p:ph idx="1"/>
          </p:nvPr>
        </p:nvPicPr>
        <p:blipFill>
          <a:blip r:embed="rId2"/>
          <a:stretch>
            <a:fillRect/>
          </a:stretch>
        </p:blipFill>
        <p:spPr>
          <a:xfrm>
            <a:off x="158151" y="30385"/>
            <a:ext cx="12033848" cy="6834761"/>
          </a:xfrm>
        </p:spPr>
      </p:pic>
    </p:spTree>
    <p:extLst>
      <p:ext uri="{BB962C8B-B14F-4D97-AF65-F5344CB8AC3E}">
        <p14:creationId xmlns:p14="http://schemas.microsoft.com/office/powerpoint/2010/main" val="41991339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DB2FC-B88B-6B1D-D85F-7B4769344467}"/>
              </a:ext>
            </a:extLst>
          </p:cNvPr>
          <p:cNvSpPr>
            <a:spLocks noGrp="1"/>
          </p:cNvSpPr>
          <p:nvPr>
            <p:ph type="title"/>
          </p:nvPr>
        </p:nvSpPr>
        <p:spPr>
          <a:xfrm>
            <a:off x="831850" y="1709738"/>
            <a:ext cx="10515600" cy="1387423"/>
          </a:xfrm>
        </p:spPr>
        <p:txBody>
          <a:bodyPr/>
          <a:lstStyle/>
          <a:p>
            <a:r>
              <a:rPr lang="en-US" sz="4400" b="1" dirty="0">
                <a:latin typeface="Times New Roman"/>
                <a:cs typeface="Times New Roman"/>
              </a:rPr>
              <a:t>Lecture 01:Understanding MVC Concepts</a:t>
            </a:r>
            <a:br>
              <a:rPr lang="en-US" sz="4400" b="1" dirty="0">
                <a:latin typeface="Times New Roman"/>
                <a:cs typeface="Times New Roman"/>
              </a:rPr>
            </a:br>
            <a:endParaRPr lang="en-US" sz="4400" b="1" dirty="0">
              <a:latin typeface="Times New Roman"/>
              <a:cs typeface="Times New Roman"/>
            </a:endParaRPr>
          </a:p>
        </p:txBody>
      </p:sp>
      <p:sp>
        <p:nvSpPr>
          <p:cNvPr id="3" name="Text Placeholder 2">
            <a:extLst>
              <a:ext uri="{FF2B5EF4-FFF2-40B4-BE49-F238E27FC236}">
                <a16:creationId xmlns:a16="http://schemas.microsoft.com/office/drawing/2014/main" id="{E15D36E1-18CD-C209-546C-335C6920AC83}"/>
              </a:ext>
            </a:extLst>
          </p:cNvPr>
          <p:cNvSpPr>
            <a:spLocks noGrp="1"/>
          </p:cNvSpPr>
          <p:nvPr>
            <p:ph type="body" idx="1"/>
          </p:nvPr>
        </p:nvSpPr>
        <p:spPr>
          <a:xfrm>
            <a:off x="900676" y="2886720"/>
            <a:ext cx="10515600" cy="2003394"/>
          </a:xfrm>
        </p:spPr>
        <p:txBody>
          <a:bodyPr vert="horz" lIns="91440" tIns="45720" rIns="91440" bIns="45720" rtlCol="0" anchor="t">
            <a:normAutofit lnSpcReduction="10000"/>
          </a:bodyPr>
          <a:lstStyle/>
          <a:p>
            <a:pPr marL="457200" indent="-457200">
              <a:buChar char="•"/>
            </a:pPr>
            <a:r>
              <a:rPr lang="en-US" sz="2800" b="1" dirty="0">
                <a:solidFill>
                  <a:schemeClr val="tx1"/>
                </a:solidFill>
                <a:latin typeface="Times New Roman"/>
                <a:cs typeface="Times New Roman"/>
              </a:rPr>
              <a:t>History and Evolution of MVC </a:t>
            </a:r>
            <a:endParaRPr lang="en-US" dirty="0">
              <a:solidFill>
                <a:schemeClr val="tx1"/>
              </a:solidFill>
              <a:latin typeface="Aptos" panose="02110004020202020204"/>
              <a:cs typeface="Times New Roman"/>
            </a:endParaRPr>
          </a:p>
          <a:p>
            <a:pPr marL="457200" indent="-457200">
              <a:buChar char="•"/>
            </a:pPr>
            <a:r>
              <a:rPr lang="en-US" sz="2800" b="1" dirty="0">
                <a:solidFill>
                  <a:schemeClr val="tx1"/>
                </a:solidFill>
                <a:latin typeface="Times New Roman"/>
                <a:cs typeface="Times New Roman"/>
              </a:rPr>
              <a:t>Origin of MVC Pattern </a:t>
            </a:r>
            <a:endParaRPr lang="en-US" dirty="0">
              <a:solidFill>
                <a:schemeClr val="tx1"/>
              </a:solidFill>
              <a:latin typeface="Aptos" panose="02110004020202020204"/>
              <a:cs typeface="Times New Roman"/>
            </a:endParaRPr>
          </a:p>
          <a:p>
            <a:pPr marL="457200" indent="-457200">
              <a:buChar char="•"/>
            </a:pPr>
            <a:r>
              <a:rPr lang="en-US" sz="2800" b="1" dirty="0">
                <a:solidFill>
                  <a:schemeClr val="tx1"/>
                </a:solidFill>
                <a:latin typeface="Times New Roman"/>
                <a:cs typeface="Times New Roman"/>
              </a:rPr>
              <a:t>Components: Model, View, Controller </a:t>
            </a:r>
            <a:endParaRPr lang="en-US" dirty="0">
              <a:solidFill>
                <a:schemeClr val="tx1"/>
              </a:solidFill>
              <a:latin typeface="Aptos" panose="02110004020202020204"/>
              <a:cs typeface="Times New Roman"/>
            </a:endParaRPr>
          </a:p>
          <a:p>
            <a:pPr marL="457200" indent="-457200">
              <a:buChar char="•"/>
            </a:pPr>
            <a:r>
              <a:rPr lang="en-US" sz="2800" b="1" dirty="0">
                <a:solidFill>
                  <a:schemeClr val="tx1"/>
                </a:solidFill>
                <a:latin typeface="Times New Roman"/>
                <a:cs typeface="Times New Roman"/>
              </a:rPr>
              <a:t>Responsibilities and Interactions </a:t>
            </a:r>
            <a:endParaRPr lang="en-US" dirty="0">
              <a:solidFill>
                <a:schemeClr val="tx1"/>
              </a:solidFill>
            </a:endParaRPr>
          </a:p>
        </p:txBody>
      </p:sp>
    </p:spTree>
    <p:extLst>
      <p:ext uri="{BB962C8B-B14F-4D97-AF65-F5344CB8AC3E}">
        <p14:creationId xmlns:p14="http://schemas.microsoft.com/office/powerpoint/2010/main" val="6999377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80C71-E3D6-E89B-4DEA-037C271CE0FA}"/>
              </a:ext>
            </a:extLst>
          </p:cNvPr>
          <p:cNvSpPr>
            <a:spLocks noGrp="1"/>
          </p:cNvSpPr>
          <p:nvPr>
            <p:ph type="title"/>
          </p:nvPr>
        </p:nvSpPr>
        <p:spPr>
          <a:xfrm>
            <a:off x="255494" y="1708986"/>
            <a:ext cx="4413436" cy="1256205"/>
          </a:xfrm>
        </p:spPr>
        <p:txBody>
          <a:bodyPr anchor="t">
            <a:normAutofit/>
          </a:bodyPr>
          <a:lstStyle/>
          <a:p>
            <a:r>
              <a:rPr lang="en-US" sz="4000" b="1">
                <a:solidFill>
                  <a:schemeClr val="bg1"/>
                </a:solidFill>
              </a:rPr>
              <a:t>Why Model-View-(C or P or VM)?</a:t>
            </a:r>
            <a:endParaRPr lang="en-US" sz="4000">
              <a:solidFill>
                <a:schemeClr val="bg1"/>
              </a:solidFill>
            </a:endParaRPr>
          </a:p>
        </p:txBody>
      </p:sp>
      <p:sp>
        <p:nvSpPr>
          <p:cNvPr id="3" name="Text Placeholder 2">
            <a:extLst>
              <a:ext uri="{FF2B5EF4-FFF2-40B4-BE49-F238E27FC236}">
                <a16:creationId xmlns:a16="http://schemas.microsoft.com/office/drawing/2014/main" id="{3FF791EE-B772-2243-A685-1AA2074C8F67}"/>
              </a:ext>
            </a:extLst>
          </p:cNvPr>
          <p:cNvSpPr>
            <a:spLocks noGrp="1"/>
          </p:cNvSpPr>
          <p:nvPr>
            <p:ph idx="1"/>
          </p:nvPr>
        </p:nvSpPr>
        <p:spPr>
          <a:xfrm>
            <a:off x="255494" y="3146400"/>
            <a:ext cx="4391024" cy="2454300"/>
          </a:xfrm>
        </p:spPr>
        <p:txBody>
          <a:bodyPr vert="horz" lIns="91440" tIns="45720" rIns="91440" bIns="45720" rtlCol="0" anchor="t">
            <a:normAutofit lnSpcReduction="10000"/>
          </a:bodyPr>
          <a:lstStyle/>
          <a:p>
            <a:r>
              <a:rPr lang="en-US" sz="2400">
                <a:solidFill>
                  <a:schemeClr val="bg1">
                    <a:alpha val="80000"/>
                  </a:schemeClr>
                </a:solidFill>
                <a:ea typeface="+mn-lt"/>
                <a:cs typeface="+mn-lt"/>
              </a:rPr>
              <a:t>The aim of these architectures is to separate the responsibilities of </a:t>
            </a:r>
            <a:endParaRPr lang="en-US">
              <a:solidFill>
                <a:schemeClr val="bg1">
                  <a:alpha val="80000"/>
                </a:schemeClr>
              </a:solidFill>
            </a:endParaRPr>
          </a:p>
          <a:p>
            <a:pPr lvl="1">
              <a:buFont typeface="Courier New" panose="020B0604020202020204" pitchFamily="34" charset="0"/>
              <a:buChar char="o"/>
            </a:pPr>
            <a:r>
              <a:rPr lang="en-US" sz="2000">
                <a:solidFill>
                  <a:schemeClr val="bg1">
                    <a:alpha val="80000"/>
                  </a:schemeClr>
                </a:solidFill>
                <a:ea typeface="+mn-lt"/>
                <a:cs typeface="+mn-lt"/>
              </a:rPr>
              <a:t>visualizing, </a:t>
            </a:r>
            <a:endParaRPr lang="en-US">
              <a:solidFill>
                <a:schemeClr val="bg1">
                  <a:alpha val="80000"/>
                </a:schemeClr>
              </a:solidFill>
              <a:ea typeface="+mn-lt"/>
              <a:cs typeface="+mn-lt"/>
            </a:endParaRPr>
          </a:p>
          <a:p>
            <a:pPr lvl="1">
              <a:buFont typeface="Courier New" panose="020B0604020202020204" pitchFamily="34" charset="0"/>
              <a:buChar char="o"/>
            </a:pPr>
            <a:r>
              <a:rPr lang="en-US" sz="2000">
                <a:solidFill>
                  <a:schemeClr val="bg1">
                    <a:alpha val="80000"/>
                  </a:schemeClr>
                </a:solidFill>
                <a:ea typeface="+mn-lt"/>
                <a:cs typeface="+mn-lt"/>
              </a:rPr>
              <a:t>processing, and </a:t>
            </a:r>
            <a:endParaRPr lang="en-US">
              <a:solidFill>
                <a:schemeClr val="bg1">
                  <a:alpha val="80000"/>
                </a:schemeClr>
              </a:solidFill>
              <a:ea typeface="+mn-lt"/>
              <a:cs typeface="+mn-lt"/>
            </a:endParaRPr>
          </a:p>
          <a:p>
            <a:pPr lvl="1">
              <a:buFont typeface="Courier New" panose="020B0604020202020204" pitchFamily="34" charset="0"/>
              <a:buChar char="o"/>
            </a:pPr>
            <a:r>
              <a:rPr lang="en-US" sz="2000">
                <a:solidFill>
                  <a:schemeClr val="bg1">
                    <a:alpha val="80000"/>
                  </a:schemeClr>
                </a:solidFill>
                <a:ea typeface="+mn-lt"/>
                <a:cs typeface="+mn-lt"/>
              </a:rPr>
              <a:t>data management </a:t>
            </a:r>
            <a:endParaRPr lang="en-US">
              <a:solidFill>
                <a:schemeClr val="bg1">
                  <a:alpha val="80000"/>
                </a:schemeClr>
              </a:solidFill>
              <a:ea typeface="+mn-lt"/>
              <a:cs typeface="+mn-lt"/>
            </a:endParaRPr>
          </a:p>
          <a:p>
            <a:r>
              <a:rPr lang="en-US" sz="2400">
                <a:solidFill>
                  <a:schemeClr val="bg1">
                    <a:alpha val="80000"/>
                  </a:schemeClr>
                </a:solidFill>
                <a:ea typeface="+mn-lt"/>
                <a:cs typeface="+mn-lt"/>
              </a:rPr>
              <a:t>for UI applications.</a:t>
            </a:r>
            <a:endParaRPr lang="en-US">
              <a:solidFill>
                <a:schemeClr val="bg1">
                  <a:alpha val="80000"/>
                </a:schemeClr>
              </a:solidFill>
            </a:endParaRPr>
          </a:p>
          <a:p>
            <a:endParaRPr lang="en-US" sz="2400">
              <a:solidFill>
                <a:schemeClr val="bg1">
                  <a:alpha val="80000"/>
                </a:schemeClr>
              </a:solidFill>
            </a:endParaRPr>
          </a:p>
        </p:txBody>
      </p:sp>
      <p:pic>
        <p:nvPicPr>
          <p:cNvPr id="4" name="Picture 3" descr="A diagram of a process&#10;&#10;Description automatically generated">
            <a:extLst>
              <a:ext uri="{FF2B5EF4-FFF2-40B4-BE49-F238E27FC236}">
                <a16:creationId xmlns:a16="http://schemas.microsoft.com/office/drawing/2014/main" id="{5969DB95-59B1-9093-44E5-664E1F841419}"/>
              </a:ext>
            </a:extLst>
          </p:cNvPr>
          <p:cNvPicPr>
            <a:picLocks noChangeAspect="1"/>
          </p:cNvPicPr>
          <p:nvPr/>
        </p:nvPicPr>
        <p:blipFill>
          <a:blip r:embed="rId2"/>
          <a:stretch>
            <a:fillRect/>
          </a:stretch>
        </p:blipFill>
        <p:spPr>
          <a:xfrm>
            <a:off x="4838641" y="152106"/>
            <a:ext cx="7349872" cy="6558977"/>
          </a:xfrm>
          <a:prstGeom prst="rect">
            <a:avLst/>
          </a:prstGeom>
        </p:spPr>
      </p:pic>
      <p:sp>
        <p:nvSpPr>
          <p:cNvPr id="5" name="TextBox 4">
            <a:extLst>
              <a:ext uri="{FF2B5EF4-FFF2-40B4-BE49-F238E27FC236}">
                <a16:creationId xmlns:a16="http://schemas.microsoft.com/office/drawing/2014/main" id="{B2E9628C-F41E-E2D9-358B-F138B2A1A043}"/>
              </a:ext>
            </a:extLst>
          </p:cNvPr>
          <p:cNvSpPr txBox="1"/>
          <p:nvPr/>
        </p:nvSpPr>
        <p:spPr>
          <a:xfrm>
            <a:off x="6430682" y="2964329"/>
            <a:ext cx="1621767"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t>Visualization</a:t>
            </a:r>
          </a:p>
        </p:txBody>
      </p:sp>
      <p:sp>
        <p:nvSpPr>
          <p:cNvPr id="6" name="TextBox 5">
            <a:extLst>
              <a:ext uri="{FF2B5EF4-FFF2-40B4-BE49-F238E27FC236}">
                <a16:creationId xmlns:a16="http://schemas.microsoft.com/office/drawing/2014/main" id="{C498FAD5-2BF9-5EEC-EC2E-259D820BE9C4}"/>
              </a:ext>
            </a:extLst>
          </p:cNvPr>
          <p:cNvSpPr txBox="1"/>
          <p:nvPr/>
        </p:nvSpPr>
        <p:spPr>
          <a:xfrm>
            <a:off x="9334908" y="994630"/>
            <a:ext cx="1621767"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t>Processing</a:t>
            </a:r>
            <a:endParaRPr lang="en-US"/>
          </a:p>
        </p:txBody>
      </p:sp>
      <p:sp>
        <p:nvSpPr>
          <p:cNvPr id="7" name="TextBox 6">
            <a:extLst>
              <a:ext uri="{FF2B5EF4-FFF2-40B4-BE49-F238E27FC236}">
                <a16:creationId xmlns:a16="http://schemas.microsoft.com/office/drawing/2014/main" id="{68843988-4D51-C201-7CDF-322FB4A119E7}"/>
              </a:ext>
            </a:extLst>
          </p:cNvPr>
          <p:cNvSpPr txBox="1"/>
          <p:nvPr/>
        </p:nvSpPr>
        <p:spPr>
          <a:xfrm>
            <a:off x="9478682" y="4747121"/>
            <a:ext cx="1621767"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t>Data</a:t>
            </a:r>
            <a:endParaRPr lang="en-US"/>
          </a:p>
        </p:txBody>
      </p:sp>
    </p:spTree>
    <p:extLst>
      <p:ext uri="{BB962C8B-B14F-4D97-AF65-F5344CB8AC3E}">
        <p14:creationId xmlns:p14="http://schemas.microsoft.com/office/powerpoint/2010/main" val="18548087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C07CE-B5F0-34A9-7093-2A925634782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CEDCCCC-BBCD-D691-DE2A-E09E608AC886}"/>
              </a:ext>
            </a:extLst>
          </p:cNvPr>
          <p:cNvSpPr>
            <a:spLocks noGrp="1"/>
          </p:cNvSpPr>
          <p:nvPr>
            <p:ph idx="1"/>
          </p:nvPr>
        </p:nvSpPr>
        <p:spPr/>
        <p:txBody>
          <a:bodyPr vert="horz" lIns="91440" tIns="45720" rIns="91440" bIns="45720" rtlCol="0" anchor="t">
            <a:normAutofit/>
          </a:bodyPr>
          <a:lstStyle/>
          <a:p>
            <a:pPr marL="0" indent="0">
              <a:buNone/>
            </a:pPr>
            <a:r>
              <a:rPr lang="en-US" sz="3600" b="1">
                <a:solidFill>
                  <a:srgbClr val="292929"/>
                </a:solidFill>
                <a:ea typeface="+mn-lt"/>
                <a:cs typeface="+mn-lt"/>
              </a:rPr>
              <a:t>Their goals are to increase.</a:t>
            </a:r>
            <a:endParaRPr lang="en-US" sz="3600" b="1"/>
          </a:p>
          <a:p>
            <a:r>
              <a:rPr lang="en-US">
                <a:solidFill>
                  <a:srgbClr val="292929"/>
                </a:solidFill>
                <a:ea typeface="+mn-lt"/>
                <a:cs typeface="+mn-lt"/>
              </a:rPr>
              <a:t>Modularity</a:t>
            </a:r>
            <a:endParaRPr lang="en-US"/>
          </a:p>
          <a:p>
            <a:r>
              <a:rPr lang="en-US">
                <a:solidFill>
                  <a:srgbClr val="292929"/>
                </a:solidFill>
                <a:ea typeface="+mn-lt"/>
                <a:cs typeface="+mn-lt"/>
              </a:rPr>
              <a:t>Flexibility</a:t>
            </a:r>
            <a:endParaRPr lang="en-US"/>
          </a:p>
          <a:p>
            <a:r>
              <a:rPr lang="en-US">
                <a:solidFill>
                  <a:srgbClr val="292929"/>
                </a:solidFill>
                <a:ea typeface="+mn-lt"/>
                <a:cs typeface="+mn-lt"/>
              </a:rPr>
              <a:t>Testability</a:t>
            </a:r>
            <a:endParaRPr lang="en-US"/>
          </a:p>
          <a:p>
            <a:r>
              <a:rPr lang="en-US">
                <a:solidFill>
                  <a:srgbClr val="292929"/>
                </a:solidFill>
                <a:ea typeface="+mn-lt"/>
                <a:cs typeface="+mn-lt"/>
              </a:rPr>
              <a:t>Maintainability</a:t>
            </a:r>
            <a:endParaRPr lang="en-US"/>
          </a:p>
          <a:p>
            <a:endParaRPr lang="en-US" sz="4800"/>
          </a:p>
        </p:txBody>
      </p:sp>
    </p:spTree>
    <p:extLst>
      <p:ext uri="{BB962C8B-B14F-4D97-AF65-F5344CB8AC3E}">
        <p14:creationId xmlns:p14="http://schemas.microsoft.com/office/powerpoint/2010/main" val="20076779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5F97A-9AA5-21B9-A052-87F05FFCB84B}"/>
              </a:ext>
            </a:extLst>
          </p:cNvPr>
          <p:cNvSpPr>
            <a:spLocks noGrp="1"/>
          </p:cNvSpPr>
          <p:nvPr>
            <p:ph type="title"/>
          </p:nvPr>
        </p:nvSpPr>
        <p:spPr/>
        <p:txBody>
          <a:bodyPr>
            <a:normAutofit/>
          </a:bodyPr>
          <a:lstStyle/>
          <a:p>
            <a:r>
              <a:rPr lang="en-US" sz="4000" b="1">
                <a:latin typeface="Times New Roman"/>
                <a:cs typeface="Times New Roman"/>
              </a:rPr>
              <a:t>History and Evolution of MVC</a:t>
            </a:r>
            <a:endParaRPr lang="en-US" sz="4000"/>
          </a:p>
        </p:txBody>
      </p:sp>
      <p:sp>
        <p:nvSpPr>
          <p:cNvPr id="3" name="Text Placeholder 2">
            <a:extLst>
              <a:ext uri="{FF2B5EF4-FFF2-40B4-BE49-F238E27FC236}">
                <a16:creationId xmlns:a16="http://schemas.microsoft.com/office/drawing/2014/main" id="{72D8ED35-3663-9F32-6AD0-051138B43242}"/>
              </a:ext>
            </a:extLst>
          </p:cNvPr>
          <p:cNvSpPr>
            <a:spLocks noGrp="1"/>
          </p:cNvSpPr>
          <p:nvPr>
            <p:ph idx="1"/>
          </p:nvPr>
        </p:nvSpPr>
        <p:spPr>
          <a:xfrm>
            <a:off x="318105" y="1535339"/>
            <a:ext cx="5459791" cy="4351338"/>
          </a:xfrm>
        </p:spPr>
        <p:txBody>
          <a:bodyPr vert="horz" lIns="91440" tIns="45720" rIns="91440" bIns="45720" rtlCol="0" anchor="t">
            <a:normAutofit fontScale="92500" lnSpcReduction="10000"/>
          </a:bodyPr>
          <a:lstStyle/>
          <a:p>
            <a:pPr algn="just"/>
            <a:r>
              <a:rPr lang="en-US" sz="2400">
                <a:ea typeface="+mn-lt"/>
                <a:cs typeface="+mn-lt"/>
              </a:rPr>
              <a:t>The MVC pattern was first introduced in </a:t>
            </a:r>
            <a:r>
              <a:rPr lang="en-US" sz="2400" b="1">
                <a:ea typeface="+mn-lt"/>
                <a:cs typeface="+mn-lt"/>
              </a:rPr>
              <a:t>1979</a:t>
            </a:r>
            <a:r>
              <a:rPr lang="en-US" sz="2400">
                <a:ea typeface="+mn-lt"/>
                <a:cs typeface="+mn-lt"/>
              </a:rPr>
              <a:t> by computer scientist </a:t>
            </a:r>
            <a:r>
              <a:rPr lang="en-US" sz="2400" b="1">
                <a:ea typeface="+mn-lt"/>
                <a:cs typeface="+mn-lt"/>
              </a:rPr>
              <a:t>Trygve </a:t>
            </a:r>
            <a:r>
              <a:rPr lang="en-US" sz="2400" b="1" err="1">
                <a:ea typeface="+mn-lt"/>
                <a:cs typeface="+mn-lt"/>
              </a:rPr>
              <a:t>Mikkjel</a:t>
            </a:r>
            <a:r>
              <a:rPr lang="en-US" sz="2400" b="1">
                <a:ea typeface="+mn-lt"/>
                <a:cs typeface="+mn-lt"/>
              </a:rPr>
              <a:t> Heyerdahl </a:t>
            </a:r>
            <a:r>
              <a:rPr lang="en-US" sz="2400" b="1" err="1">
                <a:ea typeface="+mn-lt"/>
                <a:cs typeface="+mn-lt"/>
              </a:rPr>
              <a:t>Reenskaug</a:t>
            </a:r>
            <a:r>
              <a:rPr lang="en-US" sz="2400">
                <a:ea typeface="+mn-lt"/>
                <a:cs typeface="+mn-lt"/>
              </a:rPr>
              <a:t>.</a:t>
            </a:r>
            <a:endParaRPr lang="en-US"/>
          </a:p>
          <a:p>
            <a:pPr marL="0" indent="0" algn="just">
              <a:buNone/>
            </a:pPr>
            <a:endParaRPr lang="en-US"/>
          </a:p>
          <a:p>
            <a:pPr algn="just"/>
            <a:r>
              <a:rPr lang="en-US" sz="2400">
                <a:ea typeface="+mn-lt"/>
                <a:cs typeface="+mn-lt"/>
              </a:rPr>
              <a:t>Break up a complex user application into smaller manageable components.</a:t>
            </a:r>
            <a:endParaRPr lang="en-US" sz="2400"/>
          </a:p>
          <a:p>
            <a:pPr algn="just"/>
            <a:endParaRPr lang="en-US" sz="2400">
              <a:ea typeface="+mn-lt"/>
              <a:cs typeface="+mn-lt"/>
            </a:endParaRPr>
          </a:p>
          <a:p>
            <a:pPr algn="just"/>
            <a:r>
              <a:rPr lang="en-US" sz="2400">
                <a:ea typeface="+mn-lt"/>
                <a:cs typeface="+mn-lt"/>
              </a:rPr>
              <a:t>First used in the programming language Small Talk.</a:t>
            </a:r>
            <a:endParaRPr lang="en-US" sz="2400">
              <a:solidFill>
                <a:srgbClr val="000000"/>
              </a:solidFill>
              <a:ea typeface="+mn-lt"/>
              <a:cs typeface="+mn-lt"/>
            </a:endParaRPr>
          </a:p>
          <a:p>
            <a:pPr algn="just"/>
            <a:endParaRPr lang="en-US" sz="2400">
              <a:solidFill>
                <a:srgbClr val="292929"/>
              </a:solidFill>
              <a:ea typeface="+mn-lt"/>
              <a:cs typeface="+mn-lt"/>
            </a:endParaRPr>
          </a:p>
          <a:p>
            <a:pPr algn="just"/>
            <a:r>
              <a:rPr lang="en-US" sz="2400">
                <a:solidFill>
                  <a:srgbClr val="292929"/>
                </a:solidFill>
                <a:ea typeface="+mn-lt"/>
                <a:cs typeface="+mn-lt"/>
              </a:rPr>
              <a:t>The pattern breaks an app up into three components.</a:t>
            </a:r>
            <a:endParaRPr lang="en-US" sz="2400">
              <a:ea typeface="+mn-lt"/>
              <a:cs typeface="+mn-lt"/>
            </a:endParaRPr>
          </a:p>
          <a:p>
            <a:pPr marL="0" indent="0" algn="just">
              <a:buNone/>
            </a:pPr>
            <a:endParaRPr lang="en-US" sz="2400">
              <a:ea typeface="+mn-lt"/>
              <a:cs typeface="+mn-lt"/>
            </a:endParaRPr>
          </a:p>
        </p:txBody>
      </p:sp>
      <p:pic>
        <p:nvPicPr>
          <p:cNvPr id="4" name="Picture 3" descr="A diagram of a model&#10;&#10;Description automatically generated">
            <a:extLst>
              <a:ext uri="{FF2B5EF4-FFF2-40B4-BE49-F238E27FC236}">
                <a16:creationId xmlns:a16="http://schemas.microsoft.com/office/drawing/2014/main" id="{EE00875D-2C56-F762-DA91-14A91F9DD653}"/>
              </a:ext>
            </a:extLst>
          </p:cNvPr>
          <p:cNvPicPr>
            <a:picLocks noChangeAspect="1"/>
          </p:cNvPicPr>
          <p:nvPr/>
        </p:nvPicPr>
        <p:blipFill>
          <a:blip r:embed="rId2"/>
          <a:stretch>
            <a:fillRect/>
          </a:stretch>
        </p:blipFill>
        <p:spPr>
          <a:xfrm>
            <a:off x="6099137" y="1371600"/>
            <a:ext cx="5388202" cy="5130800"/>
          </a:xfrm>
          <a:prstGeom prst="rect">
            <a:avLst/>
          </a:prstGeom>
        </p:spPr>
      </p:pic>
    </p:spTree>
    <p:extLst>
      <p:ext uri="{BB962C8B-B14F-4D97-AF65-F5344CB8AC3E}">
        <p14:creationId xmlns:p14="http://schemas.microsoft.com/office/powerpoint/2010/main" val="35067695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CFB58A8-CB0F-A217-360D-B4C76F31844B}"/>
              </a:ext>
            </a:extLst>
          </p:cNvPr>
          <p:cNvSpPr>
            <a:spLocks noGrp="1"/>
          </p:cNvSpPr>
          <p:nvPr>
            <p:ph idx="1"/>
          </p:nvPr>
        </p:nvSpPr>
        <p:spPr>
          <a:xfrm>
            <a:off x="999514" y="342485"/>
            <a:ext cx="11187852" cy="2745572"/>
          </a:xfrm>
        </p:spPr>
        <p:txBody>
          <a:bodyPr vert="horz" lIns="91440" tIns="45720" rIns="91440" bIns="45720" rtlCol="0" anchor="t">
            <a:normAutofit/>
          </a:bodyPr>
          <a:lstStyle/>
          <a:p>
            <a:pPr algn="just"/>
            <a:r>
              <a:rPr lang="en-US" sz="2400" b="1">
                <a:ea typeface="+mn-lt"/>
                <a:cs typeface="+mn-lt"/>
              </a:rPr>
              <a:t>Model–View–Controller</a:t>
            </a:r>
            <a:r>
              <a:rPr lang="en-US" sz="2400">
                <a:ea typeface="+mn-lt"/>
                <a:cs typeface="+mn-lt"/>
              </a:rPr>
              <a:t> is a popular software design pattern </a:t>
            </a:r>
          </a:p>
          <a:p>
            <a:pPr lvl="1" algn="just">
              <a:buFont typeface="Courier New" panose="020B0604020202020204" pitchFamily="34" charset="0"/>
              <a:buChar char="o"/>
            </a:pPr>
            <a:r>
              <a:rPr lang="en-US" b="1" i="1">
                <a:ea typeface="+mn-lt"/>
                <a:cs typeface="+mn-lt"/>
              </a:rPr>
              <a:t>Model</a:t>
            </a:r>
            <a:r>
              <a:rPr lang="en-US" b="1">
                <a:ea typeface="+mn-lt"/>
                <a:cs typeface="+mn-lt"/>
              </a:rPr>
              <a:t> –</a:t>
            </a:r>
            <a:r>
              <a:rPr lang="en-US">
                <a:ea typeface="+mn-lt"/>
                <a:cs typeface="+mn-lt"/>
              </a:rPr>
              <a:t>  business layer of the application</a:t>
            </a:r>
            <a:endParaRPr lang="en-US"/>
          </a:p>
          <a:p>
            <a:pPr lvl="1">
              <a:buFont typeface="Courier New" panose="020B0604020202020204" pitchFamily="34" charset="0"/>
              <a:buChar char="o"/>
            </a:pPr>
            <a:r>
              <a:rPr lang="en-US" b="1" i="1">
                <a:ea typeface="+mn-lt"/>
                <a:cs typeface="+mn-lt"/>
              </a:rPr>
              <a:t>View</a:t>
            </a:r>
            <a:r>
              <a:rPr lang="en-US" b="1">
                <a:ea typeface="+mn-lt"/>
                <a:cs typeface="+mn-lt"/>
              </a:rPr>
              <a:t> –</a:t>
            </a:r>
            <a:r>
              <a:rPr lang="en-US">
                <a:ea typeface="+mn-lt"/>
                <a:cs typeface="+mn-lt"/>
              </a:rPr>
              <a:t>  presentation of the application</a:t>
            </a:r>
            <a:endParaRPr lang="en-US"/>
          </a:p>
          <a:p>
            <a:pPr lvl="1">
              <a:buFont typeface="Courier New" panose="020B0604020202020204" pitchFamily="34" charset="0"/>
              <a:buChar char="o"/>
            </a:pPr>
            <a:r>
              <a:rPr lang="en-US" b="1" i="1">
                <a:ea typeface="+mn-lt"/>
                <a:cs typeface="+mn-lt"/>
              </a:rPr>
              <a:t>Controller</a:t>
            </a:r>
            <a:r>
              <a:rPr lang="en-US" b="1">
                <a:ea typeface="+mn-lt"/>
                <a:cs typeface="+mn-lt"/>
              </a:rPr>
              <a:t> –</a:t>
            </a:r>
            <a:r>
              <a:rPr lang="en-US">
                <a:ea typeface="+mn-lt"/>
                <a:cs typeface="+mn-lt"/>
              </a:rPr>
              <a:t> flow of the application</a:t>
            </a:r>
            <a:endParaRPr lang="en-US"/>
          </a:p>
          <a:p>
            <a:pPr algn="just"/>
            <a:endParaRPr lang="en-US" sz="2400"/>
          </a:p>
          <a:p>
            <a:pPr algn="just"/>
            <a:endParaRPr lang="en-US" sz="2400"/>
          </a:p>
          <a:p>
            <a:pPr algn="just"/>
            <a:endParaRPr lang="en-US" sz="2400"/>
          </a:p>
          <a:p>
            <a:pPr algn="just"/>
            <a:endParaRPr lang="en-US" sz="2400"/>
          </a:p>
        </p:txBody>
      </p:sp>
      <p:pic>
        <p:nvPicPr>
          <p:cNvPr id="2" name="Picture 1" descr="A diagram of a process&#10;&#10;Description automatically generated">
            <a:extLst>
              <a:ext uri="{FF2B5EF4-FFF2-40B4-BE49-F238E27FC236}">
                <a16:creationId xmlns:a16="http://schemas.microsoft.com/office/drawing/2014/main" id="{7E85E6B1-3107-C974-D3F1-277862149E3E}"/>
              </a:ext>
            </a:extLst>
          </p:cNvPr>
          <p:cNvPicPr>
            <a:picLocks noChangeAspect="1"/>
          </p:cNvPicPr>
          <p:nvPr/>
        </p:nvPicPr>
        <p:blipFill>
          <a:blip r:embed="rId3"/>
          <a:stretch>
            <a:fillRect/>
          </a:stretch>
        </p:blipFill>
        <p:spPr>
          <a:xfrm>
            <a:off x="640780" y="2354562"/>
            <a:ext cx="10594136" cy="4506763"/>
          </a:xfrm>
          <a:prstGeom prst="rect">
            <a:avLst/>
          </a:prstGeom>
        </p:spPr>
      </p:pic>
    </p:spTree>
    <p:extLst>
      <p:ext uri="{BB962C8B-B14F-4D97-AF65-F5344CB8AC3E}">
        <p14:creationId xmlns:p14="http://schemas.microsoft.com/office/powerpoint/2010/main" val="35590006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1A91A-D532-9D8B-3D35-20E6F7803B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4CA5053-F979-0514-BF10-EC5D4F6F4714}"/>
              </a:ext>
            </a:extLst>
          </p:cNvPr>
          <p:cNvSpPr>
            <a:spLocks noGrp="1"/>
          </p:cNvSpPr>
          <p:nvPr>
            <p:ph idx="1"/>
          </p:nvPr>
        </p:nvSpPr>
        <p:spPr/>
        <p:txBody>
          <a:bodyPr vert="horz" lIns="91440" tIns="45720" rIns="91440" bIns="45720" rtlCol="0" anchor="t">
            <a:normAutofit/>
          </a:bodyPr>
          <a:lstStyle/>
          <a:p>
            <a:pPr algn="just"/>
            <a:r>
              <a:rPr lang="en-US" sz="2400" b="1" i="1">
                <a:solidFill>
                  <a:srgbClr val="292929"/>
                </a:solidFill>
                <a:ea typeface="+mn-lt"/>
                <a:cs typeface="+mn-lt"/>
              </a:rPr>
              <a:t>Model</a:t>
            </a:r>
            <a:r>
              <a:rPr lang="en-US" sz="2400">
                <a:solidFill>
                  <a:srgbClr val="292929"/>
                </a:solidFill>
                <a:ea typeface="+mn-lt"/>
                <a:cs typeface="+mn-lt"/>
              </a:rPr>
              <a:t> — is responsible for the </a:t>
            </a:r>
            <a:endParaRPr lang="en-US" sz="2400">
              <a:solidFill>
                <a:srgbClr val="000000"/>
              </a:solidFill>
              <a:ea typeface="+mn-lt"/>
              <a:cs typeface="+mn-lt"/>
            </a:endParaRPr>
          </a:p>
          <a:p>
            <a:pPr lvl="1" algn="just">
              <a:buFont typeface="Courier New" panose="020B0604020202020204" pitchFamily="34" charset="0"/>
              <a:buChar char="o"/>
            </a:pPr>
            <a:r>
              <a:rPr lang="en-US">
                <a:solidFill>
                  <a:srgbClr val="292929"/>
                </a:solidFill>
                <a:ea typeface="+mn-lt"/>
                <a:cs typeface="+mn-lt"/>
              </a:rPr>
              <a:t>business logic of the application. </a:t>
            </a:r>
            <a:endParaRPr lang="en-US">
              <a:solidFill>
                <a:srgbClr val="000000"/>
              </a:solidFill>
              <a:ea typeface="+mn-lt"/>
              <a:cs typeface="+mn-lt"/>
            </a:endParaRPr>
          </a:p>
          <a:p>
            <a:pPr lvl="1" algn="just">
              <a:buFont typeface="Courier New" panose="020B0604020202020204" pitchFamily="34" charset="0"/>
              <a:buChar char="o"/>
            </a:pPr>
            <a:r>
              <a:rPr lang="en-US">
                <a:solidFill>
                  <a:srgbClr val="292929"/>
                </a:solidFill>
                <a:ea typeface="+mn-lt"/>
                <a:cs typeface="+mn-lt"/>
              </a:rPr>
              <a:t>It manages the state of the application.  even include tasks related to data management such as networking and data validation.</a:t>
            </a:r>
            <a:endParaRPr lang="en-US"/>
          </a:p>
          <a:p>
            <a:pPr algn="just"/>
            <a:endParaRPr lang="en-US" b="1" i="1">
              <a:solidFill>
                <a:srgbClr val="292929"/>
              </a:solidFill>
              <a:ea typeface="+mn-lt"/>
              <a:cs typeface="+mn-lt"/>
            </a:endParaRPr>
          </a:p>
          <a:p>
            <a:pPr algn="just"/>
            <a:r>
              <a:rPr lang="en-US" sz="2400" b="1" i="1">
                <a:solidFill>
                  <a:srgbClr val="292929"/>
                </a:solidFill>
                <a:ea typeface="+mn-lt"/>
                <a:cs typeface="+mn-lt"/>
              </a:rPr>
              <a:t>View</a:t>
            </a:r>
            <a:r>
              <a:rPr lang="en-US" sz="2400">
                <a:solidFill>
                  <a:srgbClr val="292929"/>
                </a:solidFill>
                <a:ea typeface="+mn-lt"/>
                <a:cs typeface="+mn-lt"/>
              </a:rPr>
              <a:t> — this component has two important tasks: presenting data to the user and handling user interaction.</a:t>
            </a:r>
            <a:endParaRPr lang="en-US" sz="2400"/>
          </a:p>
          <a:p>
            <a:pPr algn="just"/>
            <a:endParaRPr lang="en-US" sz="2400" b="1" i="1">
              <a:solidFill>
                <a:srgbClr val="292929"/>
              </a:solidFill>
              <a:ea typeface="+mn-lt"/>
              <a:cs typeface="+mn-lt"/>
            </a:endParaRPr>
          </a:p>
          <a:p>
            <a:pPr algn="just"/>
            <a:r>
              <a:rPr lang="en-US" sz="2400" b="1" i="1">
                <a:solidFill>
                  <a:srgbClr val="292929"/>
                </a:solidFill>
                <a:ea typeface="+mn-lt"/>
                <a:cs typeface="+mn-lt"/>
              </a:rPr>
              <a:t>Controller</a:t>
            </a:r>
            <a:r>
              <a:rPr lang="en-US" sz="2400">
                <a:solidFill>
                  <a:srgbClr val="292929"/>
                </a:solidFill>
                <a:ea typeface="+mn-lt"/>
                <a:cs typeface="+mn-lt"/>
              </a:rPr>
              <a:t> — the view layer and the model layer are glued together by one or more controllers.</a:t>
            </a:r>
            <a:endParaRPr lang="en-US" sz="2400"/>
          </a:p>
        </p:txBody>
      </p:sp>
    </p:spTree>
    <p:extLst>
      <p:ext uri="{BB962C8B-B14F-4D97-AF65-F5344CB8AC3E}">
        <p14:creationId xmlns:p14="http://schemas.microsoft.com/office/powerpoint/2010/main" val="19688085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9CCA6-E33C-AB65-6C79-16D2DD6AB0AF}"/>
              </a:ext>
            </a:extLst>
          </p:cNvPr>
          <p:cNvSpPr>
            <a:spLocks noGrp="1"/>
          </p:cNvSpPr>
          <p:nvPr>
            <p:ph type="title"/>
          </p:nvPr>
        </p:nvSpPr>
        <p:spPr/>
        <p:txBody>
          <a:bodyPr>
            <a:normAutofit/>
          </a:bodyPr>
          <a:lstStyle/>
          <a:p>
            <a:r>
              <a:rPr lang="en-US" b="1">
                <a:ea typeface="+mj-lt"/>
                <a:cs typeface="+mj-lt"/>
              </a:rPr>
              <a:t>How It Works</a:t>
            </a:r>
            <a:endParaRPr lang="en-US" b="1"/>
          </a:p>
        </p:txBody>
      </p:sp>
      <p:sp>
        <p:nvSpPr>
          <p:cNvPr id="3" name="Content Placeholder 2">
            <a:extLst>
              <a:ext uri="{FF2B5EF4-FFF2-40B4-BE49-F238E27FC236}">
                <a16:creationId xmlns:a16="http://schemas.microsoft.com/office/drawing/2014/main" id="{9DA70436-1A3D-ECDD-0E05-0E0B70238C21}"/>
              </a:ext>
            </a:extLst>
          </p:cNvPr>
          <p:cNvSpPr>
            <a:spLocks noGrp="1"/>
          </p:cNvSpPr>
          <p:nvPr>
            <p:ph idx="1"/>
          </p:nvPr>
        </p:nvSpPr>
        <p:spPr/>
        <p:txBody>
          <a:bodyPr vert="horz" lIns="91440" tIns="45720" rIns="91440" bIns="45720" rtlCol="0" anchor="t">
            <a:normAutofit/>
          </a:bodyPr>
          <a:lstStyle/>
          <a:p>
            <a:r>
              <a:rPr lang="en-US" sz="2400" b="1">
                <a:ea typeface="+mn-lt"/>
                <a:cs typeface="+mn-lt"/>
              </a:rPr>
              <a:t>Initialization</a:t>
            </a:r>
            <a:r>
              <a:rPr lang="en-US" sz="2400">
                <a:ea typeface="+mn-lt"/>
                <a:cs typeface="+mn-lt"/>
              </a:rPr>
              <a:t>: The model is populated with data (simulated as coming from a database).</a:t>
            </a:r>
            <a:endParaRPr lang="en-US" sz="2400"/>
          </a:p>
          <a:p>
            <a:r>
              <a:rPr lang="en-US" sz="2400" b="1">
                <a:ea typeface="+mn-lt"/>
                <a:cs typeface="+mn-lt"/>
              </a:rPr>
              <a:t>View Interaction</a:t>
            </a:r>
            <a:r>
              <a:rPr lang="en-US" sz="2400">
                <a:ea typeface="+mn-lt"/>
                <a:cs typeface="+mn-lt"/>
              </a:rPr>
              <a:t>: The controller updates the view with the initial model data.</a:t>
            </a:r>
            <a:endParaRPr lang="en-US" sz="2400"/>
          </a:p>
          <a:p>
            <a:r>
              <a:rPr lang="en-US" sz="2400" b="1">
                <a:ea typeface="+mn-lt"/>
                <a:cs typeface="+mn-lt"/>
              </a:rPr>
              <a:t>Model Update</a:t>
            </a:r>
            <a:r>
              <a:rPr lang="en-US" sz="2400">
                <a:ea typeface="+mn-lt"/>
                <a:cs typeface="+mn-lt"/>
              </a:rPr>
              <a:t>: The controller modifies the model (changing the roll number).</a:t>
            </a:r>
            <a:endParaRPr lang="en-US" sz="2400"/>
          </a:p>
          <a:p>
            <a:r>
              <a:rPr lang="en-US" sz="2400" b="1">
                <a:ea typeface="+mn-lt"/>
                <a:cs typeface="+mn-lt"/>
              </a:rPr>
              <a:t>View Update</a:t>
            </a:r>
            <a:r>
              <a:rPr lang="en-US" sz="2400">
                <a:ea typeface="+mn-lt"/>
                <a:cs typeface="+mn-lt"/>
              </a:rPr>
              <a:t>: The controller updates the view again to reflect the changes in the model.</a:t>
            </a:r>
            <a:endParaRPr lang="en-US" sz="2400"/>
          </a:p>
          <a:p>
            <a:endParaRPr lang="en-US" sz="2400"/>
          </a:p>
        </p:txBody>
      </p:sp>
    </p:spTree>
    <p:extLst>
      <p:ext uri="{BB962C8B-B14F-4D97-AF65-F5344CB8AC3E}">
        <p14:creationId xmlns:p14="http://schemas.microsoft.com/office/powerpoint/2010/main" val="12808173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E591F-0796-2041-3AEE-6CC65AB42F14}"/>
              </a:ext>
            </a:extLst>
          </p:cNvPr>
          <p:cNvSpPr>
            <a:spLocks noGrp="1"/>
          </p:cNvSpPr>
          <p:nvPr>
            <p:ph type="title"/>
          </p:nvPr>
        </p:nvSpPr>
        <p:spPr/>
        <p:txBody>
          <a:bodyPr>
            <a:normAutofit/>
          </a:bodyPr>
          <a:lstStyle/>
          <a:p>
            <a:pPr>
              <a:spcBef>
                <a:spcPts val="1000"/>
              </a:spcBef>
            </a:pPr>
            <a:r>
              <a:rPr lang="en-US" sz="3200" b="1">
                <a:latin typeface="Arial"/>
                <a:cs typeface="Arial"/>
              </a:rPr>
              <a:t>Comparison with Traditional Monolithic Architecture</a:t>
            </a:r>
            <a:endParaRPr lang="en-US" sz="3200" b="1"/>
          </a:p>
        </p:txBody>
      </p:sp>
      <p:pic>
        <p:nvPicPr>
          <p:cNvPr id="4" name="Content Placeholder 3" descr="A diagram of a model&#10;&#10;Description automatically generated">
            <a:extLst>
              <a:ext uri="{FF2B5EF4-FFF2-40B4-BE49-F238E27FC236}">
                <a16:creationId xmlns:a16="http://schemas.microsoft.com/office/drawing/2014/main" id="{3A1759E3-F15E-2623-2111-45FA3F82D5F1}"/>
              </a:ext>
            </a:extLst>
          </p:cNvPr>
          <p:cNvPicPr>
            <a:picLocks noGrp="1" noChangeAspect="1"/>
          </p:cNvPicPr>
          <p:nvPr>
            <p:ph idx="1"/>
          </p:nvPr>
        </p:nvPicPr>
        <p:blipFill>
          <a:blip r:embed="rId2"/>
          <a:stretch>
            <a:fillRect/>
          </a:stretch>
        </p:blipFill>
        <p:spPr>
          <a:xfrm>
            <a:off x="353289" y="1701307"/>
            <a:ext cx="5388202" cy="4618494"/>
          </a:xfrm>
        </p:spPr>
      </p:pic>
      <p:pic>
        <p:nvPicPr>
          <p:cNvPr id="5" name="Picture 4" descr="A diagram of a diagram&#10;&#10;Description automatically generated">
            <a:extLst>
              <a:ext uri="{FF2B5EF4-FFF2-40B4-BE49-F238E27FC236}">
                <a16:creationId xmlns:a16="http://schemas.microsoft.com/office/drawing/2014/main" id="{A6AC1C47-C705-71AF-84F4-CEBEB9F28F33}"/>
              </a:ext>
            </a:extLst>
          </p:cNvPr>
          <p:cNvPicPr>
            <a:picLocks noChangeAspect="1"/>
          </p:cNvPicPr>
          <p:nvPr/>
        </p:nvPicPr>
        <p:blipFill>
          <a:blip r:embed="rId3"/>
          <a:stretch>
            <a:fillRect/>
          </a:stretch>
        </p:blipFill>
        <p:spPr>
          <a:xfrm>
            <a:off x="6437734" y="1646233"/>
            <a:ext cx="5317007" cy="4618006"/>
          </a:xfrm>
          <a:prstGeom prst="rect">
            <a:avLst/>
          </a:prstGeom>
        </p:spPr>
      </p:pic>
      <p:sp>
        <p:nvSpPr>
          <p:cNvPr id="3" name="TextBox 2">
            <a:extLst>
              <a:ext uri="{FF2B5EF4-FFF2-40B4-BE49-F238E27FC236}">
                <a16:creationId xmlns:a16="http://schemas.microsoft.com/office/drawing/2014/main" id="{864C120B-8028-A3A9-5E48-1A47ADC76CDC}"/>
              </a:ext>
            </a:extLst>
          </p:cNvPr>
          <p:cNvSpPr txBox="1"/>
          <p:nvPr/>
        </p:nvSpPr>
        <p:spPr>
          <a:xfrm>
            <a:off x="1099670" y="2510117"/>
            <a:ext cx="701616"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t>View</a:t>
            </a:r>
          </a:p>
        </p:txBody>
      </p:sp>
      <p:sp>
        <p:nvSpPr>
          <p:cNvPr id="8" name="TextBox 7">
            <a:extLst>
              <a:ext uri="{FF2B5EF4-FFF2-40B4-BE49-F238E27FC236}">
                <a16:creationId xmlns:a16="http://schemas.microsoft.com/office/drawing/2014/main" id="{CEA87036-25C2-3BD7-70D6-07D8C054ACD8}"/>
              </a:ext>
            </a:extLst>
          </p:cNvPr>
          <p:cNvSpPr txBox="1"/>
          <p:nvPr/>
        </p:nvSpPr>
        <p:spPr>
          <a:xfrm>
            <a:off x="4417852" y="3941989"/>
            <a:ext cx="130546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t>Controller</a:t>
            </a:r>
            <a:endParaRPr lang="en-US"/>
          </a:p>
        </p:txBody>
      </p:sp>
      <p:sp>
        <p:nvSpPr>
          <p:cNvPr id="9" name="TextBox 6">
            <a:extLst>
              <a:ext uri="{FF2B5EF4-FFF2-40B4-BE49-F238E27FC236}">
                <a16:creationId xmlns:a16="http://schemas.microsoft.com/office/drawing/2014/main" id="{6A496F43-E71D-EB87-EBF4-F18D8C632298}"/>
              </a:ext>
            </a:extLst>
          </p:cNvPr>
          <p:cNvSpPr txBox="1"/>
          <p:nvPr/>
        </p:nvSpPr>
        <p:spPr>
          <a:xfrm>
            <a:off x="837890" y="5581008"/>
            <a:ext cx="974786"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1"/>
              <a:t>Model</a:t>
            </a:r>
            <a:endParaRPr lang="en-US"/>
          </a:p>
        </p:txBody>
      </p:sp>
    </p:spTree>
    <p:extLst>
      <p:ext uri="{BB962C8B-B14F-4D97-AF65-F5344CB8AC3E}">
        <p14:creationId xmlns:p14="http://schemas.microsoft.com/office/powerpoint/2010/main" val="8525573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C1471-BF97-21D5-F4A4-24046228A3B3}"/>
              </a:ext>
            </a:extLst>
          </p:cNvPr>
          <p:cNvSpPr>
            <a:spLocks noGrp="1"/>
          </p:cNvSpPr>
          <p:nvPr>
            <p:ph type="title"/>
          </p:nvPr>
        </p:nvSpPr>
        <p:spPr/>
        <p:txBody>
          <a:bodyPr>
            <a:normAutofit/>
          </a:bodyPr>
          <a:lstStyle/>
          <a:p>
            <a:r>
              <a:rPr lang="en-US" sz="3600" b="1">
                <a:ea typeface="+mj-lt"/>
                <a:cs typeface="+mj-lt"/>
              </a:rPr>
              <a:t>Advantages of MVC</a:t>
            </a:r>
            <a:endParaRPr lang="en-US" sz="3600" b="1"/>
          </a:p>
        </p:txBody>
      </p:sp>
      <p:sp>
        <p:nvSpPr>
          <p:cNvPr id="3" name="Content Placeholder 2">
            <a:extLst>
              <a:ext uri="{FF2B5EF4-FFF2-40B4-BE49-F238E27FC236}">
                <a16:creationId xmlns:a16="http://schemas.microsoft.com/office/drawing/2014/main" id="{306304A1-6174-BD5D-8F13-9240272F779B}"/>
              </a:ext>
            </a:extLst>
          </p:cNvPr>
          <p:cNvSpPr>
            <a:spLocks noGrp="1"/>
          </p:cNvSpPr>
          <p:nvPr>
            <p:ph idx="1"/>
          </p:nvPr>
        </p:nvSpPr>
        <p:spPr/>
        <p:txBody>
          <a:bodyPr vert="horz" lIns="91440" tIns="45720" rIns="91440" bIns="45720" rtlCol="0" anchor="t">
            <a:normAutofit/>
          </a:bodyPr>
          <a:lstStyle/>
          <a:p>
            <a:r>
              <a:rPr lang="en-US" b="1">
                <a:solidFill>
                  <a:srgbClr val="242424"/>
                </a:solidFill>
                <a:ea typeface="+mn-lt"/>
                <a:cs typeface="+mn-lt"/>
              </a:rPr>
              <a:t>Rapid Development and Growth: </a:t>
            </a:r>
            <a:endParaRPr lang="en-US" b="1">
              <a:solidFill>
                <a:srgbClr val="000000"/>
              </a:solidFill>
              <a:ea typeface="+mn-lt"/>
              <a:cs typeface="+mn-lt"/>
            </a:endParaRPr>
          </a:p>
          <a:p>
            <a:pPr lvl="1">
              <a:buFont typeface="Courier New" panose="020B0604020202020204" pitchFamily="34" charset="0"/>
              <a:buChar char="o"/>
            </a:pPr>
            <a:r>
              <a:rPr lang="en-US">
                <a:solidFill>
                  <a:srgbClr val="242424"/>
                </a:solidFill>
                <a:ea typeface="+mn-lt"/>
                <a:cs typeface="+mn-lt"/>
              </a:rPr>
              <a:t>Monolithic applications can be developed and deployed quickly due to the unified codebase.</a:t>
            </a:r>
            <a:endParaRPr lang="en-US"/>
          </a:p>
          <a:p>
            <a:r>
              <a:rPr lang="en-US" b="1">
                <a:solidFill>
                  <a:srgbClr val="242424"/>
                </a:solidFill>
                <a:ea typeface="+mn-lt"/>
                <a:cs typeface="+mn-lt"/>
              </a:rPr>
              <a:t>Code Reuse: </a:t>
            </a:r>
            <a:endParaRPr lang="en-US" b="1">
              <a:solidFill>
                <a:srgbClr val="000000"/>
              </a:solidFill>
              <a:ea typeface="+mn-lt"/>
              <a:cs typeface="+mn-lt"/>
            </a:endParaRPr>
          </a:p>
          <a:p>
            <a:pPr lvl="1">
              <a:buFont typeface="Courier New" panose="020B0604020202020204" pitchFamily="34" charset="0"/>
              <a:buChar char="o"/>
            </a:pPr>
            <a:r>
              <a:rPr lang="en-US">
                <a:solidFill>
                  <a:srgbClr val="242424"/>
                </a:solidFill>
                <a:ea typeface="+mn-lt"/>
                <a:cs typeface="+mn-lt"/>
              </a:rPr>
              <a:t>Shared models or entities can be reused throughout the codebase, promoting efficiency.</a:t>
            </a:r>
            <a:endParaRPr lang="en-US"/>
          </a:p>
          <a:p>
            <a:r>
              <a:rPr lang="en-US" b="1">
                <a:solidFill>
                  <a:srgbClr val="242424"/>
                </a:solidFill>
                <a:ea typeface="+mn-lt"/>
                <a:cs typeface="+mn-lt"/>
              </a:rPr>
              <a:t>High Degree of Uniformity: </a:t>
            </a:r>
            <a:endParaRPr lang="en-US" b="1">
              <a:solidFill>
                <a:srgbClr val="000000"/>
              </a:solidFill>
              <a:ea typeface="+mn-lt"/>
              <a:cs typeface="+mn-lt"/>
            </a:endParaRPr>
          </a:p>
          <a:p>
            <a:pPr lvl="1">
              <a:buFont typeface="Courier New" panose="020B0604020202020204" pitchFamily="34" charset="0"/>
              <a:buChar char="o"/>
            </a:pPr>
            <a:r>
              <a:rPr lang="en-US">
                <a:solidFill>
                  <a:srgbClr val="242424"/>
                </a:solidFill>
                <a:ea typeface="+mn-lt"/>
                <a:cs typeface="+mn-lt"/>
              </a:rPr>
              <a:t>This architecture encourages a consistent coding approach.</a:t>
            </a:r>
            <a:endParaRPr lang="en-US"/>
          </a:p>
        </p:txBody>
      </p:sp>
    </p:spTree>
    <p:extLst>
      <p:ext uri="{BB962C8B-B14F-4D97-AF65-F5344CB8AC3E}">
        <p14:creationId xmlns:p14="http://schemas.microsoft.com/office/powerpoint/2010/main" val="17093520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BDB26-1BA1-E5BD-B4A1-7BDA912A09B8}"/>
              </a:ext>
            </a:extLst>
          </p:cNvPr>
          <p:cNvSpPr>
            <a:spLocks noGrp="1"/>
          </p:cNvSpPr>
          <p:nvPr>
            <p:ph type="title"/>
          </p:nvPr>
        </p:nvSpPr>
        <p:spPr/>
        <p:txBody>
          <a:bodyPr/>
          <a:lstStyle/>
          <a:p>
            <a:r>
              <a:rPr lang="en-US"/>
              <a:t>Disadvantages</a:t>
            </a:r>
          </a:p>
        </p:txBody>
      </p:sp>
      <p:sp>
        <p:nvSpPr>
          <p:cNvPr id="3" name="Content Placeholder 2">
            <a:extLst>
              <a:ext uri="{FF2B5EF4-FFF2-40B4-BE49-F238E27FC236}">
                <a16:creationId xmlns:a16="http://schemas.microsoft.com/office/drawing/2014/main" id="{51DF7649-4FAC-6629-FFAE-421CC0456231}"/>
              </a:ext>
            </a:extLst>
          </p:cNvPr>
          <p:cNvSpPr>
            <a:spLocks noGrp="1"/>
          </p:cNvSpPr>
          <p:nvPr>
            <p:ph idx="1"/>
          </p:nvPr>
        </p:nvSpPr>
        <p:spPr/>
        <p:txBody>
          <a:bodyPr vert="horz" lIns="91440" tIns="45720" rIns="91440" bIns="45720" rtlCol="0" anchor="t">
            <a:normAutofit/>
          </a:bodyPr>
          <a:lstStyle/>
          <a:p>
            <a:r>
              <a:rPr lang="en-US" b="1">
                <a:solidFill>
                  <a:srgbClr val="242424"/>
                </a:solidFill>
                <a:ea typeface="+mn-lt"/>
                <a:cs typeface="+mn-lt"/>
              </a:rPr>
              <a:t>Maintenance Cost: </a:t>
            </a:r>
            <a:endParaRPr lang="en-US" b="1">
              <a:solidFill>
                <a:srgbClr val="000000"/>
              </a:solidFill>
              <a:ea typeface="+mn-lt"/>
              <a:cs typeface="+mn-lt"/>
            </a:endParaRPr>
          </a:p>
          <a:p>
            <a:pPr lvl="1">
              <a:buFont typeface="Courier New" panose="020B0604020202020204" pitchFamily="34" charset="0"/>
              <a:buChar char="o"/>
            </a:pPr>
            <a:r>
              <a:rPr lang="en-US">
                <a:solidFill>
                  <a:srgbClr val="242424"/>
                </a:solidFill>
                <a:ea typeface="+mn-lt"/>
                <a:cs typeface="+mn-lt"/>
              </a:rPr>
              <a:t>As the application grows, maintaining and updating the code can become complex and costly.</a:t>
            </a:r>
            <a:endParaRPr lang="en-US" b="1"/>
          </a:p>
          <a:p>
            <a:r>
              <a:rPr lang="en-US" b="1">
                <a:solidFill>
                  <a:srgbClr val="242424"/>
                </a:solidFill>
                <a:ea typeface="+mn-lt"/>
                <a:cs typeface="+mn-lt"/>
              </a:rPr>
              <a:t>Side Effects: </a:t>
            </a:r>
            <a:endParaRPr lang="en-US" b="1">
              <a:solidFill>
                <a:srgbClr val="000000"/>
              </a:solidFill>
              <a:ea typeface="+mn-lt"/>
              <a:cs typeface="+mn-lt"/>
            </a:endParaRPr>
          </a:p>
          <a:p>
            <a:pPr lvl="1">
              <a:buFont typeface="Courier New" panose="020B0604020202020204" pitchFamily="34" charset="0"/>
              <a:buChar char="o"/>
            </a:pPr>
            <a:r>
              <a:rPr lang="en-US">
                <a:solidFill>
                  <a:srgbClr val="242424"/>
                </a:solidFill>
                <a:ea typeface="+mn-lt"/>
                <a:cs typeface="+mn-lt"/>
              </a:rPr>
              <a:t>Changes in one section of the code can have unintended effects elsewhere (also known as ‘ripple effects’).</a:t>
            </a:r>
            <a:endParaRPr lang="en-US"/>
          </a:p>
          <a:p>
            <a:r>
              <a:rPr lang="en-US" b="1">
                <a:solidFill>
                  <a:srgbClr val="242424"/>
                </a:solidFill>
                <a:ea typeface="+mn-lt"/>
                <a:cs typeface="+mn-lt"/>
              </a:rPr>
              <a:t>Scaling: </a:t>
            </a:r>
            <a:endParaRPr lang="en-US" b="1">
              <a:solidFill>
                <a:srgbClr val="000000"/>
              </a:solidFill>
              <a:ea typeface="+mn-lt"/>
              <a:cs typeface="+mn-lt"/>
            </a:endParaRPr>
          </a:p>
          <a:p>
            <a:pPr lvl="1">
              <a:buFont typeface="Courier New" panose="020B0604020202020204" pitchFamily="34" charset="0"/>
              <a:buChar char="o"/>
            </a:pPr>
            <a:r>
              <a:rPr lang="en-US">
                <a:solidFill>
                  <a:srgbClr val="242424"/>
                </a:solidFill>
                <a:ea typeface="+mn-lt"/>
                <a:cs typeface="+mn-lt"/>
              </a:rPr>
              <a:t>Horizontal scaling, or adding more machines to handle the increased load, can be challenging with this architecture.</a:t>
            </a:r>
            <a:endParaRPr lang="en-US"/>
          </a:p>
        </p:txBody>
      </p:sp>
    </p:spTree>
    <p:extLst>
      <p:ext uri="{BB962C8B-B14F-4D97-AF65-F5344CB8AC3E}">
        <p14:creationId xmlns:p14="http://schemas.microsoft.com/office/powerpoint/2010/main" val="12799446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6267E-2943-379D-CF06-40B4129ADD2C}"/>
              </a:ext>
            </a:extLst>
          </p:cNvPr>
          <p:cNvSpPr>
            <a:spLocks noGrp="1"/>
          </p:cNvSpPr>
          <p:nvPr>
            <p:ph type="title"/>
          </p:nvPr>
        </p:nvSpPr>
        <p:spPr/>
        <p:txBody>
          <a:bodyPr/>
          <a:lstStyle/>
          <a:p>
            <a:r>
              <a:rPr lang="en-US" sz="2000" b="1">
                <a:solidFill>
                  <a:srgbClr val="324A6D"/>
                </a:solidFill>
                <a:ea typeface="+mj-lt"/>
                <a:cs typeface="+mj-lt"/>
              </a:rPr>
              <a:t>MVC –     Model View Controller</a:t>
            </a:r>
            <a:r>
              <a:rPr lang="en-US" sz="2000" b="1">
                <a:ea typeface="+mj-lt"/>
                <a:cs typeface="+mj-lt"/>
              </a:rPr>
              <a:t/>
            </a:r>
            <a:br>
              <a:rPr lang="en-US" sz="2000" b="1">
                <a:ea typeface="+mj-lt"/>
                <a:cs typeface="+mj-lt"/>
              </a:rPr>
            </a:br>
            <a:r>
              <a:rPr lang="en-US" sz="2000" b="1">
                <a:solidFill>
                  <a:srgbClr val="324A6D"/>
                </a:solidFill>
                <a:ea typeface="+mj-lt"/>
                <a:cs typeface="+mj-lt"/>
              </a:rPr>
              <a:t>MVP –      Model View Presenter</a:t>
            </a:r>
            <a:r>
              <a:rPr lang="en-US" sz="2000" b="1">
                <a:ea typeface="+mj-lt"/>
                <a:cs typeface="+mj-lt"/>
              </a:rPr>
              <a:t/>
            </a:r>
            <a:br>
              <a:rPr lang="en-US" sz="2000" b="1">
                <a:ea typeface="+mj-lt"/>
                <a:cs typeface="+mj-lt"/>
              </a:rPr>
            </a:br>
            <a:r>
              <a:rPr lang="en-US" sz="2000" b="1">
                <a:solidFill>
                  <a:srgbClr val="324A6D"/>
                </a:solidFill>
                <a:ea typeface="+mj-lt"/>
                <a:cs typeface="+mj-lt"/>
              </a:rPr>
              <a:t>MVVM –  Model View View-Model</a:t>
            </a:r>
            <a:endParaRPr lang="en-US" sz="2000">
              <a:ea typeface="+mj-lt"/>
              <a:cs typeface="+mj-lt"/>
            </a:endParaRPr>
          </a:p>
        </p:txBody>
      </p:sp>
      <p:pic>
        <p:nvPicPr>
          <p:cNvPr id="4" name="Content Placeholder 3" descr="A diagram of a person&#10;&#10;Description automatically generated">
            <a:extLst>
              <a:ext uri="{FF2B5EF4-FFF2-40B4-BE49-F238E27FC236}">
                <a16:creationId xmlns:a16="http://schemas.microsoft.com/office/drawing/2014/main" id="{9548D1C3-71E5-AA93-042E-FC8B912C7775}"/>
              </a:ext>
            </a:extLst>
          </p:cNvPr>
          <p:cNvPicPr>
            <a:picLocks noGrp="1" noChangeAspect="1"/>
          </p:cNvPicPr>
          <p:nvPr>
            <p:ph idx="1"/>
          </p:nvPr>
        </p:nvPicPr>
        <p:blipFill>
          <a:blip r:embed="rId2"/>
          <a:stretch>
            <a:fillRect/>
          </a:stretch>
        </p:blipFill>
        <p:spPr>
          <a:xfrm>
            <a:off x="321603" y="1702940"/>
            <a:ext cx="11577549" cy="5143045"/>
          </a:xfrm>
        </p:spPr>
      </p:pic>
    </p:spTree>
    <p:extLst>
      <p:ext uri="{BB962C8B-B14F-4D97-AF65-F5344CB8AC3E}">
        <p14:creationId xmlns:p14="http://schemas.microsoft.com/office/powerpoint/2010/main" val="70234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BF292-4D9F-71C1-AABA-B65451C7765A}"/>
              </a:ext>
            </a:extLst>
          </p:cNvPr>
          <p:cNvSpPr>
            <a:spLocks noGrp="1"/>
          </p:cNvSpPr>
          <p:nvPr>
            <p:ph type="title"/>
          </p:nvPr>
        </p:nvSpPr>
        <p:spPr/>
        <p:txBody>
          <a:bodyPr>
            <a:normAutofit/>
          </a:bodyPr>
          <a:lstStyle/>
          <a:p>
            <a:r>
              <a:rPr lang="en-US" sz="4000" b="1">
                <a:solidFill>
                  <a:srgbClr val="292929"/>
                </a:solidFill>
              </a:rPr>
              <a:t>Model–View–Presenter</a:t>
            </a:r>
            <a:endParaRPr lang="en-US" sz="4000"/>
          </a:p>
        </p:txBody>
      </p:sp>
      <p:sp>
        <p:nvSpPr>
          <p:cNvPr id="3" name="Content Placeholder 2">
            <a:extLst>
              <a:ext uri="{FF2B5EF4-FFF2-40B4-BE49-F238E27FC236}">
                <a16:creationId xmlns:a16="http://schemas.microsoft.com/office/drawing/2014/main" id="{75913ECC-7108-C23C-FEBD-858C7E6462A4}"/>
              </a:ext>
            </a:extLst>
          </p:cNvPr>
          <p:cNvSpPr>
            <a:spLocks noGrp="1"/>
          </p:cNvSpPr>
          <p:nvPr>
            <p:ph idx="1"/>
          </p:nvPr>
        </p:nvSpPr>
        <p:spPr>
          <a:xfrm>
            <a:off x="838200" y="1825625"/>
            <a:ext cx="4431696" cy="4351338"/>
          </a:xfrm>
        </p:spPr>
        <p:txBody>
          <a:bodyPr vert="horz" lIns="91440" tIns="45720" rIns="91440" bIns="45720" rtlCol="0" anchor="t">
            <a:normAutofit/>
          </a:bodyPr>
          <a:lstStyle/>
          <a:p>
            <a:r>
              <a:rPr lang="en-US" sz="2400">
                <a:solidFill>
                  <a:srgbClr val="292929"/>
                </a:solidFill>
                <a:ea typeface="+mn-lt"/>
                <a:cs typeface="+mn-lt"/>
              </a:rPr>
              <a:t>MVP is a derivative of the MVC design pattern which focuses on improving presentation logic. </a:t>
            </a:r>
            <a:endParaRPr lang="en-US" sz="2400">
              <a:solidFill>
                <a:srgbClr val="000000"/>
              </a:solidFill>
              <a:ea typeface="+mn-lt"/>
              <a:cs typeface="+mn-lt"/>
            </a:endParaRPr>
          </a:p>
          <a:p>
            <a:r>
              <a:rPr lang="en-US" sz="2400">
                <a:solidFill>
                  <a:srgbClr val="292929"/>
                </a:solidFill>
                <a:ea typeface="+mn-lt"/>
                <a:cs typeface="+mn-lt"/>
              </a:rPr>
              <a:t>It originated at a company named </a:t>
            </a:r>
            <a:r>
              <a:rPr lang="en-US" sz="2400" u="sng">
                <a:solidFill>
                  <a:srgbClr val="292929"/>
                </a:solidFill>
                <a:ea typeface="+mn-lt"/>
                <a:cs typeface="+mn-lt"/>
              </a:rPr>
              <a:t>Taligent</a:t>
            </a:r>
            <a:r>
              <a:rPr lang="en-US" sz="2400">
                <a:solidFill>
                  <a:srgbClr val="292929"/>
                </a:solidFill>
                <a:ea typeface="+mn-lt"/>
                <a:cs typeface="+mn-lt"/>
              </a:rPr>
              <a:t> in the early 1990s while they were working on a model for a C++ CommonPoint environment.</a:t>
            </a:r>
            <a:endParaRPr lang="en-US" sz="2400"/>
          </a:p>
        </p:txBody>
      </p:sp>
      <p:pic>
        <p:nvPicPr>
          <p:cNvPr id="4" name="Picture 3" descr="A diagram of a presentation&#10;&#10;Description automatically generated">
            <a:extLst>
              <a:ext uri="{FF2B5EF4-FFF2-40B4-BE49-F238E27FC236}">
                <a16:creationId xmlns:a16="http://schemas.microsoft.com/office/drawing/2014/main" id="{58407EE2-0E61-5108-729B-73AA61387174}"/>
              </a:ext>
            </a:extLst>
          </p:cNvPr>
          <p:cNvPicPr>
            <a:picLocks noChangeAspect="1"/>
          </p:cNvPicPr>
          <p:nvPr/>
        </p:nvPicPr>
        <p:blipFill>
          <a:blip r:embed="rId2"/>
          <a:stretch>
            <a:fillRect/>
          </a:stretch>
        </p:blipFill>
        <p:spPr>
          <a:xfrm>
            <a:off x="5535764" y="1428750"/>
            <a:ext cx="6660091" cy="5270500"/>
          </a:xfrm>
          <a:prstGeom prst="rect">
            <a:avLst/>
          </a:prstGeom>
        </p:spPr>
      </p:pic>
      <p:sp>
        <p:nvSpPr>
          <p:cNvPr id="5" name="TextBox 6">
            <a:extLst>
              <a:ext uri="{FF2B5EF4-FFF2-40B4-BE49-F238E27FC236}">
                <a16:creationId xmlns:a16="http://schemas.microsoft.com/office/drawing/2014/main" id="{6A496F43-E71D-EB87-EBF4-F18D8C632298}"/>
              </a:ext>
            </a:extLst>
          </p:cNvPr>
          <p:cNvSpPr txBox="1"/>
          <p:nvPr/>
        </p:nvSpPr>
        <p:spPr>
          <a:xfrm>
            <a:off x="6215022" y="5811046"/>
            <a:ext cx="974786"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1"/>
              <a:t>Model</a:t>
            </a:r>
            <a:endParaRPr lang="en-US"/>
          </a:p>
        </p:txBody>
      </p:sp>
      <p:sp>
        <p:nvSpPr>
          <p:cNvPr id="6" name="TextBox 6">
            <a:extLst>
              <a:ext uri="{FF2B5EF4-FFF2-40B4-BE49-F238E27FC236}">
                <a16:creationId xmlns:a16="http://schemas.microsoft.com/office/drawing/2014/main" id="{D196D853-8EAE-804F-9B46-797526C3CA7B}"/>
              </a:ext>
            </a:extLst>
          </p:cNvPr>
          <p:cNvSpPr txBox="1"/>
          <p:nvPr/>
        </p:nvSpPr>
        <p:spPr>
          <a:xfrm>
            <a:off x="6100003" y="2187951"/>
            <a:ext cx="974786"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1"/>
              <a:t>View</a:t>
            </a:r>
            <a:endParaRPr lang="en-US"/>
          </a:p>
        </p:txBody>
      </p:sp>
      <p:sp>
        <p:nvSpPr>
          <p:cNvPr id="7" name="TextBox 6">
            <a:extLst>
              <a:ext uri="{FF2B5EF4-FFF2-40B4-BE49-F238E27FC236}">
                <a16:creationId xmlns:a16="http://schemas.microsoft.com/office/drawing/2014/main" id="{AC975831-2444-E6BF-568E-FB9B6896D645}"/>
              </a:ext>
            </a:extLst>
          </p:cNvPr>
          <p:cNvSpPr txBox="1"/>
          <p:nvPr/>
        </p:nvSpPr>
        <p:spPr>
          <a:xfrm>
            <a:off x="10672003" y="3999499"/>
            <a:ext cx="1204823"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1"/>
              <a:t>Presenter</a:t>
            </a:r>
            <a:endParaRPr lang="en-US"/>
          </a:p>
        </p:txBody>
      </p:sp>
    </p:spTree>
    <p:extLst>
      <p:ext uri="{BB962C8B-B14F-4D97-AF65-F5344CB8AC3E}">
        <p14:creationId xmlns:p14="http://schemas.microsoft.com/office/powerpoint/2010/main" val="13980680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6D87E0-A842-B4C1-D205-54DC15F324A8}"/>
              </a:ext>
            </a:extLst>
          </p:cNvPr>
          <p:cNvSpPr>
            <a:spLocks noGrp="1"/>
          </p:cNvSpPr>
          <p:nvPr>
            <p:ph idx="1"/>
          </p:nvPr>
        </p:nvSpPr>
        <p:spPr/>
        <p:txBody>
          <a:bodyPr vert="horz" lIns="91440" tIns="45720" rIns="91440" bIns="45720" rtlCol="0" anchor="t">
            <a:normAutofit/>
          </a:bodyPr>
          <a:lstStyle/>
          <a:p>
            <a:r>
              <a:rPr lang="en-US" sz="2400" b="1" i="1">
                <a:solidFill>
                  <a:srgbClr val="292929"/>
                </a:solidFill>
                <a:ea typeface="+mn-lt"/>
                <a:cs typeface="+mn-lt"/>
              </a:rPr>
              <a:t>Model</a:t>
            </a:r>
            <a:r>
              <a:rPr lang="en-US" sz="2400">
                <a:solidFill>
                  <a:srgbClr val="292929"/>
                </a:solidFill>
                <a:ea typeface="+mn-lt"/>
                <a:cs typeface="+mn-lt"/>
              </a:rPr>
              <a:t> — The Model represents a set of classes that describes the business logic and data. It also defines business rules for data means how the data can be changed and manipulated.</a:t>
            </a:r>
            <a:endParaRPr lang="en-US" sz="2400"/>
          </a:p>
          <a:p>
            <a:endParaRPr lang="en-US" sz="2400" b="1" i="1">
              <a:solidFill>
                <a:srgbClr val="292929"/>
              </a:solidFill>
              <a:ea typeface="+mn-lt"/>
              <a:cs typeface="+mn-lt"/>
            </a:endParaRPr>
          </a:p>
          <a:p>
            <a:r>
              <a:rPr lang="en-US" sz="2400" b="1" i="1">
                <a:solidFill>
                  <a:srgbClr val="292929"/>
                </a:solidFill>
                <a:ea typeface="+mn-lt"/>
                <a:cs typeface="+mn-lt"/>
              </a:rPr>
              <a:t>View</a:t>
            </a:r>
            <a:r>
              <a:rPr lang="en-US" sz="2400" b="1">
                <a:solidFill>
                  <a:srgbClr val="292929"/>
                </a:solidFill>
                <a:ea typeface="+mn-lt"/>
                <a:cs typeface="+mn-lt"/>
              </a:rPr>
              <a:t> </a:t>
            </a:r>
            <a:r>
              <a:rPr lang="en-US" sz="2400">
                <a:solidFill>
                  <a:srgbClr val="292929"/>
                </a:solidFill>
                <a:ea typeface="+mn-lt"/>
                <a:cs typeface="+mn-lt"/>
              </a:rPr>
              <a:t>— The View is used for making interactions with users like XML, Activity, fragments. It has got nothing to do with the logic that is to be implemented in the process.</a:t>
            </a:r>
            <a:endParaRPr lang="en-US" sz="2400"/>
          </a:p>
          <a:p>
            <a:endParaRPr lang="en-US" sz="2400">
              <a:solidFill>
                <a:srgbClr val="292929"/>
              </a:solidFill>
              <a:ea typeface="+mn-lt"/>
              <a:cs typeface="+mn-lt"/>
            </a:endParaRPr>
          </a:p>
          <a:p>
            <a:r>
              <a:rPr lang="en-US" sz="2400" b="1" i="1">
                <a:solidFill>
                  <a:srgbClr val="292929"/>
                </a:solidFill>
                <a:ea typeface="+mn-lt"/>
                <a:cs typeface="+mn-lt"/>
              </a:rPr>
              <a:t>Presenter</a:t>
            </a:r>
            <a:r>
              <a:rPr lang="en-US" sz="2400">
                <a:solidFill>
                  <a:srgbClr val="292929"/>
                </a:solidFill>
                <a:ea typeface="+mn-lt"/>
                <a:cs typeface="+mn-lt"/>
              </a:rPr>
              <a:t> — The presenter gets the input from the View, processes the data with the help of the Model, and passes the results back to the View after the processing is done.</a:t>
            </a:r>
            <a:endParaRPr lang="en-US" sz="2400"/>
          </a:p>
        </p:txBody>
      </p:sp>
    </p:spTree>
    <p:extLst>
      <p:ext uri="{BB962C8B-B14F-4D97-AF65-F5344CB8AC3E}">
        <p14:creationId xmlns:p14="http://schemas.microsoft.com/office/powerpoint/2010/main" val="8156173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804F5-E6EE-4535-3B01-60D65A68F723}"/>
              </a:ext>
            </a:extLst>
          </p:cNvPr>
          <p:cNvSpPr>
            <a:spLocks noGrp="1"/>
          </p:cNvSpPr>
          <p:nvPr>
            <p:ph type="title"/>
          </p:nvPr>
        </p:nvSpPr>
        <p:spPr/>
        <p:txBody>
          <a:bodyPr/>
          <a:lstStyle/>
          <a:p>
            <a:r>
              <a:rPr lang="en-US" b="1"/>
              <a:t>MVP</a:t>
            </a:r>
          </a:p>
        </p:txBody>
      </p:sp>
      <p:sp>
        <p:nvSpPr>
          <p:cNvPr id="3" name="Content Placeholder 2">
            <a:extLst>
              <a:ext uri="{FF2B5EF4-FFF2-40B4-BE49-F238E27FC236}">
                <a16:creationId xmlns:a16="http://schemas.microsoft.com/office/drawing/2014/main" id="{DF6C0D0F-4F0E-EA6C-B2CE-AC7A9BA5CE6C}"/>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sz="2400" b="1">
                <a:ea typeface="+mn-lt"/>
                <a:cs typeface="+mn-lt"/>
              </a:rPr>
              <a:t>Model:</a:t>
            </a:r>
            <a:r>
              <a:rPr lang="en-US" sz="2400">
                <a:ea typeface="+mn-lt"/>
                <a:cs typeface="+mn-lt"/>
              </a:rPr>
              <a:t> </a:t>
            </a:r>
            <a:endParaRPr lang="en-US"/>
          </a:p>
          <a:p>
            <a:r>
              <a:rPr lang="en-US" sz="2400">
                <a:ea typeface="+mn-lt"/>
                <a:cs typeface="+mn-lt"/>
              </a:rPr>
              <a:t>Layer for storing data. </a:t>
            </a:r>
          </a:p>
          <a:p>
            <a:r>
              <a:rPr lang="en-US" sz="2400">
                <a:ea typeface="+mn-lt"/>
                <a:cs typeface="+mn-lt"/>
              </a:rPr>
              <a:t>It is responsible for handling the domain logic(real-world business rules) and communication with the database and network layers.</a:t>
            </a:r>
            <a:endParaRPr lang="en-US" sz="2400"/>
          </a:p>
          <a:p>
            <a:pPr marL="0" indent="0">
              <a:buNone/>
            </a:pPr>
            <a:r>
              <a:rPr lang="en-US" sz="2400" b="1">
                <a:ea typeface="+mn-lt"/>
                <a:cs typeface="+mn-lt"/>
              </a:rPr>
              <a:t>View:</a:t>
            </a:r>
            <a:r>
              <a:rPr lang="en-US" sz="2400">
                <a:ea typeface="+mn-lt"/>
                <a:cs typeface="+mn-lt"/>
              </a:rPr>
              <a:t> </a:t>
            </a:r>
          </a:p>
          <a:p>
            <a:r>
              <a:rPr lang="en-US" sz="2400">
                <a:ea typeface="+mn-lt"/>
                <a:cs typeface="+mn-lt"/>
              </a:rPr>
              <a:t>UI(User Interface) layer. </a:t>
            </a:r>
          </a:p>
          <a:p>
            <a:r>
              <a:rPr lang="en-US" sz="2400">
                <a:ea typeface="+mn-lt"/>
                <a:cs typeface="+mn-lt"/>
              </a:rPr>
              <a:t>It provides the visualization of the data and keep a track of the user’s action in order to notify the Presenter.</a:t>
            </a:r>
            <a:endParaRPr lang="en-US" sz="2400"/>
          </a:p>
          <a:p>
            <a:pPr marL="0" indent="0">
              <a:buNone/>
            </a:pPr>
            <a:r>
              <a:rPr lang="en-US" sz="2400" b="1">
                <a:ea typeface="+mn-lt"/>
                <a:cs typeface="+mn-lt"/>
              </a:rPr>
              <a:t>Presenter:</a:t>
            </a:r>
            <a:r>
              <a:rPr lang="en-US" sz="2400">
                <a:ea typeface="+mn-lt"/>
                <a:cs typeface="+mn-lt"/>
              </a:rPr>
              <a:t> </a:t>
            </a:r>
          </a:p>
          <a:p>
            <a:r>
              <a:rPr lang="en-US" sz="2400">
                <a:ea typeface="+mn-lt"/>
                <a:cs typeface="+mn-lt"/>
              </a:rPr>
              <a:t>Fetch the data from the model and applies the UI logic to decide what to display. </a:t>
            </a:r>
          </a:p>
          <a:p>
            <a:r>
              <a:rPr lang="en-US" sz="2400">
                <a:ea typeface="+mn-lt"/>
                <a:cs typeface="+mn-lt"/>
              </a:rPr>
              <a:t>It manages the state of the View and takes actions according to the user’s input notification from the View.</a:t>
            </a:r>
            <a:endParaRPr lang="en-US" sz="2400"/>
          </a:p>
        </p:txBody>
      </p:sp>
    </p:spTree>
    <p:extLst>
      <p:ext uri="{BB962C8B-B14F-4D97-AF65-F5344CB8AC3E}">
        <p14:creationId xmlns:p14="http://schemas.microsoft.com/office/powerpoint/2010/main" val="22498468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141AA-F272-0B67-B488-32BA0AD44999}"/>
              </a:ext>
            </a:extLst>
          </p:cNvPr>
          <p:cNvSpPr>
            <a:spLocks noGrp="1"/>
          </p:cNvSpPr>
          <p:nvPr>
            <p:ph type="title"/>
          </p:nvPr>
        </p:nvSpPr>
        <p:spPr/>
        <p:txBody>
          <a:bodyPr>
            <a:normAutofit/>
          </a:bodyPr>
          <a:lstStyle/>
          <a:p>
            <a:r>
              <a:rPr lang="en-US" sz="4000" b="1">
                <a:solidFill>
                  <a:srgbClr val="292929"/>
                </a:solidFill>
              </a:rPr>
              <a:t>Model-View-</a:t>
            </a:r>
            <a:r>
              <a:rPr lang="en-US" sz="4000" b="1" err="1">
                <a:solidFill>
                  <a:srgbClr val="292929"/>
                </a:solidFill>
              </a:rPr>
              <a:t>ViewModel</a:t>
            </a:r>
            <a:endParaRPr lang="en-US" sz="4000" err="1"/>
          </a:p>
        </p:txBody>
      </p:sp>
      <p:sp>
        <p:nvSpPr>
          <p:cNvPr id="3" name="Content Placeholder 2">
            <a:extLst>
              <a:ext uri="{FF2B5EF4-FFF2-40B4-BE49-F238E27FC236}">
                <a16:creationId xmlns:a16="http://schemas.microsoft.com/office/drawing/2014/main" id="{061C233D-0F88-C0DB-0812-42AA44F8E079}"/>
              </a:ext>
            </a:extLst>
          </p:cNvPr>
          <p:cNvSpPr>
            <a:spLocks noGrp="1"/>
          </p:cNvSpPr>
          <p:nvPr>
            <p:ph idx="1"/>
          </p:nvPr>
        </p:nvSpPr>
        <p:spPr>
          <a:xfrm>
            <a:off x="838200" y="1825625"/>
            <a:ext cx="4329953" cy="4351338"/>
          </a:xfrm>
        </p:spPr>
        <p:txBody>
          <a:bodyPr vert="horz" lIns="91440" tIns="45720" rIns="91440" bIns="45720" rtlCol="0" anchor="t">
            <a:normAutofit/>
          </a:bodyPr>
          <a:lstStyle/>
          <a:p>
            <a:r>
              <a:rPr lang="en-US" sz="2400">
                <a:solidFill>
                  <a:srgbClr val="292929"/>
                </a:solidFill>
                <a:ea typeface="+mn-lt"/>
                <a:cs typeface="+mn-lt"/>
              </a:rPr>
              <a:t>MVVM was originally defined by Microsoft for use with Windows Presentation Foundation (WPF) and Silverlight, </a:t>
            </a:r>
            <a:endParaRPr lang="en-US" sz="2400">
              <a:solidFill>
                <a:srgbClr val="000000"/>
              </a:solidFill>
              <a:ea typeface="+mn-lt"/>
              <a:cs typeface="+mn-lt"/>
            </a:endParaRPr>
          </a:p>
          <a:p>
            <a:endParaRPr lang="en-US" sz="2400">
              <a:solidFill>
                <a:srgbClr val="292929"/>
              </a:solidFill>
              <a:ea typeface="+mn-lt"/>
              <a:cs typeface="+mn-lt"/>
            </a:endParaRPr>
          </a:p>
          <a:p>
            <a:r>
              <a:rPr lang="en-US" sz="2400">
                <a:solidFill>
                  <a:srgbClr val="292929"/>
                </a:solidFill>
                <a:ea typeface="+mn-lt"/>
                <a:cs typeface="+mn-lt"/>
              </a:rPr>
              <a:t>This pattern based on MVC and MVP which attempts to more clearly separate the development of UI from that of the business logic and behavior in an application.</a:t>
            </a:r>
            <a:endParaRPr lang="en-US" sz="2400"/>
          </a:p>
        </p:txBody>
      </p:sp>
      <p:pic>
        <p:nvPicPr>
          <p:cNvPr id="4" name="Picture 3" descr="A diagram of a process&#10;&#10;Description automatically generated">
            <a:extLst>
              <a:ext uri="{FF2B5EF4-FFF2-40B4-BE49-F238E27FC236}">
                <a16:creationId xmlns:a16="http://schemas.microsoft.com/office/drawing/2014/main" id="{41C7AA6F-1A3E-ACBE-BF6D-03123EF8D76C}"/>
              </a:ext>
            </a:extLst>
          </p:cNvPr>
          <p:cNvPicPr>
            <a:picLocks noChangeAspect="1"/>
          </p:cNvPicPr>
          <p:nvPr/>
        </p:nvPicPr>
        <p:blipFill>
          <a:blip r:embed="rId2"/>
          <a:stretch>
            <a:fillRect/>
          </a:stretch>
        </p:blipFill>
        <p:spPr>
          <a:xfrm>
            <a:off x="5270090" y="1287337"/>
            <a:ext cx="6605724" cy="5333130"/>
          </a:xfrm>
          <a:prstGeom prst="rect">
            <a:avLst/>
          </a:prstGeom>
        </p:spPr>
      </p:pic>
      <p:sp>
        <p:nvSpPr>
          <p:cNvPr id="6" name="TextBox 6">
            <a:extLst>
              <a:ext uri="{FF2B5EF4-FFF2-40B4-BE49-F238E27FC236}">
                <a16:creationId xmlns:a16="http://schemas.microsoft.com/office/drawing/2014/main" id="{88DA01D3-4108-11E5-8910-9CD621169BD1}"/>
              </a:ext>
            </a:extLst>
          </p:cNvPr>
          <p:cNvSpPr txBox="1"/>
          <p:nvPr/>
        </p:nvSpPr>
        <p:spPr>
          <a:xfrm>
            <a:off x="5697437" y="5811046"/>
            <a:ext cx="974786"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1"/>
              <a:t>Model</a:t>
            </a:r>
            <a:endParaRPr lang="en-US"/>
          </a:p>
        </p:txBody>
      </p:sp>
      <p:sp>
        <p:nvSpPr>
          <p:cNvPr id="8" name="TextBox 6">
            <a:extLst>
              <a:ext uri="{FF2B5EF4-FFF2-40B4-BE49-F238E27FC236}">
                <a16:creationId xmlns:a16="http://schemas.microsoft.com/office/drawing/2014/main" id="{44DA5D1E-B092-C046-2C32-CE22D41F5FFB}"/>
              </a:ext>
            </a:extLst>
          </p:cNvPr>
          <p:cNvSpPr txBox="1"/>
          <p:nvPr/>
        </p:nvSpPr>
        <p:spPr>
          <a:xfrm>
            <a:off x="5697437" y="2029800"/>
            <a:ext cx="974786"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1"/>
              <a:t>View</a:t>
            </a:r>
            <a:endParaRPr lang="en-US"/>
          </a:p>
        </p:txBody>
      </p:sp>
      <p:sp>
        <p:nvSpPr>
          <p:cNvPr id="10" name="TextBox 6">
            <a:extLst>
              <a:ext uri="{FF2B5EF4-FFF2-40B4-BE49-F238E27FC236}">
                <a16:creationId xmlns:a16="http://schemas.microsoft.com/office/drawing/2014/main" id="{42FDC314-185F-E5ED-826A-020395BDBD36}"/>
              </a:ext>
            </a:extLst>
          </p:cNvPr>
          <p:cNvSpPr txBox="1"/>
          <p:nvPr/>
        </p:nvSpPr>
        <p:spPr>
          <a:xfrm>
            <a:off x="10384456" y="3826970"/>
            <a:ext cx="1492370"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t>View Model</a:t>
            </a:r>
            <a:endParaRPr lang="en-US"/>
          </a:p>
        </p:txBody>
      </p:sp>
    </p:spTree>
    <p:extLst>
      <p:ext uri="{BB962C8B-B14F-4D97-AF65-F5344CB8AC3E}">
        <p14:creationId xmlns:p14="http://schemas.microsoft.com/office/powerpoint/2010/main" val="11745316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B0BBA3-761C-1253-D258-621FA404D2D7}"/>
              </a:ext>
            </a:extLst>
          </p:cNvPr>
          <p:cNvSpPr>
            <a:spLocks noGrp="1"/>
          </p:cNvSpPr>
          <p:nvPr>
            <p:ph idx="1"/>
          </p:nvPr>
        </p:nvSpPr>
        <p:spPr/>
        <p:txBody>
          <a:bodyPr vert="horz" lIns="91440" tIns="45720" rIns="91440" bIns="45720" rtlCol="0" anchor="t">
            <a:normAutofit/>
          </a:bodyPr>
          <a:lstStyle/>
          <a:p>
            <a:r>
              <a:rPr lang="en-US" sz="2400" b="1">
                <a:solidFill>
                  <a:srgbClr val="292929"/>
                </a:solidFill>
                <a:ea typeface="+mn-lt"/>
                <a:cs typeface="+mn-lt"/>
              </a:rPr>
              <a:t>View</a:t>
            </a:r>
            <a:r>
              <a:rPr lang="en-US" sz="2400">
                <a:solidFill>
                  <a:srgbClr val="292929"/>
                </a:solidFill>
                <a:ea typeface="+mn-lt"/>
                <a:cs typeface="+mn-lt"/>
              </a:rPr>
              <a:t>: This is what the user sees and interacts with. It’s the UI layer, like buttons, text boxes, and labels.</a:t>
            </a:r>
            <a:endParaRPr lang="en-US" sz="2400">
              <a:solidFill>
                <a:srgbClr val="000000"/>
              </a:solidFill>
              <a:ea typeface="+mn-lt"/>
              <a:cs typeface="+mn-lt"/>
            </a:endParaRPr>
          </a:p>
          <a:p>
            <a:r>
              <a:rPr lang="en-US" sz="2400" b="1">
                <a:solidFill>
                  <a:srgbClr val="292929"/>
                </a:solidFill>
                <a:ea typeface="+mn-lt"/>
                <a:cs typeface="+mn-lt"/>
              </a:rPr>
              <a:t>Model</a:t>
            </a:r>
            <a:r>
              <a:rPr lang="en-US" sz="2400">
                <a:solidFill>
                  <a:srgbClr val="292929"/>
                </a:solidFill>
                <a:ea typeface="+mn-lt"/>
                <a:cs typeface="+mn-lt"/>
              </a:rPr>
              <a:t>: This represents the data and business logic. It’s where the application’s core functionality lives, such as calculations, data retrieval, and state management.</a:t>
            </a:r>
            <a:endParaRPr lang="en-US">
              <a:ea typeface="+mn-lt"/>
              <a:cs typeface="+mn-lt"/>
            </a:endParaRPr>
          </a:p>
          <a:p>
            <a:r>
              <a:rPr lang="en-US" sz="2400" b="1" err="1">
                <a:solidFill>
                  <a:srgbClr val="292929"/>
                </a:solidFill>
                <a:ea typeface="+mn-lt"/>
                <a:cs typeface="+mn-lt"/>
              </a:rPr>
              <a:t>ViewModel</a:t>
            </a:r>
            <a:r>
              <a:rPr lang="en-US" sz="2400">
                <a:solidFill>
                  <a:srgbClr val="292929"/>
                </a:solidFill>
                <a:ea typeface="+mn-lt"/>
                <a:cs typeface="+mn-lt"/>
              </a:rPr>
              <a:t>: This acts as an intermediary between the View and the Model. It’s not just a direct link but an abstraction:</a:t>
            </a:r>
          </a:p>
          <a:p>
            <a:pPr lvl="1">
              <a:buFont typeface="Courier New" panose="020B0604020202020204" pitchFamily="34" charset="0"/>
              <a:buChar char="o"/>
            </a:pPr>
            <a:r>
              <a:rPr lang="en-US" sz="2200">
                <a:solidFill>
                  <a:srgbClr val="292929"/>
                </a:solidFill>
                <a:ea typeface="+mn-lt"/>
                <a:cs typeface="+mn-lt"/>
              </a:rPr>
              <a:t>the </a:t>
            </a:r>
            <a:r>
              <a:rPr lang="en-US" sz="2200" err="1">
                <a:solidFill>
                  <a:srgbClr val="292929"/>
                </a:solidFill>
                <a:ea typeface="+mn-lt"/>
                <a:cs typeface="+mn-lt"/>
              </a:rPr>
              <a:t>ViewModel</a:t>
            </a:r>
            <a:r>
              <a:rPr lang="en-US" sz="2200">
                <a:solidFill>
                  <a:srgbClr val="292929"/>
                </a:solidFill>
                <a:ea typeface="+mn-lt"/>
                <a:cs typeface="+mn-lt"/>
              </a:rPr>
              <a:t> </a:t>
            </a:r>
            <a:r>
              <a:rPr lang="en-US" sz="2200" b="1">
                <a:solidFill>
                  <a:srgbClr val="292929"/>
                </a:solidFill>
                <a:ea typeface="+mn-lt"/>
                <a:cs typeface="+mn-lt"/>
              </a:rPr>
              <a:t>translates data from the Model</a:t>
            </a:r>
            <a:r>
              <a:rPr lang="en-US" sz="2200">
                <a:solidFill>
                  <a:srgbClr val="292929"/>
                </a:solidFill>
                <a:ea typeface="+mn-lt"/>
                <a:cs typeface="+mn-lt"/>
              </a:rPr>
              <a:t> into a </a:t>
            </a:r>
            <a:r>
              <a:rPr lang="en-US" sz="2200" b="1">
                <a:solidFill>
                  <a:srgbClr val="292929"/>
                </a:solidFill>
                <a:ea typeface="+mn-lt"/>
                <a:cs typeface="+mn-lt"/>
              </a:rPr>
              <a:t>format that the View can display</a:t>
            </a:r>
            <a:r>
              <a:rPr lang="en-US" sz="2200">
                <a:solidFill>
                  <a:srgbClr val="292929"/>
                </a:solidFill>
                <a:ea typeface="+mn-lt"/>
                <a:cs typeface="+mn-lt"/>
              </a:rPr>
              <a:t> </a:t>
            </a:r>
            <a:endParaRPr lang="en-US" sz="2200">
              <a:solidFill>
                <a:srgbClr val="000000"/>
              </a:solidFill>
              <a:ea typeface="+mn-lt"/>
              <a:cs typeface="+mn-lt"/>
            </a:endParaRPr>
          </a:p>
          <a:p>
            <a:pPr lvl="1">
              <a:buFont typeface="Courier New" panose="020B0604020202020204" pitchFamily="34" charset="0"/>
              <a:buChar char="o"/>
            </a:pPr>
            <a:r>
              <a:rPr lang="en-US" sz="2200">
                <a:solidFill>
                  <a:srgbClr val="292929"/>
                </a:solidFill>
                <a:ea typeface="+mn-lt"/>
                <a:cs typeface="+mn-lt"/>
              </a:rPr>
              <a:t>and also </a:t>
            </a:r>
            <a:r>
              <a:rPr lang="en-US" sz="2200" b="1">
                <a:solidFill>
                  <a:srgbClr val="292929"/>
                </a:solidFill>
                <a:ea typeface="+mn-lt"/>
                <a:cs typeface="+mn-lt"/>
              </a:rPr>
              <a:t>exposes commands that the View can use</a:t>
            </a:r>
            <a:r>
              <a:rPr lang="en-US" sz="2200">
                <a:solidFill>
                  <a:srgbClr val="292929"/>
                </a:solidFill>
                <a:ea typeface="+mn-lt"/>
                <a:cs typeface="+mn-lt"/>
              </a:rPr>
              <a:t> to </a:t>
            </a:r>
            <a:r>
              <a:rPr lang="en-US" sz="2200" b="1">
                <a:solidFill>
                  <a:srgbClr val="292929"/>
                </a:solidFill>
                <a:ea typeface="+mn-lt"/>
                <a:cs typeface="+mn-lt"/>
              </a:rPr>
              <a:t>interact with the Model</a:t>
            </a:r>
            <a:r>
              <a:rPr lang="en-US" sz="2200">
                <a:solidFill>
                  <a:srgbClr val="292929"/>
                </a:solidFill>
                <a:ea typeface="+mn-lt"/>
                <a:cs typeface="+mn-lt"/>
              </a:rPr>
              <a:t>.</a:t>
            </a:r>
            <a:endParaRPr lang="en-US" sz="2200">
              <a:ea typeface="+mn-lt"/>
              <a:cs typeface="+mn-lt"/>
            </a:endParaRPr>
          </a:p>
          <a:p>
            <a:endParaRPr lang="en-US" sz="2400">
              <a:solidFill>
                <a:srgbClr val="292929"/>
              </a:solidFill>
            </a:endParaRPr>
          </a:p>
          <a:p>
            <a:endParaRPr lang="en-US"/>
          </a:p>
        </p:txBody>
      </p:sp>
    </p:spTree>
    <p:extLst>
      <p:ext uri="{BB962C8B-B14F-4D97-AF65-F5344CB8AC3E}">
        <p14:creationId xmlns:p14="http://schemas.microsoft.com/office/powerpoint/2010/main" val="9124635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Content Placeholder 6" descr="A diagram of a model&#10;&#10;Description automatically generated">
            <a:extLst>
              <a:ext uri="{FF2B5EF4-FFF2-40B4-BE49-F238E27FC236}">
                <a16:creationId xmlns:a16="http://schemas.microsoft.com/office/drawing/2014/main" id="{D8C0BC2F-33F7-642E-5764-40B29CC84F71}"/>
              </a:ext>
            </a:extLst>
          </p:cNvPr>
          <p:cNvPicPr>
            <a:picLocks noGrp="1" noChangeAspect="1"/>
          </p:cNvPicPr>
          <p:nvPr>
            <p:ph idx="1"/>
          </p:nvPr>
        </p:nvPicPr>
        <p:blipFill>
          <a:blip r:embed="rId2"/>
          <a:stretch>
            <a:fillRect/>
          </a:stretch>
        </p:blipFill>
        <p:spPr>
          <a:xfrm>
            <a:off x="147764" y="132292"/>
            <a:ext cx="12041615" cy="6722004"/>
          </a:xfrm>
        </p:spPr>
      </p:pic>
    </p:spTree>
    <p:extLst>
      <p:ext uri="{BB962C8B-B14F-4D97-AF65-F5344CB8AC3E}">
        <p14:creationId xmlns:p14="http://schemas.microsoft.com/office/powerpoint/2010/main" val="25849339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480877-12D7-3078-BB7C-2D5C0549224E}"/>
              </a:ext>
            </a:extLst>
          </p:cNvPr>
          <p:cNvSpPr>
            <a:spLocks noGrp="1"/>
          </p:cNvSpPr>
          <p:nvPr>
            <p:ph idx="1"/>
          </p:nvPr>
        </p:nvSpPr>
        <p:spPr/>
        <p:txBody>
          <a:bodyPr vert="horz" lIns="91440" tIns="45720" rIns="91440" bIns="45720" rtlCol="0" anchor="t">
            <a:normAutofit/>
          </a:bodyPr>
          <a:lstStyle/>
          <a:p>
            <a:r>
              <a:rPr lang="en-US" sz="2400" b="1">
                <a:ea typeface="+mn-lt"/>
                <a:cs typeface="+mn-lt"/>
              </a:rPr>
              <a:t>Maven</a:t>
            </a:r>
            <a:r>
              <a:rPr lang="en-US" sz="2400">
                <a:ea typeface="+mn-lt"/>
                <a:cs typeface="+mn-lt"/>
              </a:rPr>
              <a:t> is a powerful project management and build automation tool primarily used in Java projects. </a:t>
            </a:r>
          </a:p>
          <a:p>
            <a:endParaRPr lang="en-US" sz="2400">
              <a:ea typeface="+mn-lt"/>
              <a:cs typeface="+mn-lt"/>
            </a:endParaRPr>
          </a:p>
          <a:p>
            <a:r>
              <a:rPr lang="en-US" sz="2400">
                <a:ea typeface="+mn-lt"/>
                <a:cs typeface="+mn-lt"/>
              </a:rPr>
              <a:t>It simplifies the process of managing project dependencies, building, and deploying applications.</a:t>
            </a:r>
            <a:endParaRPr lang="en-US" sz="2400"/>
          </a:p>
          <a:p>
            <a:endParaRPr lang="en-US" sz="2400"/>
          </a:p>
        </p:txBody>
      </p:sp>
      <p:pic>
        <p:nvPicPr>
          <p:cNvPr id="4" name="Picture 3" descr="A colorful feather on a black background&#10;&#10;Description automatically generated">
            <a:extLst>
              <a:ext uri="{FF2B5EF4-FFF2-40B4-BE49-F238E27FC236}">
                <a16:creationId xmlns:a16="http://schemas.microsoft.com/office/drawing/2014/main" id="{006B4AE1-7F99-5955-EF18-6D587DC21C19}"/>
              </a:ext>
            </a:extLst>
          </p:cNvPr>
          <p:cNvPicPr>
            <a:picLocks noChangeAspect="1"/>
          </p:cNvPicPr>
          <p:nvPr/>
        </p:nvPicPr>
        <p:blipFill>
          <a:blip r:embed="rId2"/>
          <a:stretch>
            <a:fillRect/>
          </a:stretch>
        </p:blipFill>
        <p:spPr>
          <a:xfrm>
            <a:off x="1216326" y="681047"/>
            <a:ext cx="2743198" cy="693868"/>
          </a:xfrm>
          <a:prstGeom prst="rect">
            <a:avLst/>
          </a:prstGeom>
        </p:spPr>
      </p:pic>
    </p:spTree>
    <p:extLst>
      <p:ext uri="{BB962C8B-B14F-4D97-AF65-F5344CB8AC3E}">
        <p14:creationId xmlns:p14="http://schemas.microsoft.com/office/powerpoint/2010/main" val="14814477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7A67A-0C5C-A396-09DC-7804564ECED0}"/>
              </a:ext>
            </a:extLst>
          </p:cNvPr>
          <p:cNvSpPr>
            <a:spLocks noGrp="1"/>
          </p:cNvSpPr>
          <p:nvPr>
            <p:ph type="title"/>
          </p:nvPr>
        </p:nvSpPr>
        <p:spPr/>
        <p:txBody>
          <a:bodyPr>
            <a:normAutofit/>
          </a:bodyPr>
          <a:lstStyle/>
          <a:p>
            <a:pPr>
              <a:spcBef>
                <a:spcPts val="1000"/>
              </a:spcBef>
            </a:pPr>
            <a:r>
              <a:rPr lang="en-US" sz="4000" b="1">
                <a:latin typeface="Arial"/>
                <a:cs typeface="Arial"/>
              </a:rPr>
              <a:t>Why Do We Need Maven?</a:t>
            </a:r>
            <a:endParaRPr lang="en-US" sz="4000" b="1"/>
          </a:p>
        </p:txBody>
      </p:sp>
      <p:sp>
        <p:nvSpPr>
          <p:cNvPr id="3" name="Content Placeholder 2">
            <a:extLst>
              <a:ext uri="{FF2B5EF4-FFF2-40B4-BE49-F238E27FC236}">
                <a16:creationId xmlns:a16="http://schemas.microsoft.com/office/drawing/2014/main" id="{D410C17E-DDA4-7801-03C9-98CC70D17B77}"/>
              </a:ext>
            </a:extLst>
          </p:cNvPr>
          <p:cNvSpPr>
            <a:spLocks noGrp="1"/>
          </p:cNvSpPr>
          <p:nvPr>
            <p:ph idx="1"/>
          </p:nvPr>
        </p:nvSpPr>
        <p:spPr/>
        <p:txBody>
          <a:bodyPr vert="horz" lIns="91440" tIns="45720" rIns="91440" bIns="45720" rtlCol="0" anchor="t">
            <a:normAutofit/>
          </a:bodyPr>
          <a:lstStyle/>
          <a:p>
            <a:r>
              <a:rPr lang="en-US" dirty="0">
                <a:ea typeface="+mn-lt"/>
                <a:cs typeface="+mn-lt"/>
              </a:rPr>
              <a:t>When developing a project, several tasks must be managed:</a:t>
            </a:r>
            <a:endParaRPr lang="en-US" dirty="0"/>
          </a:p>
          <a:p>
            <a:pPr lvl="1">
              <a:buFont typeface="Courier New" panose="020B0604020202020204" pitchFamily="34" charset="0"/>
              <a:buChar char="o"/>
            </a:pPr>
            <a:endParaRPr lang="en-US" b="1" dirty="0">
              <a:ea typeface="+mn-lt"/>
              <a:cs typeface="+mn-lt"/>
            </a:endParaRPr>
          </a:p>
          <a:p>
            <a:pPr lvl="1">
              <a:buFont typeface="Courier New" panose="020B0604020202020204" pitchFamily="34" charset="0"/>
              <a:buChar char="o"/>
            </a:pPr>
            <a:r>
              <a:rPr lang="en-US" b="1" dirty="0">
                <a:ea typeface="+mn-lt"/>
                <a:cs typeface="+mn-lt"/>
              </a:rPr>
              <a:t>Compilation</a:t>
            </a:r>
            <a:r>
              <a:rPr lang="en-US" dirty="0">
                <a:ea typeface="+mn-lt"/>
                <a:cs typeface="+mn-lt"/>
              </a:rPr>
              <a:t>: Converting source code into bytecode.</a:t>
            </a:r>
            <a:endParaRPr lang="en-US" dirty="0"/>
          </a:p>
          <a:p>
            <a:pPr lvl="1">
              <a:buFont typeface="Courier New" panose="020B0604020202020204" pitchFamily="34" charset="0"/>
              <a:buChar char="o"/>
            </a:pPr>
            <a:r>
              <a:rPr lang="en-US" b="1" dirty="0">
                <a:ea typeface="+mn-lt"/>
                <a:cs typeface="+mn-lt"/>
              </a:rPr>
              <a:t>Execution</a:t>
            </a:r>
            <a:r>
              <a:rPr lang="en-US" dirty="0">
                <a:ea typeface="+mn-lt"/>
                <a:cs typeface="+mn-lt"/>
              </a:rPr>
              <a:t>: Running the compiled code.</a:t>
            </a:r>
            <a:endParaRPr lang="en-US" dirty="0"/>
          </a:p>
          <a:p>
            <a:pPr lvl="1">
              <a:buFont typeface="Courier New" panose="020B0604020202020204" pitchFamily="34" charset="0"/>
              <a:buChar char="o"/>
            </a:pPr>
            <a:r>
              <a:rPr lang="en-US" b="1" dirty="0">
                <a:ea typeface="+mn-lt"/>
                <a:cs typeface="+mn-lt"/>
              </a:rPr>
              <a:t>Testing</a:t>
            </a:r>
            <a:r>
              <a:rPr lang="en-US" dirty="0">
                <a:ea typeface="+mn-lt"/>
                <a:cs typeface="+mn-lt"/>
              </a:rPr>
              <a:t>: Ensuring the code works as expected.</a:t>
            </a:r>
            <a:endParaRPr lang="en-US" dirty="0"/>
          </a:p>
          <a:p>
            <a:pPr lvl="1">
              <a:buFont typeface="Courier New" panose="020B0604020202020204" pitchFamily="34" charset="0"/>
              <a:buChar char="o"/>
            </a:pPr>
            <a:r>
              <a:rPr lang="en-US" b="1" dirty="0">
                <a:ea typeface="+mn-lt"/>
                <a:cs typeface="+mn-lt"/>
              </a:rPr>
              <a:t>Packaging</a:t>
            </a:r>
            <a:r>
              <a:rPr lang="en-US" dirty="0">
                <a:ea typeface="+mn-lt"/>
                <a:cs typeface="+mn-lt"/>
              </a:rPr>
              <a:t>: Bundling the code into a distributable format (like JAR files).</a:t>
            </a:r>
            <a:endParaRPr lang="en-US" dirty="0"/>
          </a:p>
          <a:p>
            <a:pPr lvl="1">
              <a:buFont typeface="Courier New" panose="020B0604020202020204" pitchFamily="34" charset="0"/>
              <a:buChar char="o"/>
            </a:pPr>
            <a:r>
              <a:rPr lang="en-US" b="1" dirty="0">
                <a:ea typeface="+mn-lt"/>
                <a:cs typeface="+mn-lt"/>
              </a:rPr>
              <a:t>Deployment</a:t>
            </a:r>
            <a:r>
              <a:rPr lang="en-US" dirty="0">
                <a:ea typeface="+mn-lt"/>
                <a:cs typeface="+mn-lt"/>
              </a:rPr>
              <a:t>: Deploying the packaged code to a server or repository.</a:t>
            </a:r>
            <a:endParaRPr lang="en-US" dirty="0"/>
          </a:p>
          <a:p>
            <a:endParaRPr lang="en-US" dirty="0">
              <a:ea typeface="+mn-lt"/>
              <a:cs typeface="+mn-lt"/>
            </a:endParaRPr>
          </a:p>
          <a:p>
            <a:r>
              <a:rPr lang="en-US" dirty="0">
                <a:ea typeface="+mn-lt"/>
                <a:cs typeface="+mn-lt"/>
              </a:rPr>
              <a:t>While IDEs like IntelliJ or Eclipse can handle these tasks, Maven provides a more streamlined and consistent approach.</a:t>
            </a:r>
            <a:endParaRPr lang="en-US" dirty="0"/>
          </a:p>
          <a:p>
            <a:endParaRPr lang="en-US" dirty="0"/>
          </a:p>
        </p:txBody>
      </p:sp>
    </p:spTree>
    <p:extLst>
      <p:ext uri="{BB962C8B-B14F-4D97-AF65-F5344CB8AC3E}">
        <p14:creationId xmlns:p14="http://schemas.microsoft.com/office/powerpoint/2010/main" val="31900597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7CB80-8F18-C2A2-1C3B-2E4CF37628B8}"/>
              </a:ext>
            </a:extLst>
          </p:cNvPr>
          <p:cNvSpPr>
            <a:spLocks noGrp="1"/>
          </p:cNvSpPr>
          <p:nvPr>
            <p:ph type="title"/>
          </p:nvPr>
        </p:nvSpPr>
        <p:spPr/>
        <p:txBody>
          <a:bodyPr>
            <a:normAutofit/>
          </a:bodyPr>
          <a:lstStyle/>
          <a:p>
            <a:pPr>
              <a:spcBef>
                <a:spcPts val="1000"/>
              </a:spcBef>
            </a:pPr>
            <a:r>
              <a:rPr lang="en-US" sz="4000" b="1">
                <a:latin typeface="Arial"/>
                <a:cs typeface="Arial"/>
              </a:rPr>
              <a:t>Dependency Management</a:t>
            </a:r>
            <a:endParaRPr lang="en-US" sz="4000" b="1"/>
          </a:p>
        </p:txBody>
      </p:sp>
      <p:sp>
        <p:nvSpPr>
          <p:cNvPr id="3" name="Content Placeholder 2">
            <a:extLst>
              <a:ext uri="{FF2B5EF4-FFF2-40B4-BE49-F238E27FC236}">
                <a16:creationId xmlns:a16="http://schemas.microsoft.com/office/drawing/2014/main" id="{13EA5420-208E-FB50-41CB-FC9AE391CCFC}"/>
              </a:ext>
            </a:extLst>
          </p:cNvPr>
          <p:cNvSpPr>
            <a:spLocks noGrp="1"/>
          </p:cNvSpPr>
          <p:nvPr>
            <p:ph idx="1"/>
          </p:nvPr>
        </p:nvSpPr>
        <p:spPr/>
        <p:txBody>
          <a:bodyPr vert="horz" lIns="91440" tIns="45720" rIns="91440" bIns="45720" rtlCol="0" anchor="t">
            <a:normAutofit fontScale="92500" lnSpcReduction="20000"/>
          </a:bodyPr>
          <a:lstStyle/>
          <a:p>
            <a:r>
              <a:rPr lang="en-US">
                <a:ea typeface="+mn-lt"/>
                <a:cs typeface="+mn-lt"/>
              </a:rPr>
              <a:t>In software development, dependencies are external libraries your project relies on. Handling these manually involves several challenges:</a:t>
            </a:r>
            <a:endParaRPr lang="en-US"/>
          </a:p>
          <a:p>
            <a:pPr lvl="1">
              <a:buFont typeface="Courier New" panose="020B0604020202020204" pitchFamily="34" charset="0"/>
              <a:buChar char="o"/>
            </a:pPr>
            <a:endParaRPr lang="en-US" b="1">
              <a:ea typeface="+mn-lt"/>
              <a:cs typeface="+mn-lt"/>
            </a:endParaRPr>
          </a:p>
          <a:p>
            <a:pPr lvl="1">
              <a:buFont typeface="Courier New" panose="020B0604020202020204" pitchFamily="34" charset="0"/>
              <a:buChar char="o"/>
            </a:pPr>
            <a:r>
              <a:rPr lang="en-US" b="1">
                <a:ea typeface="+mn-lt"/>
                <a:cs typeface="+mn-lt"/>
              </a:rPr>
              <a:t>Downloading Dependencies</a:t>
            </a:r>
            <a:r>
              <a:rPr lang="en-US">
                <a:ea typeface="+mn-lt"/>
                <a:cs typeface="+mn-lt"/>
              </a:rPr>
              <a:t>: Searching and downloading the required JAR files for your project.</a:t>
            </a:r>
            <a:endParaRPr lang="en-US"/>
          </a:p>
          <a:p>
            <a:pPr lvl="1">
              <a:buFont typeface="Courier New" panose="020B0604020202020204" pitchFamily="34" charset="0"/>
              <a:buChar char="o"/>
            </a:pPr>
            <a:r>
              <a:rPr lang="en-US" b="1">
                <a:ea typeface="+mn-lt"/>
                <a:cs typeface="+mn-lt"/>
              </a:rPr>
              <a:t>Version Compatibility</a:t>
            </a:r>
            <a:r>
              <a:rPr lang="en-US">
                <a:ea typeface="+mn-lt"/>
                <a:cs typeface="+mn-lt"/>
              </a:rPr>
              <a:t>: Ensuring all dependencies are compatible with each other (e.g., a specific version of Spring might only work with certain versions of Hibernate).</a:t>
            </a:r>
            <a:endParaRPr lang="en-US"/>
          </a:p>
          <a:p>
            <a:pPr lvl="1">
              <a:buFont typeface="Courier New" panose="020B0604020202020204" pitchFamily="34" charset="0"/>
              <a:buChar char="o"/>
            </a:pPr>
            <a:r>
              <a:rPr lang="en-US" b="1">
                <a:ea typeface="+mn-lt"/>
                <a:cs typeface="+mn-lt"/>
              </a:rPr>
              <a:t>Transitive Dependencies</a:t>
            </a:r>
            <a:r>
              <a:rPr lang="en-US">
                <a:ea typeface="+mn-lt"/>
                <a:cs typeface="+mn-lt"/>
              </a:rPr>
              <a:t>: Some libraries depend on other libraries, leading to a complex web of dependencies.</a:t>
            </a:r>
            <a:endParaRPr lang="en-US"/>
          </a:p>
          <a:p>
            <a:pPr lvl="1">
              <a:buFont typeface="Courier New" panose="020B0604020202020204" pitchFamily="34" charset="0"/>
              <a:buChar char="o"/>
            </a:pPr>
            <a:r>
              <a:rPr lang="en-US" b="1">
                <a:ea typeface="+mn-lt"/>
                <a:cs typeface="+mn-lt"/>
              </a:rPr>
              <a:t>Team Collaboration</a:t>
            </a:r>
            <a:r>
              <a:rPr lang="en-US">
                <a:ea typeface="+mn-lt"/>
                <a:cs typeface="+mn-lt"/>
              </a:rPr>
              <a:t>: Ensuring all team members use the same versions of dependencies.</a:t>
            </a:r>
            <a:endParaRPr lang="en-US"/>
          </a:p>
          <a:p>
            <a:pPr lvl="1">
              <a:buFont typeface="Courier New" panose="020B0604020202020204" pitchFamily="34" charset="0"/>
              <a:buChar char="o"/>
            </a:pPr>
            <a:endParaRPr lang="en-US">
              <a:ea typeface="+mn-lt"/>
              <a:cs typeface="+mn-lt"/>
            </a:endParaRPr>
          </a:p>
          <a:p>
            <a:r>
              <a:rPr lang="en-US">
                <a:ea typeface="+mn-lt"/>
                <a:cs typeface="+mn-lt"/>
              </a:rPr>
              <a:t>Maven simplifies these tasks by managing dependencies through a central configuration file.</a:t>
            </a:r>
            <a:endParaRPr lang="en-US"/>
          </a:p>
          <a:p>
            <a:endParaRPr lang="en-US"/>
          </a:p>
        </p:txBody>
      </p:sp>
    </p:spTree>
    <p:extLst>
      <p:ext uri="{BB962C8B-B14F-4D97-AF65-F5344CB8AC3E}">
        <p14:creationId xmlns:p14="http://schemas.microsoft.com/office/powerpoint/2010/main" val="24604920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B73D9-8870-91FB-2C51-0F9B7CFD2BD9}"/>
              </a:ext>
            </a:extLst>
          </p:cNvPr>
          <p:cNvSpPr>
            <a:spLocks noGrp="1"/>
          </p:cNvSpPr>
          <p:nvPr>
            <p:ph type="title"/>
          </p:nvPr>
        </p:nvSpPr>
        <p:spPr/>
        <p:txBody>
          <a:bodyPr>
            <a:normAutofit/>
          </a:bodyPr>
          <a:lstStyle/>
          <a:p>
            <a:r>
              <a:rPr lang="en-US" b="1">
                <a:ea typeface="+mj-lt"/>
                <a:cs typeface="+mj-lt"/>
              </a:rPr>
              <a:t>Maven vs. Manual Management</a:t>
            </a:r>
            <a:endParaRPr lang="en-US" b="1"/>
          </a:p>
        </p:txBody>
      </p:sp>
      <p:sp>
        <p:nvSpPr>
          <p:cNvPr id="3" name="Content Placeholder 2">
            <a:extLst>
              <a:ext uri="{FF2B5EF4-FFF2-40B4-BE49-F238E27FC236}">
                <a16:creationId xmlns:a16="http://schemas.microsoft.com/office/drawing/2014/main" id="{11BE92D2-054F-0509-EA66-6FB61AD48CE3}"/>
              </a:ext>
            </a:extLst>
          </p:cNvPr>
          <p:cNvSpPr>
            <a:spLocks noGrp="1"/>
          </p:cNvSpPr>
          <p:nvPr>
            <p:ph idx="1"/>
          </p:nvPr>
        </p:nvSpPr>
        <p:spPr/>
        <p:txBody>
          <a:bodyPr vert="horz" lIns="91440" tIns="45720" rIns="91440" bIns="45720" rtlCol="0" anchor="t">
            <a:normAutofit fontScale="85000" lnSpcReduction="20000"/>
          </a:bodyPr>
          <a:lstStyle/>
          <a:p>
            <a:pPr marL="0" indent="0">
              <a:buNone/>
            </a:pPr>
            <a:r>
              <a:rPr lang="en-US" b="1">
                <a:ea typeface="+mn-lt"/>
                <a:cs typeface="+mn-lt"/>
              </a:rPr>
              <a:t>Without Maven:</a:t>
            </a:r>
            <a:endParaRPr lang="en-US" b="1"/>
          </a:p>
          <a:p>
            <a:r>
              <a:rPr lang="en-US">
                <a:ea typeface="+mn-lt"/>
                <a:cs typeface="+mn-lt"/>
              </a:rPr>
              <a:t>Developers search for and download each JAR file manually.</a:t>
            </a:r>
            <a:endParaRPr lang="en-US"/>
          </a:p>
          <a:p>
            <a:r>
              <a:rPr lang="en-US">
                <a:ea typeface="+mn-lt"/>
                <a:cs typeface="+mn-lt"/>
              </a:rPr>
              <a:t>Dependencies and their versions need to be managed manually.</a:t>
            </a:r>
            <a:endParaRPr lang="en-US"/>
          </a:p>
          <a:p>
            <a:r>
              <a:rPr lang="en-US">
                <a:ea typeface="+mn-lt"/>
                <a:cs typeface="+mn-lt"/>
              </a:rPr>
              <a:t>Ensuring compatibility between dependencies is a manual process.</a:t>
            </a:r>
            <a:endParaRPr lang="en-US"/>
          </a:p>
          <a:p>
            <a:r>
              <a:rPr lang="en-US">
                <a:ea typeface="+mn-lt"/>
                <a:cs typeface="+mn-lt"/>
              </a:rPr>
              <a:t>Sharing projects with others requires them to manually set up the same dependencies.</a:t>
            </a:r>
            <a:endParaRPr lang="en-US"/>
          </a:p>
          <a:p>
            <a:pPr marL="0" indent="0">
              <a:buNone/>
            </a:pPr>
            <a:r>
              <a:rPr lang="en-US" b="1">
                <a:ea typeface="+mn-lt"/>
                <a:cs typeface="+mn-lt"/>
              </a:rPr>
              <a:t>With Maven:</a:t>
            </a:r>
            <a:endParaRPr lang="en-US" b="1"/>
          </a:p>
          <a:p>
            <a:r>
              <a:rPr lang="en-US">
                <a:ea typeface="+mn-lt"/>
                <a:cs typeface="+mn-lt"/>
              </a:rPr>
              <a:t>Dependencies are declared in a single file (</a:t>
            </a:r>
            <a:r>
              <a:rPr lang="en-US">
                <a:latin typeface="Consolas"/>
              </a:rPr>
              <a:t>pom.xml</a:t>
            </a:r>
            <a:r>
              <a:rPr lang="en-US">
                <a:ea typeface="+mn-lt"/>
                <a:cs typeface="+mn-lt"/>
              </a:rPr>
              <a:t>).</a:t>
            </a:r>
            <a:endParaRPr lang="en-US"/>
          </a:p>
          <a:p>
            <a:r>
              <a:rPr lang="en-US">
                <a:ea typeface="+mn-lt"/>
                <a:cs typeface="+mn-lt"/>
              </a:rPr>
              <a:t>Maven automatically downloads and includes the specified versions of the required libraries.</a:t>
            </a:r>
            <a:endParaRPr lang="en-US"/>
          </a:p>
          <a:p>
            <a:r>
              <a:rPr lang="en-US">
                <a:ea typeface="+mn-lt"/>
                <a:cs typeface="+mn-lt"/>
              </a:rPr>
              <a:t>It resolves transitive dependencies (libraries that your dependencies depend on).</a:t>
            </a:r>
            <a:endParaRPr lang="en-US"/>
          </a:p>
          <a:p>
            <a:r>
              <a:rPr lang="en-US">
                <a:ea typeface="+mn-lt"/>
                <a:cs typeface="+mn-lt"/>
              </a:rPr>
              <a:t>Consistency across different environments and team members is maintained.</a:t>
            </a:r>
            <a:endParaRPr lang="en-US"/>
          </a:p>
          <a:p>
            <a:endParaRPr lang="en-US"/>
          </a:p>
        </p:txBody>
      </p:sp>
    </p:spTree>
    <p:extLst>
      <p:ext uri="{BB962C8B-B14F-4D97-AF65-F5344CB8AC3E}">
        <p14:creationId xmlns:p14="http://schemas.microsoft.com/office/powerpoint/2010/main" val="3034689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D8DE6BC8-CE71-372C-B306-690073F87E06}"/>
              </a:ext>
            </a:extLst>
          </p:cNvPr>
          <p:cNvPicPr>
            <a:picLocks noGrp="1" noChangeAspect="1"/>
          </p:cNvPicPr>
          <p:nvPr>
            <p:ph idx="1"/>
          </p:nvPr>
        </p:nvPicPr>
        <p:blipFill>
          <a:blip r:embed="rId2"/>
          <a:srcRect l="427" r="2" b="2"/>
          <a:stretch/>
        </p:blipFill>
        <p:spPr>
          <a:xfrm>
            <a:off x="1473" y="169653"/>
            <a:ext cx="12189054" cy="6533071"/>
          </a:xfrm>
          <a:prstGeom prst="rect">
            <a:avLst/>
          </a:prstGeom>
        </p:spPr>
      </p:pic>
      <p:sp>
        <p:nvSpPr>
          <p:cNvPr id="5" name="TextBox 4">
            <a:extLst>
              <a:ext uri="{FF2B5EF4-FFF2-40B4-BE49-F238E27FC236}">
                <a16:creationId xmlns:a16="http://schemas.microsoft.com/office/drawing/2014/main" id="{53416DB1-F123-7733-8B6F-A85D56CE04CC}"/>
              </a:ext>
            </a:extLst>
          </p:cNvPr>
          <p:cNvSpPr txBox="1"/>
          <p:nvPr/>
        </p:nvSpPr>
        <p:spPr>
          <a:xfrm>
            <a:off x="8067934" y="1307700"/>
            <a:ext cx="2743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Without Maven</a:t>
            </a:r>
          </a:p>
        </p:txBody>
      </p:sp>
    </p:spTree>
    <p:extLst>
      <p:ext uri="{BB962C8B-B14F-4D97-AF65-F5344CB8AC3E}">
        <p14:creationId xmlns:p14="http://schemas.microsoft.com/office/powerpoint/2010/main" val="12314842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F6F8F-AF4E-4ABB-272B-CD907DE38780}"/>
              </a:ext>
            </a:extLst>
          </p:cNvPr>
          <p:cNvSpPr>
            <a:spLocks noGrp="1"/>
          </p:cNvSpPr>
          <p:nvPr>
            <p:ph type="title"/>
          </p:nvPr>
        </p:nvSpPr>
        <p:spPr/>
        <p:txBody>
          <a:bodyPr>
            <a:normAutofit/>
          </a:bodyPr>
          <a:lstStyle/>
          <a:p>
            <a:r>
              <a:rPr lang="en-US" sz="2800"/>
              <a:t>Get the required jar file</a:t>
            </a:r>
          </a:p>
        </p:txBody>
      </p:sp>
      <p:pic>
        <p:nvPicPr>
          <p:cNvPr id="4" name="Content Placeholder 3" descr="A screenshot of a computer&#10;&#10;Description automatically generated">
            <a:extLst>
              <a:ext uri="{FF2B5EF4-FFF2-40B4-BE49-F238E27FC236}">
                <a16:creationId xmlns:a16="http://schemas.microsoft.com/office/drawing/2014/main" id="{A72FD0BE-0E56-F4DD-FFA7-AA0B877B03D2}"/>
              </a:ext>
            </a:extLst>
          </p:cNvPr>
          <p:cNvPicPr>
            <a:picLocks noGrp="1" noChangeAspect="1"/>
          </p:cNvPicPr>
          <p:nvPr>
            <p:ph idx="1"/>
          </p:nvPr>
        </p:nvPicPr>
        <p:blipFill rotWithShape="1">
          <a:blip r:embed="rId2"/>
          <a:srcRect l="235" r="40000" b="55588"/>
          <a:stretch/>
        </p:blipFill>
        <p:spPr>
          <a:xfrm>
            <a:off x="359435" y="1223707"/>
            <a:ext cx="10256847" cy="4665816"/>
          </a:xfrm>
        </p:spPr>
      </p:pic>
      <p:sp>
        <p:nvSpPr>
          <p:cNvPr id="3" name="TextBox 2"/>
          <p:cNvSpPr txBox="1"/>
          <p:nvPr/>
        </p:nvSpPr>
        <p:spPr>
          <a:xfrm>
            <a:off x="2477729" y="3755923"/>
            <a:ext cx="2015613" cy="412954"/>
          </a:xfrm>
          <a:prstGeom prst="rect">
            <a:avLst/>
          </a:prstGeom>
          <a:noFill/>
          <a:ln w="38100">
            <a:solidFill>
              <a:srgbClr val="FF0000"/>
            </a:solidFill>
          </a:ln>
        </p:spPr>
        <p:txBody>
          <a:bodyPr wrap="square" rtlCol="0">
            <a:spAutoFit/>
          </a:bodyPr>
          <a:lstStyle/>
          <a:p>
            <a:endParaRPr lang="en-IN" dirty="0"/>
          </a:p>
        </p:txBody>
      </p:sp>
    </p:spTree>
    <p:extLst>
      <p:ext uri="{BB962C8B-B14F-4D97-AF65-F5344CB8AC3E}">
        <p14:creationId xmlns:p14="http://schemas.microsoft.com/office/powerpoint/2010/main" val="13943738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descr="A screenshot of a computer program&#10;&#10;Description automatically generated">
            <a:extLst>
              <a:ext uri="{FF2B5EF4-FFF2-40B4-BE49-F238E27FC236}">
                <a16:creationId xmlns:a16="http://schemas.microsoft.com/office/drawing/2014/main" id="{1C694D76-DAF3-92CC-D41F-276D1A25285C}"/>
              </a:ext>
            </a:extLst>
          </p:cNvPr>
          <p:cNvPicPr>
            <a:picLocks noGrp="1" noChangeAspect="1"/>
          </p:cNvPicPr>
          <p:nvPr>
            <p:ph idx="1"/>
          </p:nvPr>
        </p:nvPicPr>
        <p:blipFill>
          <a:blip r:embed="rId2"/>
          <a:srcRect t="54" r="-2" b="-2"/>
          <a:stretch/>
        </p:blipFill>
        <p:spPr>
          <a:xfrm>
            <a:off x="-6588" y="10"/>
            <a:ext cx="12198588" cy="6857990"/>
          </a:xfrm>
          <a:prstGeom prst="rect">
            <a:avLst/>
          </a:prstGeom>
        </p:spPr>
      </p:pic>
    </p:spTree>
    <p:extLst>
      <p:ext uri="{BB962C8B-B14F-4D97-AF65-F5344CB8AC3E}">
        <p14:creationId xmlns:p14="http://schemas.microsoft.com/office/powerpoint/2010/main" val="20959977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B5F1FAFF-F723-27C4-E5BA-A1A8B11FA6F8}"/>
              </a:ext>
            </a:extLst>
          </p:cNvPr>
          <p:cNvPicPr>
            <a:picLocks noGrp="1" noChangeAspect="1"/>
          </p:cNvPicPr>
          <p:nvPr>
            <p:ph idx="1"/>
          </p:nvPr>
        </p:nvPicPr>
        <p:blipFill>
          <a:blip r:embed="rId2"/>
          <a:srcRect b="19"/>
          <a:stretch/>
        </p:blipFill>
        <p:spPr>
          <a:xfrm>
            <a:off x="20" y="1282"/>
            <a:ext cx="12191980" cy="6856718"/>
          </a:xfrm>
          <a:prstGeom prst="rect">
            <a:avLst/>
          </a:prstGeom>
        </p:spPr>
      </p:pic>
    </p:spTree>
    <p:extLst>
      <p:ext uri="{BB962C8B-B14F-4D97-AF65-F5344CB8AC3E}">
        <p14:creationId xmlns:p14="http://schemas.microsoft.com/office/powerpoint/2010/main" val="5629282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1C6705E0-282E-3F33-0B13-2338B8C7D564}"/>
              </a:ext>
            </a:extLst>
          </p:cNvPr>
          <p:cNvPicPr>
            <a:picLocks noGrp="1" noChangeAspect="1"/>
          </p:cNvPicPr>
          <p:nvPr>
            <p:ph idx="1"/>
          </p:nvPr>
        </p:nvPicPr>
        <p:blipFill>
          <a:blip r:embed="rId2"/>
          <a:srcRect b="19"/>
          <a:stretch/>
        </p:blipFill>
        <p:spPr>
          <a:xfrm>
            <a:off x="20" y="1282"/>
            <a:ext cx="12191980" cy="6856718"/>
          </a:xfrm>
          <a:prstGeom prst="rect">
            <a:avLst/>
          </a:prstGeom>
        </p:spPr>
      </p:pic>
    </p:spTree>
    <p:extLst>
      <p:ext uri="{BB962C8B-B14F-4D97-AF65-F5344CB8AC3E}">
        <p14:creationId xmlns:p14="http://schemas.microsoft.com/office/powerpoint/2010/main" val="31216717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Content Placeholder 6" descr="A screenshot of a computer&#10;&#10;Description automatically generated">
            <a:extLst>
              <a:ext uri="{FF2B5EF4-FFF2-40B4-BE49-F238E27FC236}">
                <a16:creationId xmlns:a16="http://schemas.microsoft.com/office/drawing/2014/main" id="{72B95151-8AD4-B6AE-E3C5-F63B4317E2CC}"/>
              </a:ext>
            </a:extLst>
          </p:cNvPr>
          <p:cNvPicPr>
            <a:picLocks noGrp="1" noChangeAspect="1"/>
          </p:cNvPicPr>
          <p:nvPr>
            <p:ph idx="1"/>
          </p:nvPr>
        </p:nvPicPr>
        <p:blipFill>
          <a:blip r:embed="rId2"/>
          <a:stretch>
            <a:fillRect/>
          </a:stretch>
        </p:blipFill>
        <p:spPr>
          <a:xfrm>
            <a:off x="1" y="1631"/>
            <a:ext cx="12191998" cy="6863515"/>
          </a:xfrm>
        </p:spPr>
      </p:pic>
    </p:spTree>
    <p:extLst>
      <p:ext uri="{BB962C8B-B14F-4D97-AF65-F5344CB8AC3E}">
        <p14:creationId xmlns:p14="http://schemas.microsoft.com/office/powerpoint/2010/main" val="19774977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A7285-EE0C-D1A0-A140-249B1FB18D7F}"/>
              </a:ext>
            </a:extLst>
          </p:cNvPr>
          <p:cNvSpPr>
            <a:spLocks noGrp="1"/>
          </p:cNvSpPr>
          <p:nvPr>
            <p:ph type="title"/>
          </p:nvPr>
        </p:nvSpPr>
        <p:spPr/>
        <p:txBody>
          <a:bodyPr/>
          <a:lstStyle/>
          <a:p>
            <a:endParaRPr lang="en-US"/>
          </a:p>
        </p:txBody>
      </p:sp>
      <p:pic>
        <p:nvPicPr>
          <p:cNvPr id="4" name="Content Placeholder 3" descr="A screenshot of a computer&#10;&#10;Description automatically generated">
            <a:extLst>
              <a:ext uri="{FF2B5EF4-FFF2-40B4-BE49-F238E27FC236}">
                <a16:creationId xmlns:a16="http://schemas.microsoft.com/office/drawing/2014/main" id="{A9178E10-A006-67DD-5D3D-1FE0A5DBA8D7}"/>
              </a:ext>
            </a:extLst>
          </p:cNvPr>
          <p:cNvPicPr>
            <a:picLocks noGrp="1" noChangeAspect="1"/>
          </p:cNvPicPr>
          <p:nvPr>
            <p:ph idx="1"/>
          </p:nvPr>
        </p:nvPicPr>
        <p:blipFill>
          <a:blip r:embed="rId2"/>
          <a:stretch>
            <a:fillRect/>
          </a:stretch>
        </p:blipFill>
        <p:spPr>
          <a:xfrm>
            <a:off x="0" y="1633"/>
            <a:ext cx="12191998" cy="6863514"/>
          </a:xfrm>
        </p:spPr>
      </p:pic>
    </p:spTree>
    <p:extLst>
      <p:ext uri="{BB962C8B-B14F-4D97-AF65-F5344CB8AC3E}">
        <p14:creationId xmlns:p14="http://schemas.microsoft.com/office/powerpoint/2010/main" val="22161863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E680C-3206-6734-E7BC-6D7BCF4C42E9}"/>
              </a:ext>
            </a:extLst>
          </p:cNvPr>
          <p:cNvSpPr>
            <a:spLocks noGrp="1"/>
          </p:cNvSpPr>
          <p:nvPr>
            <p:ph type="title"/>
          </p:nvPr>
        </p:nvSpPr>
        <p:spPr/>
        <p:txBody>
          <a:bodyPr/>
          <a:lstStyle/>
          <a:p>
            <a:endParaRPr lang="en-US"/>
          </a:p>
        </p:txBody>
      </p:sp>
      <p:pic>
        <p:nvPicPr>
          <p:cNvPr id="4" name="Content Placeholder 3" descr="A screenshot of a computer&#10;&#10;Description automatically generated">
            <a:extLst>
              <a:ext uri="{FF2B5EF4-FFF2-40B4-BE49-F238E27FC236}">
                <a16:creationId xmlns:a16="http://schemas.microsoft.com/office/drawing/2014/main" id="{621E2B4E-2F06-43C6-E45B-3F7A68113857}"/>
              </a:ext>
            </a:extLst>
          </p:cNvPr>
          <p:cNvPicPr>
            <a:picLocks noGrp="1" noChangeAspect="1"/>
          </p:cNvPicPr>
          <p:nvPr>
            <p:ph idx="1"/>
          </p:nvPr>
        </p:nvPicPr>
        <p:blipFill>
          <a:blip r:embed="rId2"/>
          <a:stretch>
            <a:fillRect/>
          </a:stretch>
        </p:blipFill>
        <p:spPr>
          <a:xfrm>
            <a:off x="0" y="131027"/>
            <a:ext cx="12191998" cy="6734118"/>
          </a:xfrm>
        </p:spPr>
      </p:pic>
    </p:spTree>
    <p:extLst>
      <p:ext uri="{BB962C8B-B14F-4D97-AF65-F5344CB8AC3E}">
        <p14:creationId xmlns:p14="http://schemas.microsoft.com/office/powerpoint/2010/main" val="29467122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AC66D-5E43-5744-B698-4582BE417872}"/>
              </a:ext>
            </a:extLst>
          </p:cNvPr>
          <p:cNvSpPr>
            <a:spLocks noGrp="1"/>
          </p:cNvSpPr>
          <p:nvPr>
            <p:ph type="title"/>
          </p:nvPr>
        </p:nvSpPr>
        <p:spPr/>
        <p:txBody>
          <a:bodyPr/>
          <a:lstStyle/>
          <a:p>
            <a:endParaRPr lang="en-US"/>
          </a:p>
        </p:txBody>
      </p:sp>
      <p:pic>
        <p:nvPicPr>
          <p:cNvPr id="4" name="Content Placeholder 3" descr="A screenshot of a computer&#10;&#10;Description automatically generated">
            <a:extLst>
              <a:ext uri="{FF2B5EF4-FFF2-40B4-BE49-F238E27FC236}">
                <a16:creationId xmlns:a16="http://schemas.microsoft.com/office/drawing/2014/main" id="{8FD17BF4-DE55-5839-F059-B352FA6AE160}"/>
              </a:ext>
            </a:extLst>
          </p:cNvPr>
          <p:cNvPicPr>
            <a:picLocks noGrp="1" noChangeAspect="1"/>
          </p:cNvPicPr>
          <p:nvPr>
            <p:ph idx="1"/>
          </p:nvPr>
        </p:nvPicPr>
        <p:blipFill>
          <a:blip r:embed="rId2"/>
          <a:stretch>
            <a:fillRect/>
          </a:stretch>
        </p:blipFill>
        <p:spPr>
          <a:xfrm>
            <a:off x="1" y="1631"/>
            <a:ext cx="12191998" cy="6863514"/>
          </a:xfrm>
        </p:spPr>
      </p:pic>
    </p:spTree>
    <p:extLst>
      <p:ext uri="{BB962C8B-B14F-4D97-AF65-F5344CB8AC3E}">
        <p14:creationId xmlns:p14="http://schemas.microsoft.com/office/powerpoint/2010/main" val="9304486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3CA22-840B-EB37-301F-454A797937E3}"/>
              </a:ext>
            </a:extLst>
          </p:cNvPr>
          <p:cNvSpPr>
            <a:spLocks noGrp="1"/>
          </p:cNvSpPr>
          <p:nvPr>
            <p:ph type="title"/>
          </p:nvPr>
        </p:nvSpPr>
        <p:spPr/>
        <p:txBody>
          <a:bodyPr/>
          <a:lstStyle/>
          <a:p>
            <a:endParaRPr lang="en-US"/>
          </a:p>
        </p:txBody>
      </p:sp>
      <p:pic>
        <p:nvPicPr>
          <p:cNvPr id="4" name="Content Placeholder 3" descr="A screenshot of a computer&#10;&#10;Description automatically generated">
            <a:extLst>
              <a:ext uri="{FF2B5EF4-FFF2-40B4-BE49-F238E27FC236}">
                <a16:creationId xmlns:a16="http://schemas.microsoft.com/office/drawing/2014/main" id="{6CAAA591-8BE5-5709-3E64-E5F396961055}"/>
              </a:ext>
            </a:extLst>
          </p:cNvPr>
          <p:cNvPicPr>
            <a:picLocks noGrp="1" noChangeAspect="1"/>
          </p:cNvPicPr>
          <p:nvPr>
            <p:ph idx="1"/>
          </p:nvPr>
        </p:nvPicPr>
        <p:blipFill>
          <a:blip r:embed="rId2"/>
          <a:stretch>
            <a:fillRect/>
          </a:stretch>
        </p:blipFill>
        <p:spPr>
          <a:xfrm>
            <a:off x="0" y="116650"/>
            <a:ext cx="12192000" cy="6748496"/>
          </a:xfrm>
        </p:spPr>
      </p:pic>
    </p:spTree>
    <p:extLst>
      <p:ext uri="{BB962C8B-B14F-4D97-AF65-F5344CB8AC3E}">
        <p14:creationId xmlns:p14="http://schemas.microsoft.com/office/powerpoint/2010/main" val="39668897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AEA25-C8F3-0275-120B-D4B656F0D5FB}"/>
              </a:ext>
            </a:extLst>
          </p:cNvPr>
          <p:cNvSpPr>
            <a:spLocks noGrp="1"/>
          </p:cNvSpPr>
          <p:nvPr>
            <p:ph type="title"/>
          </p:nvPr>
        </p:nvSpPr>
        <p:spPr/>
        <p:txBody>
          <a:bodyPr/>
          <a:lstStyle/>
          <a:p>
            <a:endParaRPr lang="en-US"/>
          </a:p>
        </p:txBody>
      </p:sp>
      <p:pic>
        <p:nvPicPr>
          <p:cNvPr id="7" name="Content Placeholder 6" descr="A screenshot of a computer&#10;&#10;Description automatically generated">
            <a:extLst>
              <a:ext uri="{FF2B5EF4-FFF2-40B4-BE49-F238E27FC236}">
                <a16:creationId xmlns:a16="http://schemas.microsoft.com/office/drawing/2014/main" id="{5AF78B11-EE4F-F4A1-6941-3276F13343E9}"/>
              </a:ext>
            </a:extLst>
          </p:cNvPr>
          <p:cNvPicPr>
            <a:picLocks noGrp="1" noChangeAspect="1"/>
          </p:cNvPicPr>
          <p:nvPr>
            <p:ph idx="1"/>
          </p:nvPr>
        </p:nvPicPr>
        <p:blipFill>
          <a:blip r:embed="rId2"/>
          <a:stretch>
            <a:fillRect/>
          </a:stretch>
        </p:blipFill>
        <p:spPr>
          <a:xfrm>
            <a:off x="1" y="16009"/>
            <a:ext cx="12191998" cy="6849136"/>
          </a:xfrm>
        </p:spPr>
      </p:pic>
    </p:spTree>
    <p:extLst>
      <p:ext uri="{BB962C8B-B14F-4D97-AF65-F5344CB8AC3E}">
        <p14:creationId xmlns:p14="http://schemas.microsoft.com/office/powerpoint/2010/main" val="8935257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28B30-5243-BD27-5414-6B1BFDA248A5}"/>
              </a:ext>
            </a:extLst>
          </p:cNvPr>
          <p:cNvSpPr>
            <a:spLocks noGrp="1"/>
          </p:cNvSpPr>
          <p:nvPr>
            <p:ph type="title"/>
          </p:nvPr>
        </p:nvSpPr>
        <p:spPr/>
        <p:txBody>
          <a:bodyPr/>
          <a:lstStyle/>
          <a:p>
            <a:endParaRPr lang="en-US"/>
          </a:p>
        </p:txBody>
      </p:sp>
      <p:pic>
        <p:nvPicPr>
          <p:cNvPr id="4" name="Content Placeholder 3" descr="A screenshot of a computer&#10;&#10;Description automatically generated">
            <a:extLst>
              <a:ext uri="{FF2B5EF4-FFF2-40B4-BE49-F238E27FC236}">
                <a16:creationId xmlns:a16="http://schemas.microsoft.com/office/drawing/2014/main" id="{7725C073-7CD6-B37A-0D03-F215B905B3DF}"/>
              </a:ext>
            </a:extLst>
          </p:cNvPr>
          <p:cNvPicPr>
            <a:picLocks noGrp="1" noChangeAspect="1"/>
          </p:cNvPicPr>
          <p:nvPr>
            <p:ph idx="1"/>
          </p:nvPr>
        </p:nvPicPr>
        <p:blipFill>
          <a:blip r:embed="rId2"/>
          <a:stretch>
            <a:fillRect/>
          </a:stretch>
        </p:blipFill>
        <p:spPr>
          <a:xfrm>
            <a:off x="115019" y="202915"/>
            <a:ext cx="12076981" cy="6662231"/>
          </a:xfrm>
        </p:spPr>
      </p:pic>
    </p:spTree>
    <p:extLst>
      <p:ext uri="{BB962C8B-B14F-4D97-AF65-F5344CB8AC3E}">
        <p14:creationId xmlns:p14="http://schemas.microsoft.com/office/powerpoint/2010/main" val="19740135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0B18D-4878-E02A-25C5-B4192A82A213}"/>
              </a:ext>
            </a:extLst>
          </p:cNvPr>
          <p:cNvSpPr>
            <a:spLocks noGrp="1"/>
          </p:cNvSpPr>
          <p:nvPr>
            <p:ph type="title"/>
          </p:nvPr>
        </p:nvSpPr>
        <p:spPr/>
        <p:txBody>
          <a:bodyPr/>
          <a:lstStyle/>
          <a:p>
            <a:endParaRPr lang="en-US"/>
          </a:p>
        </p:txBody>
      </p:sp>
      <p:pic>
        <p:nvPicPr>
          <p:cNvPr id="4" name="Content Placeholder 3" descr="A screenshot of a computer&#10;&#10;Description automatically generated">
            <a:extLst>
              <a:ext uri="{FF2B5EF4-FFF2-40B4-BE49-F238E27FC236}">
                <a16:creationId xmlns:a16="http://schemas.microsoft.com/office/drawing/2014/main" id="{B2B9CE3D-849D-9D25-2589-5B1A7CC42122}"/>
              </a:ext>
            </a:extLst>
          </p:cNvPr>
          <p:cNvPicPr>
            <a:picLocks noGrp="1" noChangeAspect="1"/>
          </p:cNvPicPr>
          <p:nvPr>
            <p:ph idx="1"/>
          </p:nvPr>
        </p:nvPicPr>
        <p:blipFill>
          <a:blip r:embed="rId2"/>
          <a:stretch>
            <a:fillRect/>
          </a:stretch>
        </p:blipFill>
        <p:spPr>
          <a:xfrm>
            <a:off x="14378" y="217291"/>
            <a:ext cx="12177621" cy="6489703"/>
          </a:xfrm>
        </p:spPr>
      </p:pic>
    </p:spTree>
    <p:extLst>
      <p:ext uri="{BB962C8B-B14F-4D97-AF65-F5344CB8AC3E}">
        <p14:creationId xmlns:p14="http://schemas.microsoft.com/office/powerpoint/2010/main" val="29004471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CBF59-2410-DD26-EDC0-2145861AFD3D}"/>
              </a:ext>
            </a:extLst>
          </p:cNvPr>
          <p:cNvSpPr>
            <a:spLocks noGrp="1"/>
          </p:cNvSpPr>
          <p:nvPr>
            <p:ph type="title"/>
          </p:nvPr>
        </p:nvSpPr>
        <p:spPr/>
        <p:txBody>
          <a:bodyPr/>
          <a:lstStyle/>
          <a:p>
            <a:endParaRPr lang="en-US"/>
          </a:p>
        </p:txBody>
      </p:sp>
      <p:pic>
        <p:nvPicPr>
          <p:cNvPr id="4" name="Content Placeholder 3" descr="A screenshot of a computer&#10;&#10;Description automatically generated">
            <a:extLst>
              <a:ext uri="{FF2B5EF4-FFF2-40B4-BE49-F238E27FC236}">
                <a16:creationId xmlns:a16="http://schemas.microsoft.com/office/drawing/2014/main" id="{7F9FBEE6-C6C1-6030-3B1B-33DAC1479B4C}"/>
              </a:ext>
            </a:extLst>
          </p:cNvPr>
          <p:cNvPicPr>
            <a:picLocks noGrp="1" noChangeAspect="1"/>
          </p:cNvPicPr>
          <p:nvPr>
            <p:ph idx="1"/>
          </p:nvPr>
        </p:nvPicPr>
        <p:blipFill>
          <a:blip r:embed="rId2"/>
          <a:stretch>
            <a:fillRect/>
          </a:stretch>
        </p:blipFill>
        <p:spPr>
          <a:xfrm>
            <a:off x="143775" y="361066"/>
            <a:ext cx="12048225" cy="6489703"/>
          </a:xfrm>
        </p:spPr>
      </p:pic>
    </p:spTree>
    <p:extLst>
      <p:ext uri="{BB962C8B-B14F-4D97-AF65-F5344CB8AC3E}">
        <p14:creationId xmlns:p14="http://schemas.microsoft.com/office/powerpoint/2010/main" val="16983428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09129-4F17-FAF2-E944-A5B5FEF95C36}"/>
              </a:ext>
            </a:extLst>
          </p:cNvPr>
          <p:cNvSpPr>
            <a:spLocks noGrp="1"/>
          </p:cNvSpPr>
          <p:nvPr>
            <p:ph type="title"/>
          </p:nvPr>
        </p:nvSpPr>
        <p:spPr/>
        <p:txBody>
          <a:bodyPr/>
          <a:lstStyle/>
          <a:p>
            <a:endParaRPr lang="en-US"/>
          </a:p>
        </p:txBody>
      </p:sp>
      <p:pic>
        <p:nvPicPr>
          <p:cNvPr id="4" name="Content Placeholder 3" descr="A screenshot of a computer program&#10;&#10;Description automatically generated">
            <a:extLst>
              <a:ext uri="{FF2B5EF4-FFF2-40B4-BE49-F238E27FC236}">
                <a16:creationId xmlns:a16="http://schemas.microsoft.com/office/drawing/2014/main" id="{DE1DE354-35B1-8196-6411-7FEFF9F603F0}"/>
              </a:ext>
            </a:extLst>
          </p:cNvPr>
          <p:cNvPicPr>
            <a:picLocks noGrp="1" noChangeAspect="1"/>
          </p:cNvPicPr>
          <p:nvPr>
            <p:ph idx="1"/>
          </p:nvPr>
        </p:nvPicPr>
        <p:blipFill>
          <a:blip r:embed="rId2"/>
          <a:stretch>
            <a:fillRect/>
          </a:stretch>
        </p:blipFill>
        <p:spPr>
          <a:xfrm>
            <a:off x="0" y="1630"/>
            <a:ext cx="12177621" cy="6863514"/>
          </a:xfrm>
        </p:spPr>
      </p:pic>
    </p:spTree>
    <p:extLst>
      <p:ext uri="{BB962C8B-B14F-4D97-AF65-F5344CB8AC3E}">
        <p14:creationId xmlns:p14="http://schemas.microsoft.com/office/powerpoint/2010/main" val="32767294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979A71-5A7A-150E-FC20-C75F6A1F58FF}"/>
              </a:ext>
            </a:extLst>
          </p:cNvPr>
          <p:cNvSpPr>
            <a:spLocks noGrp="1"/>
          </p:cNvSpPr>
          <p:nvPr>
            <p:ph idx="1"/>
          </p:nvPr>
        </p:nvSpPr>
        <p:spPr>
          <a:xfrm>
            <a:off x="838200" y="357655"/>
            <a:ext cx="10515600" cy="5819308"/>
          </a:xfrm>
        </p:spPr>
        <p:txBody>
          <a:bodyPr vert="horz" lIns="91440" tIns="45720" rIns="91440" bIns="45720" rtlCol="0" anchor="t">
            <a:noAutofit/>
          </a:bodyPr>
          <a:lstStyle/>
          <a:p>
            <a:pPr>
              <a:buNone/>
            </a:pPr>
            <a:r>
              <a:rPr lang="en-US" sz="1800" b="1" dirty="0">
                <a:latin typeface="Consolas"/>
              </a:rPr>
              <a:t>  package </a:t>
            </a:r>
            <a:r>
              <a:rPr lang="en-US" sz="1800" b="1" dirty="0" err="1">
                <a:latin typeface="Consolas"/>
              </a:rPr>
              <a:t>org.example</a:t>
            </a:r>
            <a:r>
              <a:rPr lang="en-US" sz="1800" b="1" dirty="0">
                <a:latin typeface="Consolas"/>
              </a:rPr>
              <a:t>;</a:t>
            </a:r>
            <a:br>
              <a:rPr lang="en-US" sz="1800" b="1" dirty="0">
                <a:latin typeface="Consolas"/>
              </a:rPr>
            </a:br>
            <a:r>
              <a:rPr lang="en-US" sz="1800" b="1" dirty="0">
                <a:latin typeface="Consolas"/>
              </a:rPr>
              <a:t>import </a:t>
            </a:r>
            <a:r>
              <a:rPr lang="en-US" sz="1800" b="1" dirty="0" err="1">
                <a:latin typeface="Consolas"/>
              </a:rPr>
              <a:t>java.sql</a:t>
            </a:r>
            <a:r>
              <a:rPr lang="en-US" sz="1800" b="1" dirty="0">
                <a:latin typeface="Consolas"/>
              </a:rPr>
              <a:t>.*;</a:t>
            </a:r>
            <a:br>
              <a:rPr lang="en-US" sz="1800" b="1" dirty="0">
                <a:latin typeface="Consolas"/>
              </a:rPr>
            </a:br>
            <a:r>
              <a:rPr lang="en-US" sz="1800" b="1" dirty="0">
                <a:latin typeface="Consolas"/>
              </a:rPr>
              <a:t>public class Main {</a:t>
            </a:r>
            <a:br>
              <a:rPr lang="en-US" sz="1800" b="1" dirty="0">
                <a:latin typeface="Consolas"/>
              </a:rPr>
            </a:br>
            <a:r>
              <a:rPr lang="en-US" sz="1800" b="1" dirty="0">
                <a:latin typeface="Consolas"/>
              </a:rPr>
              <a:t>    public static void main(String[] </a:t>
            </a:r>
            <a:r>
              <a:rPr lang="en-US" sz="1800" b="1" dirty="0" err="1">
                <a:latin typeface="Consolas"/>
              </a:rPr>
              <a:t>args</a:t>
            </a:r>
            <a:r>
              <a:rPr lang="en-US" sz="1800" b="1" dirty="0">
                <a:latin typeface="Consolas"/>
              </a:rPr>
              <a:t>) {</a:t>
            </a:r>
            <a:br>
              <a:rPr lang="en-US" sz="1800" b="1" dirty="0">
                <a:latin typeface="Consolas"/>
              </a:rPr>
            </a:br>
            <a:r>
              <a:rPr lang="en-US" sz="1800" b="1" dirty="0">
                <a:latin typeface="Consolas"/>
              </a:rPr>
              <a:t>        try</a:t>
            </a:r>
            <a:br>
              <a:rPr lang="en-US" sz="1800" b="1" dirty="0">
                <a:latin typeface="Consolas"/>
              </a:rPr>
            </a:br>
            <a:r>
              <a:rPr lang="en-US" sz="1800" b="1" dirty="0">
                <a:latin typeface="Consolas"/>
              </a:rPr>
              <a:t>        {</a:t>
            </a:r>
            <a:br>
              <a:rPr lang="en-US" sz="1800" b="1" dirty="0">
                <a:latin typeface="Consolas"/>
              </a:rPr>
            </a:br>
            <a:r>
              <a:rPr lang="en-US" sz="1800" b="1" dirty="0">
                <a:latin typeface="Consolas"/>
              </a:rPr>
              <a:t>        </a:t>
            </a:r>
            <a:r>
              <a:rPr lang="en-US" sz="1800" b="1" dirty="0" err="1">
                <a:latin typeface="Consolas"/>
              </a:rPr>
              <a:t>Class.</a:t>
            </a:r>
            <a:r>
              <a:rPr lang="en-US" sz="1800" b="1" i="1" dirty="0" err="1">
                <a:latin typeface="Consolas"/>
              </a:rPr>
              <a:t>forName</a:t>
            </a:r>
            <a:r>
              <a:rPr lang="en-US" sz="1800" b="1" dirty="0">
                <a:latin typeface="Consolas"/>
              </a:rPr>
              <a:t>("</a:t>
            </a:r>
            <a:r>
              <a:rPr lang="en-US" sz="1800" b="1" dirty="0" err="1">
                <a:latin typeface="Consolas"/>
              </a:rPr>
              <a:t>com.mysql.cj.jdbc.Driver</a:t>
            </a:r>
            <a:r>
              <a:rPr lang="en-US" sz="1800" b="1" dirty="0">
                <a:latin typeface="Consolas"/>
              </a:rPr>
              <a:t>");</a:t>
            </a:r>
            <a:br>
              <a:rPr lang="en-US" sz="1800" b="1" dirty="0">
                <a:latin typeface="Consolas"/>
              </a:rPr>
            </a:br>
            <a:r>
              <a:rPr lang="en-US" sz="1800" b="1" dirty="0">
                <a:latin typeface="Consolas"/>
              </a:rPr>
              <a:t>        String </a:t>
            </a:r>
            <a:r>
              <a:rPr lang="en-US" sz="1800" b="1" dirty="0" err="1">
                <a:latin typeface="Consolas"/>
              </a:rPr>
              <a:t>url</a:t>
            </a:r>
            <a:r>
              <a:rPr lang="en-US" sz="1800" b="1" dirty="0">
                <a:latin typeface="Consolas"/>
              </a:rPr>
              <a:t> = "</a:t>
            </a:r>
            <a:r>
              <a:rPr lang="en-US" sz="1800" b="1" dirty="0" err="1">
                <a:latin typeface="Consolas"/>
              </a:rPr>
              <a:t>jdbc:mysql</a:t>
            </a:r>
            <a:r>
              <a:rPr lang="en-US" sz="1800" b="1" dirty="0">
                <a:latin typeface="Consolas"/>
              </a:rPr>
              <a:t>://localhost:3306";</a:t>
            </a:r>
            <a:br>
              <a:rPr lang="en-US" sz="1800" b="1" dirty="0">
                <a:latin typeface="Consolas"/>
              </a:rPr>
            </a:br>
            <a:r>
              <a:rPr lang="en-US" sz="1800" b="1" dirty="0">
                <a:latin typeface="Consolas"/>
              </a:rPr>
              <a:t>        String username = "root";</a:t>
            </a:r>
            <a:br>
              <a:rPr lang="en-US" sz="1800" b="1" dirty="0">
                <a:latin typeface="Consolas"/>
              </a:rPr>
            </a:br>
            <a:r>
              <a:rPr lang="en-US" sz="1800" b="1" dirty="0">
                <a:latin typeface="Consolas"/>
              </a:rPr>
              <a:t>        String password = "root";</a:t>
            </a:r>
            <a:br>
              <a:rPr lang="en-US" sz="1800" b="1" dirty="0">
                <a:latin typeface="Consolas"/>
              </a:rPr>
            </a:br>
            <a:r>
              <a:rPr lang="en-US" sz="1800" b="1" dirty="0">
                <a:latin typeface="Consolas"/>
              </a:rPr>
              <a:t>        Connection con  = </a:t>
            </a:r>
            <a:r>
              <a:rPr lang="en-US" sz="1800" b="1" dirty="0" err="1">
                <a:latin typeface="Consolas"/>
              </a:rPr>
              <a:t>DriverManager.</a:t>
            </a:r>
            <a:r>
              <a:rPr lang="en-US" sz="1800" b="1" i="1" dirty="0" err="1">
                <a:latin typeface="Consolas"/>
              </a:rPr>
              <a:t>getConnection</a:t>
            </a:r>
            <a:r>
              <a:rPr lang="en-US" sz="1800" b="1" dirty="0">
                <a:latin typeface="Consolas"/>
              </a:rPr>
              <a:t>(</a:t>
            </a:r>
            <a:r>
              <a:rPr lang="en-US" sz="1800" b="1" dirty="0" err="1">
                <a:latin typeface="Consolas"/>
              </a:rPr>
              <a:t>url</a:t>
            </a:r>
            <a:r>
              <a:rPr lang="en-US" sz="1800" b="1" dirty="0">
                <a:latin typeface="Consolas"/>
              </a:rPr>
              <a:t>, username, password);</a:t>
            </a:r>
            <a:br>
              <a:rPr lang="en-US" sz="1800" b="1" dirty="0">
                <a:latin typeface="Consolas"/>
              </a:rPr>
            </a:br>
            <a:r>
              <a:rPr lang="en-US" sz="1800" b="1" dirty="0">
                <a:latin typeface="Consolas"/>
              </a:rPr>
              <a:t>        String q = "create database GFG1";</a:t>
            </a:r>
            <a:br>
              <a:rPr lang="en-US" sz="1800" b="1" dirty="0">
                <a:latin typeface="Consolas"/>
              </a:rPr>
            </a:br>
            <a:r>
              <a:rPr lang="en-US" sz="1800" b="1" dirty="0">
                <a:latin typeface="Consolas"/>
              </a:rPr>
              <a:t>        Statement </a:t>
            </a:r>
            <a:r>
              <a:rPr lang="en-US" sz="1800" b="1" dirty="0" err="1">
                <a:latin typeface="Consolas"/>
              </a:rPr>
              <a:t>stmt</a:t>
            </a:r>
            <a:r>
              <a:rPr lang="en-US" sz="1800" b="1" dirty="0">
                <a:latin typeface="Consolas"/>
              </a:rPr>
              <a:t> = </a:t>
            </a:r>
            <a:r>
              <a:rPr lang="en-US" sz="1800" b="1" dirty="0" err="1">
                <a:latin typeface="Consolas"/>
              </a:rPr>
              <a:t>con.createStatement</a:t>
            </a:r>
            <a:r>
              <a:rPr lang="en-US" sz="1800" b="1" dirty="0">
                <a:latin typeface="Consolas"/>
              </a:rPr>
              <a:t>();</a:t>
            </a:r>
            <a:br>
              <a:rPr lang="en-US" sz="1800" b="1" dirty="0">
                <a:latin typeface="Consolas"/>
              </a:rPr>
            </a:br>
            <a:r>
              <a:rPr lang="en-US" sz="1800" b="1" dirty="0">
                <a:latin typeface="Consolas"/>
              </a:rPr>
              <a:t>        </a:t>
            </a:r>
            <a:r>
              <a:rPr lang="en-US" sz="1800" b="1" dirty="0" err="1">
                <a:latin typeface="Consolas"/>
              </a:rPr>
              <a:t>stmt.executeUpdate</a:t>
            </a:r>
            <a:r>
              <a:rPr lang="en-US" sz="1800" b="1" dirty="0">
                <a:latin typeface="Consolas"/>
              </a:rPr>
              <a:t>(q);</a:t>
            </a:r>
            <a:br>
              <a:rPr lang="en-US" sz="1800" b="1" dirty="0">
                <a:latin typeface="Consolas"/>
              </a:rPr>
            </a:br>
            <a:r>
              <a:rPr lang="en-US" sz="1800" b="1" dirty="0">
                <a:latin typeface="Consolas"/>
              </a:rPr>
              <a:t>        </a:t>
            </a:r>
            <a:r>
              <a:rPr lang="en-US" sz="1800" b="1" dirty="0" err="1">
                <a:latin typeface="Consolas"/>
              </a:rPr>
              <a:t>System.</a:t>
            </a:r>
            <a:r>
              <a:rPr lang="en-US" sz="1800" b="1" i="1" dirty="0" err="1">
                <a:latin typeface="Consolas"/>
              </a:rPr>
              <a:t>out</a:t>
            </a:r>
            <a:r>
              <a:rPr lang="en-US" sz="1800" b="1" dirty="0" err="1">
                <a:latin typeface="Consolas"/>
              </a:rPr>
              <a:t>.println</a:t>
            </a:r>
            <a:r>
              <a:rPr lang="en-US" sz="1800" b="1" dirty="0">
                <a:latin typeface="Consolas"/>
              </a:rPr>
              <a:t>("database created");</a:t>
            </a:r>
            <a:br>
              <a:rPr lang="en-US" sz="1800" b="1" dirty="0">
                <a:latin typeface="Consolas"/>
              </a:rPr>
            </a:br>
            <a:r>
              <a:rPr lang="en-US" sz="1800" b="1" dirty="0">
                <a:latin typeface="Consolas"/>
              </a:rPr>
              <a:t>        </a:t>
            </a:r>
            <a:r>
              <a:rPr lang="en-US" sz="1800" b="1" dirty="0" err="1">
                <a:latin typeface="Consolas"/>
              </a:rPr>
              <a:t>con.close</a:t>
            </a:r>
            <a:r>
              <a:rPr lang="en-US" sz="1800" b="1" dirty="0">
                <a:latin typeface="Consolas"/>
              </a:rPr>
              <a:t>();</a:t>
            </a:r>
            <a:br>
              <a:rPr lang="en-US" sz="1800" b="1" dirty="0">
                <a:latin typeface="Consolas"/>
              </a:rPr>
            </a:br>
            <a:r>
              <a:rPr lang="en-US" sz="1800" b="1" dirty="0">
                <a:latin typeface="Consolas"/>
              </a:rPr>
              <a:t>        }</a:t>
            </a:r>
            <a:br>
              <a:rPr lang="en-US" sz="1800" b="1" dirty="0">
                <a:latin typeface="Consolas"/>
              </a:rPr>
            </a:br>
            <a:r>
              <a:rPr lang="en-US" sz="1800" b="1" dirty="0">
                <a:latin typeface="Consolas"/>
              </a:rPr>
              <a:t>        catch(Exception e)</a:t>
            </a:r>
            <a:br>
              <a:rPr lang="en-US" sz="1800" b="1" dirty="0">
                <a:latin typeface="Consolas"/>
              </a:rPr>
            </a:br>
            <a:r>
              <a:rPr lang="en-US" sz="1800" b="1" dirty="0">
                <a:latin typeface="Consolas"/>
              </a:rPr>
              <a:t>        {</a:t>
            </a:r>
            <a:br>
              <a:rPr lang="en-US" sz="1800" b="1" dirty="0">
                <a:latin typeface="Consolas"/>
              </a:rPr>
            </a:br>
            <a:r>
              <a:rPr lang="en-US" sz="1800" b="1" dirty="0">
                <a:latin typeface="Consolas"/>
              </a:rPr>
              <a:t>            </a:t>
            </a:r>
            <a:r>
              <a:rPr lang="en-US" sz="1800" b="1" dirty="0" err="1">
                <a:latin typeface="Consolas"/>
              </a:rPr>
              <a:t>e.printStackTrace</a:t>
            </a:r>
            <a:r>
              <a:rPr lang="en-US" sz="1800" b="1" dirty="0">
                <a:latin typeface="Consolas"/>
              </a:rPr>
              <a:t>();</a:t>
            </a:r>
            <a:br>
              <a:rPr lang="en-US" sz="1800" b="1" dirty="0">
                <a:latin typeface="Consolas"/>
              </a:rPr>
            </a:br>
            <a:r>
              <a:rPr lang="en-US" sz="1800" b="1" dirty="0">
                <a:latin typeface="Consolas"/>
              </a:rPr>
              <a:t>        }</a:t>
            </a:r>
            <a:br>
              <a:rPr lang="en-US" sz="1800" b="1" dirty="0">
                <a:latin typeface="Consolas"/>
              </a:rPr>
            </a:br>
            <a:r>
              <a:rPr lang="en-US" sz="1800" b="1" dirty="0">
                <a:latin typeface="Consolas"/>
              </a:rPr>
              <a:t/>
            </a:r>
            <a:br>
              <a:rPr lang="en-US" sz="1800" b="1" dirty="0">
                <a:latin typeface="Consolas"/>
              </a:rPr>
            </a:br>
            <a:r>
              <a:rPr lang="en-US" sz="1800" b="1" dirty="0">
                <a:latin typeface="Consolas"/>
              </a:rPr>
              <a:t>    }</a:t>
            </a:r>
            <a:br>
              <a:rPr lang="en-US" sz="1800" b="1" dirty="0">
                <a:latin typeface="Consolas"/>
              </a:rPr>
            </a:br>
            <a:r>
              <a:rPr lang="en-US" sz="1800" b="1" dirty="0">
                <a:latin typeface="Consolas"/>
              </a:rPr>
              <a:t>}</a:t>
            </a:r>
            <a:endParaRPr lang="en-US" sz="1800" b="1" dirty="0"/>
          </a:p>
        </p:txBody>
      </p:sp>
    </p:spTree>
    <p:extLst>
      <p:ext uri="{BB962C8B-B14F-4D97-AF65-F5344CB8AC3E}">
        <p14:creationId xmlns:p14="http://schemas.microsoft.com/office/powerpoint/2010/main" val="14191992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98AB83-19F1-8B24-CCE8-791AA0F58FF5}"/>
              </a:ext>
            </a:extLst>
          </p:cNvPr>
          <p:cNvSpPr>
            <a:spLocks noGrp="1"/>
          </p:cNvSpPr>
          <p:nvPr>
            <p:ph idx="1"/>
          </p:nvPr>
        </p:nvSpPr>
        <p:spPr>
          <a:xfrm>
            <a:off x="838200" y="362102"/>
            <a:ext cx="10515600" cy="5814861"/>
          </a:xfrm>
        </p:spPr>
        <p:txBody>
          <a:bodyPr vert="horz" lIns="91440" tIns="45720" rIns="91440" bIns="45720" rtlCol="0" anchor="t">
            <a:noAutofit/>
          </a:bodyPr>
          <a:lstStyle/>
          <a:p>
            <a:r>
              <a:rPr lang="en-US" sz="1800" b="1">
                <a:latin typeface="Consolas"/>
              </a:rPr>
              <a:t>&lt;?xml version="1.0" encoding="UTF-8"?&gt;</a:t>
            </a:r>
            <a:br>
              <a:rPr lang="en-US" sz="1800" b="1">
                <a:latin typeface="Consolas"/>
              </a:rPr>
            </a:br>
            <a:r>
              <a:rPr lang="en-US" sz="1800" b="1">
                <a:latin typeface="Consolas"/>
              </a:rPr>
              <a:t>&lt;project </a:t>
            </a:r>
            <a:r>
              <a:rPr lang="en-US" sz="1800" b="1" err="1">
                <a:latin typeface="Consolas"/>
              </a:rPr>
              <a:t>xmlns</a:t>
            </a:r>
            <a:r>
              <a:rPr lang="en-US" sz="1800" b="1">
                <a:latin typeface="Consolas"/>
              </a:rPr>
              <a:t>="http://maven.apache.org/POM/4.0.0"</a:t>
            </a:r>
            <a:br>
              <a:rPr lang="en-US" sz="1800" b="1">
                <a:latin typeface="Consolas"/>
              </a:rPr>
            </a:br>
            <a:r>
              <a:rPr lang="en-US" sz="1800" b="1">
                <a:latin typeface="Consolas"/>
              </a:rPr>
              <a:t>         </a:t>
            </a:r>
            <a:r>
              <a:rPr lang="en-US" sz="1800" b="1" err="1">
                <a:latin typeface="Consolas"/>
              </a:rPr>
              <a:t>xmlns:xsi</a:t>
            </a:r>
            <a:r>
              <a:rPr lang="en-US" sz="1800" b="1">
                <a:latin typeface="Consolas"/>
              </a:rPr>
              <a:t>="http://www.w3.org/2001/XMLSchema-instance"</a:t>
            </a:r>
            <a:br>
              <a:rPr lang="en-US" sz="1800" b="1">
                <a:latin typeface="Consolas"/>
              </a:rPr>
            </a:br>
            <a:r>
              <a:rPr lang="en-US" sz="1800" b="1">
                <a:latin typeface="Consolas"/>
              </a:rPr>
              <a:t>         </a:t>
            </a:r>
            <a:r>
              <a:rPr lang="en-US" sz="1800" b="1" err="1">
                <a:latin typeface="Consolas"/>
              </a:rPr>
              <a:t>xsi:schemaLocation</a:t>
            </a:r>
            <a:r>
              <a:rPr lang="en-US" sz="1800" b="1">
                <a:latin typeface="Consolas"/>
              </a:rPr>
              <a:t>="http://maven.apache.org/POM/4.0.0 </a:t>
            </a:r>
            <a:r>
              <a:rPr lang="en-US" sz="1800" b="1">
                <a:latin typeface="Consolas"/>
                <a:hlinkClick r:id="rId2">
                  <a:extLst>
                    <a:ext uri="{A12FA001-AC4F-418D-AE19-62706E023703}">
                      <ahyp:hlinkClr xmlns:ahyp="http://schemas.microsoft.com/office/drawing/2018/hyperlinkcolor" xmlns="" val="tx"/>
                    </a:ext>
                  </a:extLst>
                </a:hlinkClick>
              </a:rPr>
              <a:t>http://maven.apache.org/xsd/maven-4.0.0.xsd</a:t>
            </a:r>
            <a:r>
              <a:rPr lang="en-US" sz="1800" b="1">
                <a:latin typeface="Consolas"/>
              </a:rPr>
              <a:t>"&gt;</a:t>
            </a:r>
            <a:br>
              <a:rPr lang="en-US" sz="1800" b="1">
                <a:latin typeface="Consolas"/>
              </a:rPr>
            </a:br>
            <a:r>
              <a:rPr lang="en-US" sz="1800" b="1">
                <a:latin typeface="Consolas"/>
              </a:rPr>
              <a:t>    &lt;</a:t>
            </a:r>
            <a:r>
              <a:rPr lang="en-US" sz="1800" b="1" err="1">
                <a:latin typeface="Consolas"/>
              </a:rPr>
              <a:t>modelVersion</a:t>
            </a:r>
            <a:r>
              <a:rPr lang="en-US" sz="1800" b="1">
                <a:latin typeface="Consolas"/>
              </a:rPr>
              <a:t>&gt;4.0.0&lt;/</a:t>
            </a:r>
            <a:r>
              <a:rPr lang="en-US" sz="1800" b="1" err="1">
                <a:latin typeface="Consolas"/>
              </a:rPr>
              <a:t>modelVersion</a:t>
            </a:r>
            <a:r>
              <a:rPr lang="en-US" sz="1800" b="1">
                <a:latin typeface="Consolas"/>
              </a:rPr>
              <a:t>&gt;</a:t>
            </a:r>
            <a:br>
              <a:rPr lang="en-US" sz="1800" b="1">
                <a:latin typeface="Consolas"/>
              </a:rPr>
            </a:br>
            <a:r>
              <a:rPr lang="en-US" sz="1800" b="1">
                <a:latin typeface="Consolas"/>
              </a:rPr>
              <a:t>    &lt;</a:t>
            </a:r>
            <a:r>
              <a:rPr lang="en-US" sz="1800" b="1" err="1">
                <a:latin typeface="Consolas"/>
              </a:rPr>
              <a:t>groupId</a:t>
            </a:r>
            <a:r>
              <a:rPr lang="en-US" sz="1800" b="1">
                <a:latin typeface="Consolas"/>
              </a:rPr>
              <a:t>&gt;</a:t>
            </a:r>
            <a:r>
              <a:rPr lang="en-US" sz="1800" b="1" err="1">
                <a:latin typeface="Consolas"/>
              </a:rPr>
              <a:t>org.example</a:t>
            </a:r>
            <a:r>
              <a:rPr lang="en-US" sz="1800" b="1">
                <a:latin typeface="Consolas"/>
              </a:rPr>
              <a:t>&lt;/</a:t>
            </a:r>
            <a:r>
              <a:rPr lang="en-US" sz="1800" b="1" err="1">
                <a:latin typeface="Consolas"/>
              </a:rPr>
              <a:t>groupId</a:t>
            </a:r>
            <a:r>
              <a:rPr lang="en-US" sz="1800" b="1">
                <a:latin typeface="Consolas"/>
              </a:rPr>
              <a:t>&gt;</a:t>
            </a:r>
            <a:br>
              <a:rPr lang="en-US" sz="1800" b="1">
                <a:latin typeface="Consolas"/>
              </a:rPr>
            </a:br>
            <a:r>
              <a:rPr lang="en-US" sz="1800" b="1">
                <a:latin typeface="Consolas"/>
              </a:rPr>
              <a:t>    &lt;</a:t>
            </a:r>
            <a:r>
              <a:rPr lang="en-US" sz="1800" b="1" err="1">
                <a:latin typeface="Consolas"/>
              </a:rPr>
              <a:t>artifactId</a:t>
            </a:r>
            <a:r>
              <a:rPr lang="en-US" sz="1800" b="1">
                <a:latin typeface="Consolas"/>
              </a:rPr>
              <a:t>&gt;</a:t>
            </a:r>
            <a:r>
              <a:rPr lang="en-US" sz="1800" b="1" err="1">
                <a:latin typeface="Consolas"/>
              </a:rPr>
              <a:t>MavenDemo</a:t>
            </a:r>
            <a:r>
              <a:rPr lang="en-US" sz="1800" b="1">
                <a:latin typeface="Consolas"/>
              </a:rPr>
              <a:t>&lt;/</a:t>
            </a:r>
            <a:r>
              <a:rPr lang="en-US" sz="1800" b="1" err="1">
                <a:latin typeface="Consolas"/>
              </a:rPr>
              <a:t>artifactId</a:t>
            </a:r>
            <a:r>
              <a:rPr lang="en-US" sz="1800" b="1">
                <a:latin typeface="Consolas"/>
              </a:rPr>
              <a:t>&gt;</a:t>
            </a:r>
            <a:br>
              <a:rPr lang="en-US" sz="1800" b="1">
                <a:latin typeface="Consolas"/>
              </a:rPr>
            </a:br>
            <a:r>
              <a:rPr lang="en-US" sz="1800" b="1">
                <a:latin typeface="Consolas"/>
              </a:rPr>
              <a:t>    &lt;version&gt;1.0-SNAPSHOT&lt;/version&gt;</a:t>
            </a:r>
            <a:br>
              <a:rPr lang="en-US" sz="1800" b="1">
                <a:latin typeface="Consolas"/>
              </a:rPr>
            </a:br>
            <a:r>
              <a:rPr lang="en-US" sz="1800" b="1">
                <a:latin typeface="Consolas"/>
              </a:rPr>
              <a:t>    </a:t>
            </a:r>
            <a:r>
              <a:rPr lang="en-US" sz="1800" b="1">
                <a:highlight>
                  <a:srgbClr val="FFFF00"/>
                </a:highlight>
                <a:latin typeface="Consolas"/>
              </a:rPr>
              <a:t>&lt;dependencies&gt;</a:t>
            </a:r>
            <a:br>
              <a:rPr lang="en-US" sz="1800" b="1">
                <a:highlight>
                  <a:srgbClr val="FFFF00"/>
                </a:highlight>
                <a:latin typeface="Consolas"/>
              </a:rPr>
            </a:br>
            <a:r>
              <a:rPr lang="en-US" sz="1800" b="1">
                <a:highlight>
                  <a:srgbClr val="FFFF00"/>
                </a:highlight>
                <a:latin typeface="Consolas"/>
              </a:rPr>
              <a:t>        &lt;!-- </a:t>
            </a:r>
            <a:r>
              <a:rPr lang="en-US" sz="1800" b="1">
                <a:highlight>
                  <a:srgbClr val="FFFF00"/>
                </a:highlight>
                <a:latin typeface="Consolas"/>
                <a:hlinkClick r:id="rId3">
                  <a:extLst>
                    <a:ext uri="{A12FA001-AC4F-418D-AE19-62706E023703}">
                      <ahyp:hlinkClr xmlns:ahyp="http://schemas.microsoft.com/office/drawing/2018/hyperlinkcolor" xmlns="" val="tx"/>
                    </a:ext>
                  </a:extLst>
                </a:hlinkClick>
              </a:rPr>
              <a:t>https://mvnrepository.com/artifact/com.mysql/mysql-connector-j</a:t>
            </a:r>
            <a:r>
              <a:rPr lang="en-US" sz="1800" b="1">
                <a:highlight>
                  <a:srgbClr val="FFFF00"/>
                </a:highlight>
                <a:latin typeface="Consolas"/>
              </a:rPr>
              <a:t> --&gt;</a:t>
            </a:r>
            <a:br>
              <a:rPr lang="en-US" sz="1800" b="1">
                <a:highlight>
                  <a:srgbClr val="FFFF00"/>
                </a:highlight>
                <a:latin typeface="Consolas"/>
              </a:rPr>
            </a:br>
            <a:r>
              <a:rPr lang="en-US" sz="1800" b="1">
                <a:highlight>
                  <a:srgbClr val="FFFF00"/>
                </a:highlight>
                <a:latin typeface="Consolas"/>
              </a:rPr>
              <a:t>    &lt;dependency&gt;</a:t>
            </a:r>
            <a:br>
              <a:rPr lang="en-US" sz="1800" b="1">
                <a:highlight>
                  <a:srgbClr val="FFFF00"/>
                </a:highlight>
                <a:latin typeface="Consolas"/>
              </a:rPr>
            </a:br>
            <a:r>
              <a:rPr lang="en-US" sz="1800" b="1">
                <a:highlight>
                  <a:srgbClr val="FFFF00"/>
                </a:highlight>
                <a:latin typeface="Consolas"/>
              </a:rPr>
              <a:t>        &lt;</a:t>
            </a:r>
            <a:r>
              <a:rPr lang="en-US" sz="1800" b="1" err="1">
                <a:highlight>
                  <a:srgbClr val="FFFF00"/>
                </a:highlight>
                <a:latin typeface="Consolas"/>
              </a:rPr>
              <a:t>groupId</a:t>
            </a:r>
            <a:r>
              <a:rPr lang="en-US" sz="1800" b="1">
                <a:highlight>
                  <a:srgbClr val="FFFF00"/>
                </a:highlight>
                <a:latin typeface="Consolas"/>
              </a:rPr>
              <a:t>&gt;</a:t>
            </a:r>
            <a:r>
              <a:rPr lang="en-US" sz="1800" b="1" err="1">
                <a:highlight>
                  <a:srgbClr val="FFFF00"/>
                </a:highlight>
                <a:latin typeface="Consolas"/>
              </a:rPr>
              <a:t>com.mysql</a:t>
            </a:r>
            <a:r>
              <a:rPr lang="en-US" sz="1800" b="1">
                <a:highlight>
                  <a:srgbClr val="FFFF00"/>
                </a:highlight>
                <a:latin typeface="Consolas"/>
              </a:rPr>
              <a:t>&lt;/</a:t>
            </a:r>
            <a:r>
              <a:rPr lang="en-US" sz="1800" b="1" err="1">
                <a:highlight>
                  <a:srgbClr val="FFFF00"/>
                </a:highlight>
                <a:latin typeface="Consolas"/>
              </a:rPr>
              <a:t>groupId</a:t>
            </a:r>
            <a:r>
              <a:rPr lang="en-US" sz="1800" b="1">
                <a:highlight>
                  <a:srgbClr val="FFFF00"/>
                </a:highlight>
                <a:latin typeface="Consolas"/>
              </a:rPr>
              <a:t>&gt;</a:t>
            </a:r>
            <a:br>
              <a:rPr lang="en-US" sz="1800" b="1">
                <a:highlight>
                  <a:srgbClr val="FFFF00"/>
                </a:highlight>
                <a:latin typeface="Consolas"/>
              </a:rPr>
            </a:br>
            <a:r>
              <a:rPr lang="en-US" sz="1800" b="1">
                <a:highlight>
                  <a:srgbClr val="FFFF00"/>
                </a:highlight>
                <a:latin typeface="Consolas"/>
              </a:rPr>
              <a:t>        &lt;</a:t>
            </a:r>
            <a:r>
              <a:rPr lang="en-US" sz="1800" b="1" err="1">
                <a:highlight>
                  <a:srgbClr val="FFFF00"/>
                </a:highlight>
                <a:latin typeface="Consolas"/>
              </a:rPr>
              <a:t>artifactId</a:t>
            </a:r>
            <a:r>
              <a:rPr lang="en-US" sz="1800" b="1">
                <a:highlight>
                  <a:srgbClr val="FFFF00"/>
                </a:highlight>
                <a:latin typeface="Consolas"/>
              </a:rPr>
              <a:t>&gt;</a:t>
            </a:r>
            <a:r>
              <a:rPr lang="en-US" sz="1800" b="1" err="1">
                <a:highlight>
                  <a:srgbClr val="FFFF00"/>
                </a:highlight>
                <a:latin typeface="Consolas"/>
              </a:rPr>
              <a:t>mysql</a:t>
            </a:r>
            <a:r>
              <a:rPr lang="en-US" sz="1800" b="1">
                <a:highlight>
                  <a:srgbClr val="FFFF00"/>
                </a:highlight>
                <a:latin typeface="Consolas"/>
              </a:rPr>
              <a:t>-connector-j&lt;/</a:t>
            </a:r>
            <a:r>
              <a:rPr lang="en-US" sz="1800" b="1" err="1">
                <a:highlight>
                  <a:srgbClr val="FFFF00"/>
                </a:highlight>
                <a:latin typeface="Consolas"/>
              </a:rPr>
              <a:t>artifactId</a:t>
            </a:r>
            <a:r>
              <a:rPr lang="en-US" sz="1800" b="1">
                <a:highlight>
                  <a:srgbClr val="FFFF00"/>
                </a:highlight>
                <a:latin typeface="Consolas"/>
              </a:rPr>
              <a:t>&gt;</a:t>
            </a:r>
            <a:br>
              <a:rPr lang="en-US" sz="1800" b="1">
                <a:highlight>
                  <a:srgbClr val="FFFF00"/>
                </a:highlight>
                <a:latin typeface="Consolas"/>
              </a:rPr>
            </a:br>
            <a:r>
              <a:rPr lang="en-US" sz="1800" b="1">
                <a:highlight>
                  <a:srgbClr val="FFFF00"/>
                </a:highlight>
                <a:latin typeface="Consolas"/>
              </a:rPr>
              <a:t>        &lt;version&gt;8.2.0&lt;/version&gt;</a:t>
            </a:r>
            <a:br>
              <a:rPr lang="en-US" sz="1800" b="1">
                <a:highlight>
                  <a:srgbClr val="FFFF00"/>
                </a:highlight>
                <a:latin typeface="Consolas"/>
              </a:rPr>
            </a:br>
            <a:r>
              <a:rPr lang="en-US" sz="1800" b="1">
                <a:highlight>
                  <a:srgbClr val="FFFF00"/>
                </a:highlight>
                <a:latin typeface="Consolas"/>
              </a:rPr>
              <a:t>    &lt;/dependency&gt;</a:t>
            </a:r>
            <a:br>
              <a:rPr lang="en-US" sz="1800" b="1">
                <a:highlight>
                  <a:srgbClr val="FFFF00"/>
                </a:highlight>
                <a:latin typeface="Consolas"/>
              </a:rPr>
            </a:br>
            <a:r>
              <a:rPr lang="en-US" sz="1800" b="1">
                <a:highlight>
                  <a:srgbClr val="FFFF00"/>
                </a:highlight>
                <a:latin typeface="Consolas"/>
              </a:rPr>
              <a:t>    &lt;/dependencies&gt;</a:t>
            </a:r>
            <a:br>
              <a:rPr lang="en-US" sz="1800" b="1">
                <a:highlight>
                  <a:srgbClr val="FFFF00"/>
                </a:highlight>
                <a:latin typeface="Consolas"/>
              </a:rPr>
            </a:br>
            <a:r>
              <a:rPr lang="en-US" sz="1800" b="1">
                <a:latin typeface="Consolas"/>
              </a:rPr>
              <a:t>    &lt;properties&gt;</a:t>
            </a:r>
            <a:br>
              <a:rPr lang="en-US" sz="1800" b="1">
                <a:latin typeface="Consolas"/>
              </a:rPr>
            </a:br>
            <a:r>
              <a:rPr lang="en-US" sz="1800" b="1">
                <a:latin typeface="Consolas"/>
              </a:rPr>
              <a:t>        &lt;</a:t>
            </a:r>
            <a:r>
              <a:rPr lang="en-US" sz="1800" b="1" err="1">
                <a:latin typeface="Consolas"/>
              </a:rPr>
              <a:t>maven.compiler.source</a:t>
            </a:r>
            <a:r>
              <a:rPr lang="en-US" sz="1800" b="1">
                <a:latin typeface="Consolas"/>
              </a:rPr>
              <a:t>&gt;21&lt;/</a:t>
            </a:r>
            <a:r>
              <a:rPr lang="en-US" sz="1800" b="1" err="1">
                <a:latin typeface="Consolas"/>
              </a:rPr>
              <a:t>maven.compiler.source</a:t>
            </a:r>
            <a:r>
              <a:rPr lang="en-US" sz="1800" b="1">
                <a:latin typeface="Consolas"/>
              </a:rPr>
              <a:t>&gt;</a:t>
            </a:r>
            <a:br>
              <a:rPr lang="en-US" sz="1800" b="1">
                <a:latin typeface="Consolas"/>
              </a:rPr>
            </a:br>
            <a:r>
              <a:rPr lang="en-US" sz="1800" b="1">
                <a:latin typeface="Consolas"/>
              </a:rPr>
              <a:t>        &lt;</a:t>
            </a:r>
            <a:r>
              <a:rPr lang="en-US" sz="1800" b="1" err="1">
                <a:latin typeface="Consolas"/>
              </a:rPr>
              <a:t>maven.compiler.target</a:t>
            </a:r>
            <a:r>
              <a:rPr lang="en-US" sz="1800" b="1">
                <a:latin typeface="Consolas"/>
              </a:rPr>
              <a:t>&gt;21&lt;/</a:t>
            </a:r>
            <a:r>
              <a:rPr lang="en-US" sz="1800" b="1" err="1">
                <a:latin typeface="Consolas"/>
              </a:rPr>
              <a:t>maven.compiler.target</a:t>
            </a:r>
            <a:r>
              <a:rPr lang="en-US" sz="1800" b="1">
                <a:latin typeface="Consolas"/>
              </a:rPr>
              <a:t>&gt;</a:t>
            </a:r>
            <a:br>
              <a:rPr lang="en-US" sz="1800" b="1">
                <a:latin typeface="Consolas"/>
              </a:rPr>
            </a:br>
            <a:r>
              <a:rPr lang="en-US" sz="1800" b="1">
                <a:latin typeface="Consolas"/>
              </a:rPr>
              <a:t>        &lt;</a:t>
            </a:r>
            <a:r>
              <a:rPr lang="en-US" sz="1800" b="1" err="1">
                <a:latin typeface="Consolas"/>
              </a:rPr>
              <a:t>project.build.sourceEncoding</a:t>
            </a:r>
            <a:r>
              <a:rPr lang="en-US" sz="1800" b="1">
                <a:latin typeface="Consolas"/>
              </a:rPr>
              <a:t>&gt;UTF-8&lt;/</a:t>
            </a:r>
            <a:r>
              <a:rPr lang="en-US" sz="1800" b="1" err="1">
                <a:latin typeface="Consolas"/>
              </a:rPr>
              <a:t>project.build.sourceEncoding</a:t>
            </a:r>
            <a:r>
              <a:rPr lang="en-US" sz="1800" b="1">
                <a:latin typeface="Consolas"/>
              </a:rPr>
              <a:t>&gt;</a:t>
            </a:r>
            <a:br>
              <a:rPr lang="en-US" sz="1800" b="1">
                <a:latin typeface="Consolas"/>
              </a:rPr>
            </a:br>
            <a:r>
              <a:rPr lang="en-US" sz="1800" b="1">
                <a:latin typeface="Consolas"/>
              </a:rPr>
              <a:t>    &lt;/properties&gt;</a:t>
            </a:r>
            <a:br>
              <a:rPr lang="en-US" sz="1800" b="1">
                <a:latin typeface="Consolas"/>
              </a:rPr>
            </a:br>
            <a:r>
              <a:rPr lang="en-US" sz="1800" b="1">
                <a:latin typeface="Consolas"/>
              </a:rPr>
              <a:t/>
            </a:r>
            <a:br>
              <a:rPr lang="en-US" sz="1800" b="1">
                <a:latin typeface="Consolas"/>
              </a:rPr>
            </a:br>
            <a:r>
              <a:rPr lang="en-US" sz="1800" b="1">
                <a:latin typeface="Consolas"/>
              </a:rPr>
              <a:t>&lt;/project&gt;</a:t>
            </a:r>
            <a:endParaRPr lang="en-US" sz="1800" b="1"/>
          </a:p>
        </p:txBody>
      </p:sp>
    </p:spTree>
    <p:extLst>
      <p:ext uri="{BB962C8B-B14F-4D97-AF65-F5344CB8AC3E}">
        <p14:creationId xmlns:p14="http://schemas.microsoft.com/office/powerpoint/2010/main" val="10800001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08BD6-A0E7-5CA3-5D6B-822C6974F1A1}"/>
              </a:ext>
            </a:extLst>
          </p:cNvPr>
          <p:cNvSpPr>
            <a:spLocks noGrp="1"/>
          </p:cNvSpPr>
          <p:nvPr>
            <p:ph type="title"/>
          </p:nvPr>
        </p:nvSpPr>
        <p:spPr/>
        <p:txBody>
          <a:bodyPr>
            <a:normAutofit/>
          </a:bodyPr>
          <a:lstStyle/>
          <a:p>
            <a:r>
              <a:rPr lang="en-US" b="1">
                <a:ea typeface="+mj-lt"/>
                <a:cs typeface="+mj-lt"/>
              </a:rPr>
              <a:t>Maven Workflow</a:t>
            </a:r>
            <a:endParaRPr lang="en-US" sz="7200" b="1"/>
          </a:p>
        </p:txBody>
      </p:sp>
      <p:sp>
        <p:nvSpPr>
          <p:cNvPr id="3" name="Content Placeholder 2">
            <a:extLst>
              <a:ext uri="{FF2B5EF4-FFF2-40B4-BE49-F238E27FC236}">
                <a16:creationId xmlns:a16="http://schemas.microsoft.com/office/drawing/2014/main" id="{642DAB9F-55EB-502E-108B-260B4C00C493}"/>
              </a:ext>
            </a:extLst>
          </p:cNvPr>
          <p:cNvSpPr>
            <a:spLocks noGrp="1"/>
          </p:cNvSpPr>
          <p:nvPr>
            <p:ph idx="1"/>
          </p:nvPr>
        </p:nvSpPr>
        <p:spPr/>
        <p:txBody>
          <a:bodyPr vert="horz" lIns="91440" tIns="45720" rIns="91440" bIns="45720" rtlCol="0" anchor="t">
            <a:noAutofit/>
          </a:bodyPr>
          <a:lstStyle/>
          <a:p>
            <a:r>
              <a:rPr lang="en-US" sz="2400" b="1">
                <a:ea typeface="+mn-lt"/>
                <a:cs typeface="+mn-lt"/>
              </a:rPr>
              <a:t>Project Setup</a:t>
            </a:r>
            <a:r>
              <a:rPr lang="en-US" sz="2400">
                <a:ea typeface="+mn-lt"/>
                <a:cs typeface="+mn-lt"/>
              </a:rPr>
              <a:t>: Define project metadata and dependencies in </a:t>
            </a:r>
            <a:r>
              <a:rPr lang="en-US" sz="2400">
                <a:latin typeface="Consolas"/>
              </a:rPr>
              <a:t>pom.xml</a:t>
            </a:r>
            <a:r>
              <a:rPr lang="en-US" sz="2400">
                <a:ea typeface="+mn-lt"/>
                <a:cs typeface="+mn-lt"/>
              </a:rPr>
              <a:t>.</a:t>
            </a:r>
            <a:endParaRPr lang="en-US" sz="2400"/>
          </a:p>
          <a:p>
            <a:r>
              <a:rPr lang="en-US" sz="2400" b="1">
                <a:ea typeface="+mn-lt"/>
                <a:cs typeface="+mn-lt"/>
              </a:rPr>
              <a:t>Dependency Resolution</a:t>
            </a:r>
            <a:r>
              <a:rPr lang="en-US" sz="2400">
                <a:ea typeface="+mn-lt"/>
                <a:cs typeface="+mn-lt"/>
              </a:rPr>
              <a:t>: Maven downloads the specified dependencies from a central repository.</a:t>
            </a:r>
            <a:endParaRPr lang="en-US" sz="2400"/>
          </a:p>
          <a:p>
            <a:r>
              <a:rPr lang="en-US" sz="2400" b="1">
                <a:ea typeface="+mn-lt"/>
                <a:cs typeface="+mn-lt"/>
              </a:rPr>
              <a:t>Build Lifecycle</a:t>
            </a:r>
            <a:r>
              <a:rPr lang="en-US" sz="2400">
                <a:ea typeface="+mn-lt"/>
                <a:cs typeface="+mn-lt"/>
              </a:rPr>
              <a:t>: Maven defines a standard build lifecycle that includes:</a:t>
            </a:r>
            <a:endParaRPr lang="en-US" sz="2400" b="1"/>
          </a:p>
          <a:p>
            <a:pPr lvl="1"/>
            <a:r>
              <a:rPr lang="en-US" sz="2000" b="1">
                <a:latin typeface="Consolas"/>
              </a:rPr>
              <a:t>validate</a:t>
            </a:r>
            <a:r>
              <a:rPr lang="en-US" sz="2000">
                <a:ea typeface="+mn-lt"/>
                <a:cs typeface="+mn-lt"/>
              </a:rPr>
              <a:t>: Validates the project is correct.</a:t>
            </a:r>
            <a:endParaRPr lang="en-US" sz="2000"/>
          </a:p>
          <a:p>
            <a:pPr lvl="1"/>
            <a:r>
              <a:rPr lang="en-US" sz="2000" b="1">
                <a:latin typeface="Consolas"/>
              </a:rPr>
              <a:t>compile</a:t>
            </a:r>
            <a:r>
              <a:rPr lang="en-US" sz="2000" b="1">
                <a:ea typeface="+mn-lt"/>
                <a:cs typeface="+mn-lt"/>
              </a:rPr>
              <a:t>: </a:t>
            </a:r>
            <a:r>
              <a:rPr lang="en-US" sz="2000">
                <a:ea typeface="+mn-lt"/>
                <a:cs typeface="+mn-lt"/>
              </a:rPr>
              <a:t>Compiles the source code.</a:t>
            </a:r>
            <a:endParaRPr lang="en-US" sz="2000" b="1"/>
          </a:p>
          <a:p>
            <a:pPr lvl="1"/>
            <a:r>
              <a:rPr lang="en-US" sz="2000" b="1">
                <a:latin typeface="Consolas"/>
              </a:rPr>
              <a:t>test</a:t>
            </a:r>
            <a:r>
              <a:rPr lang="en-US" sz="2000" b="1">
                <a:ea typeface="+mn-lt"/>
                <a:cs typeface="+mn-lt"/>
              </a:rPr>
              <a:t>:</a:t>
            </a:r>
            <a:r>
              <a:rPr lang="en-US" sz="2000">
                <a:ea typeface="+mn-lt"/>
                <a:cs typeface="+mn-lt"/>
              </a:rPr>
              <a:t> Runs tests.</a:t>
            </a:r>
            <a:endParaRPr lang="en-US" sz="2000"/>
          </a:p>
          <a:p>
            <a:pPr lvl="1"/>
            <a:r>
              <a:rPr lang="en-US" sz="2000" b="1">
                <a:latin typeface="Consolas"/>
              </a:rPr>
              <a:t>package</a:t>
            </a:r>
            <a:r>
              <a:rPr lang="en-US" sz="2000" b="1">
                <a:ea typeface="+mn-lt"/>
                <a:cs typeface="+mn-lt"/>
              </a:rPr>
              <a:t>:</a:t>
            </a:r>
            <a:r>
              <a:rPr lang="en-US" sz="2000">
                <a:ea typeface="+mn-lt"/>
                <a:cs typeface="+mn-lt"/>
              </a:rPr>
              <a:t> Packages the compiled code into a JAR or WAR.</a:t>
            </a:r>
            <a:endParaRPr lang="en-US" sz="2000"/>
          </a:p>
          <a:p>
            <a:pPr lvl="1"/>
            <a:r>
              <a:rPr lang="en-US" sz="2000" b="1">
                <a:latin typeface="Consolas"/>
              </a:rPr>
              <a:t>verify</a:t>
            </a:r>
            <a:r>
              <a:rPr lang="en-US" sz="2000" b="1">
                <a:ea typeface="+mn-lt"/>
                <a:cs typeface="+mn-lt"/>
              </a:rPr>
              <a:t>:</a:t>
            </a:r>
            <a:r>
              <a:rPr lang="en-US" sz="2000">
                <a:ea typeface="+mn-lt"/>
                <a:cs typeface="+mn-lt"/>
              </a:rPr>
              <a:t> Runs checks to ensure package quality.</a:t>
            </a:r>
            <a:endParaRPr lang="en-US" sz="2000"/>
          </a:p>
          <a:p>
            <a:pPr lvl="1"/>
            <a:r>
              <a:rPr lang="en-US" sz="2000" b="1">
                <a:latin typeface="Consolas"/>
              </a:rPr>
              <a:t>install</a:t>
            </a:r>
            <a:r>
              <a:rPr lang="en-US" sz="2000" b="1">
                <a:ea typeface="+mn-lt"/>
                <a:cs typeface="+mn-lt"/>
              </a:rPr>
              <a:t>:</a:t>
            </a:r>
            <a:r>
              <a:rPr lang="en-US" sz="2000">
                <a:ea typeface="+mn-lt"/>
                <a:cs typeface="+mn-lt"/>
              </a:rPr>
              <a:t> Installs the package into the local repository.</a:t>
            </a:r>
            <a:endParaRPr lang="en-US" sz="2000"/>
          </a:p>
          <a:p>
            <a:pPr lvl="1"/>
            <a:r>
              <a:rPr lang="en-US" sz="2000" b="1">
                <a:latin typeface="Consolas"/>
              </a:rPr>
              <a:t>deploy</a:t>
            </a:r>
            <a:r>
              <a:rPr lang="en-US" sz="2000" b="1">
                <a:ea typeface="+mn-lt"/>
                <a:cs typeface="+mn-lt"/>
              </a:rPr>
              <a:t>:</a:t>
            </a:r>
            <a:r>
              <a:rPr lang="en-US" sz="2000">
                <a:ea typeface="+mn-lt"/>
                <a:cs typeface="+mn-lt"/>
              </a:rPr>
              <a:t> Deploys the package to a remote repository for sharing.</a:t>
            </a:r>
            <a:endParaRPr lang="en-US" sz="2000"/>
          </a:p>
          <a:p>
            <a:endParaRPr lang="en-US" sz="2400"/>
          </a:p>
        </p:txBody>
      </p:sp>
    </p:spTree>
    <p:extLst>
      <p:ext uri="{BB962C8B-B14F-4D97-AF65-F5344CB8AC3E}">
        <p14:creationId xmlns:p14="http://schemas.microsoft.com/office/powerpoint/2010/main" val="29445614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596D1-D909-6B18-A07F-4D5F7F994F53}"/>
              </a:ext>
            </a:extLst>
          </p:cNvPr>
          <p:cNvSpPr>
            <a:spLocks noGrp="1"/>
          </p:cNvSpPr>
          <p:nvPr>
            <p:ph type="title"/>
          </p:nvPr>
        </p:nvSpPr>
        <p:spPr/>
        <p:txBody>
          <a:bodyPr/>
          <a:lstStyle/>
          <a:p>
            <a:endParaRPr lang="en-US"/>
          </a:p>
        </p:txBody>
      </p:sp>
      <p:pic>
        <p:nvPicPr>
          <p:cNvPr id="4" name="Content Placeholder 3" descr="A screenshot of a computer program&#10;&#10;Description automatically generated">
            <a:extLst>
              <a:ext uri="{FF2B5EF4-FFF2-40B4-BE49-F238E27FC236}">
                <a16:creationId xmlns:a16="http://schemas.microsoft.com/office/drawing/2014/main" id="{C5939549-9CC9-FAE5-D91E-4CB9D80E3BAD}"/>
              </a:ext>
            </a:extLst>
          </p:cNvPr>
          <p:cNvPicPr>
            <a:picLocks noGrp="1" noChangeAspect="1"/>
          </p:cNvPicPr>
          <p:nvPr>
            <p:ph idx="1"/>
          </p:nvPr>
        </p:nvPicPr>
        <p:blipFill>
          <a:blip r:embed="rId2"/>
          <a:stretch>
            <a:fillRect/>
          </a:stretch>
        </p:blipFill>
        <p:spPr>
          <a:xfrm>
            <a:off x="273171" y="547971"/>
            <a:ext cx="11760677" cy="6460949"/>
          </a:xfrm>
        </p:spPr>
      </p:pic>
    </p:spTree>
    <p:extLst>
      <p:ext uri="{BB962C8B-B14F-4D97-AF65-F5344CB8AC3E}">
        <p14:creationId xmlns:p14="http://schemas.microsoft.com/office/powerpoint/2010/main" val="35498475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C68FE-69F5-1989-89A9-F69A4FB89CDB}"/>
              </a:ext>
            </a:extLst>
          </p:cNvPr>
          <p:cNvSpPr>
            <a:spLocks noGrp="1"/>
          </p:cNvSpPr>
          <p:nvPr>
            <p:ph type="title"/>
          </p:nvPr>
        </p:nvSpPr>
        <p:spPr/>
        <p:txBody>
          <a:bodyPr>
            <a:normAutofit/>
          </a:bodyPr>
          <a:lstStyle/>
          <a:p>
            <a:r>
              <a:rPr lang="en-US" b="1">
                <a:ea typeface="+mj-lt"/>
                <a:cs typeface="+mj-lt"/>
              </a:rPr>
              <a:t>Alternatives to Maven</a:t>
            </a:r>
            <a:endParaRPr lang="en-US" b="1"/>
          </a:p>
        </p:txBody>
      </p:sp>
      <p:sp>
        <p:nvSpPr>
          <p:cNvPr id="3" name="Content Placeholder 2">
            <a:extLst>
              <a:ext uri="{FF2B5EF4-FFF2-40B4-BE49-F238E27FC236}">
                <a16:creationId xmlns:a16="http://schemas.microsoft.com/office/drawing/2014/main" id="{5D915916-8D15-1C5E-5675-F58F0AA2DC4A}"/>
              </a:ext>
            </a:extLst>
          </p:cNvPr>
          <p:cNvSpPr>
            <a:spLocks noGrp="1"/>
          </p:cNvSpPr>
          <p:nvPr>
            <p:ph idx="1"/>
          </p:nvPr>
        </p:nvSpPr>
        <p:spPr/>
        <p:txBody>
          <a:bodyPr vert="horz" lIns="91440" tIns="45720" rIns="91440" bIns="45720" rtlCol="0" anchor="t">
            <a:normAutofit/>
          </a:bodyPr>
          <a:lstStyle/>
          <a:p>
            <a:r>
              <a:rPr lang="en-US" sz="2400">
                <a:ea typeface="+mn-lt"/>
                <a:cs typeface="+mn-lt"/>
              </a:rPr>
              <a:t>Other tools available for project management and build automation include:</a:t>
            </a:r>
            <a:endParaRPr lang="en-US" sz="2400"/>
          </a:p>
          <a:p>
            <a:r>
              <a:rPr lang="en-US" sz="2400" b="1">
                <a:ea typeface="+mn-lt"/>
                <a:cs typeface="+mn-lt"/>
              </a:rPr>
              <a:t>Gradle</a:t>
            </a:r>
            <a:r>
              <a:rPr lang="en-US" sz="2400">
                <a:ea typeface="+mn-lt"/>
                <a:cs typeface="+mn-lt"/>
              </a:rPr>
              <a:t>: A flexible build automation tool that can handle complex project structures.</a:t>
            </a:r>
            <a:endParaRPr lang="en-US" sz="2400"/>
          </a:p>
          <a:p>
            <a:r>
              <a:rPr lang="en-US" sz="2400" b="1">
                <a:ea typeface="+mn-lt"/>
                <a:cs typeface="+mn-lt"/>
              </a:rPr>
              <a:t>Ant with Ivy</a:t>
            </a:r>
            <a:r>
              <a:rPr lang="en-US" sz="2400">
                <a:ea typeface="+mn-lt"/>
                <a:cs typeface="+mn-lt"/>
              </a:rPr>
              <a:t>: Ant is a build tool, and Ivy provides dependency management for Ant.</a:t>
            </a:r>
            <a:endParaRPr lang="en-US" sz="2400"/>
          </a:p>
          <a:p>
            <a:r>
              <a:rPr lang="en-US" sz="2400">
                <a:ea typeface="+mn-lt"/>
                <a:cs typeface="+mn-lt"/>
              </a:rPr>
              <a:t>While Gradle is powerful and flexible, Maven is often considered more beginner-friendly and straightforward for those new to Java project development.</a:t>
            </a:r>
            <a:endParaRPr lang="en-US" sz="2400"/>
          </a:p>
          <a:p>
            <a:endParaRPr lang="en-US"/>
          </a:p>
        </p:txBody>
      </p:sp>
    </p:spTree>
    <p:extLst>
      <p:ext uri="{BB962C8B-B14F-4D97-AF65-F5344CB8AC3E}">
        <p14:creationId xmlns:p14="http://schemas.microsoft.com/office/powerpoint/2010/main" val="12164247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88AE3-4388-5C67-5B8C-0DC83678AB5F}"/>
              </a:ext>
            </a:extLst>
          </p:cNvPr>
          <p:cNvSpPr>
            <a:spLocks noGrp="1"/>
          </p:cNvSpPr>
          <p:nvPr>
            <p:ph type="title"/>
          </p:nvPr>
        </p:nvSpPr>
        <p:spPr/>
        <p:txBody>
          <a:bodyPr/>
          <a:lstStyle/>
          <a:p>
            <a:r>
              <a:rPr lang="en-US">
                <a:ea typeface="+mj-lt"/>
                <a:cs typeface="+mj-lt"/>
              </a:rPr>
              <a:t>Objective Questions on Maven</a:t>
            </a:r>
            <a:endParaRPr lang="en-US"/>
          </a:p>
        </p:txBody>
      </p:sp>
      <p:sp>
        <p:nvSpPr>
          <p:cNvPr id="3" name="Content Placeholder 2">
            <a:extLst>
              <a:ext uri="{FF2B5EF4-FFF2-40B4-BE49-F238E27FC236}">
                <a16:creationId xmlns:a16="http://schemas.microsoft.com/office/drawing/2014/main" id="{06E45DF2-0C77-07EC-4B23-78D77BF4B869}"/>
              </a:ext>
            </a:extLst>
          </p:cNvPr>
          <p:cNvSpPr>
            <a:spLocks noGrp="1"/>
          </p:cNvSpPr>
          <p:nvPr>
            <p:ph idx="1"/>
          </p:nvPr>
        </p:nvSpPr>
        <p:spPr/>
        <p:txBody>
          <a:bodyPr vert="horz" lIns="91440" tIns="45720" rIns="91440" bIns="45720" rtlCol="0" anchor="t">
            <a:normAutofit/>
          </a:bodyPr>
          <a:lstStyle/>
          <a:p>
            <a:pPr marL="0" indent="0">
              <a:buNone/>
            </a:pPr>
            <a:r>
              <a:rPr lang="en-US" b="1">
                <a:ea typeface="+mn-lt"/>
                <a:cs typeface="+mn-lt"/>
              </a:rPr>
              <a:t>What is Maven primarily used for in Java projects?</a:t>
            </a:r>
            <a:endParaRPr lang="en-US"/>
          </a:p>
          <a:p>
            <a:pPr marL="0" indent="0">
              <a:buNone/>
            </a:pPr>
            <a:r>
              <a:rPr lang="en-US">
                <a:ea typeface="+mn-lt"/>
                <a:cs typeface="+mn-lt"/>
              </a:rPr>
              <a:t>A. Managing dependencies</a:t>
            </a:r>
            <a:endParaRPr lang="en-US"/>
          </a:p>
          <a:p>
            <a:pPr marL="0" indent="0">
              <a:buNone/>
            </a:pPr>
            <a:r>
              <a:rPr lang="en-US">
                <a:ea typeface="+mn-lt"/>
                <a:cs typeface="+mn-lt"/>
              </a:rPr>
              <a:t>B. Writing code</a:t>
            </a:r>
            <a:endParaRPr lang="en-US"/>
          </a:p>
          <a:p>
            <a:pPr marL="0" indent="0">
              <a:buNone/>
            </a:pPr>
            <a:r>
              <a:rPr lang="en-US">
                <a:ea typeface="+mn-lt"/>
                <a:cs typeface="+mn-lt"/>
              </a:rPr>
              <a:t>C. Debugging applications</a:t>
            </a:r>
            <a:endParaRPr lang="en-US"/>
          </a:p>
          <a:p>
            <a:pPr marL="0" indent="0">
              <a:buNone/>
            </a:pPr>
            <a:r>
              <a:rPr lang="en-US">
                <a:ea typeface="+mn-lt"/>
                <a:cs typeface="+mn-lt"/>
              </a:rPr>
              <a:t>D. Designing user interfaces</a:t>
            </a:r>
            <a:endParaRPr lang="en-US"/>
          </a:p>
          <a:p>
            <a:endParaRPr lang="en-US"/>
          </a:p>
        </p:txBody>
      </p:sp>
    </p:spTree>
    <p:extLst>
      <p:ext uri="{BB962C8B-B14F-4D97-AF65-F5344CB8AC3E}">
        <p14:creationId xmlns:p14="http://schemas.microsoft.com/office/powerpoint/2010/main" val="3829245048"/>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0B36B-61A6-A23A-BBBB-119F0DA8B34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D60F7A2-8EC4-87EC-B9A2-9C2F32A8A8E1}"/>
              </a:ext>
            </a:extLst>
          </p:cNvPr>
          <p:cNvSpPr>
            <a:spLocks noGrp="1"/>
          </p:cNvSpPr>
          <p:nvPr>
            <p:ph idx="1"/>
          </p:nvPr>
        </p:nvSpPr>
        <p:spPr/>
        <p:txBody>
          <a:bodyPr vert="horz" lIns="91440" tIns="45720" rIns="91440" bIns="45720" rtlCol="0" anchor="t">
            <a:normAutofit/>
          </a:bodyPr>
          <a:lstStyle/>
          <a:p>
            <a:pPr marL="0" indent="0">
              <a:buNone/>
            </a:pPr>
            <a:r>
              <a:rPr lang="en-US" b="1">
                <a:latin typeface="Arial"/>
                <a:cs typeface="Arial"/>
              </a:rPr>
              <a:t>Answer:</a:t>
            </a:r>
            <a:r>
              <a:rPr lang="en-US">
                <a:latin typeface="Arial"/>
                <a:cs typeface="Arial"/>
              </a:rPr>
              <a:t> A. Managing dependencies</a:t>
            </a:r>
            <a:endParaRPr lang="en-US"/>
          </a:p>
          <a:p>
            <a:endParaRPr lang="en-US"/>
          </a:p>
        </p:txBody>
      </p:sp>
    </p:spTree>
    <p:extLst>
      <p:ext uri="{BB962C8B-B14F-4D97-AF65-F5344CB8AC3E}">
        <p14:creationId xmlns:p14="http://schemas.microsoft.com/office/powerpoint/2010/main" val="615878570"/>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B5DE6-A350-FD76-17C0-1CBFF95CDB1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6E9279C-338A-0F38-3A15-FB1E7C10D3B9}"/>
              </a:ext>
            </a:extLst>
          </p:cNvPr>
          <p:cNvSpPr>
            <a:spLocks noGrp="1"/>
          </p:cNvSpPr>
          <p:nvPr>
            <p:ph idx="1"/>
          </p:nvPr>
        </p:nvSpPr>
        <p:spPr/>
        <p:txBody>
          <a:bodyPr vert="horz" lIns="91440" tIns="45720" rIns="91440" bIns="45720" rtlCol="0" anchor="t">
            <a:normAutofit/>
          </a:bodyPr>
          <a:lstStyle/>
          <a:p>
            <a:pPr marL="0" indent="0">
              <a:buNone/>
            </a:pPr>
            <a:r>
              <a:rPr lang="en-US" b="1">
                <a:ea typeface="+mn-lt"/>
                <a:cs typeface="+mn-lt"/>
              </a:rPr>
              <a:t>Which file in a Maven project defines the project’s dependencies and build configuration?</a:t>
            </a:r>
            <a:endParaRPr lang="en-US"/>
          </a:p>
          <a:p>
            <a:pPr marL="0" indent="0">
              <a:buNone/>
            </a:pPr>
            <a:r>
              <a:rPr lang="en-US">
                <a:ea typeface="+mn-lt"/>
                <a:cs typeface="+mn-lt"/>
              </a:rPr>
              <a:t>A. </a:t>
            </a:r>
            <a:r>
              <a:rPr lang="en-US">
                <a:latin typeface="Consolas"/>
              </a:rPr>
              <a:t>build.xml</a:t>
            </a:r>
            <a:endParaRPr lang="en-US"/>
          </a:p>
          <a:p>
            <a:pPr marL="0" indent="0">
              <a:buNone/>
            </a:pPr>
            <a:r>
              <a:rPr lang="en-US">
                <a:ea typeface="+mn-lt"/>
                <a:cs typeface="+mn-lt"/>
              </a:rPr>
              <a:t>B. </a:t>
            </a:r>
            <a:r>
              <a:rPr lang="en-US">
                <a:latin typeface="Consolas"/>
              </a:rPr>
              <a:t>pom.xml</a:t>
            </a:r>
            <a:endParaRPr lang="en-US"/>
          </a:p>
          <a:p>
            <a:pPr marL="0" indent="0">
              <a:buNone/>
            </a:pPr>
            <a:r>
              <a:rPr lang="en-US">
                <a:ea typeface="+mn-lt"/>
                <a:cs typeface="+mn-lt"/>
              </a:rPr>
              <a:t>C. </a:t>
            </a:r>
            <a:r>
              <a:rPr lang="en-US">
                <a:latin typeface="Consolas"/>
              </a:rPr>
              <a:t>settings.xml</a:t>
            </a:r>
            <a:endParaRPr lang="en-US"/>
          </a:p>
          <a:p>
            <a:pPr marL="0" indent="0">
              <a:buNone/>
            </a:pPr>
            <a:r>
              <a:rPr lang="en-US">
                <a:ea typeface="+mn-lt"/>
                <a:cs typeface="+mn-lt"/>
              </a:rPr>
              <a:t>D. </a:t>
            </a:r>
            <a:r>
              <a:rPr lang="en-US">
                <a:latin typeface="Consolas"/>
              </a:rPr>
              <a:t>config.xml</a:t>
            </a:r>
            <a:endParaRPr lang="en-US"/>
          </a:p>
          <a:p>
            <a:pPr marL="0" indent="0">
              <a:buNone/>
            </a:pPr>
            <a:endParaRPr lang="en-US"/>
          </a:p>
        </p:txBody>
      </p:sp>
    </p:spTree>
    <p:extLst>
      <p:ext uri="{BB962C8B-B14F-4D97-AF65-F5344CB8AC3E}">
        <p14:creationId xmlns:p14="http://schemas.microsoft.com/office/powerpoint/2010/main" val="13623020"/>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1472B-0197-AE3F-D458-04F5F6AFF9B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8BD5503-3989-127D-6C60-6CDA4ECE5CB0}"/>
              </a:ext>
            </a:extLst>
          </p:cNvPr>
          <p:cNvSpPr>
            <a:spLocks noGrp="1"/>
          </p:cNvSpPr>
          <p:nvPr>
            <p:ph idx="1"/>
          </p:nvPr>
        </p:nvSpPr>
        <p:spPr/>
        <p:txBody>
          <a:bodyPr vert="horz" lIns="91440" tIns="45720" rIns="91440" bIns="45720" rtlCol="0" anchor="t">
            <a:normAutofit/>
          </a:bodyPr>
          <a:lstStyle/>
          <a:p>
            <a:pPr marL="0" indent="0">
              <a:buNone/>
            </a:pPr>
            <a:r>
              <a:rPr lang="en-US" b="1">
                <a:latin typeface="Arial"/>
                <a:cs typeface="Arial"/>
              </a:rPr>
              <a:t>Answer:</a:t>
            </a:r>
            <a:r>
              <a:rPr lang="en-US">
                <a:latin typeface="Arial"/>
                <a:cs typeface="Arial"/>
              </a:rPr>
              <a:t> B. </a:t>
            </a:r>
            <a:r>
              <a:rPr lang="en-US">
                <a:latin typeface="Consolas"/>
              </a:rPr>
              <a:t>pom.xml</a:t>
            </a:r>
            <a:endParaRPr lang="en-US"/>
          </a:p>
          <a:p>
            <a:endParaRPr lang="en-US"/>
          </a:p>
        </p:txBody>
      </p:sp>
    </p:spTree>
    <p:extLst>
      <p:ext uri="{BB962C8B-B14F-4D97-AF65-F5344CB8AC3E}">
        <p14:creationId xmlns:p14="http://schemas.microsoft.com/office/powerpoint/2010/main" val="3065178634"/>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A967F-19FD-7A67-4468-83670247FC3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AC5C918-8293-812A-1E42-AC2A02BEAF0A}"/>
              </a:ext>
            </a:extLst>
          </p:cNvPr>
          <p:cNvSpPr>
            <a:spLocks noGrp="1"/>
          </p:cNvSpPr>
          <p:nvPr>
            <p:ph idx="1"/>
          </p:nvPr>
        </p:nvSpPr>
        <p:spPr/>
        <p:txBody>
          <a:bodyPr vert="horz" lIns="91440" tIns="45720" rIns="91440" bIns="45720" rtlCol="0" anchor="t">
            <a:normAutofit/>
          </a:bodyPr>
          <a:lstStyle/>
          <a:p>
            <a:pPr marL="0" indent="0">
              <a:buNone/>
            </a:pPr>
            <a:r>
              <a:rPr lang="en-US" b="1">
                <a:ea typeface="+mn-lt"/>
                <a:cs typeface="+mn-lt"/>
              </a:rPr>
              <a:t>What is one of the main advantages of using Maven for managing project dependencies?</a:t>
            </a:r>
            <a:endParaRPr lang="en-US">
              <a:ea typeface="+mn-lt"/>
              <a:cs typeface="+mn-lt"/>
            </a:endParaRPr>
          </a:p>
          <a:p>
            <a:pPr marL="0" indent="0">
              <a:buNone/>
            </a:pPr>
            <a:r>
              <a:rPr lang="en-US">
                <a:ea typeface="+mn-lt"/>
                <a:cs typeface="+mn-lt"/>
              </a:rPr>
              <a:t>A. Maven automatically writes code.</a:t>
            </a:r>
            <a:endParaRPr lang="en-US"/>
          </a:p>
          <a:p>
            <a:pPr marL="0" indent="0">
              <a:buNone/>
            </a:pPr>
            <a:r>
              <a:rPr lang="en-US">
                <a:ea typeface="+mn-lt"/>
                <a:cs typeface="+mn-lt"/>
              </a:rPr>
              <a:t>B. Maven enforces coding standards.</a:t>
            </a:r>
            <a:endParaRPr lang="en-US"/>
          </a:p>
          <a:p>
            <a:pPr marL="0" indent="0">
              <a:buNone/>
            </a:pPr>
            <a:r>
              <a:rPr lang="en-US">
                <a:ea typeface="+mn-lt"/>
                <a:cs typeface="+mn-lt"/>
              </a:rPr>
              <a:t>C. Maven handles the downloading and inclusion of specified versions of libraries.</a:t>
            </a:r>
            <a:endParaRPr lang="en-US"/>
          </a:p>
          <a:p>
            <a:pPr marL="0" indent="0">
              <a:buNone/>
            </a:pPr>
            <a:r>
              <a:rPr lang="en-US">
                <a:ea typeface="+mn-lt"/>
                <a:cs typeface="+mn-lt"/>
              </a:rPr>
              <a:t>D. Maven converts Java code into machine code.</a:t>
            </a:r>
            <a:endParaRPr lang="en-US"/>
          </a:p>
          <a:p>
            <a:endParaRPr lang="en-US" b="1"/>
          </a:p>
        </p:txBody>
      </p:sp>
    </p:spTree>
    <p:extLst>
      <p:ext uri="{BB962C8B-B14F-4D97-AF65-F5344CB8AC3E}">
        <p14:creationId xmlns:p14="http://schemas.microsoft.com/office/powerpoint/2010/main" val="3946435633"/>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AEE52-886F-68D3-F325-ED881F8C442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03A957F-F0F5-489B-529E-345D48EF67D4}"/>
              </a:ext>
            </a:extLst>
          </p:cNvPr>
          <p:cNvSpPr>
            <a:spLocks noGrp="1"/>
          </p:cNvSpPr>
          <p:nvPr>
            <p:ph idx="1"/>
          </p:nvPr>
        </p:nvSpPr>
        <p:spPr/>
        <p:txBody>
          <a:bodyPr vert="horz" lIns="91440" tIns="45720" rIns="91440" bIns="45720" rtlCol="0" anchor="t">
            <a:normAutofit/>
          </a:bodyPr>
          <a:lstStyle/>
          <a:p>
            <a:pPr marL="0" indent="0">
              <a:buNone/>
            </a:pPr>
            <a:r>
              <a:rPr lang="en-US" b="1">
                <a:latin typeface="Arial"/>
                <a:cs typeface="Arial"/>
              </a:rPr>
              <a:t>Answer:</a:t>
            </a:r>
            <a:r>
              <a:rPr lang="en-US">
                <a:latin typeface="Arial"/>
                <a:cs typeface="Arial"/>
              </a:rPr>
              <a:t> C. Maven handles the downloading and inclusion of specified versions of libraries.</a:t>
            </a:r>
            <a:endParaRPr lang="en-US"/>
          </a:p>
          <a:p>
            <a:endParaRPr lang="en-US"/>
          </a:p>
        </p:txBody>
      </p:sp>
    </p:spTree>
    <p:extLst>
      <p:ext uri="{BB962C8B-B14F-4D97-AF65-F5344CB8AC3E}">
        <p14:creationId xmlns:p14="http://schemas.microsoft.com/office/powerpoint/2010/main" val="4100941446"/>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D65E1-FEA5-FF59-128D-46AA7A729D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6E222BD-FCE2-CF5C-9D15-14335B86353F}"/>
              </a:ext>
            </a:extLst>
          </p:cNvPr>
          <p:cNvSpPr>
            <a:spLocks noGrp="1"/>
          </p:cNvSpPr>
          <p:nvPr>
            <p:ph idx="1"/>
          </p:nvPr>
        </p:nvSpPr>
        <p:spPr/>
        <p:txBody>
          <a:bodyPr vert="horz" lIns="91440" tIns="45720" rIns="91440" bIns="45720" rtlCol="0" anchor="t">
            <a:normAutofit/>
          </a:bodyPr>
          <a:lstStyle/>
          <a:p>
            <a:pPr marL="0" indent="0">
              <a:buNone/>
            </a:pPr>
            <a:r>
              <a:rPr lang="en-US" b="1">
                <a:ea typeface="+mn-lt"/>
                <a:cs typeface="+mn-lt"/>
              </a:rPr>
              <a:t>How does Maven help when sharing a project with others?</a:t>
            </a:r>
            <a:endParaRPr lang="en-US"/>
          </a:p>
          <a:p>
            <a:pPr marL="0" indent="0">
              <a:buNone/>
            </a:pPr>
            <a:r>
              <a:rPr lang="en-US">
                <a:ea typeface="+mn-lt"/>
                <a:cs typeface="+mn-lt"/>
              </a:rPr>
              <a:t>A. By embedding all dependencies in the project files.</a:t>
            </a:r>
            <a:endParaRPr lang="en-US"/>
          </a:p>
          <a:p>
            <a:pPr marL="0" indent="0">
              <a:buNone/>
            </a:pPr>
            <a:r>
              <a:rPr lang="en-US">
                <a:ea typeface="+mn-lt"/>
                <a:cs typeface="+mn-lt"/>
              </a:rPr>
              <a:t>B. By providing a </a:t>
            </a:r>
            <a:r>
              <a:rPr lang="en-US">
                <a:latin typeface="Consolas"/>
              </a:rPr>
              <a:t>pom.xml</a:t>
            </a:r>
            <a:r>
              <a:rPr lang="en-US">
                <a:ea typeface="+mn-lt"/>
                <a:cs typeface="+mn-lt"/>
              </a:rPr>
              <a:t> file that lists all required dependencies and their versions.</a:t>
            </a:r>
            <a:endParaRPr lang="en-US"/>
          </a:p>
          <a:p>
            <a:pPr marL="0" indent="0">
              <a:buNone/>
            </a:pPr>
            <a:r>
              <a:rPr lang="en-US">
                <a:ea typeface="+mn-lt"/>
                <a:cs typeface="+mn-lt"/>
              </a:rPr>
              <a:t>C. By creating an executable that includes all dependencies.</a:t>
            </a:r>
            <a:endParaRPr lang="en-US"/>
          </a:p>
          <a:p>
            <a:pPr marL="0" indent="0">
              <a:buNone/>
            </a:pPr>
            <a:r>
              <a:rPr lang="en-US">
                <a:ea typeface="+mn-lt"/>
                <a:cs typeface="+mn-lt"/>
              </a:rPr>
              <a:t>D. By manually copying all dependencies to each team member's machine.</a:t>
            </a:r>
            <a:endParaRPr lang="en-US"/>
          </a:p>
          <a:p>
            <a:pPr marL="0" indent="0">
              <a:buNone/>
            </a:pPr>
            <a:endParaRPr lang="en-US"/>
          </a:p>
        </p:txBody>
      </p:sp>
    </p:spTree>
    <p:extLst>
      <p:ext uri="{BB962C8B-B14F-4D97-AF65-F5344CB8AC3E}">
        <p14:creationId xmlns:p14="http://schemas.microsoft.com/office/powerpoint/2010/main" val="4073989056"/>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37D84-41FD-40ED-B833-9F2ACFB8980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FA82839-53F0-C884-CA76-3612BC08E717}"/>
              </a:ext>
            </a:extLst>
          </p:cNvPr>
          <p:cNvSpPr>
            <a:spLocks noGrp="1"/>
          </p:cNvSpPr>
          <p:nvPr>
            <p:ph idx="1"/>
          </p:nvPr>
        </p:nvSpPr>
        <p:spPr/>
        <p:txBody>
          <a:bodyPr vert="horz" lIns="91440" tIns="45720" rIns="91440" bIns="45720" rtlCol="0" anchor="t">
            <a:normAutofit/>
          </a:bodyPr>
          <a:lstStyle/>
          <a:p>
            <a:pPr marL="0" indent="0">
              <a:buNone/>
            </a:pPr>
            <a:r>
              <a:rPr lang="en-US" b="1">
                <a:latin typeface="Arial"/>
                <a:cs typeface="Arial"/>
              </a:rPr>
              <a:t>Answer:</a:t>
            </a:r>
            <a:r>
              <a:rPr lang="en-US">
                <a:latin typeface="Arial"/>
                <a:cs typeface="Arial"/>
              </a:rPr>
              <a:t> B. By providing a </a:t>
            </a:r>
            <a:r>
              <a:rPr lang="en-US">
                <a:latin typeface="Consolas"/>
              </a:rPr>
              <a:t>pom.xml</a:t>
            </a:r>
            <a:r>
              <a:rPr lang="en-US">
                <a:latin typeface="Arial"/>
                <a:cs typeface="Arial"/>
              </a:rPr>
              <a:t> file that lists all required dependencies and their versions.</a:t>
            </a:r>
            <a:endParaRPr lang="en-US"/>
          </a:p>
          <a:p>
            <a:endParaRPr lang="en-US"/>
          </a:p>
        </p:txBody>
      </p:sp>
    </p:spTree>
    <p:extLst>
      <p:ext uri="{BB962C8B-B14F-4D97-AF65-F5344CB8AC3E}">
        <p14:creationId xmlns:p14="http://schemas.microsoft.com/office/powerpoint/2010/main" val="503186150"/>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61633-A94A-6A90-6485-85FFBC58EB5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3491AB2-2B15-AE1D-60E4-F2EEEDA36EC0}"/>
              </a:ext>
            </a:extLst>
          </p:cNvPr>
          <p:cNvSpPr>
            <a:spLocks noGrp="1"/>
          </p:cNvSpPr>
          <p:nvPr>
            <p:ph idx="1"/>
          </p:nvPr>
        </p:nvSpPr>
        <p:spPr/>
        <p:txBody>
          <a:bodyPr vert="horz" lIns="91440" tIns="45720" rIns="91440" bIns="45720" rtlCol="0" anchor="t">
            <a:normAutofit/>
          </a:bodyPr>
          <a:lstStyle/>
          <a:p>
            <a:pPr marL="0" indent="0">
              <a:buNone/>
            </a:pPr>
            <a:r>
              <a:rPr lang="en-US" b="1">
                <a:ea typeface="+mn-lt"/>
                <a:cs typeface="+mn-lt"/>
              </a:rPr>
              <a:t>What does the acronym “POM” stand for in Maven?</a:t>
            </a:r>
            <a:endParaRPr lang="en-US"/>
          </a:p>
          <a:p>
            <a:pPr marL="0" indent="0">
              <a:buNone/>
            </a:pPr>
            <a:r>
              <a:rPr lang="en-US">
                <a:ea typeface="+mn-lt"/>
                <a:cs typeface="+mn-lt"/>
              </a:rPr>
              <a:t>A. Project Object Model</a:t>
            </a:r>
            <a:endParaRPr lang="en-US"/>
          </a:p>
          <a:p>
            <a:pPr marL="0" indent="0">
              <a:buNone/>
            </a:pPr>
            <a:r>
              <a:rPr lang="en-US">
                <a:ea typeface="+mn-lt"/>
                <a:cs typeface="+mn-lt"/>
              </a:rPr>
              <a:t>B. Package Option Module</a:t>
            </a:r>
            <a:endParaRPr lang="en-US"/>
          </a:p>
          <a:p>
            <a:pPr marL="0" indent="0">
              <a:buNone/>
            </a:pPr>
            <a:r>
              <a:rPr lang="en-US">
                <a:ea typeface="+mn-lt"/>
                <a:cs typeface="+mn-lt"/>
              </a:rPr>
              <a:t>C. Process Operation Manager</a:t>
            </a:r>
            <a:endParaRPr lang="en-US"/>
          </a:p>
          <a:p>
            <a:pPr marL="0" indent="0">
              <a:buNone/>
            </a:pPr>
            <a:r>
              <a:rPr lang="en-US">
                <a:ea typeface="+mn-lt"/>
                <a:cs typeface="+mn-lt"/>
              </a:rPr>
              <a:t>D. Project Oriented Management</a:t>
            </a:r>
            <a:endParaRPr lang="en-US"/>
          </a:p>
          <a:p>
            <a:pPr marL="0" indent="0">
              <a:buNone/>
            </a:pPr>
            <a:endParaRPr lang="en-US"/>
          </a:p>
        </p:txBody>
      </p:sp>
    </p:spTree>
    <p:extLst>
      <p:ext uri="{BB962C8B-B14F-4D97-AF65-F5344CB8AC3E}">
        <p14:creationId xmlns:p14="http://schemas.microsoft.com/office/powerpoint/2010/main" val="444104547"/>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31AD3-8739-53C4-A50C-0630917791A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E69364C-37AD-7C2A-5C85-9443EC822A79}"/>
              </a:ext>
            </a:extLst>
          </p:cNvPr>
          <p:cNvSpPr>
            <a:spLocks noGrp="1"/>
          </p:cNvSpPr>
          <p:nvPr>
            <p:ph idx="1"/>
          </p:nvPr>
        </p:nvSpPr>
        <p:spPr/>
        <p:txBody>
          <a:bodyPr vert="horz" lIns="91440" tIns="45720" rIns="91440" bIns="45720" rtlCol="0" anchor="t">
            <a:normAutofit/>
          </a:bodyPr>
          <a:lstStyle/>
          <a:p>
            <a:pPr marL="0" indent="0">
              <a:buNone/>
            </a:pPr>
            <a:r>
              <a:rPr lang="en-US" b="1">
                <a:latin typeface="Arial"/>
                <a:cs typeface="Arial"/>
              </a:rPr>
              <a:t>Answer:</a:t>
            </a:r>
            <a:r>
              <a:rPr lang="en-US">
                <a:latin typeface="Arial"/>
                <a:cs typeface="Arial"/>
              </a:rPr>
              <a:t> A. Project Object Model</a:t>
            </a:r>
            <a:endParaRPr lang="en-US"/>
          </a:p>
          <a:p>
            <a:pPr marL="0" indent="0">
              <a:buNone/>
            </a:pPr>
            <a:endParaRPr lang="en-US"/>
          </a:p>
        </p:txBody>
      </p:sp>
    </p:spTree>
    <p:extLst>
      <p:ext uri="{BB962C8B-B14F-4D97-AF65-F5344CB8AC3E}">
        <p14:creationId xmlns:p14="http://schemas.microsoft.com/office/powerpoint/2010/main" val="3414636054"/>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ACD77-CC00-0146-47B0-4BFEC7D83DB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2043195-2C5A-4DE5-D6C4-447536B078FE}"/>
              </a:ext>
            </a:extLst>
          </p:cNvPr>
          <p:cNvSpPr>
            <a:spLocks noGrp="1"/>
          </p:cNvSpPr>
          <p:nvPr>
            <p:ph idx="1"/>
          </p:nvPr>
        </p:nvSpPr>
        <p:spPr/>
        <p:txBody>
          <a:bodyPr vert="horz" lIns="91440" tIns="45720" rIns="91440" bIns="45720" rtlCol="0" anchor="t">
            <a:normAutofit/>
          </a:bodyPr>
          <a:lstStyle/>
          <a:p>
            <a:pPr marL="0" indent="0">
              <a:buNone/>
            </a:pPr>
            <a:r>
              <a:rPr lang="en-US" b="1">
                <a:ea typeface="+mn-lt"/>
                <a:cs typeface="+mn-lt"/>
              </a:rPr>
              <a:t>What type of file format do Maven projects typically package their compiled code into?</a:t>
            </a:r>
            <a:endParaRPr lang="en-US"/>
          </a:p>
          <a:p>
            <a:pPr marL="0" indent="0">
              <a:buNone/>
            </a:pPr>
            <a:r>
              <a:rPr lang="en-US">
                <a:ea typeface="+mn-lt"/>
                <a:cs typeface="+mn-lt"/>
              </a:rPr>
              <a:t>A. WAR</a:t>
            </a:r>
            <a:endParaRPr lang="en-US"/>
          </a:p>
          <a:p>
            <a:pPr marL="0" indent="0">
              <a:buNone/>
            </a:pPr>
            <a:r>
              <a:rPr lang="en-US">
                <a:ea typeface="+mn-lt"/>
                <a:cs typeface="+mn-lt"/>
              </a:rPr>
              <a:t>B. ZIP</a:t>
            </a:r>
            <a:endParaRPr lang="en-US"/>
          </a:p>
          <a:p>
            <a:pPr marL="0" indent="0">
              <a:buNone/>
            </a:pPr>
            <a:r>
              <a:rPr lang="en-US">
                <a:ea typeface="+mn-lt"/>
                <a:cs typeface="+mn-lt"/>
              </a:rPr>
              <a:t>C. TAR</a:t>
            </a:r>
            <a:endParaRPr lang="en-US"/>
          </a:p>
          <a:p>
            <a:pPr marL="0" indent="0">
              <a:buNone/>
            </a:pPr>
            <a:r>
              <a:rPr lang="en-US">
                <a:ea typeface="+mn-lt"/>
                <a:cs typeface="+mn-lt"/>
              </a:rPr>
              <a:t>D. JAR</a:t>
            </a:r>
            <a:endParaRPr lang="en-US"/>
          </a:p>
          <a:p>
            <a:pPr marL="0" indent="0">
              <a:buNone/>
            </a:pPr>
            <a:endParaRPr lang="en-US"/>
          </a:p>
        </p:txBody>
      </p:sp>
    </p:spTree>
    <p:extLst>
      <p:ext uri="{BB962C8B-B14F-4D97-AF65-F5344CB8AC3E}">
        <p14:creationId xmlns:p14="http://schemas.microsoft.com/office/powerpoint/2010/main" val="1113891773"/>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E759C-17F6-966B-34A7-FBF86532985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451C728-7016-6C17-4C27-EB49B80D4C14}"/>
              </a:ext>
            </a:extLst>
          </p:cNvPr>
          <p:cNvSpPr>
            <a:spLocks noGrp="1"/>
          </p:cNvSpPr>
          <p:nvPr>
            <p:ph idx="1"/>
          </p:nvPr>
        </p:nvSpPr>
        <p:spPr/>
        <p:txBody>
          <a:bodyPr vert="horz" lIns="91440" tIns="45720" rIns="91440" bIns="45720" rtlCol="0" anchor="t">
            <a:normAutofit/>
          </a:bodyPr>
          <a:lstStyle/>
          <a:p>
            <a:pPr marL="0" indent="0">
              <a:buNone/>
            </a:pPr>
            <a:r>
              <a:rPr lang="en-US" b="1">
                <a:latin typeface="Arial"/>
                <a:cs typeface="Arial"/>
              </a:rPr>
              <a:t>Answer:</a:t>
            </a:r>
            <a:r>
              <a:rPr lang="en-US">
                <a:latin typeface="Arial"/>
                <a:cs typeface="Arial"/>
              </a:rPr>
              <a:t> D. JAR</a:t>
            </a:r>
            <a:endParaRPr lang="en-US"/>
          </a:p>
          <a:p>
            <a:endParaRPr lang="en-US"/>
          </a:p>
        </p:txBody>
      </p:sp>
    </p:spTree>
    <p:extLst>
      <p:ext uri="{BB962C8B-B14F-4D97-AF65-F5344CB8AC3E}">
        <p14:creationId xmlns:p14="http://schemas.microsoft.com/office/powerpoint/2010/main" val="1804761810"/>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0DDAB-2004-562D-8DFE-498D83609121}"/>
              </a:ext>
            </a:extLst>
          </p:cNvPr>
          <p:cNvSpPr>
            <a:spLocks noGrp="1"/>
          </p:cNvSpPr>
          <p:nvPr>
            <p:ph type="title"/>
          </p:nvPr>
        </p:nvSpPr>
        <p:spPr/>
        <p:txBody>
          <a:bodyPr/>
          <a:lstStyle/>
          <a:p>
            <a:r>
              <a:rPr lang="en-US" sz="3600" b="1">
                <a:ea typeface="+mj-lt"/>
                <a:cs typeface="+mj-lt"/>
              </a:rPr>
              <a:t>Maven Project Structure (Standard Directory Layout)</a:t>
            </a:r>
            <a:endParaRPr lang="en-US" sz="3600" b="1"/>
          </a:p>
        </p:txBody>
      </p:sp>
      <p:pic>
        <p:nvPicPr>
          <p:cNvPr id="4" name="Content Placeholder 3" descr="A screen shot of a computer program&#10;&#10;Description automatically generated">
            <a:extLst>
              <a:ext uri="{FF2B5EF4-FFF2-40B4-BE49-F238E27FC236}">
                <a16:creationId xmlns:a16="http://schemas.microsoft.com/office/drawing/2014/main" id="{A86DFE92-5009-AC0C-056F-FB551F7A07A9}"/>
              </a:ext>
            </a:extLst>
          </p:cNvPr>
          <p:cNvPicPr>
            <a:picLocks noGrp="1" noChangeAspect="1"/>
          </p:cNvPicPr>
          <p:nvPr>
            <p:ph idx="1"/>
          </p:nvPr>
        </p:nvPicPr>
        <p:blipFill>
          <a:blip r:embed="rId2"/>
          <a:stretch>
            <a:fillRect/>
          </a:stretch>
        </p:blipFill>
        <p:spPr>
          <a:xfrm>
            <a:off x="836940" y="1943894"/>
            <a:ext cx="10518121" cy="4689894"/>
          </a:xfrm>
        </p:spPr>
      </p:pic>
    </p:spTree>
    <p:extLst>
      <p:ext uri="{BB962C8B-B14F-4D97-AF65-F5344CB8AC3E}">
        <p14:creationId xmlns:p14="http://schemas.microsoft.com/office/powerpoint/2010/main" val="22976891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77DB7-F0F3-9351-4DDD-FAEEA34E5CB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D134714-41CF-4D4A-BEEF-6FFEA1AC127B}"/>
              </a:ext>
            </a:extLst>
          </p:cNvPr>
          <p:cNvSpPr>
            <a:spLocks noGrp="1"/>
          </p:cNvSpPr>
          <p:nvPr>
            <p:ph idx="1"/>
          </p:nvPr>
        </p:nvSpPr>
        <p:spPr/>
        <p:txBody>
          <a:bodyPr vert="horz" lIns="91440" tIns="45720" rIns="91440" bIns="45720" rtlCol="0" anchor="t">
            <a:normAutofit/>
          </a:bodyPr>
          <a:lstStyle/>
          <a:p>
            <a:r>
              <a:rPr lang="en-US" sz="2400" b="1" err="1">
                <a:highlight>
                  <a:srgbClr val="FFFF00"/>
                </a:highlight>
                <a:ea typeface="+mn-lt"/>
                <a:cs typeface="+mn-lt"/>
              </a:rPr>
              <a:t>src</a:t>
            </a:r>
            <a:r>
              <a:rPr lang="en-US" sz="2400" b="1">
                <a:highlight>
                  <a:srgbClr val="FFFF00"/>
                </a:highlight>
                <a:ea typeface="+mn-lt"/>
                <a:cs typeface="+mn-lt"/>
              </a:rPr>
              <a:t>/main/java</a:t>
            </a:r>
            <a:r>
              <a:rPr lang="en-US" sz="2400">
                <a:highlight>
                  <a:srgbClr val="FFFF00"/>
                </a:highlight>
                <a:ea typeface="+mn-lt"/>
                <a:cs typeface="+mn-lt"/>
              </a:rPr>
              <a:t>: </a:t>
            </a:r>
            <a:r>
              <a:rPr lang="en-US" sz="2400">
                <a:ea typeface="+mn-lt"/>
                <a:cs typeface="+mn-lt"/>
              </a:rPr>
              <a:t>This directory contains the Java source code files of your application. They are typically organized under a package structure (</a:t>
            </a:r>
            <a:r>
              <a:rPr lang="en-US" sz="2400" err="1">
                <a:latin typeface="Consolas"/>
              </a:rPr>
              <a:t>com.example</a:t>
            </a:r>
            <a:r>
              <a:rPr lang="en-US" sz="2400">
                <a:ea typeface="+mn-lt"/>
                <a:cs typeface="+mn-lt"/>
              </a:rPr>
              <a:t> in this example).</a:t>
            </a:r>
            <a:endParaRPr lang="en-US" sz="2400"/>
          </a:p>
          <a:p>
            <a:endParaRPr lang="en-US" sz="2400" b="1">
              <a:ea typeface="+mn-lt"/>
              <a:cs typeface="+mn-lt"/>
            </a:endParaRPr>
          </a:p>
          <a:p>
            <a:r>
              <a:rPr lang="en-US" sz="2400" b="1" err="1">
                <a:highlight>
                  <a:srgbClr val="FFFF00"/>
                </a:highlight>
                <a:ea typeface="+mn-lt"/>
                <a:cs typeface="+mn-lt"/>
              </a:rPr>
              <a:t>src</a:t>
            </a:r>
            <a:r>
              <a:rPr lang="en-US" sz="2400" b="1">
                <a:highlight>
                  <a:srgbClr val="FFFF00"/>
                </a:highlight>
                <a:ea typeface="+mn-lt"/>
                <a:cs typeface="+mn-lt"/>
              </a:rPr>
              <a:t>/main/resources</a:t>
            </a:r>
            <a:r>
              <a:rPr lang="en-US" sz="2400">
                <a:highlight>
                  <a:srgbClr val="FFFF00"/>
                </a:highlight>
                <a:ea typeface="+mn-lt"/>
                <a:cs typeface="+mn-lt"/>
              </a:rPr>
              <a:t>:</a:t>
            </a:r>
            <a:r>
              <a:rPr lang="en-US" sz="2400">
                <a:ea typeface="+mn-lt"/>
                <a:cs typeface="+mn-lt"/>
              </a:rPr>
              <a:t> Configuration files and other resources that should be included in the packaged JAR or WAR file.</a:t>
            </a:r>
            <a:endParaRPr lang="en-US" sz="2400"/>
          </a:p>
          <a:p>
            <a:endParaRPr lang="en-US" sz="2400" b="1">
              <a:ea typeface="+mn-lt"/>
              <a:cs typeface="+mn-lt"/>
            </a:endParaRPr>
          </a:p>
          <a:p>
            <a:r>
              <a:rPr lang="en-US" sz="2400" b="1" err="1">
                <a:highlight>
                  <a:srgbClr val="FFFF00"/>
                </a:highlight>
                <a:ea typeface="+mn-lt"/>
                <a:cs typeface="+mn-lt"/>
              </a:rPr>
              <a:t>src</a:t>
            </a:r>
            <a:r>
              <a:rPr lang="en-US" sz="2400" b="1">
                <a:highlight>
                  <a:srgbClr val="FFFF00"/>
                </a:highlight>
                <a:ea typeface="+mn-lt"/>
                <a:cs typeface="+mn-lt"/>
              </a:rPr>
              <a:t>/test/java</a:t>
            </a:r>
            <a:r>
              <a:rPr lang="en-US" sz="2400">
                <a:ea typeface="+mn-lt"/>
                <a:cs typeface="+mn-lt"/>
              </a:rPr>
              <a:t>: Test source code files, following a similar structure to </a:t>
            </a:r>
            <a:r>
              <a:rPr lang="en-US" sz="2400" err="1">
                <a:latin typeface="Consolas"/>
              </a:rPr>
              <a:t>src</a:t>
            </a:r>
            <a:r>
              <a:rPr lang="en-US" sz="2400">
                <a:latin typeface="Consolas"/>
              </a:rPr>
              <a:t>/main/java</a:t>
            </a:r>
            <a:r>
              <a:rPr lang="en-US" sz="2400">
                <a:ea typeface="+mn-lt"/>
                <a:cs typeface="+mn-lt"/>
              </a:rPr>
              <a:t>. These are used for unit testing and integration testing.</a:t>
            </a:r>
            <a:endParaRPr lang="en-US" sz="2400"/>
          </a:p>
        </p:txBody>
      </p:sp>
    </p:spTree>
    <p:extLst>
      <p:ext uri="{BB962C8B-B14F-4D97-AF65-F5344CB8AC3E}">
        <p14:creationId xmlns:p14="http://schemas.microsoft.com/office/powerpoint/2010/main" val="20168485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E6F9A-C2F2-1FD3-1327-316993881F2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20BDC58-D892-C010-B40B-0F7D6D187936}"/>
              </a:ext>
            </a:extLst>
          </p:cNvPr>
          <p:cNvSpPr>
            <a:spLocks noGrp="1"/>
          </p:cNvSpPr>
          <p:nvPr>
            <p:ph idx="1"/>
          </p:nvPr>
        </p:nvSpPr>
        <p:spPr/>
        <p:txBody>
          <a:bodyPr vert="horz" lIns="91440" tIns="45720" rIns="91440" bIns="45720" rtlCol="0" anchor="t">
            <a:normAutofit/>
          </a:bodyPr>
          <a:lstStyle/>
          <a:p>
            <a:r>
              <a:rPr lang="en-US" sz="2400" b="1" err="1">
                <a:highlight>
                  <a:srgbClr val="FFFF00"/>
                </a:highlight>
                <a:latin typeface="Arial"/>
                <a:cs typeface="Arial"/>
              </a:rPr>
              <a:t>src</a:t>
            </a:r>
            <a:r>
              <a:rPr lang="en-US" sz="2400" b="1">
                <a:highlight>
                  <a:srgbClr val="FFFF00"/>
                </a:highlight>
                <a:latin typeface="Arial"/>
                <a:cs typeface="Arial"/>
              </a:rPr>
              <a:t>/test/resources</a:t>
            </a:r>
            <a:r>
              <a:rPr lang="en-US" sz="2400">
                <a:highlight>
                  <a:srgbClr val="FFFF00"/>
                </a:highlight>
                <a:latin typeface="Arial"/>
                <a:cs typeface="Arial"/>
              </a:rPr>
              <a:t>:</a:t>
            </a:r>
            <a:r>
              <a:rPr lang="en-US" sz="2400">
                <a:latin typeface="Arial"/>
                <a:cs typeface="Arial"/>
              </a:rPr>
              <a:t> Resources for testing purposes, such as test data files.</a:t>
            </a:r>
          </a:p>
          <a:p>
            <a:endParaRPr lang="en-US" sz="2400" b="1">
              <a:latin typeface="Arial"/>
              <a:cs typeface="Arial"/>
            </a:endParaRPr>
          </a:p>
          <a:p>
            <a:r>
              <a:rPr lang="en-US" sz="2400" b="1">
                <a:highlight>
                  <a:srgbClr val="FFFF00"/>
                </a:highlight>
                <a:latin typeface="Arial"/>
                <a:cs typeface="Arial"/>
              </a:rPr>
              <a:t>pom.xml</a:t>
            </a:r>
            <a:r>
              <a:rPr lang="en-US" sz="2400">
                <a:highlight>
                  <a:srgbClr val="FFFF00"/>
                </a:highlight>
                <a:latin typeface="Arial"/>
                <a:cs typeface="Arial"/>
              </a:rPr>
              <a:t>:</a:t>
            </a:r>
            <a:r>
              <a:rPr lang="en-US" sz="2400">
                <a:latin typeface="Arial"/>
                <a:cs typeface="Arial"/>
              </a:rPr>
              <a:t> The Project Object Model (POM) file for Maven. It contains configuration details about the project and its dependencies.</a:t>
            </a:r>
            <a:endParaRPr lang="en-US"/>
          </a:p>
          <a:p>
            <a:endParaRPr lang="en-US" sz="2400">
              <a:latin typeface="Arial"/>
              <a:cs typeface="Arial"/>
            </a:endParaRPr>
          </a:p>
          <a:p>
            <a:r>
              <a:rPr lang="en-US" sz="2400" b="1">
                <a:latin typeface="Arial"/>
                <a:cs typeface="Arial"/>
              </a:rPr>
              <a:t>README.md</a:t>
            </a:r>
            <a:r>
              <a:rPr lang="en-US" sz="2400">
                <a:latin typeface="Arial"/>
                <a:cs typeface="Arial"/>
              </a:rPr>
              <a:t>: Documentation file that typically provides information about the project, how to set it up, and how to use it.</a:t>
            </a:r>
          </a:p>
          <a:p>
            <a:endParaRPr lang="en-US"/>
          </a:p>
        </p:txBody>
      </p:sp>
    </p:spTree>
    <p:extLst>
      <p:ext uri="{BB962C8B-B14F-4D97-AF65-F5344CB8AC3E}">
        <p14:creationId xmlns:p14="http://schemas.microsoft.com/office/powerpoint/2010/main" val="14780581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0741A-C7C9-98DF-E87B-291E5A8C67C2}"/>
              </a:ext>
            </a:extLst>
          </p:cNvPr>
          <p:cNvSpPr>
            <a:spLocks noGrp="1"/>
          </p:cNvSpPr>
          <p:nvPr>
            <p:ph type="title"/>
          </p:nvPr>
        </p:nvSpPr>
        <p:spPr/>
        <p:txBody>
          <a:bodyPr/>
          <a:lstStyle/>
          <a:p>
            <a:r>
              <a:rPr lang="en-US">
                <a:highlight>
                  <a:srgbClr val="FFFF00"/>
                </a:highlight>
                <a:ea typeface="+mj-lt"/>
                <a:cs typeface="+mj-lt"/>
              </a:rPr>
              <a:t>POM (Project Object Model) File Structure</a:t>
            </a:r>
            <a:endParaRPr lang="en-US">
              <a:highlight>
                <a:srgbClr val="FFFF00"/>
              </a:highlight>
            </a:endParaRPr>
          </a:p>
        </p:txBody>
      </p:sp>
      <p:sp>
        <p:nvSpPr>
          <p:cNvPr id="3" name="Content Placeholder 2">
            <a:extLst>
              <a:ext uri="{FF2B5EF4-FFF2-40B4-BE49-F238E27FC236}">
                <a16:creationId xmlns:a16="http://schemas.microsoft.com/office/drawing/2014/main" id="{83D02B42-A285-912B-CB00-004D2E42520D}"/>
              </a:ext>
            </a:extLst>
          </p:cNvPr>
          <p:cNvSpPr>
            <a:spLocks noGrp="1"/>
          </p:cNvSpPr>
          <p:nvPr>
            <p:ph idx="1"/>
          </p:nvPr>
        </p:nvSpPr>
        <p:spPr/>
        <p:txBody>
          <a:bodyPr vert="horz" lIns="91440" tIns="45720" rIns="91440" bIns="45720" rtlCol="0" anchor="t">
            <a:normAutofit/>
          </a:bodyPr>
          <a:lstStyle/>
          <a:p>
            <a:pPr algn="just"/>
            <a:r>
              <a:rPr lang="en-US" sz="2400">
                <a:solidFill>
                  <a:srgbClr val="333333"/>
                </a:solidFill>
                <a:ea typeface="+mn-lt"/>
                <a:cs typeface="+mn-lt"/>
              </a:rPr>
              <a:t>The pom.xml file contains information of project and configuration information for the maven to build the project such as dependencies, build directory, source directory, test source directory, plugin, goals etc.</a:t>
            </a:r>
            <a:endParaRPr lang="en-US" sz="2400"/>
          </a:p>
          <a:p>
            <a:pPr algn="just"/>
            <a:endParaRPr lang="en-US" sz="2400">
              <a:solidFill>
                <a:srgbClr val="333333"/>
              </a:solidFill>
              <a:ea typeface="+mn-lt"/>
              <a:cs typeface="+mn-lt"/>
            </a:endParaRPr>
          </a:p>
          <a:p>
            <a:pPr algn="just"/>
            <a:r>
              <a:rPr lang="en-US" sz="2400">
                <a:solidFill>
                  <a:srgbClr val="333333"/>
                </a:solidFill>
                <a:ea typeface="+mn-lt"/>
                <a:cs typeface="+mn-lt"/>
              </a:rPr>
              <a:t>Maven reads the pom.xml file, then executes the goal.</a:t>
            </a:r>
            <a:endParaRPr lang="en-US" sz="2400"/>
          </a:p>
          <a:p>
            <a:pPr algn="just"/>
            <a:endParaRPr lang="en-US" sz="2400">
              <a:solidFill>
                <a:srgbClr val="333333"/>
              </a:solidFill>
              <a:ea typeface="+mn-lt"/>
              <a:cs typeface="+mn-lt"/>
            </a:endParaRPr>
          </a:p>
          <a:p>
            <a:pPr algn="just"/>
            <a:r>
              <a:rPr lang="en-US" sz="2400" b="1">
                <a:solidFill>
                  <a:srgbClr val="333333"/>
                </a:solidFill>
                <a:highlight>
                  <a:srgbClr val="FFFF00"/>
                </a:highlight>
                <a:ea typeface="+mn-lt"/>
                <a:cs typeface="+mn-lt"/>
              </a:rPr>
              <a:t>Before maven 2, it was named as project.xml file.</a:t>
            </a:r>
            <a:r>
              <a:rPr lang="en-US" sz="2400" b="1">
                <a:solidFill>
                  <a:srgbClr val="333333"/>
                </a:solidFill>
                <a:ea typeface="+mn-lt"/>
                <a:cs typeface="+mn-lt"/>
              </a:rPr>
              <a:t> </a:t>
            </a:r>
            <a:endParaRPr lang="en-US" sz="2400" b="1">
              <a:solidFill>
                <a:srgbClr val="000000"/>
              </a:solidFill>
              <a:ea typeface="+mn-lt"/>
              <a:cs typeface="+mn-lt"/>
            </a:endParaRPr>
          </a:p>
          <a:p>
            <a:pPr algn="just"/>
            <a:endParaRPr lang="en-US" sz="2400">
              <a:solidFill>
                <a:srgbClr val="333333"/>
              </a:solidFill>
              <a:ea typeface="+mn-lt"/>
              <a:cs typeface="+mn-lt"/>
            </a:endParaRPr>
          </a:p>
          <a:p>
            <a:pPr algn="just"/>
            <a:r>
              <a:rPr lang="en-US" sz="2400">
                <a:solidFill>
                  <a:srgbClr val="333333"/>
                </a:solidFill>
                <a:ea typeface="+mn-lt"/>
                <a:cs typeface="+mn-lt"/>
              </a:rPr>
              <a:t>But, since maven 2 (also in maven 3), it is renamed as pom.xml.</a:t>
            </a:r>
            <a:endParaRPr lang="en-US" sz="2400"/>
          </a:p>
        </p:txBody>
      </p:sp>
    </p:spTree>
    <p:extLst>
      <p:ext uri="{BB962C8B-B14F-4D97-AF65-F5344CB8AC3E}">
        <p14:creationId xmlns:p14="http://schemas.microsoft.com/office/powerpoint/2010/main" val="11175904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2FAA2-5583-E76A-544D-DDAA7C8EF53B}"/>
              </a:ext>
            </a:extLst>
          </p:cNvPr>
          <p:cNvSpPr>
            <a:spLocks noGrp="1"/>
          </p:cNvSpPr>
          <p:nvPr>
            <p:ph type="title"/>
          </p:nvPr>
        </p:nvSpPr>
        <p:spPr/>
        <p:txBody>
          <a:bodyPr>
            <a:normAutofit/>
          </a:bodyPr>
          <a:lstStyle/>
          <a:p>
            <a:pPr algn="just"/>
            <a:r>
              <a:rPr lang="en-US">
                <a:solidFill>
                  <a:srgbClr val="610B38"/>
                </a:solidFill>
              </a:rPr>
              <a:t>Elements of maven pom.xml file</a:t>
            </a:r>
            <a:endParaRPr lang="en-US"/>
          </a:p>
        </p:txBody>
      </p:sp>
      <p:graphicFrame>
        <p:nvGraphicFramePr>
          <p:cNvPr id="5" name="Content Placeholder 4">
            <a:extLst>
              <a:ext uri="{FF2B5EF4-FFF2-40B4-BE49-F238E27FC236}">
                <a16:creationId xmlns:a16="http://schemas.microsoft.com/office/drawing/2014/main" id="{2AF2E672-16AF-647E-CAFF-55890B8ACF83}"/>
              </a:ext>
            </a:extLst>
          </p:cNvPr>
          <p:cNvGraphicFramePr>
            <a:graphicFrameLocks noGrp="1"/>
          </p:cNvGraphicFramePr>
          <p:nvPr>
            <p:ph idx="1"/>
            <p:extLst/>
          </p:nvPr>
        </p:nvGraphicFramePr>
        <p:xfrm>
          <a:off x="301924" y="1452113"/>
          <a:ext cx="11346894" cy="5140282"/>
        </p:xfrm>
        <a:graphic>
          <a:graphicData uri="http://schemas.openxmlformats.org/drawingml/2006/table">
            <a:tbl>
              <a:tblPr bandRow="1">
                <a:tableStyleId>{5C22544A-7EE6-4342-B048-85BDC9FD1C3A}</a:tableStyleId>
              </a:tblPr>
              <a:tblGrid>
                <a:gridCol w="2466716">
                  <a:extLst>
                    <a:ext uri="{9D8B030D-6E8A-4147-A177-3AD203B41FA5}">
                      <a16:colId xmlns:a16="http://schemas.microsoft.com/office/drawing/2014/main" val="976033643"/>
                    </a:ext>
                  </a:extLst>
                </a:gridCol>
                <a:gridCol w="8880178">
                  <a:extLst>
                    <a:ext uri="{9D8B030D-6E8A-4147-A177-3AD203B41FA5}">
                      <a16:colId xmlns:a16="http://schemas.microsoft.com/office/drawing/2014/main" val="2559932725"/>
                    </a:ext>
                  </a:extLst>
                </a:gridCol>
              </a:tblGrid>
              <a:tr h="518821">
                <a:tc>
                  <a:txBody>
                    <a:bodyPr/>
                    <a:lstStyle/>
                    <a:p>
                      <a:pPr algn="ctr" fontAlgn="t"/>
                      <a:r>
                        <a:rPr lang="en-US" sz="2400" b="1">
                          <a:solidFill>
                            <a:srgbClr val="000000"/>
                          </a:solidFill>
                          <a:effectLst/>
                          <a:latin typeface="times new roman"/>
                        </a:rPr>
                        <a:t>Element</a:t>
                      </a:r>
                    </a:p>
                  </a:txBody>
                  <a:tcPr marL="114300" marR="114300" marT="114300" marB="1143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ctr" fontAlgn="t"/>
                      <a:r>
                        <a:rPr lang="en-US" sz="2400" b="1">
                          <a:solidFill>
                            <a:srgbClr val="000000"/>
                          </a:solidFill>
                          <a:effectLst/>
                          <a:latin typeface="times new roman"/>
                        </a:rPr>
                        <a:t>Description</a:t>
                      </a:r>
                    </a:p>
                  </a:txBody>
                  <a:tcPr marL="114300" marR="114300" marT="114300" marB="1143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827127218"/>
                  </a:ext>
                </a:extLst>
              </a:tr>
              <a:tr h="451149">
                <a:tc>
                  <a:txBody>
                    <a:bodyPr/>
                    <a:lstStyle/>
                    <a:p>
                      <a:pPr algn="just" fontAlgn="t"/>
                      <a:r>
                        <a:rPr lang="en-US" sz="2400" b="1">
                          <a:effectLst/>
                          <a:latin typeface="inter-bold"/>
                        </a:rPr>
                        <a:t>project</a:t>
                      </a:r>
                      <a:endParaRPr lang="en-US" sz="2400">
                        <a:effectLst/>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400">
                          <a:effectLst/>
                        </a:rPr>
                        <a:t>It is the root element of pom.xml file.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63434829"/>
                  </a:ext>
                </a:extLst>
              </a:tr>
              <a:tr h="766954">
                <a:tc>
                  <a:txBody>
                    <a:bodyPr/>
                    <a:lstStyle/>
                    <a:p>
                      <a:pPr algn="just" fontAlgn="t"/>
                      <a:r>
                        <a:rPr lang="en-US" sz="2400" b="1" err="1">
                          <a:effectLst/>
                          <a:latin typeface="inter-bold"/>
                        </a:rPr>
                        <a:t>modelVersion</a:t>
                      </a:r>
                      <a:endParaRPr lang="en-US" sz="2400">
                        <a:effectLst/>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400">
                          <a:effectLst/>
                        </a:rPr>
                        <a:t>It is the sub element of project. It specifies the </a:t>
                      </a:r>
                      <a:r>
                        <a:rPr lang="en-US" sz="2400" err="1">
                          <a:effectLst/>
                        </a:rPr>
                        <a:t>modelVersion</a:t>
                      </a:r>
                      <a:r>
                        <a:rPr lang="en-US" sz="2400">
                          <a:effectLst/>
                        </a:rPr>
                        <a:t>. It should be set to 4.0.0.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260079372"/>
                  </a:ext>
                </a:extLst>
              </a:tr>
              <a:tr h="766954">
                <a:tc>
                  <a:txBody>
                    <a:bodyPr/>
                    <a:lstStyle/>
                    <a:p>
                      <a:pPr algn="just" fontAlgn="t"/>
                      <a:r>
                        <a:rPr lang="en-US" sz="2400" b="1" err="1">
                          <a:effectLst/>
                          <a:latin typeface="inter-bold"/>
                        </a:rPr>
                        <a:t>groupId</a:t>
                      </a:r>
                      <a:endParaRPr lang="en-US" sz="2400">
                        <a:effectLst/>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400">
                          <a:effectLst/>
                        </a:rPr>
                        <a:t>It is the sub element of project. It specifies the id for the project group.</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511683741"/>
                  </a:ext>
                </a:extLst>
              </a:tr>
              <a:tr h="1376002">
                <a:tc>
                  <a:txBody>
                    <a:bodyPr/>
                    <a:lstStyle/>
                    <a:p>
                      <a:pPr algn="just" fontAlgn="t"/>
                      <a:r>
                        <a:rPr lang="en-US" sz="2400" b="1" err="1">
                          <a:effectLst/>
                          <a:latin typeface="inter-bold"/>
                        </a:rPr>
                        <a:t>artifactId</a:t>
                      </a:r>
                      <a:endParaRPr lang="en-US" sz="2400">
                        <a:effectLst/>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400">
                          <a:effectLst/>
                        </a:rPr>
                        <a:t>It is the sub element of project. It specifies the id for the artifact (project). </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045287554"/>
                  </a:ext>
                </a:extLst>
              </a:tr>
              <a:tr h="766954">
                <a:tc>
                  <a:txBody>
                    <a:bodyPr/>
                    <a:lstStyle/>
                    <a:p>
                      <a:pPr algn="just" fontAlgn="t"/>
                      <a:r>
                        <a:rPr lang="en-US" sz="2400" b="1">
                          <a:effectLst/>
                          <a:latin typeface="inter-bold"/>
                        </a:rPr>
                        <a:t>version</a:t>
                      </a:r>
                      <a:endParaRPr lang="en-US" sz="2400">
                        <a:effectLst/>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400">
                          <a:effectLst/>
                        </a:rPr>
                        <a:t>It is the sub element of project. It specifies the version of the artifact under given group.</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436019580"/>
                  </a:ext>
                </a:extLst>
              </a:tr>
            </a:tbl>
          </a:graphicData>
        </a:graphic>
      </p:graphicFrame>
    </p:spTree>
    <p:extLst>
      <p:ext uri="{BB962C8B-B14F-4D97-AF65-F5344CB8AC3E}">
        <p14:creationId xmlns:p14="http://schemas.microsoft.com/office/powerpoint/2010/main" val="13041188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272A4-F5EB-D15F-28CD-9AEBB865C8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42ADE57-A0FF-1409-51AD-F578525396A7}"/>
              </a:ext>
            </a:extLst>
          </p:cNvPr>
          <p:cNvSpPr>
            <a:spLocks noGrp="1"/>
          </p:cNvSpPr>
          <p:nvPr>
            <p:ph idx="1"/>
          </p:nvPr>
        </p:nvSpPr>
        <p:spPr>
          <a:xfrm>
            <a:off x="234351" y="1825625"/>
            <a:ext cx="11737675" cy="4351338"/>
          </a:xfrm>
        </p:spPr>
        <p:txBody>
          <a:bodyPr vert="horz" lIns="91440" tIns="45720" rIns="91440" bIns="45720" rtlCol="0" anchor="t">
            <a:noAutofit/>
          </a:bodyPr>
          <a:lstStyle/>
          <a:p>
            <a:pPr marL="0" indent="0">
              <a:buNone/>
            </a:pPr>
            <a:r>
              <a:rPr lang="en-US" sz="1800" b="1">
                <a:latin typeface="Consolas"/>
              </a:rPr>
              <a:t>&lt;?xml version="1.0" encoding="UTF-8"?&gt;</a:t>
            </a:r>
            <a:br>
              <a:rPr lang="en-US" sz="1800" b="1">
                <a:latin typeface="Consolas"/>
              </a:rPr>
            </a:br>
            <a:r>
              <a:rPr lang="en-US" sz="1800" b="1">
                <a:latin typeface="Consolas"/>
              </a:rPr>
              <a:t>&lt;project </a:t>
            </a:r>
            <a:r>
              <a:rPr lang="en-US" sz="1800" b="1" err="1">
                <a:latin typeface="Consolas"/>
              </a:rPr>
              <a:t>xmlns</a:t>
            </a:r>
            <a:r>
              <a:rPr lang="en-US" sz="1800" b="1">
                <a:latin typeface="Consolas"/>
              </a:rPr>
              <a:t>="http://maven.apache.org/POM/4.0.0"</a:t>
            </a:r>
            <a:br>
              <a:rPr lang="en-US" sz="1800" b="1">
                <a:latin typeface="Consolas"/>
              </a:rPr>
            </a:br>
            <a:r>
              <a:rPr lang="en-US" sz="1800" b="1">
                <a:latin typeface="Consolas"/>
              </a:rPr>
              <a:t>         </a:t>
            </a:r>
            <a:r>
              <a:rPr lang="en-US" sz="1800" b="1" err="1">
                <a:latin typeface="Consolas"/>
              </a:rPr>
              <a:t>xmlns:xsi</a:t>
            </a:r>
            <a:r>
              <a:rPr lang="en-US" sz="1800" b="1">
                <a:latin typeface="Consolas"/>
              </a:rPr>
              <a:t>="http://www.w3.org/2001/XMLSchema-instance"</a:t>
            </a:r>
            <a:br>
              <a:rPr lang="en-US" sz="1800" b="1">
                <a:latin typeface="Consolas"/>
              </a:rPr>
            </a:br>
            <a:r>
              <a:rPr lang="en-US" sz="1800" b="1">
                <a:latin typeface="Consolas"/>
              </a:rPr>
              <a:t>         </a:t>
            </a:r>
            <a:r>
              <a:rPr lang="en-US" sz="1800" b="1" err="1">
                <a:latin typeface="Consolas"/>
              </a:rPr>
              <a:t>xsi:schemaLocation</a:t>
            </a:r>
            <a:r>
              <a:rPr lang="en-US" sz="1800" b="1">
                <a:latin typeface="Consolas"/>
              </a:rPr>
              <a:t>="http://maven.apache.org/POM/4.0.0 </a:t>
            </a:r>
            <a:r>
              <a:rPr lang="en-US" sz="1800" b="1">
                <a:latin typeface="Consolas"/>
                <a:hlinkClick r:id="rId2">
                  <a:extLst>
                    <a:ext uri="{A12FA001-AC4F-418D-AE19-62706E023703}">
                      <ahyp:hlinkClr xmlns:ahyp="http://schemas.microsoft.com/office/drawing/2018/hyperlinkcolor" xmlns="" val="tx"/>
                    </a:ext>
                  </a:extLst>
                </a:hlinkClick>
              </a:rPr>
              <a:t>http://maven.apache.org/xsd/maven-4.0.0.xsd</a:t>
            </a:r>
            <a:r>
              <a:rPr lang="en-US" sz="1800" b="1">
                <a:latin typeface="Consolas"/>
              </a:rPr>
              <a:t>"&gt;</a:t>
            </a:r>
            <a:br>
              <a:rPr lang="en-US" sz="1800" b="1">
                <a:latin typeface="Consolas"/>
              </a:rPr>
            </a:br>
            <a:r>
              <a:rPr lang="en-US" sz="1800" b="1">
                <a:latin typeface="Consolas"/>
              </a:rPr>
              <a:t/>
            </a:r>
            <a:br>
              <a:rPr lang="en-US" sz="1800" b="1">
                <a:latin typeface="Consolas"/>
              </a:rPr>
            </a:br>
            <a:r>
              <a:rPr lang="en-US" sz="1800" b="1">
                <a:latin typeface="Consolas"/>
              </a:rPr>
              <a:t>    </a:t>
            </a:r>
            <a:r>
              <a:rPr lang="en-US" sz="1800">
                <a:latin typeface="Consolas"/>
              </a:rPr>
              <a:t>&lt;!-- Project metadata --&gt;</a:t>
            </a:r>
            <a:r>
              <a:rPr lang="en-US" sz="1800" b="1">
                <a:latin typeface="Consolas"/>
              </a:rPr>
              <a:t/>
            </a:r>
            <a:br>
              <a:rPr lang="en-US" sz="1800" b="1">
                <a:latin typeface="Consolas"/>
              </a:rPr>
            </a:br>
            <a:r>
              <a:rPr lang="en-US" sz="1800" b="1">
                <a:latin typeface="Consolas"/>
              </a:rPr>
              <a:t>    &lt;</a:t>
            </a:r>
            <a:r>
              <a:rPr lang="en-US" sz="1800" b="1" err="1">
                <a:latin typeface="Consolas"/>
              </a:rPr>
              <a:t>modelVersion</a:t>
            </a:r>
            <a:r>
              <a:rPr lang="en-US" sz="1800" b="1">
                <a:latin typeface="Consolas"/>
              </a:rPr>
              <a:t>&gt;4.0.0&lt;/</a:t>
            </a:r>
            <a:r>
              <a:rPr lang="en-US" sz="1800" b="1" err="1">
                <a:latin typeface="Consolas"/>
              </a:rPr>
              <a:t>modelVersion</a:t>
            </a:r>
            <a:r>
              <a:rPr lang="en-US" sz="1800" b="1">
                <a:latin typeface="Consolas"/>
              </a:rPr>
              <a:t>&gt;</a:t>
            </a:r>
            <a:br>
              <a:rPr lang="en-US" sz="1800" b="1">
                <a:latin typeface="Consolas"/>
              </a:rPr>
            </a:br>
            <a:r>
              <a:rPr lang="en-US" sz="1800" b="1">
                <a:latin typeface="Consolas"/>
              </a:rPr>
              <a:t/>
            </a:r>
            <a:br>
              <a:rPr lang="en-US" sz="1800" b="1">
                <a:latin typeface="Consolas"/>
              </a:rPr>
            </a:br>
            <a:r>
              <a:rPr lang="en-US" sz="1800" b="1">
                <a:latin typeface="Consolas"/>
              </a:rPr>
              <a:t>    &lt;</a:t>
            </a:r>
            <a:r>
              <a:rPr lang="en-US" sz="1800" b="1" err="1">
                <a:latin typeface="Consolas"/>
              </a:rPr>
              <a:t>groupId</a:t>
            </a:r>
            <a:r>
              <a:rPr lang="en-US" sz="1800" b="1">
                <a:latin typeface="Consolas"/>
              </a:rPr>
              <a:t>&gt;</a:t>
            </a:r>
            <a:r>
              <a:rPr lang="en-US" sz="1800" b="1" err="1">
                <a:latin typeface="Consolas"/>
              </a:rPr>
              <a:t>org.example</a:t>
            </a:r>
            <a:r>
              <a:rPr lang="en-US" sz="1800" b="1">
                <a:latin typeface="Consolas"/>
              </a:rPr>
              <a:t>&lt;/</a:t>
            </a:r>
            <a:r>
              <a:rPr lang="en-US" sz="1800" b="1" err="1">
                <a:latin typeface="Consolas"/>
              </a:rPr>
              <a:t>groupId</a:t>
            </a:r>
            <a:r>
              <a:rPr lang="en-US" sz="1800" b="1">
                <a:latin typeface="Consolas"/>
              </a:rPr>
              <a:t>&gt;</a:t>
            </a:r>
            <a:br>
              <a:rPr lang="en-US" sz="1800" b="1">
                <a:latin typeface="Consolas"/>
              </a:rPr>
            </a:br>
            <a:r>
              <a:rPr lang="en-US" sz="1800" b="1">
                <a:latin typeface="Consolas"/>
              </a:rPr>
              <a:t>    &lt;</a:t>
            </a:r>
            <a:r>
              <a:rPr lang="en-US" sz="1800" b="1" err="1">
                <a:latin typeface="Consolas"/>
              </a:rPr>
              <a:t>artifactId</a:t>
            </a:r>
            <a:r>
              <a:rPr lang="en-US" sz="1800" b="1">
                <a:latin typeface="Consolas"/>
              </a:rPr>
              <a:t>&gt;</a:t>
            </a:r>
            <a:r>
              <a:rPr lang="en-US" sz="1800" b="1" err="1">
                <a:latin typeface="Consolas"/>
              </a:rPr>
              <a:t>MavenDemo</a:t>
            </a:r>
            <a:r>
              <a:rPr lang="en-US" sz="1800" b="1">
                <a:latin typeface="Consolas"/>
              </a:rPr>
              <a:t>&lt;/</a:t>
            </a:r>
            <a:r>
              <a:rPr lang="en-US" sz="1800" b="1" err="1">
                <a:latin typeface="Consolas"/>
              </a:rPr>
              <a:t>artifactId</a:t>
            </a:r>
            <a:r>
              <a:rPr lang="en-US" sz="1800" b="1">
                <a:latin typeface="Consolas"/>
              </a:rPr>
              <a:t>&gt;</a:t>
            </a:r>
            <a:br>
              <a:rPr lang="en-US" sz="1800" b="1">
                <a:latin typeface="Consolas"/>
              </a:rPr>
            </a:br>
            <a:r>
              <a:rPr lang="en-US" sz="1800" b="1">
                <a:latin typeface="Consolas"/>
              </a:rPr>
              <a:t>    &lt;version&gt;1.0-SNAPSHOT&lt;/version&gt;</a:t>
            </a:r>
            <a:br>
              <a:rPr lang="en-US" sz="1800" b="1">
                <a:latin typeface="Consolas"/>
              </a:rPr>
            </a:br>
            <a:r>
              <a:rPr lang="en-US" sz="1800" b="1">
                <a:latin typeface="Consolas"/>
              </a:rPr>
              <a:t/>
            </a:r>
            <a:br>
              <a:rPr lang="en-US" sz="1800" b="1">
                <a:latin typeface="Consolas"/>
              </a:rPr>
            </a:br>
            <a:r>
              <a:rPr lang="en-US" sz="1800" b="1">
                <a:latin typeface="Consolas"/>
              </a:rPr>
              <a:t>    &lt;properties&gt;</a:t>
            </a:r>
            <a:br>
              <a:rPr lang="en-US" sz="1800" b="1">
                <a:latin typeface="Consolas"/>
              </a:rPr>
            </a:br>
            <a:r>
              <a:rPr lang="en-US" sz="1800" b="1">
                <a:latin typeface="Consolas"/>
              </a:rPr>
              <a:t>        &lt;</a:t>
            </a:r>
            <a:r>
              <a:rPr lang="en-US" sz="1800" b="1" err="1">
                <a:latin typeface="Consolas"/>
              </a:rPr>
              <a:t>maven.compiler.source</a:t>
            </a:r>
            <a:r>
              <a:rPr lang="en-US" sz="1800" b="1">
                <a:latin typeface="Consolas"/>
              </a:rPr>
              <a:t>&gt;22&lt;/</a:t>
            </a:r>
            <a:r>
              <a:rPr lang="en-US" sz="1800" b="1" err="1">
                <a:latin typeface="Consolas"/>
              </a:rPr>
              <a:t>maven.compiler.source</a:t>
            </a:r>
            <a:r>
              <a:rPr lang="en-US" sz="1800" b="1">
                <a:latin typeface="Consolas"/>
              </a:rPr>
              <a:t>&gt;</a:t>
            </a:r>
            <a:br>
              <a:rPr lang="en-US" sz="1800" b="1">
                <a:latin typeface="Consolas"/>
              </a:rPr>
            </a:br>
            <a:r>
              <a:rPr lang="en-US" sz="1800" b="1">
                <a:latin typeface="Consolas"/>
              </a:rPr>
              <a:t>        &lt;</a:t>
            </a:r>
            <a:r>
              <a:rPr lang="en-US" sz="1800" b="1" err="1">
                <a:latin typeface="Consolas"/>
              </a:rPr>
              <a:t>maven.compiler.target</a:t>
            </a:r>
            <a:r>
              <a:rPr lang="en-US" sz="1800" b="1">
                <a:latin typeface="Consolas"/>
              </a:rPr>
              <a:t>&gt;22&lt;/</a:t>
            </a:r>
            <a:r>
              <a:rPr lang="en-US" sz="1800" b="1" err="1">
                <a:latin typeface="Consolas"/>
              </a:rPr>
              <a:t>maven.compiler.target</a:t>
            </a:r>
            <a:r>
              <a:rPr lang="en-US" sz="1800" b="1">
                <a:latin typeface="Consolas"/>
              </a:rPr>
              <a:t>&gt;</a:t>
            </a:r>
            <a:br>
              <a:rPr lang="en-US" sz="1800" b="1">
                <a:latin typeface="Consolas"/>
              </a:rPr>
            </a:br>
            <a:r>
              <a:rPr lang="en-US" sz="1800" b="1">
                <a:latin typeface="Consolas"/>
              </a:rPr>
              <a:t>        &lt;</a:t>
            </a:r>
            <a:r>
              <a:rPr lang="en-US" sz="1800" b="1" err="1">
                <a:latin typeface="Consolas"/>
              </a:rPr>
              <a:t>project.build.sourceEncoding</a:t>
            </a:r>
            <a:r>
              <a:rPr lang="en-US" sz="1800" b="1">
                <a:latin typeface="Consolas"/>
              </a:rPr>
              <a:t>&gt;UTF-8&lt;/</a:t>
            </a:r>
            <a:r>
              <a:rPr lang="en-US" sz="1800" b="1" err="1">
                <a:latin typeface="Consolas"/>
              </a:rPr>
              <a:t>project.build.sourceEncoding</a:t>
            </a:r>
            <a:r>
              <a:rPr lang="en-US" sz="1800" b="1">
                <a:latin typeface="Consolas"/>
              </a:rPr>
              <a:t>&gt;</a:t>
            </a:r>
            <a:br>
              <a:rPr lang="en-US" sz="1800" b="1">
                <a:latin typeface="Consolas"/>
              </a:rPr>
            </a:br>
            <a:r>
              <a:rPr lang="en-US" sz="1800" b="1">
                <a:latin typeface="Consolas"/>
              </a:rPr>
              <a:t>    &lt;/properties&gt;</a:t>
            </a:r>
            <a:br>
              <a:rPr lang="en-US" sz="1800" b="1">
                <a:latin typeface="Consolas"/>
              </a:rPr>
            </a:br>
            <a:r>
              <a:rPr lang="en-US" sz="1800" b="1">
                <a:latin typeface="Consolas"/>
              </a:rPr>
              <a:t>&lt;/project&gt;</a:t>
            </a:r>
            <a:endParaRPr lang="en-US" sz="1800" b="1"/>
          </a:p>
          <a:p>
            <a:pPr marL="0" indent="0">
              <a:buNone/>
            </a:pPr>
            <a:endParaRPr lang="en-US" sz="5400" b="1"/>
          </a:p>
        </p:txBody>
      </p:sp>
    </p:spTree>
    <p:extLst>
      <p:ext uri="{BB962C8B-B14F-4D97-AF65-F5344CB8AC3E}">
        <p14:creationId xmlns:p14="http://schemas.microsoft.com/office/powerpoint/2010/main" val="5921480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05AFC-2785-D511-26AB-DFEF2614C7AC}"/>
              </a:ext>
            </a:extLst>
          </p:cNvPr>
          <p:cNvSpPr>
            <a:spLocks noGrp="1"/>
          </p:cNvSpPr>
          <p:nvPr>
            <p:ph type="title"/>
          </p:nvPr>
        </p:nvSpPr>
        <p:spPr/>
        <p:txBody>
          <a:bodyPr>
            <a:normAutofit/>
          </a:bodyPr>
          <a:lstStyle/>
          <a:p>
            <a:pPr algn="just"/>
            <a:r>
              <a:rPr lang="en-US" sz="4000">
                <a:solidFill>
                  <a:srgbClr val="610B38"/>
                </a:solidFill>
              </a:rPr>
              <a:t>Maven pom.xml file with additional elements</a:t>
            </a:r>
            <a:endParaRPr lang="en-US" sz="4000"/>
          </a:p>
        </p:txBody>
      </p:sp>
      <p:graphicFrame>
        <p:nvGraphicFramePr>
          <p:cNvPr id="5" name="Content Placeholder 4">
            <a:extLst>
              <a:ext uri="{FF2B5EF4-FFF2-40B4-BE49-F238E27FC236}">
                <a16:creationId xmlns:a16="http://schemas.microsoft.com/office/drawing/2014/main" id="{C8961325-AFB5-160B-407E-8BCF4256F2AE}"/>
              </a:ext>
            </a:extLst>
          </p:cNvPr>
          <p:cNvGraphicFramePr>
            <a:graphicFrameLocks noGrp="1"/>
          </p:cNvGraphicFramePr>
          <p:nvPr>
            <p:ph idx="1"/>
            <p:extLst/>
          </p:nvPr>
        </p:nvGraphicFramePr>
        <p:xfrm>
          <a:off x="493143" y="1940644"/>
          <a:ext cx="11200046" cy="4434840"/>
        </p:xfrm>
        <a:graphic>
          <a:graphicData uri="http://schemas.openxmlformats.org/drawingml/2006/table">
            <a:tbl>
              <a:tblPr bandRow="1">
                <a:tableStyleId>{5C22544A-7EE6-4342-B048-85BDC9FD1C3A}</a:tableStyleId>
              </a:tblPr>
              <a:tblGrid>
                <a:gridCol w="1983904">
                  <a:extLst>
                    <a:ext uri="{9D8B030D-6E8A-4147-A177-3AD203B41FA5}">
                      <a16:colId xmlns:a16="http://schemas.microsoft.com/office/drawing/2014/main" val="3226161435"/>
                    </a:ext>
                  </a:extLst>
                </a:gridCol>
                <a:gridCol w="9216142">
                  <a:extLst>
                    <a:ext uri="{9D8B030D-6E8A-4147-A177-3AD203B41FA5}">
                      <a16:colId xmlns:a16="http://schemas.microsoft.com/office/drawing/2014/main" val="331183049"/>
                    </a:ext>
                  </a:extLst>
                </a:gridCol>
              </a:tblGrid>
              <a:tr h="0">
                <a:tc>
                  <a:txBody>
                    <a:bodyPr/>
                    <a:lstStyle/>
                    <a:p>
                      <a:pPr algn="l" fontAlgn="t"/>
                      <a:r>
                        <a:rPr lang="en-US" sz="2400">
                          <a:solidFill>
                            <a:srgbClr val="000000"/>
                          </a:solidFill>
                          <a:effectLst/>
                          <a:latin typeface="times new roman"/>
                        </a:rPr>
                        <a:t>Element</a:t>
                      </a:r>
                    </a:p>
                  </a:txBody>
                  <a:tcPr marL="114300" marR="114300" marT="114300" marB="1143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2400">
                          <a:solidFill>
                            <a:srgbClr val="000000"/>
                          </a:solidFill>
                          <a:effectLst/>
                          <a:latin typeface="times new roman"/>
                        </a:rPr>
                        <a:t>Description</a:t>
                      </a:r>
                    </a:p>
                  </a:txBody>
                  <a:tcPr marL="114300" marR="114300" marT="114300" marB="1143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762858018"/>
                  </a:ext>
                </a:extLst>
              </a:tr>
              <a:tr h="0">
                <a:tc>
                  <a:txBody>
                    <a:bodyPr/>
                    <a:lstStyle/>
                    <a:p>
                      <a:pPr algn="just" fontAlgn="t"/>
                      <a:r>
                        <a:rPr lang="en-US" sz="2400" b="1">
                          <a:effectLst/>
                          <a:latin typeface="inter-bold"/>
                        </a:rPr>
                        <a:t>packaging</a:t>
                      </a:r>
                      <a:endParaRPr lang="en-US" sz="2400">
                        <a:effectLst/>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400">
                          <a:effectLst/>
                        </a:rPr>
                        <a:t>defines packaging type such as jar, war etc.</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051569245"/>
                  </a:ext>
                </a:extLst>
              </a:tr>
              <a:tr h="0">
                <a:tc>
                  <a:txBody>
                    <a:bodyPr/>
                    <a:lstStyle/>
                    <a:p>
                      <a:pPr algn="just" fontAlgn="t"/>
                      <a:r>
                        <a:rPr lang="en-US" sz="2400" b="1">
                          <a:effectLst/>
                          <a:latin typeface="inter-bold"/>
                        </a:rPr>
                        <a:t>name</a:t>
                      </a:r>
                      <a:endParaRPr lang="en-US" sz="2400">
                        <a:effectLst/>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400">
                          <a:effectLst/>
                        </a:rPr>
                        <a:t>defines name of the maven project.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4198014053"/>
                  </a:ext>
                </a:extLst>
              </a:tr>
              <a:tr h="0">
                <a:tc>
                  <a:txBody>
                    <a:bodyPr/>
                    <a:lstStyle/>
                    <a:p>
                      <a:pPr algn="just" fontAlgn="t"/>
                      <a:r>
                        <a:rPr lang="en-US" sz="2400" b="1" err="1">
                          <a:effectLst/>
                          <a:latin typeface="inter-bold"/>
                        </a:rPr>
                        <a:t>url</a:t>
                      </a:r>
                      <a:endParaRPr lang="en-US" sz="2400">
                        <a:effectLst/>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400">
                          <a:effectLst/>
                        </a:rPr>
                        <a:t>defines </a:t>
                      </a:r>
                      <a:r>
                        <a:rPr lang="en-US" sz="2400" err="1">
                          <a:effectLst/>
                        </a:rPr>
                        <a:t>url</a:t>
                      </a:r>
                      <a:r>
                        <a:rPr lang="en-US" sz="2400">
                          <a:effectLst/>
                        </a:rPr>
                        <a:t> of the project.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896788580"/>
                  </a:ext>
                </a:extLst>
              </a:tr>
              <a:tr h="0">
                <a:tc>
                  <a:txBody>
                    <a:bodyPr/>
                    <a:lstStyle/>
                    <a:p>
                      <a:pPr algn="just" fontAlgn="t"/>
                      <a:r>
                        <a:rPr lang="en-US" sz="2400" b="1">
                          <a:effectLst/>
                          <a:latin typeface="inter-bold"/>
                        </a:rPr>
                        <a:t>dependencies</a:t>
                      </a:r>
                      <a:endParaRPr lang="en-US" sz="2400">
                        <a:effectLst/>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400">
                          <a:effectLst/>
                        </a:rPr>
                        <a:t>defines dependencies for this project.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616171834"/>
                  </a:ext>
                </a:extLst>
              </a:tr>
              <a:tr h="0">
                <a:tc>
                  <a:txBody>
                    <a:bodyPr/>
                    <a:lstStyle/>
                    <a:p>
                      <a:pPr algn="just" fontAlgn="t"/>
                      <a:r>
                        <a:rPr lang="en-US" sz="2400" b="1">
                          <a:effectLst/>
                          <a:latin typeface="inter-bold"/>
                        </a:rPr>
                        <a:t>dependency</a:t>
                      </a:r>
                      <a:endParaRPr lang="en-US" sz="2400">
                        <a:effectLst/>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400">
                          <a:effectLst/>
                        </a:rPr>
                        <a:t>defines a dependency. It is used inside dependencies.</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965020570"/>
                  </a:ext>
                </a:extLst>
              </a:tr>
              <a:tr h="0">
                <a:tc>
                  <a:txBody>
                    <a:bodyPr/>
                    <a:lstStyle/>
                    <a:p>
                      <a:pPr algn="just" fontAlgn="t"/>
                      <a:r>
                        <a:rPr lang="en-US" sz="2400" b="1">
                          <a:effectLst/>
                          <a:latin typeface="inter-bold"/>
                        </a:rPr>
                        <a:t>scope</a:t>
                      </a:r>
                      <a:endParaRPr lang="en-US" sz="2400">
                        <a:effectLst/>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400">
                          <a:effectLst/>
                        </a:rPr>
                        <a:t>defines scope for this maven project. It can be compile, provided, runtime, test and system.</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383410006"/>
                  </a:ext>
                </a:extLst>
              </a:tr>
            </a:tbl>
          </a:graphicData>
        </a:graphic>
      </p:graphicFrame>
    </p:spTree>
    <p:extLst>
      <p:ext uri="{BB962C8B-B14F-4D97-AF65-F5344CB8AC3E}">
        <p14:creationId xmlns:p14="http://schemas.microsoft.com/office/powerpoint/2010/main" val="41719963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EEBD2E-66E6-91EF-9747-21E04A581161}"/>
              </a:ext>
            </a:extLst>
          </p:cNvPr>
          <p:cNvSpPr>
            <a:spLocks noGrp="1"/>
          </p:cNvSpPr>
          <p:nvPr>
            <p:ph idx="1"/>
          </p:nvPr>
        </p:nvSpPr>
        <p:spPr>
          <a:xfrm>
            <a:off x="838200" y="287248"/>
            <a:ext cx="10515600" cy="6378545"/>
          </a:xfrm>
        </p:spPr>
        <p:txBody>
          <a:bodyPr vert="horz" lIns="91440" tIns="45720" rIns="91440" bIns="45720" rtlCol="0" anchor="t">
            <a:normAutofit/>
          </a:bodyPr>
          <a:lstStyle/>
          <a:p>
            <a:pPr marL="0" indent="0" algn="just">
              <a:buNone/>
            </a:pPr>
            <a:r>
              <a:rPr lang="en-US" sz="1400" b="1">
                <a:solidFill>
                  <a:srgbClr val="006699"/>
                </a:solidFill>
                <a:ea typeface="+mn-lt"/>
                <a:cs typeface="+mn-lt"/>
              </a:rPr>
              <a:t>&lt;project</a:t>
            </a:r>
            <a:r>
              <a:rPr lang="en-US" sz="1400">
                <a:ea typeface="+mn-lt"/>
                <a:cs typeface="+mn-lt"/>
              </a:rPr>
              <a:t> </a:t>
            </a:r>
            <a:r>
              <a:rPr lang="en-US" sz="1400">
                <a:solidFill>
                  <a:srgbClr val="FF0000"/>
                </a:solidFill>
                <a:ea typeface="+mn-lt"/>
                <a:cs typeface="+mn-lt"/>
              </a:rPr>
              <a:t>xmlns</a:t>
            </a:r>
            <a:r>
              <a:rPr lang="en-US" sz="1400">
                <a:ea typeface="+mn-lt"/>
                <a:cs typeface="+mn-lt"/>
              </a:rPr>
              <a:t>=</a:t>
            </a:r>
            <a:r>
              <a:rPr lang="en-US" sz="1400">
                <a:solidFill>
                  <a:srgbClr val="0000FF"/>
                </a:solidFill>
                <a:ea typeface="+mn-lt"/>
                <a:cs typeface="+mn-lt"/>
              </a:rPr>
              <a:t>"http://maven.apache.org/POM/4.0.0"</a:t>
            </a:r>
            <a:r>
              <a:rPr lang="en-US" sz="1400">
                <a:ea typeface="+mn-lt"/>
                <a:cs typeface="+mn-lt"/>
              </a:rPr>
              <a:t>   </a:t>
            </a:r>
            <a:r>
              <a:rPr lang="en-US" sz="1400">
                <a:solidFill>
                  <a:srgbClr val="FF0000"/>
                </a:solidFill>
                <a:ea typeface="+mn-lt"/>
                <a:cs typeface="+mn-lt"/>
              </a:rPr>
              <a:t>xmlns:xsi</a:t>
            </a:r>
            <a:r>
              <a:rPr lang="en-US" sz="1400">
                <a:ea typeface="+mn-lt"/>
                <a:cs typeface="+mn-lt"/>
              </a:rPr>
              <a:t>=</a:t>
            </a:r>
            <a:r>
              <a:rPr lang="en-US" sz="1400">
                <a:solidFill>
                  <a:srgbClr val="0000FF"/>
                </a:solidFill>
                <a:ea typeface="+mn-lt"/>
                <a:cs typeface="+mn-lt"/>
              </a:rPr>
              <a:t>"http://www.w3.org/2001/XMLSchema-instance"</a:t>
            </a:r>
            <a:r>
              <a:rPr lang="en-US" sz="1400">
                <a:ea typeface="+mn-lt"/>
                <a:cs typeface="+mn-lt"/>
              </a:rPr>
              <a:t>  </a:t>
            </a:r>
          </a:p>
          <a:p>
            <a:pPr marL="0" indent="0" algn="just">
              <a:buNone/>
            </a:pPr>
            <a:r>
              <a:rPr lang="en-US" sz="1400">
                <a:ea typeface="+mn-lt"/>
                <a:cs typeface="+mn-lt"/>
              </a:rPr>
              <a:t>  </a:t>
            </a:r>
            <a:r>
              <a:rPr lang="en-US" sz="1400">
                <a:solidFill>
                  <a:srgbClr val="FF0000"/>
                </a:solidFill>
                <a:ea typeface="+mn-lt"/>
                <a:cs typeface="+mn-lt"/>
              </a:rPr>
              <a:t>xsi:schemaLocation</a:t>
            </a:r>
            <a:r>
              <a:rPr lang="en-US" sz="1400">
                <a:ea typeface="+mn-lt"/>
                <a:cs typeface="+mn-lt"/>
              </a:rPr>
              <a:t>="http://maven.apache.org/POM/4.0.0  </a:t>
            </a:r>
            <a:r>
              <a:rPr lang="en-US" sz="1400">
                <a:ea typeface="+mn-lt"/>
                <a:cs typeface="+mn-lt"/>
                <a:hlinkClick r:id="rId2"/>
              </a:rPr>
              <a:t>http://maven.apache.org/xsd/maven-4.0.0.xsd</a:t>
            </a:r>
            <a:r>
              <a:rPr lang="en-US" sz="1400">
                <a:ea typeface="+mn-lt"/>
                <a:cs typeface="+mn-lt"/>
              </a:rPr>
              <a:t>"</a:t>
            </a:r>
            <a:r>
              <a:rPr lang="en-US" sz="1400" b="1">
                <a:solidFill>
                  <a:srgbClr val="006699"/>
                </a:solidFill>
                <a:ea typeface="+mn-lt"/>
                <a:cs typeface="+mn-lt"/>
              </a:rPr>
              <a:t>&gt;</a:t>
            </a:r>
            <a:r>
              <a:rPr lang="en-US" sz="1400">
                <a:ea typeface="+mn-lt"/>
                <a:cs typeface="+mn-lt"/>
              </a:rPr>
              <a:t>  </a:t>
            </a:r>
            <a:endParaRPr lang="en-US" sz="1400"/>
          </a:p>
          <a:p>
            <a:pPr marL="0" indent="0" algn="just">
              <a:buNone/>
            </a:pPr>
            <a:r>
              <a:rPr lang="en-US" sz="1400">
                <a:ea typeface="+mn-lt"/>
                <a:cs typeface="+mn-lt"/>
              </a:rPr>
              <a:t>  </a:t>
            </a:r>
            <a:r>
              <a:rPr lang="en-US" sz="1400" b="1">
                <a:solidFill>
                  <a:srgbClr val="006699"/>
                </a:solidFill>
                <a:ea typeface="+mn-lt"/>
                <a:cs typeface="+mn-lt"/>
              </a:rPr>
              <a:t>&lt;</a:t>
            </a:r>
            <a:r>
              <a:rPr lang="en-US" sz="1400" b="1" err="1">
                <a:solidFill>
                  <a:srgbClr val="006699"/>
                </a:solidFill>
                <a:ea typeface="+mn-lt"/>
                <a:cs typeface="+mn-lt"/>
              </a:rPr>
              <a:t>modelVersion</a:t>
            </a:r>
            <a:r>
              <a:rPr lang="en-US" sz="1400" b="1">
                <a:solidFill>
                  <a:srgbClr val="006699"/>
                </a:solidFill>
                <a:ea typeface="+mn-lt"/>
                <a:cs typeface="+mn-lt"/>
              </a:rPr>
              <a:t>&gt;</a:t>
            </a:r>
            <a:r>
              <a:rPr lang="en-US" sz="1400">
                <a:ea typeface="+mn-lt"/>
                <a:cs typeface="+mn-lt"/>
              </a:rPr>
              <a:t>4.0.0</a:t>
            </a:r>
            <a:r>
              <a:rPr lang="en-US" sz="1400" b="1">
                <a:solidFill>
                  <a:srgbClr val="006699"/>
                </a:solidFill>
                <a:ea typeface="+mn-lt"/>
                <a:cs typeface="+mn-lt"/>
              </a:rPr>
              <a:t>&lt;/</a:t>
            </a:r>
            <a:r>
              <a:rPr lang="en-US" sz="1400" b="1" err="1">
                <a:solidFill>
                  <a:srgbClr val="006699"/>
                </a:solidFill>
                <a:ea typeface="+mn-lt"/>
                <a:cs typeface="+mn-lt"/>
              </a:rPr>
              <a:t>modelVersion</a:t>
            </a:r>
            <a:r>
              <a:rPr lang="en-US" sz="1400" b="1">
                <a:solidFill>
                  <a:srgbClr val="006699"/>
                </a:solidFill>
                <a:ea typeface="+mn-lt"/>
                <a:cs typeface="+mn-lt"/>
              </a:rPr>
              <a:t>&gt;</a:t>
            </a:r>
            <a:r>
              <a:rPr lang="en-US" sz="1400">
                <a:ea typeface="+mn-lt"/>
                <a:cs typeface="+mn-lt"/>
              </a:rPr>
              <a:t>  </a:t>
            </a:r>
            <a:endParaRPr lang="en-US" sz="1400"/>
          </a:p>
          <a:p>
            <a:pPr marL="0" indent="0" algn="just">
              <a:buNone/>
            </a:pPr>
            <a:r>
              <a:rPr lang="en-US" sz="1400">
                <a:ea typeface="+mn-lt"/>
                <a:cs typeface="+mn-lt"/>
              </a:rPr>
              <a:t>  </a:t>
            </a:r>
            <a:r>
              <a:rPr lang="en-US" sz="1400" b="1">
                <a:solidFill>
                  <a:srgbClr val="006699"/>
                </a:solidFill>
                <a:ea typeface="+mn-lt"/>
                <a:cs typeface="+mn-lt"/>
              </a:rPr>
              <a:t>&lt;</a:t>
            </a:r>
            <a:r>
              <a:rPr lang="en-US" sz="1400" b="1" err="1">
                <a:solidFill>
                  <a:srgbClr val="006699"/>
                </a:solidFill>
                <a:ea typeface="+mn-lt"/>
                <a:cs typeface="+mn-lt"/>
              </a:rPr>
              <a:t>groupId</a:t>
            </a:r>
            <a:r>
              <a:rPr lang="en-US" sz="1400" b="1">
                <a:solidFill>
                  <a:srgbClr val="006699"/>
                </a:solidFill>
                <a:ea typeface="+mn-lt"/>
                <a:cs typeface="+mn-lt"/>
              </a:rPr>
              <a:t>&gt;</a:t>
            </a:r>
            <a:r>
              <a:rPr lang="en-US" sz="1400">
                <a:ea typeface="+mn-lt"/>
                <a:cs typeface="+mn-lt"/>
              </a:rPr>
              <a:t>com.javatpoint.application1</a:t>
            </a:r>
            <a:r>
              <a:rPr lang="en-US" sz="1400" b="1">
                <a:solidFill>
                  <a:srgbClr val="006699"/>
                </a:solidFill>
                <a:ea typeface="+mn-lt"/>
                <a:cs typeface="+mn-lt"/>
              </a:rPr>
              <a:t>&lt;/</a:t>
            </a:r>
            <a:r>
              <a:rPr lang="en-US" sz="1400" b="1" err="1">
                <a:solidFill>
                  <a:srgbClr val="006699"/>
                </a:solidFill>
                <a:ea typeface="+mn-lt"/>
                <a:cs typeface="+mn-lt"/>
              </a:rPr>
              <a:t>groupId</a:t>
            </a:r>
            <a:r>
              <a:rPr lang="en-US" sz="1400" b="1">
                <a:solidFill>
                  <a:srgbClr val="006699"/>
                </a:solidFill>
                <a:ea typeface="+mn-lt"/>
                <a:cs typeface="+mn-lt"/>
              </a:rPr>
              <a:t>&gt;</a:t>
            </a:r>
            <a:r>
              <a:rPr lang="en-US" sz="1400">
                <a:ea typeface="+mn-lt"/>
                <a:cs typeface="+mn-lt"/>
              </a:rPr>
              <a:t>  </a:t>
            </a:r>
            <a:endParaRPr lang="en-US" sz="1400"/>
          </a:p>
          <a:p>
            <a:pPr marL="0" indent="0" algn="just">
              <a:buNone/>
            </a:pPr>
            <a:r>
              <a:rPr lang="en-US" sz="1400">
                <a:ea typeface="+mn-lt"/>
                <a:cs typeface="+mn-lt"/>
              </a:rPr>
              <a:t>  </a:t>
            </a:r>
            <a:r>
              <a:rPr lang="en-US" sz="1400" b="1">
                <a:solidFill>
                  <a:srgbClr val="006699"/>
                </a:solidFill>
                <a:ea typeface="+mn-lt"/>
                <a:cs typeface="+mn-lt"/>
              </a:rPr>
              <a:t>&lt;</a:t>
            </a:r>
            <a:r>
              <a:rPr lang="en-US" sz="1400" b="1" err="1">
                <a:solidFill>
                  <a:srgbClr val="006699"/>
                </a:solidFill>
                <a:ea typeface="+mn-lt"/>
                <a:cs typeface="+mn-lt"/>
              </a:rPr>
              <a:t>artifactId</a:t>
            </a:r>
            <a:r>
              <a:rPr lang="en-US" sz="1400" b="1">
                <a:solidFill>
                  <a:srgbClr val="006699"/>
                </a:solidFill>
                <a:ea typeface="+mn-lt"/>
                <a:cs typeface="+mn-lt"/>
              </a:rPr>
              <a:t>&gt;</a:t>
            </a:r>
            <a:r>
              <a:rPr lang="en-US" sz="1400">
                <a:ea typeface="+mn-lt"/>
                <a:cs typeface="+mn-lt"/>
              </a:rPr>
              <a:t>my-application1</a:t>
            </a:r>
            <a:r>
              <a:rPr lang="en-US" sz="1400" b="1">
                <a:solidFill>
                  <a:srgbClr val="006699"/>
                </a:solidFill>
                <a:ea typeface="+mn-lt"/>
                <a:cs typeface="+mn-lt"/>
              </a:rPr>
              <a:t>&lt;/</a:t>
            </a:r>
            <a:r>
              <a:rPr lang="en-US" sz="1400" b="1" err="1">
                <a:solidFill>
                  <a:srgbClr val="006699"/>
                </a:solidFill>
                <a:ea typeface="+mn-lt"/>
                <a:cs typeface="+mn-lt"/>
              </a:rPr>
              <a:t>artifactId</a:t>
            </a:r>
            <a:r>
              <a:rPr lang="en-US" sz="1400" b="1">
                <a:solidFill>
                  <a:srgbClr val="006699"/>
                </a:solidFill>
                <a:ea typeface="+mn-lt"/>
                <a:cs typeface="+mn-lt"/>
              </a:rPr>
              <a:t>&gt;</a:t>
            </a:r>
            <a:r>
              <a:rPr lang="en-US" sz="1400">
                <a:ea typeface="+mn-lt"/>
                <a:cs typeface="+mn-lt"/>
              </a:rPr>
              <a:t>  </a:t>
            </a:r>
            <a:endParaRPr lang="en-US" sz="1400"/>
          </a:p>
          <a:p>
            <a:pPr marL="0" indent="0" algn="just">
              <a:buNone/>
            </a:pPr>
            <a:r>
              <a:rPr lang="en-US" sz="1400">
                <a:ea typeface="+mn-lt"/>
                <a:cs typeface="+mn-lt"/>
              </a:rPr>
              <a:t>  </a:t>
            </a:r>
            <a:r>
              <a:rPr lang="en-US" sz="1400" b="1">
                <a:solidFill>
                  <a:srgbClr val="006699"/>
                </a:solidFill>
                <a:ea typeface="+mn-lt"/>
                <a:cs typeface="+mn-lt"/>
              </a:rPr>
              <a:t>&lt;version&gt;</a:t>
            </a:r>
            <a:r>
              <a:rPr lang="en-US" sz="1400">
                <a:ea typeface="+mn-lt"/>
                <a:cs typeface="+mn-lt"/>
              </a:rPr>
              <a:t>1.0</a:t>
            </a:r>
            <a:r>
              <a:rPr lang="en-US" sz="1400" b="1">
                <a:solidFill>
                  <a:srgbClr val="006699"/>
                </a:solidFill>
                <a:ea typeface="+mn-lt"/>
                <a:cs typeface="+mn-lt"/>
              </a:rPr>
              <a:t>&lt;/version&gt;</a:t>
            </a:r>
            <a:r>
              <a:rPr lang="en-US" sz="1400">
                <a:ea typeface="+mn-lt"/>
                <a:cs typeface="+mn-lt"/>
              </a:rPr>
              <a:t>  </a:t>
            </a:r>
            <a:endParaRPr lang="en-US" sz="1400"/>
          </a:p>
          <a:p>
            <a:pPr marL="0" indent="0" algn="just">
              <a:buNone/>
            </a:pPr>
            <a:r>
              <a:rPr lang="en-US" sz="1400">
                <a:ea typeface="+mn-lt"/>
                <a:cs typeface="+mn-lt"/>
              </a:rPr>
              <a:t>  </a:t>
            </a:r>
            <a:r>
              <a:rPr lang="en-US" sz="1400" b="1">
                <a:solidFill>
                  <a:srgbClr val="006699"/>
                </a:solidFill>
                <a:ea typeface="+mn-lt"/>
                <a:cs typeface="+mn-lt"/>
              </a:rPr>
              <a:t>&lt;packaging&gt;</a:t>
            </a:r>
            <a:r>
              <a:rPr lang="en-US" sz="1400">
                <a:ea typeface="+mn-lt"/>
                <a:cs typeface="+mn-lt"/>
              </a:rPr>
              <a:t>jar</a:t>
            </a:r>
            <a:r>
              <a:rPr lang="en-US" sz="1400" b="1">
                <a:solidFill>
                  <a:srgbClr val="006699"/>
                </a:solidFill>
                <a:ea typeface="+mn-lt"/>
                <a:cs typeface="+mn-lt"/>
              </a:rPr>
              <a:t>&lt;/packaging&gt;</a:t>
            </a:r>
            <a:r>
              <a:rPr lang="en-US" sz="1400">
                <a:ea typeface="+mn-lt"/>
                <a:cs typeface="+mn-lt"/>
              </a:rPr>
              <a:t>  </a:t>
            </a:r>
            <a:endParaRPr lang="en-US" sz="1400"/>
          </a:p>
          <a:p>
            <a:pPr marL="0" indent="0" algn="just">
              <a:buNone/>
            </a:pPr>
            <a:r>
              <a:rPr lang="en-US" sz="1400">
                <a:ea typeface="+mn-lt"/>
                <a:cs typeface="+mn-lt"/>
              </a:rPr>
              <a:t>  </a:t>
            </a:r>
            <a:r>
              <a:rPr lang="en-US" sz="1400" b="1">
                <a:solidFill>
                  <a:srgbClr val="006699"/>
                </a:solidFill>
                <a:ea typeface="+mn-lt"/>
                <a:cs typeface="+mn-lt"/>
              </a:rPr>
              <a:t>&lt;name&gt;</a:t>
            </a:r>
            <a:r>
              <a:rPr lang="en-US" sz="1400">
                <a:ea typeface="+mn-lt"/>
                <a:cs typeface="+mn-lt"/>
              </a:rPr>
              <a:t>Maven Quick Start Archetype</a:t>
            </a:r>
            <a:r>
              <a:rPr lang="en-US" sz="1400" b="1">
                <a:solidFill>
                  <a:srgbClr val="006699"/>
                </a:solidFill>
                <a:ea typeface="+mn-lt"/>
                <a:cs typeface="+mn-lt"/>
              </a:rPr>
              <a:t>&lt;/name&gt;</a:t>
            </a:r>
            <a:r>
              <a:rPr lang="en-US" sz="1400">
                <a:ea typeface="+mn-lt"/>
                <a:cs typeface="+mn-lt"/>
              </a:rPr>
              <a:t>  </a:t>
            </a:r>
            <a:endParaRPr lang="en-US" sz="1400"/>
          </a:p>
          <a:p>
            <a:pPr marL="0" indent="0" algn="just">
              <a:buNone/>
            </a:pPr>
            <a:r>
              <a:rPr lang="en-US" sz="1400">
                <a:ea typeface="+mn-lt"/>
                <a:cs typeface="+mn-lt"/>
              </a:rPr>
              <a:t>  </a:t>
            </a:r>
            <a:r>
              <a:rPr lang="en-US" sz="1400" b="1">
                <a:solidFill>
                  <a:srgbClr val="006699"/>
                </a:solidFill>
                <a:ea typeface="+mn-lt"/>
                <a:cs typeface="+mn-lt"/>
              </a:rPr>
              <a:t>&lt;</a:t>
            </a:r>
            <a:r>
              <a:rPr lang="en-US" sz="1400" b="1" err="1">
                <a:solidFill>
                  <a:srgbClr val="006699"/>
                </a:solidFill>
                <a:ea typeface="+mn-lt"/>
                <a:cs typeface="+mn-lt"/>
              </a:rPr>
              <a:t>url</a:t>
            </a:r>
            <a:r>
              <a:rPr lang="en-US" sz="1400" b="1">
                <a:solidFill>
                  <a:srgbClr val="006699"/>
                </a:solidFill>
                <a:ea typeface="+mn-lt"/>
                <a:cs typeface="+mn-lt"/>
              </a:rPr>
              <a:t>&gt;</a:t>
            </a:r>
            <a:r>
              <a:rPr lang="en-US" sz="1400">
                <a:ea typeface="+mn-lt"/>
                <a:cs typeface="+mn-lt"/>
              </a:rPr>
              <a:t>http://maven.apache.org</a:t>
            </a:r>
            <a:r>
              <a:rPr lang="en-US" sz="1400" b="1">
                <a:solidFill>
                  <a:srgbClr val="006699"/>
                </a:solidFill>
                <a:ea typeface="+mn-lt"/>
                <a:cs typeface="+mn-lt"/>
              </a:rPr>
              <a:t>&lt;/url&gt;</a:t>
            </a:r>
            <a:r>
              <a:rPr lang="en-US" sz="1400">
                <a:ea typeface="+mn-lt"/>
                <a:cs typeface="+mn-lt"/>
              </a:rPr>
              <a:t>  </a:t>
            </a:r>
            <a:endParaRPr lang="en-US" sz="1400"/>
          </a:p>
          <a:p>
            <a:pPr marL="0" indent="0" algn="just">
              <a:buNone/>
            </a:pPr>
            <a:r>
              <a:rPr lang="en-US" sz="1400">
                <a:ea typeface="+mn-lt"/>
                <a:cs typeface="+mn-lt"/>
              </a:rPr>
              <a:t>  </a:t>
            </a:r>
            <a:r>
              <a:rPr lang="en-US" sz="1400" b="1">
                <a:solidFill>
                  <a:srgbClr val="006699"/>
                </a:solidFill>
                <a:ea typeface="+mn-lt"/>
                <a:cs typeface="+mn-lt"/>
              </a:rPr>
              <a:t>&lt;dependencies&gt;</a:t>
            </a:r>
            <a:r>
              <a:rPr lang="en-US" sz="1400">
                <a:ea typeface="+mn-lt"/>
                <a:cs typeface="+mn-lt"/>
              </a:rPr>
              <a:t>  </a:t>
            </a:r>
            <a:endParaRPr lang="en-US" sz="1400"/>
          </a:p>
          <a:p>
            <a:pPr marL="0" indent="0" algn="just">
              <a:buNone/>
            </a:pPr>
            <a:r>
              <a:rPr lang="en-US" sz="1400">
                <a:ea typeface="+mn-lt"/>
                <a:cs typeface="+mn-lt"/>
              </a:rPr>
              <a:t>    </a:t>
            </a:r>
            <a:r>
              <a:rPr lang="en-US" sz="1400" b="1">
                <a:solidFill>
                  <a:srgbClr val="006699"/>
                </a:solidFill>
                <a:ea typeface="+mn-lt"/>
                <a:cs typeface="+mn-lt"/>
              </a:rPr>
              <a:t>&lt;dependency&gt;</a:t>
            </a:r>
            <a:r>
              <a:rPr lang="en-US" sz="1400">
                <a:ea typeface="+mn-lt"/>
                <a:cs typeface="+mn-lt"/>
              </a:rPr>
              <a:t>  </a:t>
            </a:r>
            <a:endParaRPr lang="en-US" sz="1400"/>
          </a:p>
          <a:p>
            <a:pPr marL="0" indent="0" algn="just">
              <a:buNone/>
            </a:pPr>
            <a:r>
              <a:rPr lang="en-US" sz="1400">
                <a:ea typeface="+mn-lt"/>
                <a:cs typeface="+mn-lt"/>
              </a:rPr>
              <a:t>      </a:t>
            </a:r>
            <a:r>
              <a:rPr lang="en-US" sz="1400" b="1">
                <a:solidFill>
                  <a:srgbClr val="006699"/>
                </a:solidFill>
                <a:ea typeface="+mn-lt"/>
                <a:cs typeface="+mn-lt"/>
              </a:rPr>
              <a:t>&lt;</a:t>
            </a:r>
            <a:r>
              <a:rPr lang="en-US" sz="1400" b="1" err="1">
                <a:solidFill>
                  <a:srgbClr val="006699"/>
                </a:solidFill>
                <a:ea typeface="+mn-lt"/>
                <a:cs typeface="+mn-lt"/>
              </a:rPr>
              <a:t>groupId</a:t>
            </a:r>
            <a:r>
              <a:rPr lang="en-US" sz="1400" b="1">
                <a:solidFill>
                  <a:srgbClr val="006699"/>
                </a:solidFill>
                <a:ea typeface="+mn-lt"/>
                <a:cs typeface="+mn-lt"/>
              </a:rPr>
              <a:t>&gt;</a:t>
            </a:r>
            <a:r>
              <a:rPr lang="en-US" sz="1400" err="1">
                <a:ea typeface="+mn-lt"/>
                <a:cs typeface="+mn-lt"/>
              </a:rPr>
              <a:t>junit</a:t>
            </a:r>
            <a:r>
              <a:rPr lang="en-US" sz="1400" b="1">
                <a:solidFill>
                  <a:srgbClr val="006699"/>
                </a:solidFill>
                <a:ea typeface="+mn-lt"/>
                <a:cs typeface="+mn-lt"/>
              </a:rPr>
              <a:t>&lt;/</a:t>
            </a:r>
            <a:r>
              <a:rPr lang="en-US" sz="1400" b="1" err="1">
                <a:solidFill>
                  <a:srgbClr val="006699"/>
                </a:solidFill>
                <a:ea typeface="+mn-lt"/>
                <a:cs typeface="+mn-lt"/>
              </a:rPr>
              <a:t>groupId</a:t>
            </a:r>
            <a:r>
              <a:rPr lang="en-US" sz="1400" b="1">
                <a:solidFill>
                  <a:srgbClr val="006699"/>
                </a:solidFill>
                <a:ea typeface="+mn-lt"/>
                <a:cs typeface="+mn-lt"/>
              </a:rPr>
              <a:t>&gt;</a:t>
            </a:r>
            <a:r>
              <a:rPr lang="en-US" sz="1400">
                <a:ea typeface="+mn-lt"/>
                <a:cs typeface="+mn-lt"/>
              </a:rPr>
              <a:t>  </a:t>
            </a:r>
            <a:endParaRPr lang="en-US" sz="1400"/>
          </a:p>
          <a:p>
            <a:pPr marL="0" indent="0" algn="just">
              <a:buNone/>
            </a:pPr>
            <a:r>
              <a:rPr lang="en-US" sz="1400">
                <a:ea typeface="+mn-lt"/>
                <a:cs typeface="+mn-lt"/>
              </a:rPr>
              <a:t>      </a:t>
            </a:r>
            <a:r>
              <a:rPr lang="en-US" sz="1400" b="1">
                <a:solidFill>
                  <a:srgbClr val="006699"/>
                </a:solidFill>
                <a:ea typeface="+mn-lt"/>
                <a:cs typeface="+mn-lt"/>
              </a:rPr>
              <a:t>&lt;</a:t>
            </a:r>
            <a:r>
              <a:rPr lang="en-US" sz="1400" b="1" err="1">
                <a:solidFill>
                  <a:srgbClr val="006699"/>
                </a:solidFill>
                <a:ea typeface="+mn-lt"/>
                <a:cs typeface="+mn-lt"/>
              </a:rPr>
              <a:t>artifactId</a:t>
            </a:r>
            <a:r>
              <a:rPr lang="en-US" sz="1400" b="1">
                <a:solidFill>
                  <a:srgbClr val="006699"/>
                </a:solidFill>
                <a:ea typeface="+mn-lt"/>
                <a:cs typeface="+mn-lt"/>
              </a:rPr>
              <a:t>&gt;</a:t>
            </a:r>
            <a:r>
              <a:rPr lang="en-US" sz="1400" err="1">
                <a:ea typeface="+mn-lt"/>
                <a:cs typeface="+mn-lt"/>
              </a:rPr>
              <a:t>junit</a:t>
            </a:r>
            <a:r>
              <a:rPr lang="en-US" sz="1400" b="1">
                <a:solidFill>
                  <a:srgbClr val="006699"/>
                </a:solidFill>
                <a:ea typeface="+mn-lt"/>
                <a:cs typeface="+mn-lt"/>
              </a:rPr>
              <a:t>&lt;/</a:t>
            </a:r>
            <a:r>
              <a:rPr lang="en-US" sz="1400" b="1" err="1">
                <a:solidFill>
                  <a:srgbClr val="006699"/>
                </a:solidFill>
                <a:ea typeface="+mn-lt"/>
                <a:cs typeface="+mn-lt"/>
              </a:rPr>
              <a:t>artifactId</a:t>
            </a:r>
            <a:r>
              <a:rPr lang="en-US" sz="1400" b="1">
                <a:solidFill>
                  <a:srgbClr val="006699"/>
                </a:solidFill>
                <a:ea typeface="+mn-lt"/>
                <a:cs typeface="+mn-lt"/>
              </a:rPr>
              <a:t>&gt;</a:t>
            </a:r>
            <a:r>
              <a:rPr lang="en-US" sz="1400">
                <a:ea typeface="+mn-lt"/>
                <a:cs typeface="+mn-lt"/>
              </a:rPr>
              <a:t>  </a:t>
            </a:r>
            <a:endParaRPr lang="en-US" sz="1400"/>
          </a:p>
          <a:p>
            <a:pPr marL="0" indent="0" algn="just">
              <a:buNone/>
            </a:pPr>
            <a:r>
              <a:rPr lang="en-US" sz="1400">
                <a:ea typeface="+mn-lt"/>
                <a:cs typeface="+mn-lt"/>
              </a:rPr>
              <a:t>      </a:t>
            </a:r>
            <a:r>
              <a:rPr lang="en-US" sz="1400" b="1">
                <a:solidFill>
                  <a:srgbClr val="006699"/>
                </a:solidFill>
                <a:ea typeface="+mn-lt"/>
                <a:cs typeface="+mn-lt"/>
              </a:rPr>
              <a:t>&lt;version&gt;</a:t>
            </a:r>
            <a:r>
              <a:rPr lang="en-US" sz="1400">
                <a:ea typeface="+mn-lt"/>
                <a:cs typeface="+mn-lt"/>
              </a:rPr>
              <a:t>4.8.2</a:t>
            </a:r>
            <a:r>
              <a:rPr lang="en-US" sz="1400" b="1">
                <a:solidFill>
                  <a:srgbClr val="006699"/>
                </a:solidFill>
                <a:ea typeface="+mn-lt"/>
                <a:cs typeface="+mn-lt"/>
              </a:rPr>
              <a:t>&lt;/version&gt;</a:t>
            </a:r>
            <a:r>
              <a:rPr lang="en-US" sz="1400">
                <a:ea typeface="+mn-lt"/>
                <a:cs typeface="+mn-lt"/>
              </a:rPr>
              <a:t>  </a:t>
            </a:r>
            <a:endParaRPr lang="en-US" sz="1400"/>
          </a:p>
          <a:p>
            <a:pPr marL="0" indent="0" algn="just">
              <a:buNone/>
            </a:pPr>
            <a:r>
              <a:rPr lang="en-US" sz="1400">
                <a:ea typeface="+mn-lt"/>
                <a:cs typeface="+mn-lt"/>
              </a:rPr>
              <a:t>      </a:t>
            </a:r>
            <a:r>
              <a:rPr lang="en-US" sz="1400" b="1">
                <a:solidFill>
                  <a:srgbClr val="006699"/>
                </a:solidFill>
                <a:ea typeface="+mn-lt"/>
                <a:cs typeface="+mn-lt"/>
              </a:rPr>
              <a:t>&lt;scope&gt;</a:t>
            </a:r>
            <a:r>
              <a:rPr lang="en-US" sz="1400">
                <a:ea typeface="+mn-lt"/>
                <a:cs typeface="+mn-lt"/>
              </a:rPr>
              <a:t>test</a:t>
            </a:r>
            <a:r>
              <a:rPr lang="en-US" sz="1400" b="1">
                <a:solidFill>
                  <a:srgbClr val="006699"/>
                </a:solidFill>
                <a:ea typeface="+mn-lt"/>
                <a:cs typeface="+mn-lt"/>
              </a:rPr>
              <a:t>&lt;/scope&gt;</a:t>
            </a:r>
            <a:r>
              <a:rPr lang="en-US" sz="1400">
                <a:ea typeface="+mn-lt"/>
                <a:cs typeface="+mn-lt"/>
              </a:rPr>
              <a:t>  </a:t>
            </a:r>
            <a:endParaRPr lang="en-US" sz="1400"/>
          </a:p>
          <a:p>
            <a:pPr marL="0" indent="0" algn="just">
              <a:buNone/>
            </a:pPr>
            <a:r>
              <a:rPr lang="en-US" sz="1400">
                <a:ea typeface="+mn-lt"/>
                <a:cs typeface="+mn-lt"/>
              </a:rPr>
              <a:t>    </a:t>
            </a:r>
            <a:r>
              <a:rPr lang="en-US" sz="1400" b="1">
                <a:solidFill>
                  <a:srgbClr val="006699"/>
                </a:solidFill>
                <a:ea typeface="+mn-lt"/>
                <a:cs typeface="+mn-lt"/>
              </a:rPr>
              <a:t>&lt;/dependency&gt;</a:t>
            </a:r>
            <a:r>
              <a:rPr lang="en-US" sz="1400">
                <a:ea typeface="+mn-lt"/>
                <a:cs typeface="+mn-lt"/>
              </a:rPr>
              <a:t>  </a:t>
            </a:r>
            <a:endParaRPr lang="en-US" sz="1400"/>
          </a:p>
          <a:p>
            <a:pPr marL="0" indent="0" algn="just">
              <a:buNone/>
            </a:pPr>
            <a:r>
              <a:rPr lang="en-US" sz="1400">
                <a:ea typeface="+mn-lt"/>
                <a:cs typeface="+mn-lt"/>
              </a:rPr>
              <a:t>  </a:t>
            </a:r>
            <a:r>
              <a:rPr lang="en-US" sz="1400" b="1">
                <a:solidFill>
                  <a:srgbClr val="006699"/>
                </a:solidFill>
                <a:ea typeface="+mn-lt"/>
                <a:cs typeface="+mn-lt"/>
              </a:rPr>
              <a:t>&lt;/dependencies&gt;</a:t>
            </a:r>
            <a:r>
              <a:rPr lang="en-US" sz="1400">
                <a:ea typeface="+mn-lt"/>
                <a:cs typeface="+mn-lt"/>
              </a:rPr>
              <a:t>  </a:t>
            </a:r>
            <a:endParaRPr lang="en-US" sz="1400"/>
          </a:p>
          <a:p>
            <a:pPr marL="0" indent="0" algn="just">
              <a:buNone/>
            </a:pPr>
            <a:r>
              <a:rPr lang="en-US" sz="1400" b="1">
                <a:solidFill>
                  <a:srgbClr val="006699"/>
                </a:solidFill>
                <a:ea typeface="+mn-lt"/>
                <a:cs typeface="+mn-lt"/>
              </a:rPr>
              <a:t>&lt;/project&gt;</a:t>
            </a:r>
            <a:r>
              <a:rPr lang="en-US" sz="1400">
                <a:ea typeface="+mn-lt"/>
                <a:cs typeface="+mn-lt"/>
              </a:rPr>
              <a:t>  </a:t>
            </a:r>
            <a:endParaRPr lang="en-US" sz="1400"/>
          </a:p>
          <a:p>
            <a:pPr marL="0" indent="0">
              <a:buNone/>
            </a:pPr>
            <a:endParaRPr lang="en-US" sz="3200"/>
          </a:p>
        </p:txBody>
      </p:sp>
    </p:spTree>
    <p:extLst>
      <p:ext uri="{BB962C8B-B14F-4D97-AF65-F5344CB8AC3E}">
        <p14:creationId xmlns:p14="http://schemas.microsoft.com/office/powerpoint/2010/main" val="14143547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0C972-C5D2-A10E-5395-4CD1A3661166}"/>
              </a:ext>
            </a:extLst>
          </p:cNvPr>
          <p:cNvSpPr>
            <a:spLocks noGrp="1"/>
          </p:cNvSpPr>
          <p:nvPr>
            <p:ph type="title"/>
          </p:nvPr>
        </p:nvSpPr>
        <p:spPr/>
        <p:txBody>
          <a:bodyPr/>
          <a:lstStyle/>
          <a:p>
            <a:endParaRPr lang="en-US"/>
          </a:p>
        </p:txBody>
      </p:sp>
      <p:pic>
        <p:nvPicPr>
          <p:cNvPr id="4" name="Content Placeholder 3" descr="A screenshot of a computer program&#10;&#10;Description automatically generated">
            <a:extLst>
              <a:ext uri="{FF2B5EF4-FFF2-40B4-BE49-F238E27FC236}">
                <a16:creationId xmlns:a16="http://schemas.microsoft.com/office/drawing/2014/main" id="{3B151EE9-C6E2-9C18-B621-8DD72D5F28F6}"/>
              </a:ext>
            </a:extLst>
          </p:cNvPr>
          <p:cNvPicPr>
            <a:picLocks noGrp="1" noChangeAspect="1"/>
          </p:cNvPicPr>
          <p:nvPr>
            <p:ph idx="1"/>
          </p:nvPr>
        </p:nvPicPr>
        <p:blipFill>
          <a:blip r:embed="rId2"/>
          <a:stretch>
            <a:fillRect/>
          </a:stretch>
        </p:blipFill>
        <p:spPr>
          <a:xfrm>
            <a:off x="186906" y="346687"/>
            <a:ext cx="11717546" cy="6245289"/>
          </a:xfrm>
        </p:spPr>
      </p:pic>
    </p:spTree>
    <p:extLst>
      <p:ext uri="{BB962C8B-B14F-4D97-AF65-F5344CB8AC3E}">
        <p14:creationId xmlns:p14="http://schemas.microsoft.com/office/powerpoint/2010/main" val="13448626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20A15-3A08-FF72-4DA1-2EFE179D71E8}"/>
              </a:ext>
            </a:extLst>
          </p:cNvPr>
          <p:cNvSpPr>
            <a:spLocks noGrp="1"/>
          </p:cNvSpPr>
          <p:nvPr>
            <p:ph type="title"/>
          </p:nvPr>
        </p:nvSpPr>
        <p:spPr/>
        <p:txBody>
          <a:bodyPr/>
          <a:lstStyle/>
          <a:p>
            <a:endParaRPr lang="en-US"/>
          </a:p>
        </p:txBody>
      </p:sp>
      <p:pic>
        <p:nvPicPr>
          <p:cNvPr id="4" name="Content Placeholder 3" descr="A screenshot of a computer&#10;&#10;Description automatically generated">
            <a:extLst>
              <a:ext uri="{FF2B5EF4-FFF2-40B4-BE49-F238E27FC236}">
                <a16:creationId xmlns:a16="http://schemas.microsoft.com/office/drawing/2014/main" id="{D3C9D9A3-A2AF-A945-4A19-B36A56DBF426}"/>
              </a:ext>
            </a:extLst>
          </p:cNvPr>
          <p:cNvPicPr>
            <a:picLocks noGrp="1" noChangeAspect="1"/>
          </p:cNvPicPr>
          <p:nvPr>
            <p:ph idx="1"/>
          </p:nvPr>
        </p:nvPicPr>
        <p:blipFill>
          <a:blip r:embed="rId2"/>
          <a:stretch>
            <a:fillRect/>
          </a:stretch>
        </p:blipFill>
        <p:spPr>
          <a:xfrm>
            <a:off x="388189" y="375443"/>
            <a:ext cx="11444377" cy="6274043"/>
          </a:xfrm>
        </p:spPr>
      </p:pic>
    </p:spTree>
    <p:extLst>
      <p:ext uri="{BB962C8B-B14F-4D97-AF65-F5344CB8AC3E}">
        <p14:creationId xmlns:p14="http://schemas.microsoft.com/office/powerpoint/2010/main" val="21305105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57751-ABA7-0CF4-980F-7031D94E249D}"/>
              </a:ext>
            </a:extLst>
          </p:cNvPr>
          <p:cNvSpPr>
            <a:spLocks noGrp="1"/>
          </p:cNvSpPr>
          <p:nvPr>
            <p:ph type="title"/>
          </p:nvPr>
        </p:nvSpPr>
        <p:spPr>
          <a:xfrm>
            <a:off x="6412091" y="501651"/>
            <a:ext cx="4395340" cy="1716255"/>
          </a:xfrm>
        </p:spPr>
        <p:txBody>
          <a:bodyPr anchor="b">
            <a:normAutofit/>
          </a:bodyPr>
          <a:lstStyle/>
          <a:p>
            <a:r>
              <a:rPr lang="en-US" sz="4300">
                <a:ea typeface="+mj-lt"/>
                <a:cs typeface="+mj-lt"/>
              </a:rPr>
              <a:t>Importance of Web Applications</a:t>
            </a:r>
            <a:endParaRPr lang="en-US" sz="4300"/>
          </a:p>
        </p:txBody>
      </p:sp>
      <p:pic>
        <p:nvPicPr>
          <p:cNvPr id="4" name="Picture 3" descr="Web Application Development Mumbai, Web Application Design Company">
            <a:extLst>
              <a:ext uri="{FF2B5EF4-FFF2-40B4-BE49-F238E27FC236}">
                <a16:creationId xmlns:a16="http://schemas.microsoft.com/office/drawing/2014/main" id="{6248057B-7040-15F6-8B68-CADF9EF0F94B}"/>
              </a:ext>
            </a:extLst>
          </p:cNvPr>
          <p:cNvPicPr>
            <a:picLocks noChangeAspect="1"/>
          </p:cNvPicPr>
          <p:nvPr/>
        </p:nvPicPr>
        <p:blipFill>
          <a:blip r:embed="rId2"/>
          <a:stretch>
            <a:fillRect/>
          </a:stretch>
        </p:blipFill>
        <p:spPr>
          <a:xfrm>
            <a:off x="279143" y="1144540"/>
            <a:ext cx="5221625" cy="4568921"/>
          </a:xfrm>
          <a:prstGeom prst="rect">
            <a:avLst/>
          </a:prstGeom>
        </p:spPr>
      </p:pic>
      <p:sp>
        <p:nvSpPr>
          <p:cNvPr id="3" name="Text Placeholder 2">
            <a:extLst>
              <a:ext uri="{FF2B5EF4-FFF2-40B4-BE49-F238E27FC236}">
                <a16:creationId xmlns:a16="http://schemas.microsoft.com/office/drawing/2014/main" id="{B7F57856-9F1F-2E45-A66D-A0E58A642911}"/>
              </a:ext>
            </a:extLst>
          </p:cNvPr>
          <p:cNvSpPr>
            <a:spLocks noGrp="1"/>
          </p:cNvSpPr>
          <p:nvPr>
            <p:ph idx="1"/>
          </p:nvPr>
        </p:nvSpPr>
        <p:spPr>
          <a:xfrm>
            <a:off x="6392583" y="2645922"/>
            <a:ext cx="4434721" cy="3710427"/>
          </a:xfrm>
        </p:spPr>
        <p:txBody>
          <a:bodyPr vert="horz" lIns="91440" tIns="45720" rIns="91440" bIns="45720" rtlCol="0" anchor="t">
            <a:normAutofit/>
          </a:bodyPr>
          <a:lstStyle/>
          <a:p>
            <a:r>
              <a:rPr lang="en-US" sz="2000">
                <a:solidFill>
                  <a:schemeClr val="tx1">
                    <a:alpha val="80000"/>
                  </a:schemeClr>
                </a:solidFill>
                <a:ea typeface="+mn-lt"/>
                <a:cs typeface="+mn-lt"/>
              </a:rPr>
              <a:t>Web applications are essential in today's world, complementing mobile applications.</a:t>
            </a:r>
            <a:endParaRPr lang="en-US" sz="2000">
              <a:solidFill>
                <a:schemeClr val="tx1">
                  <a:alpha val="80000"/>
                </a:schemeClr>
              </a:solidFill>
            </a:endParaRPr>
          </a:p>
          <a:p>
            <a:endParaRPr lang="en-US" sz="2000">
              <a:solidFill>
                <a:schemeClr val="tx1">
                  <a:alpha val="80000"/>
                </a:schemeClr>
              </a:solidFill>
              <a:ea typeface="+mn-lt"/>
              <a:cs typeface="+mn-lt"/>
            </a:endParaRPr>
          </a:p>
          <a:p>
            <a:r>
              <a:rPr lang="en-US" sz="2000">
                <a:solidFill>
                  <a:schemeClr val="tx1">
                    <a:alpha val="80000"/>
                  </a:schemeClr>
                </a:solidFill>
                <a:ea typeface="+mn-lt"/>
                <a:cs typeface="+mn-lt"/>
              </a:rPr>
              <a:t>Both mobile and web applications often share the same backend server.</a:t>
            </a:r>
            <a:endParaRPr lang="en-US" sz="2000">
              <a:solidFill>
                <a:schemeClr val="tx1">
                  <a:alpha val="80000"/>
                </a:schemeClr>
              </a:solidFill>
            </a:endParaRPr>
          </a:p>
          <a:p>
            <a:endParaRPr lang="en-US" sz="2000">
              <a:solidFill>
                <a:schemeClr val="tx1">
                  <a:alpha val="80000"/>
                </a:schemeClr>
              </a:solidFill>
            </a:endParaRPr>
          </a:p>
        </p:txBody>
      </p:sp>
    </p:spTree>
    <p:extLst>
      <p:ext uri="{BB962C8B-B14F-4D97-AF65-F5344CB8AC3E}">
        <p14:creationId xmlns:p14="http://schemas.microsoft.com/office/powerpoint/2010/main" val="38710411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4AFF3-F410-C3B1-D1F2-711386239F0A}"/>
              </a:ext>
            </a:extLst>
          </p:cNvPr>
          <p:cNvSpPr>
            <a:spLocks noGrp="1"/>
          </p:cNvSpPr>
          <p:nvPr>
            <p:ph type="title"/>
          </p:nvPr>
        </p:nvSpPr>
        <p:spPr/>
        <p:txBody>
          <a:bodyPr>
            <a:normAutofit/>
          </a:bodyPr>
          <a:lstStyle/>
          <a:p>
            <a:r>
              <a:rPr lang="en-US" sz="4000">
                <a:ea typeface="+mj-lt"/>
                <a:cs typeface="+mj-lt"/>
              </a:rPr>
              <a:t>Spring Framework</a:t>
            </a:r>
            <a:endParaRPr lang="en-US" sz="4000"/>
          </a:p>
        </p:txBody>
      </p:sp>
      <p:sp>
        <p:nvSpPr>
          <p:cNvPr id="3" name="Content Placeholder 2">
            <a:extLst>
              <a:ext uri="{FF2B5EF4-FFF2-40B4-BE49-F238E27FC236}">
                <a16:creationId xmlns:a16="http://schemas.microsoft.com/office/drawing/2014/main" id="{20572E19-5194-3976-2DF5-EFBD87B263C4}"/>
              </a:ext>
            </a:extLst>
          </p:cNvPr>
          <p:cNvSpPr>
            <a:spLocks noGrp="1"/>
          </p:cNvSpPr>
          <p:nvPr>
            <p:ph idx="1"/>
          </p:nvPr>
        </p:nvSpPr>
        <p:spPr/>
        <p:txBody>
          <a:bodyPr vert="horz" lIns="91440" tIns="45720" rIns="91440" bIns="45720" rtlCol="0" anchor="t">
            <a:normAutofit/>
          </a:bodyPr>
          <a:lstStyle/>
          <a:p>
            <a:r>
              <a:rPr lang="en-US" sz="2000">
                <a:ea typeface="+mn-lt"/>
                <a:cs typeface="+mn-lt"/>
              </a:rPr>
              <a:t>Spring is an umbrella framework containing multiple projects for various purposes.</a:t>
            </a:r>
            <a:endParaRPr lang="en-US" sz="2000"/>
          </a:p>
          <a:p>
            <a:r>
              <a:rPr lang="en-US" sz="2000" b="1">
                <a:ea typeface="+mn-lt"/>
                <a:cs typeface="+mn-lt"/>
              </a:rPr>
              <a:t>Spring Web</a:t>
            </a:r>
            <a:r>
              <a:rPr lang="en-US" sz="2000">
                <a:ea typeface="+mn-lt"/>
                <a:cs typeface="+mn-lt"/>
              </a:rPr>
              <a:t>: Used for building web applications.</a:t>
            </a:r>
            <a:endParaRPr lang="en-US" sz="2000"/>
          </a:p>
          <a:p>
            <a:r>
              <a:rPr lang="en-US" sz="2000" b="1">
                <a:ea typeface="+mn-lt"/>
                <a:cs typeface="+mn-lt"/>
              </a:rPr>
              <a:t>Spring MVC</a:t>
            </a:r>
            <a:r>
              <a:rPr lang="en-US" sz="2000">
                <a:ea typeface="+mn-lt"/>
                <a:cs typeface="+mn-lt"/>
              </a:rPr>
              <a:t>: Another option within Spring for web applications.</a:t>
            </a:r>
            <a:endParaRPr lang="en-US" sz="2000"/>
          </a:p>
          <a:p>
            <a:r>
              <a:rPr lang="en-US" sz="2000">
                <a:ea typeface="+mn-lt"/>
                <a:cs typeface="+mn-lt"/>
              </a:rPr>
              <a:t>Both aim to simplify backend development for dynamic web content.</a:t>
            </a:r>
            <a:endParaRPr lang="en-US" sz="2000"/>
          </a:p>
          <a:p>
            <a:endParaRPr lang="en-US" sz="2000"/>
          </a:p>
        </p:txBody>
      </p:sp>
    </p:spTree>
    <p:extLst>
      <p:ext uri="{BB962C8B-B14F-4D97-AF65-F5344CB8AC3E}">
        <p14:creationId xmlns:p14="http://schemas.microsoft.com/office/powerpoint/2010/main" val="11589782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56E59-38CA-20AC-A0FF-357620029FEF}"/>
              </a:ext>
            </a:extLst>
          </p:cNvPr>
          <p:cNvSpPr>
            <a:spLocks noGrp="1"/>
          </p:cNvSpPr>
          <p:nvPr>
            <p:ph type="title"/>
          </p:nvPr>
        </p:nvSpPr>
        <p:spPr/>
        <p:txBody>
          <a:bodyPr>
            <a:normAutofit/>
          </a:bodyPr>
          <a:lstStyle/>
          <a:p>
            <a:r>
              <a:rPr lang="en-US" sz="4000">
                <a:ea typeface="+mj-lt"/>
                <a:cs typeface="+mj-lt"/>
              </a:rPr>
              <a:t>Building Web Applications</a:t>
            </a:r>
            <a:endParaRPr lang="en-US" sz="4000"/>
          </a:p>
        </p:txBody>
      </p:sp>
      <p:sp>
        <p:nvSpPr>
          <p:cNvPr id="3" name="Content Placeholder 2">
            <a:extLst>
              <a:ext uri="{FF2B5EF4-FFF2-40B4-BE49-F238E27FC236}">
                <a16:creationId xmlns:a16="http://schemas.microsoft.com/office/drawing/2014/main" id="{4B94198F-B9D3-64BB-B8D4-0247790771FA}"/>
              </a:ext>
            </a:extLst>
          </p:cNvPr>
          <p:cNvSpPr>
            <a:spLocks noGrp="1"/>
          </p:cNvSpPr>
          <p:nvPr>
            <p:ph idx="1"/>
          </p:nvPr>
        </p:nvSpPr>
        <p:spPr/>
        <p:txBody>
          <a:bodyPr vert="horz" lIns="91440" tIns="45720" rIns="91440" bIns="45720" rtlCol="0" anchor="t">
            <a:normAutofit/>
          </a:bodyPr>
          <a:lstStyle/>
          <a:p>
            <a:r>
              <a:rPr lang="en-US" sz="2000">
                <a:ea typeface="+mn-lt"/>
                <a:cs typeface="+mn-lt"/>
              </a:rPr>
              <a:t>Dynamic content requires backend programming, often in Java.</a:t>
            </a:r>
            <a:endParaRPr lang="en-US" sz="2000"/>
          </a:p>
          <a:p>
            <a:r>
              <a:rPr lang="en-US" sz="2000">
                <a:ea typeface="+mn-lt"/>
                <a:cs typeface="+mn-lt"/>
              </a:rPr>
              <a:t>Backend servers handle client requests, process them, and return data, usually in JSON format.</a:t>
            </a:r>
            <a:endParaRPr lang="en-US" sz="2000"/>
          </a:p>
          <a:p>
            <a:r>
              <a:rPr lang="en-US" sz="2000">
                <a:ea typeface="+mn-lt"/>
                <a:cs typeface="+mn-lt"/>
              </a:rPr>
              <a:t>The backend can interact with databases or other servers to fetch data.</a:t>
            </a:r>
            <a:endParaRPr lang="en-US" sz="2000"/>
          </a:p>
          <a:p>
            <a:endParaRPr lang="en-US" sz="2000"/>
          </a:p>
        </p:txBody>
      </p:sp>
    </p:spTree>
    <p:extLst>
      <p:ext uri="{BB962C8B-B14F-4D97-AF65-F5344CB8AC3E}">
        <p14:creationId xmlns:p14="http://schemas.microsoft.com/office/powerpoint/2010/main" val="159607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C6447-9683-DB3C-0DDE-076484B3D7AC}"/>
              </a:ext>
            </a:extLst>
          </p:cNvPr>
          <p:cNvSpPr>
            <a:spLocks noGrp="1"/>
          </p:cNvSpPr>
          <p:nvPr>
            <p:ph type="title"/>
          </p:nvPr>
        </p:nvSpPr>
        <p:spPr>
          <a:xfrm>
            <a:off x="630936" y="639520"/>
            <a:ext cx="3429000" cy="1719072"/>
          </a:xfrm>
        </p:spPr>
        <p:txBody>
          <a:bodyPr anchor="b">
            <a:normAutofit/>
          </a:bodyPr>
          <a:lstStyle/>
          <a:p>
            <a:r>
              <a:rPr lang="en-US" sz="5400">
                <a:ea typeface="+mj-lt"/>
                <a:cs typeface="+mj-lt"/>
              </a:rPr>
              <a:t>Servlets</a:t>
            </a:r>
            <a:endParaRPr lang="en-US" sz="5400"/>
          </a:p>
        </p:txBody>
      </p:sp>
      <p:sp>
        <p:nvSpPr>
          <p:cNvPr id="3" name="Content Placeholder 2">
            <a:extLst>
              <a:ext uri="{FF2B5EF4-FFF2-40B4-BE49-F238E27FC236}">
                <a16:creationId xmlns:a16="http://schemas.microsoft.com/office/drawing/2014/main" id="{9ADC6654-A3FA-A554-34C5-F4F9DF16CE1A}"/>
              </a:ext>
            </a:extLst>
          </p:cNvPr>
          <p:cNvSpPr>
            <a:spLocks noGrp="1"/>
          </p:cNvSpPr>
          <p:nvPr>
            <p:ph idx="1"/>
          </p:nvPr>
        </p:nvSpPr>
        <p:spPr>
          <a:xfrm>
            <a:off x="630936" y="2807208"/>
            <a:ext cx="3429000" cy="3410712"/>
          </a:xfrm>
        </p:spPr>
        <p:txBody>
          <a:bodyPr vert="horz" lIns="91440" tIns="45720" rIns="91440" bIns="45720" rtlCol="0" anchor="t">
            <a:normAutofit/>
          </a:bodyPr>
          <a:lstStyle/>
          <a:p>
            <a:endParaRPr lang="en-US" sz="1900" b="1">
              <a:ea typeface="+mn-lt"/>
              <a:cs typeface="+mn-lt"/>
            </a:endParaRPr>
          </a:p>
          <a:p>
            <a:r>
              <a:rPr lang="en-US" sz="1900" b="1">
                <a:ea typeface="+mn-lt"/>
                <a:cs typeface="+mn-lt"/>
              </a:rPr>
              <a:t>Servlets</a:t>
            </a:r>
            <a:r>
              <a:rPr lang="en-US" sz="1900">
                <a:ea typeface="+mn-lt"/>
                <a:cs typeface="+mn-lt"/>
              </a:rPr>
              <a:t>: Java components that process client requests and generate responses.</a:t>
            </a:r>
            <a:endParaRPr lang="en-US" sz="1900"/>
          </a:p>
          <a:p>
            <a:endParaRPr lang="en-US" sz="1900">
              <a:ea typeface="+mn-lt"/>
              <a:cs typeface="+mn-lt"/>
            </a:endParaRPr>
          </a:p>
          <a:p>
            <a:r>
              <a:rPr lang="en-US" sz="1900">
                <a:ea typeface="+mn-lt"/>
                <a:cs typeface="+mn-lt"/>
              </a:rPr>
              <a:t>They run on a servlet container (or web container) which handles HTTP requests and responses.</a:t>
            </a:r>
            <a:endParaRPr lang="en-US" sz="1900"/>
          </a:p>
          <a:p>
            <a:endParaRPr lang="en-US" sz="1900"/>
          </a:p>
        </p:txBody>
      </p:sp>
      <p:pic>
        <p:nvPicPr>
          <p:cNvPr id="4" name="Picture 3" descr="Servlets inside a Java Servlet Container">
            <a:extLst>
              <a:ext uri="{FF2B5EF4-FFF2-40B4-BE49-F238E27FC236}">
                <a16:creationId xmlns:a16="http://schemas.microsoft.com/office/drawing/2014/main" id="{298557EA-B973-E1A7-F343-3C340FACCAB6}"/>
              </a:ext>
            </a:extLst>
          </p:cNvPr>
          <p:cNvPicPr>
            <a:picLocks noChangeAspect="1"/>
          </p:cNvPicPr>
          <p:nvPr/>
        </p:nvPicPr>
        <p:blipFill>
          <a:blip r:embed="rId2"/>
          <a:stretch>
            <a:fillRect/>
          </a:stretch>
        </p:blipFill>
        <p:spPr>
          <a:xfrm>
            <a:off x="4705034" y="640080"/>
            <a:ext cx="6802243" cy="5577840"/>
          </a:xfrm>
          <a:prstGeom prst="rect">
            <a:avLst/>
          </a:prstGeom>
        </p:spPr>
      </p:pic>
    </p:spTree>
    <p:extLst>
      <p:ext uri="{BB962C8B-B14F-4D97-AF65-F5344CB8AC3E}">
        <p14:creationId xmlns:p14="http://schemas.microsoft.com/office/powerpoint/2010/main" val="10009418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2207B-7ACA-FEB6-F241-41570166EB28}"/>
              </a:ext>
            </a:extLst>
          </p:cNvPr>
          <p:cNvSpPr>
            <a:spLocks noGrp="1"/>
          </p:cNvSpPr>
          <p:nvPr>
            <p:ph type="title"/>
          </p:nvPr>
        </p:nvSpPr>
        <p:spPr/>
        <p:txBody>
          <a:bodyPr/>
          <a:lstStyle/>
          <a:p>
            <a:r>
              <a:rPr lang="en-US" b="1"/>
              <a:t>Apache Tomcat</a:t>
            </a:r>
            <a:endParaRPr lang="en-US"/>
          </a:p>
        </p:txBody>
      </p:sp>
      <p:sp>
        <p:nvSpPr>
          <p:cNvPr id="3" name="Content Placeholder 2">
            <a:extLst>
              <a:ext uri="{FF2B5EF4-FFF2-40B4-BE49-F238E27FC236}">
                <a16:creationId xmlns:a16="http://schemas.microsoft.com/office/drawing/2014/main" id="{B0A8FFDC-F251-FBF0-7831-7C1714530CE0}"/>
              </a:ext>
            </a:extLst>
          </p:cNvPr>
          <p:cNvSpPr>
            <a:spLocks noGrp="1"/>
          </p:cNvSpPr>
          <p:nvPr>
            <p:ph idx="1"/>
          </p:nvPr>
        </p:nvSpPr>
        <p:spPr/>
        <p:txBody>
          <a:bodyPr vert="horz" lIns="91440" tIns="45720" rIns="91440" bIns="45720" rtlCol="0" anchor="t">
            <a:normAutofit/>
          </a:bodyPr>
          <a:lstStyle/>
          <a:p>
            <a:r>
              <a:rPr lang="en-US" sz="2400" b="1">
                <a:ea typeface="+mn-lt"/>
                <a:cs typeface="+mn-lt"/>
              </a:rPr>
              <a:t>Tomcat</a:t>
            </a:r>
            <a:r>
              <a:rPr lang="en-US" sz="2400">
                <a:ea typeface="+mn-lt"/>
                <a:cs typeface="+mn-lt"/>
              </a:rPr>
              <a:t>: A lightweight and popular servlet container for running Java servlets.</a:t>
            </a:r>
            <a:endParaRPr lang="en-US">
              <a:ea typeface="+mn-lt"/>
              <a:cs typeface="+mn-lt"/>
            </a:endParaRPr>
          </a:p>
          <a:p>
            <a:endParaRPr lang="en-US" sz="2400">
              <a:ea typeface="+mn-lt"/>
              <a:cs typeface="+mn-lt"/>
            </a:endParaRPr>
          </a:p>
          <a:p>
            <a:r>
              <a:rPr lang="en-US" sz="2400">
                <a:ea typeface="+mn-lt"/>
                <a:cs typeface="+mn-lt"/>
              </a:rPr>
              <a:t>Provides the environment necessary for servlets to function, including handling requests from the internet.</a:t>
            </a:r>
            <a:endParaRPr lang="en-US">
              <a:ea typeface="+mn-lt"/>
              <a:cs typeface="+mn-lt"/>
            </a:endParaRPr>
          </a:p>
          <a:p>
            <a:endParaRPr lang="en-US" sz="2400">
              <a:ea typeface="+mn-lt"/>
              <a:cs typeface="+mn-lt"/>
            </a:endParaRPr>
          </a:p>
        </p:txBody>
      </p:sp>
      <p:pic>
        <p:nvPicPr>
          <p:cNvPr id="6" name="Picture 5" descr="What is Tomcat? Everything You Need to Know">
            <a:extLst>
              <a:ext uri="{FF2B5EF4-FFF2-40B4-BE49-F238E27FC236}">
                <a16:creationId xmlns:a16="http://schemas.microsoft.com/office/drawing/2014/main" id="{A5857A82-F1E3-AC10-1AD9-7803145CB0F6}"/>
              </a:ext>
            </a:extLst>
          </p:cNvPr>
          <p:cNvPicPr>
            <a:picLocks noChangeAspect="1"/>
          </p:cNvPicPr>
          <p:nvPr/>
        </p:nvPicPr>
        <p:blipFill rotWithShape="1">
          <a:blip r:embed="rId2"/>
          <a:srcRect l="25243" t="10180" r="26537" b="37931"/>
          <a:stretch/>
        </p:blipFill>
        <p:spPr>
          <a:xfrm>
            <a:off x="8289985" y="242512"/>
            <a:ext cx="2140842" cy="1300502"/>
          </a:xfrm>
          <a:prstGeom prst="rect">
            <a:avLst/>
          </a:prstGeom>
        </p:spPr>
      </p:pic>
    </p:spTree>
    <p:extLst>
      <p:ext uri="{BB962C8B-B14F-4D97-AF65-F5344CB8AC3E}">
        <p14:creationId xmlns:p14="http://schemas.microsoft.com/office/powerpoint/2010/main" val="36718342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DF474-066C-C9DC-2A99-746AF811885A}"/>
              </a:ext>
            </a:extLst>
          </p:cNvPr>
          <p:cNvSpPr>
            <a:spLocks noGrp="1"/>
          </p:cNvSpPr>
          <p:nvPr>
            <p:ph type="title"/>
          </p:nvPr>
        </p:nvSpPr>
        <p:spPr/>
        <p:txBody>
          <a:bodyPr>
            <a:normAutofit/>
          </a:bodyPr>
          <a:lstStyle/>
          <a:p>
            <a:r>
              <a:rPr lang="en-US" sz="3600">
                <a:ea typeface="+mj-lt"/>
                <a:cs typeface="+mj-lt"/>
              </a:rPr>
              <a:t>Relation Between Spring and Servlets</a:t>
            </a:r>
            <a:endParaRPr lang="en-US" sz="5400"/>
          </a:p>
        </p:txBody>
      </p:sp>
      <p:sp>
        <p:nvSpPr>
          <p:cNvPr id="3" name="Content Placeholder 2">
            <a:extLst>
              <a:ext uri="{FF2B5EF4-FFF2-40B4-BE49-F238E27FC236}">
                <a16:creationId xmlns:a16="http://schemas.microsoft.com/office/drawing/2014/main" id="{AA771E8C-FC2C-0313-14BE-DEF4F66A3AB2}"/>
              </a:ext>
            </a:extLst>
          </p:cNvPr>
          <p:cNvSpPr>
            <a:spLocks noGrp="1"/>
          </p:cNvSpPr>
          <p:nvPr>
            <p:ph idx="1"/>
          </p:nvPr>
        </p:nvSpPr>
        <p:spPr/>
        <p:txBody>
          <a:bodyPr vert="horz" lIns="91440" tIns="45720" rIns="91440" bIns="45720" rtlCol="0" anchor="t">
            <a:normAutofit/>
          </a:bodyPr>
          <a:lstStyle/>
          <a:p>
            <a:r>
              <a:rPr lang="en-US" sz="2400">
                <a:ea typeface="+mn-lt"/>
                <a:cs typeface="+mn-lt"/>
              </a:rPr>
              <a:t>Even when using Spring (e.g., Spring MVC or Spring Web), servlets operate behind the scenes.</a:t>
            </a:r>
            <a:endParaRPr lang="en-US" sz="2400"/>
          </a:p>
          <a:p>
            <a:endParaRPr lang="en-US" sz="2400">
              <a:ea typeface="+mn-lt"/>
              <a:cs typeface="+mn-lt"/>
            </a:endParaRPr>
          </a:p>
          <a:p>
            <a:r>
              <a:rPr lang="en-US" sz="2400">
                <a:ea typeface="+mn-lt"/>
                <a:cs typeface="+mn-lt"/>
              </a:rPr>
              <a:t>Spring simplifies the use of servlets and enhances functionality.</a:t>
            </a:r>
            <a:endParaRPr lang="en-US" sz="2400"/>
          </a:p>
          <a:p>
            <a:endParaRPr lang="en-US" sz="2400"/>
          </a:p>
        </p:txBody>
      </p:sp>
    </p:spTree>
    <p:extLst>
      <p:ext uri="{BB962C8B-B14F-4D97-AF65-F5344CB8AC3E}">
        <p14:creationId xmlns:p14="http://schemas.microsoft.com/office/powerpoint/2010/main" val="24426200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EA1FC-1B39-2CB3-17D2-A456ECFA66C8}"/>
              </a:ext>
            </a:extLst>
          </p:cNvPr>
          <p:cNvSpPr>
            <a:spLocks noGrp="1"/>
          </p:cNvSpPr>
          <p:nvPr>
            <p:ph type="title"/>
          </p:nvPr>
        </p:nvSpPr>
        <p:spPr/>
        <p:txBody>
          <a:bodyPr>
            <a:normAutofit/>
          </a:bodyPr>
          <a:lstStyle/>
          <a:p>
            <a:r>
              <a:rPr lang="en-US">
                <a:ea typeface="+mj-lt"/>
                <a:cs typeface="+mj-lt"/>
              </a:rPr>
              <a:t>Key Features</a:t>
            </a:r>
            <a:endParaRPr lang="en-US"/>
          </a:p>
        </p:txBody>
      </p:sp>
      <p:sp>
        <p:nvSpPr>
          <p:cNvPr id="3" name="Content Placeholder 2">
            <a:extLst>
              <a:ext uri="{FF2B5EF4-FFF2-40B4-BE49-F238E27FC236}">
                <a16:creationId xmlns:a16="http://schemas.microsoft.com/office/drawing/2014/main" id="{0FC5DB69-2DA0-B7A4-CA8F-1B90068BC0EC}"/>
              </a:ext>
            </a:extLst>
          </p:cNvPr>
          <p:cNvSpPr>
            <a:spLocks noGrp="1"/>
          </p:cNvSpPr>
          <p:nvPr>
            <p:ph idx="1"/>
          </p:nvPr>
        </p:nvSpPr>
        <p:spPr/>
        <p:txBody>
          <a:bodyPr vert="horz" lIns="91440" tIns="45720" rIns="91440" bIns="45720" rtlCol="0" anchor="t">
            <a:noAutofit/>
          </a:bodyPr>
          <a:lstStyle/>
          <a:p>
            <a:pPr marL="0" indent="0">
              <a:buNone/>
            </a:pPr>
            <a:r>
              <a:rPr lang="en-US" sz="2000" b="1">
                <a:ea typeface="+mn-lt"/>
                <a:cs typeface="+mn-lt"/>
              </a:rPr>
              <a:t>Servlet Container</a:t>
            </a:r>
            <a:r>
              <a:rPr lang="en-US" sz="2000">
                <a:ea typeface="+mn-lt"/>
                <a:cs typeface="+mn-lt"/>
              </a:rPr>
              <a:t>: </a:t>
            </a:r>
            <a:endParaRPr lang="en-US"/>
          </a:p>
          <a:p>
            <a:r>
              <a:rPr lang="en-US" sz="2000">
                <a:ea typeface="+mn-lt"/>
                <a:cs typeface="+mn-lt"/>
              </a:rPr>
              <a:t>Tomcat implements the Java Servlet, </a:t>
            </a:r>
            <a:r>
              <a:rPr lang="en-US" sz="2000" err="1">
                <a:ea typeface="+mn-lt"/>
                <a:cs typeface="+mn-lt"/>
              </a:rPr>
              <a:t>JavaServer</a:t>
            </a:r>
            <a:r>
              <a:rPr lang="en-US" sz="2000">
                <a:ea typeface="+mn-lt"/>
                <a:cs typeface="+mn-lt"/>
              </a:rPr>
              <a:t> Pages (JSP), and Java Expression Language (EL) specifications. </a:t>
            </a:r>
          </a:p>
          <a:p>
            <a:r>
              <a:rPr lang="en-US" sz="2000">
                <a:ea typeface="+mn-lt"/>
                <a:cs typeface="+mn-lt"/>
              </a:rPr>
              <a:t>This makes it suitable for running web applications that use these technologies.</a:t>
            </a:r>
            <a:endParaRPr lang="en-US" sz="2000"/>
          </a:p>
          <a:p>
            <a:pPr marL="0" indent="0">
              <a:buNone/>
            </a:pPr>
            <a:r>
              <a:rPr lang="en-US" sz="2000" b="1">
                <a:ea typeface="+mn-lt"/>
                <a:cs typeface="+mn-lt"/>
              </a:rPr>
              <a:t>Web Server</a:t>
            </a:r>
            <a:r>
              <a:rPr lang="en-US" sz="2000">
                <a:ea typeface="+mn-lt"/>
                <a:cs typeface="+mn-lt"/>
              </a:rPr>
              <a:t>: </a:t>
            </a:r>
          </a:p>
          <a:p>
            <a:r>
              <a:rPr lang="en-US" sz="2000">
                <a:ea typeface="+mn-lt"/>
                <a:cs typeface="+mn-lt"/>
              </a:rPr>
              <a:t>It can serve static content (like HTML, CSS, JavaScript files) in addition to dynamic content generated by servlets and JSPs.</a:t>
            </a:r>
            <a:endParaRPr lang="en-US" sz="2000"/>
          </a:p>
          <a:p>
            <a:pPr marL="0" indent="0">
              <a:buNone/>
            </a:pPr>
            <a:r>
              <a:rPr lang="en-US" sz="2000" b="1">
                <a:ea typeface="+mn-lt"/>
                <a:cs typeface="+mn-lt"/>
              </a:rPr>
              <a:t>Lightweight</a:t>
            </a:r>
            <a:r>
              <a:rPr lang="en-US" sz="2000">
                <a:ea typeface="+mn-lt"/>
                <a:cs typeface="+mn-lt"/>
              </a:rPr>
              <a:t>: </a:t>
            </a:r>
          </a:p>
          <a:p>
            <a:r>
              <a:rPr lang="en-US" sz="2000">
                <a:ea typeface="+mn-lt"/>
                <a:cs typeface="+mn-lt"/>
              </a:rPr>
              <a:t>Compared to full-fledged application servers like JBoss or WebSphere, Tomcat is lightweight and more focused on web applications, making it easier to manage and faster to start up.</a:t>
            </a:r>
            <a:endParaRPr lang="en-US" sz="2000"/>
          </a:p>
          <a:p>
            <a:pPr marL="0" indent="0">
              <a:buNone/>
            </a:pPr>
            <a:r>
              <a:rPr lang="en-US" sz="2000" b="1">
                <a:ea typeface="+mn-lt"/>
                <a:cs typeface="+mn-lt"/>
              </a:rPr>
              <a:t>Extensible and Flexible</a:t>
            </a:r>
            <a:r>
              <a:rPr lang="en-US" sz="2000">
                <a:ea typeface="+mn-lt"/>
                <a:cs typeface="+mn-lt"/>
              </a:rPr>
              <a:t>: </a:t>
            </a:r>
          </a:p>
          <a:p>
            <a:r>
              <a:rPr lang="en-US" sz="2000">
                <a:ea typeface="+mn-lt"/>
                <a:cs typeface="+mn-lt"/>
              </a:rPr>
              <a:t>Tomcat can be extended and customized using its extensive configuration options and support for adding additional modules.</a:t>
            </a:r>
            <a:endParaRPr lang="en-US" sz="2000"/>
          </a:p>
          <a:p>
            <a:endParaRPr lang="en-US" sz="2000"/>
          </a:p>
        </p:txBody>
      </p:sp>
    </p:spTree>
    <p:extLst>
      <p:ext uri="{BB962C8B-B14F-4D97-AF65-F5344CB8AC3E}">
        <p14:creationId xmlns:p14="http://schemas.microsoft.com/office/powerpoint/2010/main" val="38428803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09A93-7457-F0E4-A029-6B9077CFD54B}"/>
              </a:ext>
            </a:extLst>
          </p:cNvPr>
          <p:cNvSpPr>
            <a:spLocks noGrp="1"/>
          </p:cNvSpPr>
          <p:nvPr>
            <p:ph type="title"/>
          </p:nvPr>
        </p:nvSpPr>
        <p:spPr/>
        <p:txBody>
          <a:bodyPr>
            <a:normAutofit/>
          </a:bodyPr>
          <a:lstStyle/>
          <a:p>
            <a:r>
              <a:rPr lang="en-US" b="1"/>
              <a:t>History of Apache Tomcat</a:t>
            </a:r>
            <a:endParaRPr lang="en-US"/>
          </a:p>
        </p:txBody>
      </p:sp>
      <p:sp>
        <p:nvSpPr>
          <p:cNvPr id="3" name="Content Placeholder 2">
            <a:extLst>
              <a:ext uri="{FF2B5EF4-FFF2-40B4-BE49-F238E27FC236}">
                <a16:creationId xmlns:a16="http://schemas.microsoft.com/office/drawing/2014/main" id="{44D1DF91-C205-7758-2FF6-4A071FA81BB7}"/>
              </a:ext>
            </a:extLst>
          </p:cNvPr>
          <p:cNvSpPr>
            <a:spLocks noGrp="1"/>
          </p:cNvSpPr>
          <p:nvPr>
            <p:ph idx="1"/>
          </p:nvPr>
        </p:nvSpPr>
        <p:spPr/>
        <p:txBody>
          <a:bodyPr vert="horz" lIns="91440" tIns="45720" rIns="91440" bIns="45720" rtlCol="0" anchor="t">
            <a:normAutofit/>
          </a:bodyPr>
          <a:lstStyle/>
          <a:p>
            <a:r>
              <a:rPr lang="en-US" sz="2400">
                <a:latin typeface="Calibri"/>
                <a:cs typeface="Calibri"/>
              </a:rPr>
              <a:t>As the reference implementation of Java Servlet and Java Server Pages (JSP), Tomcat was started at Sun Microsystems, which later donated the code base to the Apache Software Foundation in 1999.</a:t>
            </a:r>
          </a:p>
          <a:p>
            <a:r>
              <a:rPr lang="en-US" sz="2400">
                <a:latin typeface="Calibri"/>
                <a:cs typeface="Calibri"/>
              </a:rPr>
              <a:t>Nowadays, Apache Tomcat is widely used by many companies as it implements many of the Jakarta EE specifications such as:</a:t>
            </a:r>
            <a:endParaRPr lang="en-US"/>
          </a:p>
          <a:p>
            <a:pPr lvl="1">
              <a:buFont typeface="Courier New" panose="020B0604020202020204" pitchFamily="34" charset="0"/>
              <a:buChar char="o"/>
            </a:pPr>
            <a:r>
              <a:rPr lang="en-US" sz="2000">
                <a:latin typeface="Calibri"/>
                <a:cs typeface="Calibri"/>
              </a:rPr>
              <a:t>Java Servlet</a:t>
            </a:r>
          </a:p>
          <a:p>
            <a:pPr lvl="1">
              <a:buFont typeface="Courier New" panose="020B0604020202020204" pitchFamily="34" charset="0"/>
              <a:buChar char="o"/>
            </a:pPr>
            <a:r>
              <a:rPr lang="en-US" sz="2000" err="1">
                <a:latin typeface="Calibri"/>
                <a:cs typeface="Calibri"/>
              </a:rPr>
              <a:t>JavaServer</a:t>
            </a:r>
            <a:r>
              <a:rPr lang="en-US" sz="2000">
                <a:latin typeface="Calibri"/>
                <a:cs typeface="Calibri"/>
              </a:rPr>
              <a:t> Pages</a:t>
            </a:r>
          </a:p>
          <a:p>
            <a:pPr lvl="1">
              <a:buFont typeface="Courier New" panose="020B0604020202020204" pitchFamily="34" charset="0"/>
              <a:buChar char="o"/>
            </a:pPr>
            <a:r>
              <a:rPr lang="en-US" sz="2000">
                <a:latin typeface="Calibri"/>
                <a:cs typeface="Calibri"/>
              </a:rPr>
              <a:t>Java Expression Language</a:t>
            </a:r>
          </a:p>
          <a:p>
            <a:pPr lvl="1">
              <a:buFont typeface="Courier New" panose="020B0604020202020204" pitchFamily="34" charset="0"/>
              <a:buChar char="o"/>
            </a:pPr>
            <a:r>
              <a:rPr lang="en-US" sz="2000">
                <a:latin typeface="Calibri"/>
                <a:cs typeface="Calibri"/>
              </a:rPr>
              <a:t>Java </a:t>
            </a:r>
            <a:r>
              <a:rPr lang="en-US" sz="2000" err="1">
                <a:latin typeface="Calibri"/>
                <a:cs typeface="Calibri"/>
              </a:rPr>
              <a:t>WebSockets</a:t>
            </a:r>
          </a:p>
        </p:txBody>
      </p:sp>
      <p:pic>
        <p:nvPicPr>
          <p:cNvPr id="5" name="Picture 4" descr="What is Tomcat? Everything You Need to Know">
            <a:extLst>
              <a:ext uri="{FF2B5EF4-FFF2-40B4-BE49-F238E27FC236}">
                <a16:creationId xmlns:a16="http://schemas.microsoft.com/office/drawing/2014/main" id="{94746408-736D-721B-8A02-8499534710F1}"/>
              </a:ext>
            </a:extLst>
          </p:cNvPr>
          <p:cNvPicPr>
            <a:picLocks noChangeAspect="1"/>
          </p:cNvPicPr>
          <p:nvPr/>
        </p:nvPicPr>
        <p:blipFill rotWithShape="1">
          <a:blip r:embed="rId2"/>
          <a:srcRect l="25243" t="10180" r="26537" b="37931"/>
          <a:stretch/>
        </p:blipFill>
        <p:spPr>
          <a:xfrm>
            <a:off x="8289985" y="252345"/>
            <a:ext cx="2140842" cy="1300502"/>
          </a:xfrm>
          <a:prstGeom prst="rect">
            <a:avLst/>
          </a:prstGeom>
        </p:spPr>
      </p:pic>
    </p:spTree>
    <p:extLst>
      <p:ext uri="{BB962C8B-B14F-4D97-AF65-F5344CB8AC3E}">
        <p14:creationId xmlns:p14="http://schemas.microsoft.com/office/powerpoint/2010/main" val="37011499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D7DE8-496A-35D9-B4D8-4C33EAA5B807}"/>
              </a:ext>
            </a:extLst>
          </p:cNvPr>
          <p:cNvSpPr>
            <a:spLocks noGrp="1"/>
          </p:cNvSpPr>
          <p:nvPr>
            <p:ph type="title"/>
          </p:nvPr>
        </p:nvSpPr>
        <p:spPr>
          <a:xfrm>
            <a:off x="464389" y="365125"/>
            <a:ext cx="10515600" cy="1325563"/>
          </a:xfrm>
        </p:spPr>
        <p:txBody>
          <a:bodyPr>
            <a:normAutofit/>
          </a:bodyPr>
          <a:lstStyle/>
          <a:p>
            <a:r>
              <a:rPr lang="en-US" sz="3600" b="1">
                <a:solidFill>
                  <a:srgbClr val="273239"/>
                </a:solidFill>
                <a:ea typeface="+mj-lt"/>
                <a:cs typeface="+mj-lt"/>
              </a:rPr>
              <a:t> Key primary terminologies and functionalities</a:t>
            </a:r>
            <a:endParaRPr lang="en-US" sz="3600" b="1"/>
          </a:p>
        </p:txBody>
      </p:sp>
      <p:sp>
        <p:nvSpPr>
          <p:cNvPr id="3" name="Content Placeholder 2">
            <a:extLst>
              <a:ext uri="{FF2B5EF4-FFF2-40B4-BE49-F238E27FC236}">
                <a16:creationId xmlns:a16="http://schemas.microsoft.com/office/drawing/2014/main" id="{A845704B-D451-54EF-256E-0FF9834BFB66}"/>
              </a:ext>
            </a:extLst>
          </p:cNvPr>
          <p:cNvSpPr>
            <a:spLocks noGrp="1"/>
          </p:cNvSpPr>
          <p:nvPr>
            <p:ph idx="1"/>
          </p:nvPr>
        </p:nvSpPr>
        <p:spPr>
          <a:xfrm>
            <a:off x="464388" y="1236154"/>
            <a:ext cx="11277600" cy="5444015"/>
          </a:xfrm>
        </p:spPr>
        <p:txBody>
          <a:bodyPr vert="horz" lIns="91440" tIns="45720" rIns="91440" bIns="45720" rtlCol="0" anchor="t">
            <a:noAutofit/>
          </a:bodyPr>
          <a:lstStyle/>
          <a:p>
            <a:r>
              <a:rPr lang="en-US" sz="2000" b="1">
                <a:ea typeface="+mn-lt"/>
                <a:cs typeface="+mn-lt"/>
              </a:rPr>
              <a:t>Servlet Container: </a:t>
            </a:r>
            <a:r>
              <a:rPr lang="en-US" sz="2000">
                <a:ea typeface="+mn-lt"/>
                <a:cs typeface="+mn-lt"/>
              </a:rPr>
              <a:t>it gives a runtime environment to Java Servlets to run inside a web server. Servlets are Java classes that powerfully interaction sends requests and generate reactions to that requests making them a critical division for Java-based web application.</a:t>
            </a:r>
            <a:endParaRPr lang="en-US" sz="2000"/>
          </a:p>
          <a:p>
            <a:pPr algn="just"/>
            <a:endParaRPr lang="en-US" sz="2000" b="1">
              <a:ea typeface="+mn-lt"/>
              <a:cs typeface="+mn-lt"/>
            </a:endParaRPr>
          </a:p>
          <a:p>
            <a:pPr algn="just"/>
            <a:r>
              <a:rPr lang="en-US" sz="2000" b="1">
                <a:ea typeface="+mn-lt"/>
                <a:cs typeface="+mn-lt"/>
              </a:rPr>
              <a:t>JSP Support:</a:t>
            </a:r>
            <a:r>
              <a:rPr lang="en-US" sz="2000">
                <a:ea typeface="+mn-lt"/>
                <a:cs typeface="+mn-lt"/>
              </a:rPr>
              <a:t> Tomcat supports </a:t>
            </a:r>
            <a:r>
              <a:rPr lang="en-US" sz="2000" err="1">
                <a:ea typeface="+mn-lt"/>
                <a:cs typeface="+mn-lt"/>
              </a:rPr>
              <a:t>JavaServer</a:t>
            </a:r>
            <a:r>
              <a:rPr lang="en-US" sz="2000">
                <a:ea typeface="+mn-lt"/>
                <a:cs typeface="+mn-lt"/>
              </a:rPr>
              <a:t> Pages (JSP), which are HTML pages with embedded Java code. JSP allows developers to create dynamic web pages by combining static content with Java code, which gets executed on the server-side before sending the </a:t>
            </a:r>
            <a:r>
              <a:rPr lang="en-US" sz="2000" b="1">
                <a:ea typeface="+mn-lt"/>
                <a:cs typeface="+mn-lt"/>
              </a:rPr>
              <a:t>response to the client.</a:t>
            </a:r>
            <a:endParaRPr lang="en-US" sz="2000"/>
          </a:p>
          <a:p>
            <a:pPr algn="just"/>
            <a:endParaRPr lang="en-US" sz="2000" b="1">
              <a:ea typeface="+mn-lt"/>
              <a:cs typeface="+mn-lt"/>
            </a:endParaRPr>
          </a:p>
          <a:p>
            <a:pPr algn="just"/>
            <a:r>
              <a:rPr lang="en-US" sz="2000" b="1">
                <a:ea typeface="+mn-lt"/>
                <a:cs typeface="+mn-lt"/>
              </a:rPr>
              <a:t>Jakarta EE Compatibility: </a:t>
            </a:r>
            <a:r>
              <a:rPr lang="en-US" sz="2000">
                <a:ea typeface="+mn-lt"/>
                <a:cs typeface="+mn-lt"/>
              </a:rPr>
              <a:t>it also supports various Java EE (Enterprise Edition) specifications to some extent, including Servlet, JSP, EL (Expression Language), JSTL (</a:t>
            </a:r>
            <a:r>
              <a:rPr lang="en-US" sz="2000" err="1">
                <a:ea typeface="+mn-lt"/>
                <a:cs typeface="+mn-lt"/>
              </a:rPr>
              <a:t>JavaServer</a:t>
            </a:r>
            <a:r>
              <a:rPr lang="en-US" sz="2000">
                <a:ea typeface="+mn-lt"/>
                <a:cs typeface="+mn-lt"/>
              </a:rPr>
              <a:t> Pages Standard Tag Library), WebSocket, and more.</a:t>
            </a:r>
            <a:endParaRPr lang="en-US" sz="2000"/>
          </a:p>
          <a:p>
            <a:pPr algn="just"/>
            <a:endParaRPr lang="en-US" sz="2000" b="1">
              <a:ea typeface="+mn-lt"/>
              <a:cs typeface="+mn-lt"/>
            </a:endParaRPr>
          </a:p>
          <a:p>
            <a:pPr algn="just"/>
            <a:r>
              <a:rPr lang="en-US" sz="2000" b="1">
                <a:ea typeface="+mn-lt"/>
                <a:cs typeface="+mn-lt"/>
              </a:rPr>
              <a:t>HTTP Server: </a:t>
            </a:r>
            <a:r>
              <a:rPr lang="en-US" sz="2000">
                <a:ea typeface="+mn-lt"/>
                <a:cs typeface="+mn-lt"/>
              </a:rPr>
              <a:t>Tomcat includes a built-in HTTP server that listens for and processes HTTP requests. This server component enables Tomcat to function as a standalone web server, capable of serving static content as well as dynamic Java-based web applications.</a:t>
            </a:r>
            <a:endParaRPr lang="en-US" sz="2000"/>
          </a:p>
        </p:txBody>
      </p:sp>
      <p:pic>
        <p:nvPicPr>
          <p:cNvPr id="5" name="Picture 4" descr="What is Tomcat? Everything You Need to Know">
            <a:extLst>
              <a:ext uri="{FF2B5EF4-FFF2-40B4-BE49-F238E27FC236}">
                <a16:creationId xmlns:a16="http://schemas.microsoft.com/office/drawing/2014/main" id="{FC4C4F4D-E8F5-EFEE-F54F-287BAA8A75FD}"/>
              </a:ext>
            </a:extLst>
          </p:cNvPr>
          <p:cNvPicPr>
            <a:picLocks noChangeAspect="1"/>
          </p:cNvPicPr>
          <p:nvPr/>
        </p:nvPicPr>
        <p:blipFill rotWithShape="1">
          <a:blip r:embed="rId2"/>
          <a:srcRect l="25243" t="10180" r="26537" b="37931"/>
          <a:stretch/>
        </p:blipFill>
        <p:spPr>
          <a:xfrm>
            <a:off x="9813986" y="-6447"/>
            <a:ext cx="2140842" cy="1300502"/>
          </a:xfrm>
          <a:prstGeom prst="rect">
            <a:avLst/>
          </a:prstGeom>
        </p:spPr>
      </p:pic>
    </p:spTree>
    <p:extLst>
      <p:ext uri="{BB962C8B-B14F-4D97-AF65-F5344CB8AC3E}">
        <p14:creationId xmlns:p14="http://schemas.microsoft.com/office/powerpoint/2010/main" val="41244576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een and yellow logo&#10;&#10;Description automatically generated">
            <a:extLst>
              <a:ext uri="{FF2B5EF4-FFF2-40B4-BE49-F238E27FC236}">
                <a16:creationId xmlns:a16="http://schemas.microsoft.com/office/drawing/2014/main" id="{55730C94-3008-9CEB-57DC-5660FDF67A05}"/>
              </a:ext>
            </a:extLst>
          </p:cNvPr>
          <p:cNvPicPr>
            <a:picLocks noChangeAspect="1"/>
          </p:cNvPicPr>
          <p:nvPr/>
        </p:nvPicPr>
        <p:blipFill>
          <a:blip r:embed="rId2"/>
          <a:stretch>
            <a:fillRect/>
          </a:stretch>
        </p:blipFill>
        <p:spPr>
          <a:xfrm>
            <a:off x="3340358" y="2066514"/>
            <a:ext cx="5649139" cy="3306279"/>
          </a:xfrm>
          <a:prstGeom prst="rect">
            <a:avLst/>
          </a:prstGeom>
        </p:spPr>
      </p:pic>
    </p:spTree>
    <p:extLst>
      <p:ext uri="{BB962C8B-B14F-4D97-AF65-F5344CB8AC3E}">
        <p14:creationId xmlns:p14="http://schemas.microsoft.com/office/powerpoint/2010/main" val="1540194412"/>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E8E66-BF6A-A33D-D97B-5565E756141E}"/>
              </a:ext>
            </a:extLst>
          </p:cNvPr>
          <p:cNvSpPr>
            <a:spLocks noGrp="1"/>
          </p:cNvSpPr>
          <p:nvPr>
            <p:ph type="title"/>
          </p:nvPr>
        </p:nvSpPr>
        <p:spPr/>
        <p:txBody>
          <a:bodyPr>
            <a:normAutofit/>
          </a:bodyPr>
          <a:lstStyle/>
          <a:p>
            <a:r>
              <a:rPr lang="en-US" b="1" dirty="0">
                <a:solidFill>
                  <a:srgbClr val="000080"/>
                </a:solidFill>
                <a:latin typeface="Segoe UI"/>
                <a:cs typeface="Segoe UI"/>
              </a:rPr>
              <a:t>Spring Framework</a:t>
            </a:r>
          </a:p>
        </p:txBody>
      </p:sp>
      <p:sp>
        <p:nvSpPr>
          <p:cNvPr id="3" name="Content Placeholder 2">
            <a:extLst>
              <a:ext uri="{FF2B5EF4-FFF2-40B4-BE49-F238E27FC236}">
                <a16:creationId xmlns:a16="http://schemas.microsoft.com/office/drawing/2014/main" id="{7A86E215-30A3-3C0D-05D7-EFD5FE33CB55}"/>
              </a:ext>
            </a:extLst>
          </p:cNvPr>
          <p:cNvSpPr>
            <a:spLocks noGrp="1"/>
          </p:cNvSpPr>
          <p:nvPr>
            <p:ph idx="1"/>
          </p:nvPr>
        </p:nvSpPr>
        <p:spPr/>
        <p:txBody>
          <a:bodyPr vert="horz" lIns="91440" tIns="45720" rIns="91440" bIns="45720" rtlCol="0" anchor="t">
            <a:normAutofit/>
          </a:bodyPr>
          <a:lstStyle/>
          <a:p>
            <a:pPr algn="just"/>
            <a:r>
              <a:rPr lang="en-US" sz="2400">
                <a:ea typeface="+mn-lt"/>
                <a:cs typeface="+mn-lt"/>
              </a:rPr>
              <a:t>Spring is a lightweight and popular open-source Java-based framework developed by </a:t>
            </a:r>
            <a:r>
              <a:rPr lang="en-US" sz="2400" b="1">
                <a:solidFill>
                  <a:srgbClr val="FF0000"/>
                </a:solidFill>
                <a:ea typeface="+mn-lt"/>
                <a:cs typeface="+mn-lt"/>
              </a:rPr>
              <a:t>Rod Johnson</a:t>
            </a:r>
            <a:r>
              <a:rPr lang="en-US" sz="2400">
                <a:ea typeface="+mn-lt"/>
                <a:cs typeface="+mn-lt"/>
              </a:rPr>
              <a:t> in 2003. </a:t>
            </a:r>
            <a:endParaRPr lang="en-US" sz="2400"/>
          </a:p>
          <a:p>
            <a:pPr algn="just"/>
            <a:r>
              <a:rPr lang="en-US" sz="2400">
                <a:ea typeface="+mn-lt"/>
                <a:cs typeface="+mn-lt"/>
              </a:rPr>
              <a:t>It is used to develop enterprise-level applications. </a:t>
            </a:r>
            <a:endParaRPr lang="en-US" sz="2400"/>
          </a:p>
          <a:p>
            <a:pPr algn="just"/>
            <a:r>
              <a:rPr lang="en-US" sz="2400">
                <a:ea typeface="+mn-lt"/>
                <a:cs typeface="+mn-lt"/>
              </a:rPr>
              <a:t>It provides support to many other frameworks such as Hibernate, EJB, Struts, </a:t>
            </a:r>
            <a:r>
              <a:rPr lang="en-US" sz="2400" err="1">
                <a:ea typeface="+mn-lt"/>
                <a:cs typeface="+mn-lt"/>
              </a:rPr>
              <a:t>etc</a:t>
            </a:r>
            <a:r>
              <a:rPr lang="en-US" sz="2400">
                <a:ea typeface="+mn-lt"/>
                <a:cs typeface="+mn-lt"/>
              </a:rPr>
              <a:t>, so it is also called a </a:t>
            </a:r>
            <a:r>
              <a:rPr lang="en-US" sz="2400" b="1">
                <a:solidFill>
                  <a:srgbClr val="FF0000"/>
                </a:solidFill>
                <a:ea typeface="+mn-lt"/>
                <a:cs typeface="+mn-lt"/>
              </a:rPr>
              <a:t>framework of frameworks</a:t>
            </a:r>
            <a:r>
              <a:rPr lang="en-US" sz="2400">
                <a:ea typeface="+mn-lt"/>
                <a:cs typeface="+mn-lt"/>
              </a:rPr>
              <a:t>. </a:t>
            </a:r>
          </a:p>
          <a:p>
            <a:pPr algn="just"/>
            <a:r>
              <a:rPr lang="en-US" sz="2400">
                <a:ea typeface="+mn-lt"/>
                <a:cs typeface="+mn-lt"/>
              </a:rPr>
              <a:t>It’s an application framework and </a:t>
            </a:r>
            <a:r>
              <a:rPr lang="en-US" sz="2400" b="1">
                <a:solidFill>
                  <a:srgbClr val="FF0000"/>
                </a:solidFill>
                <a:ea typeface="+mn-lt"/>
                <a:cs typeface="+mn-lt"/>
              </a:rPr>
              <a:t>IOC (Inversion of Control) container </a:t>
            </a:r>
            <a:r>
              <a:rPr lang="en-US" sz="2400">
                <a:ea typeface="+mn-lt"/>
                <a:cs typeface="+mn-lt"/>
              </a:rPr>
              <a:t>for the Java platform. </a:t>
            </a:r>
          </a:p>
          <a:p>
            <a:pPr algn="just"/>
            <a:r>
              <a:rPr lang="en-US" sz="2400">
                <a:ea typeface="+mn-lt"/>
                <a:cs typeface="+mn-lt"/>
              </a:rPr>
              <a:t>The spring contains several modules like </a:t>
            </a:r>
            <a:r>
              <a:rPr lang="en-US" sz="2400" b="1">
                <a:solidFill>
                  <a:srgbClr val="FF0000"/>
                </a:solidFill>
                <a:ea typeface="+mn-lt"/>
                <a:cs typeface="+mn-lt"/>
              </a:rPr>
              <a:t>IOC, AOP, DAO, Context, WEB MVC</a:t>
            </a:r>
            <a:r>
              <a:rPr lang="en-US" sz="2400">
                <a:ea typeface="+mn-lt"/>
                <a:cs typeface="+mn-lt"/>
              </a:rPr>
              <a:t>, etc.</a:t>
            </a:r>
            <a:endParaRPr lang="en-US" sz="2400"/>
          </a:p>
          <a:p>
            <a:pPr algn="just"/>
            <a:endParaRPr lang="en-US" sz="2400"/>
          </a:p>
        </p:txBody>
      </p:sp>
    </p:spTree>
    <p:extLst>
      <p:ext uri="{BB962C8B-B14F-4D97-AF65-F5344CB8AC3E}">
        <p14:creationId xmlns:p14="http://schemas.microsoft.com/office/powerpoint/2010/main" val="4010522622"/>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DBFEE-E769-85E1-CB6E-25694F4DC6F8}"/>
              </a:ext>
            </a:extLst>
          </p:cNvPr>
          <p:cNvSpPr>
            <a:spLocks noGrp="1"/>
          </p:cNvSpPr>
          <p:nvPr>
            <p:ph type="title"/>
          </p:nvPr>
        </p:nvSpPr>
        <p:spPr/>
        <p:txBody>
          <a:bodyPr>
            <a:normAutofit/>
          </a:bodyPr>
          <a:lstStyle/>
          <a:p>
            <a:r>
              <a:rPr lang="en-US" b="1" dirty="0">
                <a:solidFill>
                  <a:srgbClr val="000080"/>
                </a:solidFill>
                <a:latin typeface="Segoe UI"/>
                <a:cs typeface="Segoe UI"/>
              </a:rPr>
              <a:t>Why to use Spring?</a:t>
            </a:r>
          </a:p>
        </p:txBody>
      </p:sp>
      <p:sp>
        <p:nvSpPr>
          <p:cNvPr id="3" name="Content Placeholder 2">
            <a:extLst>
              <a:ext uri="{FF2B5EF4-FFF2-40B4-BE49-F238E27FC236}">
                <a16:creationId xmlns:a16="http://schemas.microsoft.com/office/drawing/2014/main" id="{F49ABBA3-9308-4413-4117-0AFE60D9BBCE}"/>
              </a:ext>
            </a:extLst>
          </p:cNvPr>
          <p:cNvSpPr>
            <a:spLocks noGrp="1"/>
          </p:cNvSpPr>
          <p:nvPr>
            <p:ph idx="1"/>
          </p:nvPr>
        </p:nvSpPr>
        <p:spPr/>
        <p:txBody>
          <a:bodyPr vert="horz" lIns="91440" tIns="45720" rIns="91440" bIns="45720" rtlCol="0" anchor="t">
            <a:normAutofit fontScale="92500" lnSpcReduction="10000"/>
          </a:bodyPr>
          <a:lstStyle/>
          <a:p>
            <a:r>
              <a:rPr lang="en-US" sz="2400">
                <a:latin typeface="Segoe UI"/>
                <a:ea typeface="+mn-lt"/>
                <a:cs typeface="Segoe UI"/>
              </a:rPr>
              <a:t>It is a highly acceptable framework in java by the industry because of below features:</a:t>
            </a:r>
            <a:endParaRPr lang="en-US" sz="2400">
              <a:ea typeface="+mn-lt"/>
              <a:cs typeface="+mn-lt"/>
            </a:endParaRPr>
          </a:p>
          <a:p>
            <a:pPr lvl="1">
              <a:buFont typeface="Courier New" panose="020B0604020202020204" pitchFamily="34" charset="0"/>
              <a:buChar char="o"/>
            </a:pPr>
            <a:r>
              <a:rPr lang="en-US" b="1">
                <a:solidFill>
                  <a:srgbClr val="000080"/>
                </a:solidFill>
                <a:latin typeface="Segoe UI"/>
                <a:ea typeface="+mn-lt"/>
                <a:cs typeface="Segoe UI"/>
              </a:rPr>
              <a:t>Light-Weight:</a:t>
            </a:r>
            <a:r>
              <a:rPr lang="en-US">
                <a:solidFill>
                  <a:srgbClr val="000080"/>
                </a:solidFill>
                <a:latin typeface="Segoe UI"/>
                <a:ea typeface="+mn-lt"/>
                <a:cs typeface="Segoe UI"/>
              </a:rPr>
              <a:t> </a:t>
            </a:r>
            <a:r>
              <a:rPr lang="en-US">
                <a:latin typeface="Segoe UI"/>
                <a:ea typeface="+mn-lt"/>
                <a:cs typeface="Segoe UI"/>
              </a:rPr>
              <a:t>Spring has dominated EJB in no time because of its light-weight feature. EJB was heavy-weight in comparison to Spring.</a:t>
            </a:r>
            <a:endParaRPr lang="en-US">
              <a:latin typeface="Segoe UI"/>
              <a:cs typeface="Segoe UI"/>
            </a:endParaRPr>
          </a:p>
          <a:p>
            <a:pPr lvl="1">
              <a:buFont typeface="Courier New" panose="020B0604020202020204" pitchFamily="34" charset="0"/>
              <a:buChar char="o"/>
            </a:pPr>
            <a:endParaRPr lang="en-US">
              <a:solidFill>
                <a:srgbClr val="000000"/>
              </a:solidFill>
              <a:latin typeface="Segoe UI"/>
              <a:ea typeface="+mn-lt"/>
              <a:cs typeface="Segoe UI"/>
            </a:endParaRPr>
          </a:p>
          <a:p>
            <a:pPr lvl="1">
              <a:buFont typeface="Courier New" panose="020B0604020202020204" pitchFamily="34" charset="0"/>
              <a:buChar char="o"/>
            </a:pPr>
            <a:r>
              <a:rPr lang="en-US" b="1">
                <a:solidFill>
                  <a:srgbClr val="000080"/>
                </a:solidFill>
                <a:latin typeface="Segoe UI"/>
                <a:ea typeface="+mn-lt"/>
                <a:cs typeface="Segoe UI"/>
              </a:rPr>
              <a:t>Open-Source:</a:t>
            </a:r>
            <a:r>
              <a:rPr lang="en-US">
                <a:latin typeface="Segoe UI"/>
                <a:ea typeface="+mn-lt"/>
                <a:cs typeface="Segoe UI"/>
              </a:rPr>
              <a:t> It is open source software, easily installable, so adapted by industry very quickly.</a:t>
            </a:r>
            <a:endParaRPr lang="en-US">
              <a:latin typeface="Segoe UI"/>
              <a:cs typeface="Segoe UI"/>
            </a:endParaRPr>
          </a:p>
          <a:p>
            <a:pPr lvl="1">
              <a:buFont typeface="Courier New" panose="020B0604020202020204" pitchFamily="34" charset="0"/>
              <a:buChar char="o"/>
            </a:pPr>
            <a:endParaRPr lang="en-US" b="1">
              <a:solidFill>
                <a:srgbClr val="000080"/>
              </a:solidFill>
              <a:latin typeface="Segoe UI"/>
              <a:ea typeface="+mn-lt"/>
              <a:cs typeface="Segoe UI"/>
            </a:endParaRPr>
          </a:p>
          <a:p>
            <a:pPr lvl="1">
              <a:buFont typeface="Courier New" panose="020B0604020202020204" pitchFamily="34" charset="0"/>
              <a:buChar char="o"/>
            </a:pPr>
            <a:r>
              <a:rPr lang="en-US" b="1">
                <a:solidFill>
                  <a:srgbClr val="000080"/>
                </a:solidFill>
                <a:latin typeface="Segoe UI"/>
                <a:ea typeface="+mn-lt"/>
                <a:cs typeface="Segoe UI"/>
              </a:rPr>
              <a:t>Modular Architecture:</a:t>
            </a:r>
            <a:r>
              <a:rPr lang="en-US">
                <a:latin typeface="Segoe UI"/>
                <a:ea typeface="+mn-lt"/>
                <a:cs typeface="Segoe UI"/>
              </a:rPr>
              <a:t> It has multiple modules, we can use each module independently as per our requirement.</a:t>
            </a:r>
            <a:endParaRPr lang="en-US">
              <a:latin typeface="Segoe UI"/>
              <a:cs typeface="Segoe UI"/>
            </a:endParaRPr>
          </a:p>
          <a:p>
            <a:pPr lvl="1">
              <a:buFont typeface="Courier New" panose="020B0604020202020204" pitchFamily="34" charset="0"/>
              <a:buChar char="o"/>
            </a:pPr>
            <a:endParaRPr lang="en-US">
              <a:solidFill>
                <a:srgbClr val="000000"/>
              </a:solidFill>
              <a:latin typeface="Segoe UI"/>
              <a:cs typeface="Segoe UI"/>
            </a:endParaRPr>
          </a:p>
          <a:p>
            <a:pPr lvl="1">
              <a:buFont typeface="Courier New" panose="020B0604020202020204" pitchFamily="34" charset="0"/>
              <a:buChar char="o"/>
            </a:pPr>
            <a:r>
              <a:rPr lang="en-US" b="1">
                <a:solidFill>
                  <a:srgbClr val="000080"/>
                </a:solidFill>
                <a:latin typeface="Segoe UI"/>
                <a:cs typeface="Segoe UI"/>
              </a:rPr>
              <a:t>Easy to develop Application:</a:t>
            </a:r>
            <a:r>
              <a:rPr lang="en-US">
                <a:latin typeface="Segoe UI"/>
                <a:cs typeface="Segoe UI"/>
              </a:rPr>
              <a:t> As it already has frequently used functionalities of an application built-in into it by default, the developer needs to focus on application’s business logic only.</a:t>
            </a:r>
          </a:p>
          <a:p>
            <a:endParaRPr lang="en-US" sz="2400"/>
          </a:p>
        </p:txBody>
      </p:sp>
    </p:spTree>
    <p:extLst>
      <p:ext uri="{BB962C8B-B14F-4D97-AF65-F5344CB8AC3E}">
        <p14:creationId xmlns:p14="http://schemas.microsoft.com/office/powerpoint/2010/main" val="2868735743"/>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00C01-C7AF-B89A-DCB2-F54C2B438CA4}"/>
              </a:ext>
            </a:extLst>
          </p:cNvPr>
          <p:cNvSpPr>
            <a:spLocks noGrp="1"/>
          </p:cNvSpPr>
          <p:nvPr>
            <p:ph type="title"/>
          </p:nvPr>
        </p:nvSpPr>
        <p:spPr/>
        <p:txBody>
          <a:bodyPr/>
          <a:lstStyle/>
          <a:p>
            <a:r>
              <a:rPr lang="en-US" b="1" dirty="0">
                <a:solidFill>
                  <a:srgbClr val="000080"/>
                </a:solidFill>
                <a:latin typeface="Segoe UI"/>
                <a:cs typeface="Segoe UI"/>
              </a:rPr>
              <a:t>Dependency </a:t>
            </a:r>
            <a:r>
              <a:rPr lang="en-US" b="1" dirty="0" smtClean="0">
                <a:solidFill>
                  <a:srgbClr val="000080"/>
                </a:solidFill>
                <a:latin typeface="Segoe UI"/>
                <a:cs typeface="Segoe UI"/>
              </a:rPr>
              <a:t>Injection</a:t>
            </a:r>
            <a:endParaRPr lang="en-US" dirty="0"/>
          </a:p>
        </p:txBody>
      </p:sp>
      <p:pic>
        <p:nvPicPr>
          <p:cNvPr id="1026" name="Picture 2" descr="Lightbox"/>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673049" y="1937595"/>
            <a:ext cx="6388488" cy="319424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91412" y="1579993"/>
            <a:ext cx="6096000" cy="2031325"/>
          </a:xfrm>
          <a:prstGeom prst="rect">
            <a:avLst/>
          </a:prstGeom>
        </p:spPr>
        <p:txBody>
          <a:bodyPr>
            <a:spAutoFit/>
          </a:bodyPr>
          <a:lstStyle/>
          <a:p>
            <a:pPr marL="285750" indent="-285750">
              <a:buFont typeface="Arial" panose="020B0604020202020204" pitchFamily="34" charset="0"/>
              <a:buChar char="•"/>
            </a:pPr>
            <a:r>
              <a:rPr lang="en-US" dirty="0">
                <a:solidFill>
                  <a:srgbClr val="273239"/>
                </a:solidFill>
                <a:latin typeface="Nunito"/>
              </a:rPr>
              <a:t>Dependency Injection (DI) design pattern is a technique that reduces the connection between system components, making the code more modular, testable, and maintainable. </a:t>
            </a:r>
            <a:endParaRPr lang="en-US" dirty="0" smtClean="0">
              <a:solidFill>
                <a:srgbClr val="273239"/>
              </a:solidFill>
              <a:latin typeface="Nunito"/>
            </a:endParaRPr>
          </a:p>
          <a:p>
            <a:pPr marL="285750" indent="-285750">
              <a:buFont typeface="Arial" panose="020B0604020202020204" pitchFamily="34" charset="0"/>
              <a:buChar char="•"/>
            </a:pPr>
            <a:endParaRPr lang="en-US" dirty="0">
              <a:solidFill>
                <a:srgbClr val="273239"/>
              </a:solidFill>
              <a:latin typeface="Nunito"/>
            </a:endParaRPr>
          </a:p>
          <a:p>
            <a:pPr marL="285750" indent="-285750">
              <a:buFont typeface="Arial" panose="020B0604020202020204" pitchFamily="34" charset="0"/>
              <a:buChar char="•"/>
            </a:pPr>
            <a:r>
              <a:rPr lang="en-US" dirty="0" smtClean="0">
                <a:solidFill>
                  <a:srgbClr val="273239"/>
                </a:solidFill>
                <a:latin typeface="Nunito"/>
              </a:rPr>
              <a:t>Classes </a:t>
            </a:r>
            <a:r>
              <a:rPr lang="en-US" dirty="0">
                <a:solidFill>
                  <a:srgbClr val="273239"/>
                </a:solidFill>
                <a:latin typeface="Nunito"/>
              </a:rPr>
              <a:t>frequently rely on other classes to carry out their tasks in a typical software program.</a:t>
            </a:r>
            <a:endParaRPr lang="en-IN" dirty="0"/>
          </a:p>
        </p:txBody>
      </p:sp>
      <p:sp>
        <p:nvSpPr>
          <p:cNvPr id="5" name="Rectangle 3"/>
          <p:cNvSpPr>
            <a:spLocks noChangeArrowheads="1"/>
          </p:cNvSpPr>
          <p:nvPr/>
        </p:nvSpPr>
        <p:spPr bwMode="auto">
          <a:xfrm>
            <a:off x="662474" y="4809361"/>
            <a:ext cx="10454562" cy="1738938"/>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just" defTabSz="914400" rtl="0" eaLnBrk="0" fontAlgn="base" latinLnBrk="0" hangingPunct="0">
              <a:lnSpc>
                <a:spcPct val="100000"/>
              </a:lnSpc>
              <a:spcBef>
                <a:spcPct val="0"/>
              </a:spcBef>
              <a:spcAft>
                <a:spcPct val="0"/>
              </a:spcAft>
              <a:buClrTx/>
              <a:buSzTx/>
              <a:tabLst/>
            </a:pPr>
            <a:r>
              <a:rPr kumimoji="0" lang="en-US" altLang="en-US" sz="1300" b="1" i="1" u="none" strike="noStrike" cap="none" normalizeH="0" baseline="0" dirty="0" smtClean="0">
                <a:ln>
                  <a:noFill/>
                </a:ln>
                <a:solidFill>
                  <a:srgbClr val="273239"/>
                </a:solidFill>
                <a:effectLst/>
                <a:latin typeface="Nunito"/>
              </a:rPr>
              <a:t>For Example: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1" u="none" strike="noStrike" cap="none" normalizeH="0" baseline="0" dirty="0" smtClean="0">
                <a:ln>
                  <a:noFill/>
                </a:ln>
                <a:solidFill>
                  <a:srgbClr val="273239"/>
                </a:solidFill>
                <a:effectLst/>
                <a:latin typeface="Arial Unicode MS"/>
              </a:rPr>
              <a:t>Car</a:t>
            </a:r>
            <a:r>
              <a:rPr kumimoji="0" lang="en-US" altLang="en-US" sz="2000" b="0" i="1" u="none" strike="noStrike" cap="none" normalizeH="0" baseline="0" dirty="0" smtClean="0">
                <a:ln>
                  <a:noFill/>
                </a:ln>
                <a:solidFill>
                  <a:srgbClr val="273239"/>
                </a:solidFill>
                <a:effectLst/>
                <a:latin typeface="Nunito"/>
              </a:rPr>
              <a:t> class might depend on a </a:t>
            </a:r>
            <a:r>
              <a:rPr kumimoji="0" lang="en-US" altLang="en-US" sz="2000" b="1" i="1" u="none" strike="noStrike" cap="none" normalizeH="0" baseline="0" dirty="0" smtClean="0">
                <a:ln>
                  <a:noFill/>
                </a:ln>
                <a:solidFill>
                  <a:srgbClr val="273239"/>
                </a:solidFill>
                <a:effectLst/>
                <a:latin typeface="Arial Unicode MS"/>
              </a:rPr>
              <a:t>Engine</a:t>
            </a:r>
            <a:r>
              <a:rPr kumimoji="0" lang="en-US" altLang="en-US" sz="2000" b="0" i="1" u="none" strike="noStrike" cap="none" normalizeH="0" baseline="0" dirty="0" smtClean="0">
                <a:ln>
                  <a:noFill/>
                </a:ln>
                <a:solidFill>
                  <a:srgbClr val="273239"/>
                </a:solidFill>
                <a:effectLst/>
                <a:latin typeface="Nunito"/>
              </a:rPr>
              <a:t> class to run.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1" u="none" strike="noStrike" cap="none" normalizeH="0" baseline="0" dirty="0" smtClean="0">
                <a:ln>
                  <a:noFill/>
                </a:ln>
                <a:solidFill>
                  <a:srgbClr val="273239"/>
                </a:solidFill>
                <a:effectLst/>
                <a:latin typeface="Nunito"/>
              </a:rPr>
              <a:t>Without DI, the </a:t>
            </a:r>
            <a:r>
              <a:rPr kumimoji="0" lang="en-US" altLang="en-US" sz="2000" b="1" i="1" u="none" strike="noStrike" cap="none" normalizeH="0" baseline="0" dirty="0" smtClean="0">
                <a:ln>
                  <a:noFill/>
                </a:ln>
                <a:solidFill>
                  <a:srgbClr val="273239"/>
                </a:solidFill>
                <a:effectLst/>
                <a:latin typeface="Arial Unicode MS"/>
              </a:rPr>
              <a:t>Car</a:t>
            </a:r>
            <a:r>
              <a:rPr kumimoji="0" lang="en-US" altLang="en-US" sz="2000" b="0" i="1" u="none" strike="noStrike" cap="none" normalizeH="0" baseline="0" dirty="0" smtClean="0">
                <a:ln>
                  <a:noFill/>
                </a:ln>
                <a:solidFill>
                  <a:srgbClr val="273239"/>
                </a:solidFill>
                <a:effectLst/>
                <a:latin typeface="Nunito"/>
              </a:rPr>
              <a:t> class would directly create or manage the </a:t>
            </a:r>
            <a:r>
              <a:rPr kumimoji="0" lang="en-US" altLang="en-US" sz="2000" b="1" i="1" u="none" strike="noStrike" cap="none" normalizeH="0" baseline="0" dirty="0" smtClean="0">
                <a:ln>
                  <a:noFill/>
                </a:ln>
                <a:solidFill>
                  <a:srgbClr val="273239"/>
                </a:solidFill>
                <a:effectLst/>
                <a:latin typeface="Arial Unicode MS"/>
              </a:rPr>
              <a:t>Engine</a:t>
            </a:r>
            <a:r>
              <a:rPr kumimoji="0" lang="en-US" altLang="en-US" sz="2000" b="0" i="1" u="none" strike="noStrike" cap="none" normalizeH="0" baseline="0" dirty="0" smtClean="0">
                <a:ln>
                  <a:noFill/>
                </a:ln>
                <a:solidFill>
                  <a:srgbClr val="273239"/>
                </a:solidFill>
                <a:effectLst/>
                <a:latin typeface="Nunito"/>
              </a:rPr>
              <a:t> instance within its code, which makes the two classes tightly coupled.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1" u="none" strike="noStrike" cap="none" normalizeH="0" baseline="0" dirty="0" smtClean="0">
                <a:ln>
                  <a:noFill/>
                </a:ln>
                <a:solidFill>
                  <a:srgbClr val="273239"/>
                </a:solidFill>
                <a:effectLst/>
                <a:latin typeface="Nunito"/>
              </a:rPr>
              <a:t>This approach can create problems, particularly when you need to test, extend, or modify the classes in the future.</a:t>
            </a:r>
            <a:r>
              <a:rPr kumimoji="0" lang="en-US" altLang="en-US" sz="2000" b="0" i="0" u="none" strike="noStrike" cap="none" normalizeH="0" baseline="0" dirty="0" smtClean="0">
                <a:ln>
                  <a:noFill/>
                </a:ln>
                <a:solidFill>
                  <a:schemeClr val="tx1"/>
                </a:solidFill>
                <a:effectLst/>
              </a:rPr>
              <a:t> </a:t>
            </a:r>
          </a:p>
        </p:txBody>
      </p:sp>
      <p:sp>
        <p:nvSpPr>
          <p:cNvPr id="6" name="Rectangle 5"/>
          <p:cNvSpPr/>
          <p:nvPr/>
        </p:nvSpPr>
        <p:spPr>
          <a:xfrm>
            <a:off x="662473" y="3639124"/>
            <a:ext cx="6857999" cy="923330"/>
          </a:xfrm>
          <a:prstGeom prst="rect">
            <a:avLst/>
          </a:prstGeom>
          <a:solidFill>
            <a:srgbClr val="FFFF00"/>
          </a:solidFill>
        </p:spPr>
        <p:txBody>
          <a:bodyPr wrap="square">
            <a:spAutoFit/>
          </a:bodyPr>
          <a:lstStyle/>
          <a:p>
            <a:pPr algn="just" fontAlgn="base"/>
            <a:r>
              <a:rPr lang="en-US" dirty="0">
                <a:solidFill>
                  <a:srgbClr val="273239"/>
                </a:solidFill>
                <a:latin typeface="Nunito"/>
              </a:rPr>
              <a:t>DI allows you to "inject" the things a class needs (its dependencies) from the outside, instead of letting the class create or manage them itself</a:t>
            </a:r>
            <a:r>
              <a:rPr lang="en-US" dirty="0" smtClean="0">
                <a:solidFill>
                  <a:srgbClr val="273239"/>
                </a:solidFill>
                <a:latin typeface="Nunito"/>
              </a:rPr>
              <a:t>.</a:t>
            </a:r>
            <a:endParaRPr lang="en-US" dirty="0">
              <a:solidFill>
                <a:srgbClr val="273239"/>
              </a:solidFill>
              <a:latin typeface="Nunito"/>
            </a:endParaRPr>
          </a:p>
        </p:txBody>
      </p:sp>
    </p:spTree>
    <p:extLst>
      <p:ext uri="{BB962C8B-B14F-4D97-AF65-F5344CB8AC3E}">
        <p14:creationId xmlns:p14="http://schemas.microsoft.com/office/powerpoint/2010/main" val="1017440933"/>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3FE6C-8240-4ECC-7101-C260C99E7F6C}"/>
              </a:ext>
            </a:extLst>
          </p:cNvPr>
          <p:cNvSpPr>
            <a:spLocks noGrp="1"/>
          </p:cNvSpPr>
          <p:nvPr>
            <p:ph type="title"/>
          </p:nvPr>
        </p:nvSpPr>
        <p:spPr/>
        <p:txBody>
          <a:bodyPr/>
          <a:lstStyle/>
          <a:p>
            <a:r>
              <a:rPr lang="en-US" b="1" dirty="0">
                <a:solidFill>
                  <a:srgbClr val="000080"/>
                </a:solidFill>
                <a:latin typeface="Segoe UI"/>
                <a:cs typeface="Segoe UI"/>
              </a:rPr>
              <a:t>AOP </a:t>
            </a:r>
            <a:r>
              <a:rPr lang="en-US" b="1" dirty="0" smtClean="0">
                <a:solidFill>
                  <a:srgbClr val="000080"/>
                </a:solidFill>
                <a:latin typeface="Segoe UI"/>
                <a:cs typeface="Segoe UI"/>
              </a:rPr>
              <a:t>Support</a:t>
            </a:r>
            <a:endParaRPr lang="en-US" dirty="0"/>
          </a:p>
        </p:txBody>
      </p:sp>
      <p:sp>
        <p:nvSpPr>
          <p:cNvPr id="3" name="Content Placeholder 2">
            <a:extLst>
              <a:ext uri="{FF2B5EF4-FFF2-40B4-BE49-F238E27FC236}">
                <a16:creationId xmlns:a16="http://schemas.microsoft.com/office/drawing/2014/main" id="{12812844-1413-8D7D-D13C-C98B06693E5B}"/>
              </a:ext>
            </a:extLst>
          </p:cNvPr>
          <p:cNvSpPr>
            <a:spLocks noGrp="1"/>
          </p:cNvSpPr>
          <p:nvPr>
            <p:ph idx="1"/>
          </p:nvPr>
        </p:nvSpPr>
        <p:spPr/>
        <p:txBody>
          <a:bodyPr vert="horz" lIns="91440" tIns="45720" rIns="91440" bIns="45720" rtlCol="0" anchor="t">
            <a:normAutofit/>
          </a:bodyPr>
          <a:lstStyle/>
          <a:p>
            <a:pPr algn="just"/>
            <a:r>
              <a:rPr lang="en-US" sz="2400" dirty="0" smtClean="0">
                <a:solidFill>
                  <a:srgbClr val="000080"/>
                </a:solidFill>
                <a:latin typeface="Segoe UI"/>
                <a:cs typeface="Segoe UI"/>
              </a:rPr>
              <a:t>It </a:t>
            </a:r>
            <a:r>
              <a:rPr lang="en-US" sz="2400" b="1" dirty="0">
                <a:solidFill>
                  <a:srgbClr val="FF0000"/>
                </a:solidFill>
                <a:latin typeface="Segoe UI"/>
                <a:cs typeface="Segoe UI"/>
              </a:rPr>
              <a:t>reduces boilerplate code</a:t>
            </a:r>
            <a:r>
              <a:rPr lang="en-US" sz="2400" dirty="0">
                <a:latin typeface="Segoe UI"/>
                <a:cs typeface="Segoe UI"/>
              </a:rPr>
              <a:t> via </a:t>
            </a:r>
            <a:r>
              <a:rPr lang="en-US" sz="2400" dirty="0">
                <a:solidFill>
                  <a:srgbClr val="0000FF"/>
                </a:solidFill>
                <a:latin typeface="Segoe UI"/>
                <a:cs typeface="Segoe UI"/>
              </a:rPr>
              <a:t>AOP</a:t>
            </a:r>
            <a:r>
              <a:rPr lang="en-US" sz="2400" dirty="0">
                <a:latin typeface="Segoe UI"/>
                <a:cs typeface="Segoe UI"/>
              </a:rPr>
              <a:t> (Aspect Oriented Programming) support. </a:t>
            </a:r>
            <a:endParaRPr lang="en-US" sz="2400" dirty="0">
              <a:latin typeface="Aptos" panose="02110004020202020204"/>
              <a:cs typeface="Segoe UI"/>
            </a:endParaRPr>
          </a:p>
          <a:p>
            <a:pPr algn="just"/>
            <a:endParaRPr lang="en-US" sz="2400" dirty="0">
              <a:latin typeface="Segoe UI"/>
              <a:cs typeface="Segoe UI"/>
            </a:endParaRPr>
          </a:p>
          <a:p>
            <a:pPr algn="just"/>
            <a:r>
              <a:rPr lang="en-US" sz="2400" dirty="0">
                <a:latin typeface="Segoe UI"/>
                <a:cs typeface="Segoe UI"/>
              </a:rPr>
              <a:t>For example, common connection preparation logic in JDBC comes under boilerplate code. </a:t>
            </a:r>
            <a:endParaRPr lang="en-US" sz="2400" dirty="0">
              <a:latin typeface="Aptos" panose="02110004020202020204"/>
              <a:cs typeface="Segoe UI"/>
            </a:endParaRPr>
          </a:p>
          <a:p>
            <a:pPr algn="just"/>
            <a:endParaRPr lang="en-US" sz="2400" dirty="0">
              <a:latin typeface="Segoe UI"/>
              <a:cs typeface="Segoe UI"/>
            </a:endParaRPr>
          </a:p>
          <a:p>
            <a:pPr algn="just"/>
            <a:r>
              <a:rPr lang="en-US" sz="2400" dirty="0">
                <a:latin typeface="Segoe UI"/>
                <a:cs typeface="Segoe UI"/>
              </a:rPr>
              <a:t>By applying AOP, developers can flawlessly integrate features like logging, security, and transaction management into their applications without modifying the primary structure of the code base.</a:t>
            </a:r>
            <a:endParaRPr lang="en-US" sz="2400" dirty="0"/>
          </a:p>
        </p:txBody>
      </p:sp>
    </p:spTree>
    <p:extLst>
      <p:ext uri="{BB962C8B-B14F-4D97-AF65-F5344CB8AC3E}">
        <p14:creationId xmlns:p14="http://schemas.microsoft.com/office/powerpoint/2010/main" val="4279448182"/>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BB5A9-5408-8FFD-47DA-63F00A98C7DD}"/>
              </a:ext>
            </a:extLst>
          </p:cNvPr>
          <p:cNvSpPr>
            <a:spLocks noGrp="1"/>
          </p:cNvSpPr>
          <p:nvPr>
            <p:ph type="title"/>
          </p:nvPr>
        </p:nvSpPr>
        <p:spPr/>
        <p:txBody>
          <a:bodyPr>
            <a:normAutofit/>
          </a:bodyPr>
          <a:lstStyle/>
          <a:p>
            <a:r>
              <a:rPr lang="en-US" sz="3600" b="1" dirty="0">
                <a:solidFill>
                  <a:srgbClr val="FF0000"/>
                </a:solidFill>
                <a:latin typeface="Segoe UI"/>
                <a:cs typeface="Segoe UI"/>
              </a:rPr>
              <a:t>Bean</a:t>
            </a:r>
            <a:r>
              <a:rPr lang="en-US" sz="3600" b="1" dirty="0">
                <a:solidFill>
                  <a:srgbClr val="353535"/>
                </a:solidFill>
                <a:latin typeface="Segoe UI"/>
                <a:cs typeface="Segoe UI"/>
              </a:rPr>
              <a:t> in Spring</a:t>
            </a:r>
            <a:endParaRPr lang="en-US" sz="3600" dirty="0"/>
          </a:p>
        </p:txBody>
      </p:sp>
      <p:sp>
        <p:nvSpPr>
          <p:cNvPr id="3" name="Content Placeholder 2">
            <a:extLst>
              <a:ext uri="{FF2B5EF4-FFF2-40B4-BE49-F238E27FC236}">
                <a16:creationId xmlns:a16="http://schemas.microsoft.com/office/drawing/2014/main" id="{74CB9E2D-90A3-C619-17FF-12E0B2B912D2}"/>
              </a:ext>
            </a:extLst>
          </p:cNvPr>
          <p:cNvSpPr>
            <a:spLocks noGrp="1"/>
          </p:cNvSpPr>
          <p:nvPr>
            <p:ph idx="1"/>
          </p:nvPr>
        </p:nvSpPr>
        <p:spPr/>
        <p:txBody>
          <a:bodyPr vert="horz" lIns="91440" tIns="45720" rIns="91440" bIns="45720" rtlCol="0" anchor="t">
            <a:normAutofit/>
          </a:bodyPr>
          <a:lstStyle/>
          <a:p>
            <a:r>
              <a:rPr lang="en-US" sz="2000" dirty="0">
                <a:latin typeface="Segoe UI"/>
                <a:cs typeface="Segoe UI"/>
              </a:rPr>
              <a:t>A bean is </a:t>
            </a:r>
            <a:r>
              <a:rPr lang="en-US" sz="2000" b="1" dirty="0">
                <a:latin typeface="Segoe UI"/>
                <a:cs typeface="Segoe UI"/>
              </a:rPr>
              <a:t>a Java class</a:t>
            </a:r>
            <a:r>
              <a:rPr lang="en-US" sz="2000" dirty="0">
                <a:latin typeface="Segoe UI"/>
                <a:cs typeface="Segoe UI"/>
              </a:rPr>
              <a:t> that </a:t>
            </a:r>
            <a:r>
              <a:rPr lang="en-US" sz="2000" b="1" dirty="0">
                <a:latin typeface="Segoe UI"/>
                <a:cs typeface="Segoe UI"/>
              </a:rPr>
              <a:t>contains state and behavior</a:t>
            </a:r>
            <a:r>
              <a:rPr lang="en-US" sz="2000" dirty="0">
                <a:latin typeface="Segoe UI"/>
                <a:cs typeface="Segoe UI"/>
              </a:rPr>
              <a:t> with a condition that state must be used in the business logic of the behavior.</a:t>
            </a:r>
            <a:endParaRPr lang="en-US" sz="2000" dirty="0"/>
          </a:p>
          <a:p>
            <a:endParaRPr lang="en-US" sz="2000" dirty="0">
              <a:latin typeface="Segoe UI"/>
              <a:cs typeface="Segoe UI"/>
            </a:endParaRPr>
          </a:p>
          <a:p>
            <a:r>
              <a:rPr lang="en-US" sz="2000" dirty="0">
                <a:latin typeface="Segoe UI"/>
                <a:cs typeface="Segoe UI"/>
              </a:rPr>
              <a:t>The </a:t>
            </a:r>
            <a:r>
              <a:rPr lang="en-US" sz="2000" b="1" dirty="0">
                <a:solidFill>
                  <a:srgbClr val="FF0000"/>
                </a:solidFill>
                <a:latin typeface="Segoe UI"/>
                <a:cs typeface="Segoe UI"/>
              </a:rPr>
              <a:t>non-static member variables</a:t>
            </a:r>
            <a:r>
              <a:rPr lang="en-US" sz="2000" dirty="0">
                <a:latin typeface="Segoe UI"/>
                <a:cs typeface="Segoe UI"/>
              </a:rPr>
              <a:t> represent the </a:t>
            </a:r>
            <a:r>
              <a:rPr lang="en-US" sz="2000" b="1" dirty="0">
                <a:solidFill>
                  <a:srgbClr val="FF0000"/>
                </a:solidFill>
                <a:latin typeface="Segoe UI"/>
                <a:cs typeface="Segoe UI"/>
              </a:rPr>
              <a:t>state of the class. </a:t>
            </a:r>
            <a:endParaRPr lang="en-US" sz="2000" b="1" dirty="0">
              <a:solidFill>
                <a:srgbClr val="FF0000"/>
              </a:solidFill>
              <a:latin typeface="Aptos" panose="02110004020202020204"/>
              <a:cs typeface="Segoe UI"/>
            </a:endParaRPr>
          </a:p>
          <a:p>
            <a:r>
              <a:rPr lang="en-US" sz="2000" dirty="0">
                <a:latin typeface="Segoe UI"/>
                <a:cs typeface="Segoe UI"/>
              </a:rPr>
              <a:t>On the other hand, </a:t>
            </a:r>
            <a:r>
              <a:rPr lang="en-US" sz="2000" b="1" dirty="0">
                <a:solidFill>
                  <a:srgbClr val="FF0000"/>
                </a:solidFill>
                <a:latin typeface="Segoe UI"/>
                <a:cs typeface="Segoe UI"/>
              </a:rPr>
              <a:t>methods</a:t>
            </a:r>
            <a:r>
              <a:rPr lang="en-US" sz="2000" dirty="0">
                <a:latin typeface="Segoe UI"/>
                <a:cs typeface="Segoe UI"/>
              </a:rPr>
              <a:t> represent the </a:t>
            </a:r>
            <a:r>
              <a:rPr lang="en-US" sz="2000" b="1" dirty="0">
                <a:solidFill>
                  <a:srgbClr val="FF0000"/>
                </a:solidFill>
                <a:latin typeface="Segoe UI"/>
                <a:cs typeface="Segoe UI"/>
              </a:rPr>
              <a:t>behavior of the class.</a:t>
            </a:r>
            <a:endParaRPr lang="en-US" sz="2000" b="1" dirty="0">
              <a:solidFill>
                <a:srgbClr val="FF0000"/>
              </a:solidFill>
            </a:endParaRPr>
          </a:p>
          <a:p>
            <a:endParaRPr lang="en-US" sz="2000" dirty="0">
              <a:latin typeface="Segoe UI"/>
              <a:cs typeface="Segoe UI"/>
            </a:endParaRPr>
          </a:p>
          <a:p>
            <a:r>
              <a:rPr lang="en-US" sz="2000" dirty="0">
                <a:latin typeface="Segoe UI"/>
                <a:cs typeface="Segoe UI"/>
              </a:rPr>
              <a:t>A </a:t>
            </a:r>
            <a:r>
              <a:rPr lang="en-US" sz="2000" b="1" dirty="0">
                <a:latin typeface="Segoe UI"/>
                <a:cs typeface="Segoe UI"/>
              </a:rPr>
              <a:t>Java class whose object is created and managed</a:t>
            </a:r>
            <a:r>
              <a:rPr lang="en-US" sz="2000" dirty="0">
                <a:latin typeface="Segoe UI"/>
                <a:cs typeface="Segoe UI"/>
              </a:rPr>
              <a:t> by the </a:t>
            </a:r>
            <a:r>
              <a:rPr lang="en-US" sz="2000" b="1" dirty="0">
                <a:solidFill>
                  <a:srgbClr val="FF0000"/>
                </a:solidFill>
                <a:latin typeface="Segoe UI"/>
                <a:cs typeface="Segoe UI"/>
              </a:rPr>
              <a:t>Spring Container</a:t>
            </a:r>
            <a:r>
              <a:rPr lang="en-US" sz="2000" dirty="0">
                <a:latin typeface="Segoe UI"/>
                <a:cs typeface="Segoe UI"/>
              </a:rPr>
              <a:t> is called a </a:t>
            </a:r>
            <a:r>
              <a:rPr lang="en-US" sz="2000" b="1" dirty="0">
                <a:latin typeface="Segoe UI"/>
                <a:cs typeface="Segoe UI"/>
              </a:rPr>
              <a:t>Spring </a:t>
            </a:r>
            <a:r>
              <a:rPr lang="en-US" sz="2000" b="1" dirty="0">
                <a:solidFill>
                  <a:srgbClr val="FF0000"/>
                </a:solidFill>
                <a:latin typeface="Segoe UI"/>
                <a:cs typeface="Segoe UI"/>
              </a:rPr>
              <a:t>Bean</a:t>
            </a:r>
            <a:r>
              <a:rPr lang="en-US" sz="2000" dirty="0">
                <a:latin typeface="Segoe UI"/>
                <a:cs typeface="Segoe UI"/>
              </a:rPr>
              <a:t>.</a:t>
            </a:r>
          </a:p>
          <a:p>
            <a:endParaRPr lang="en-US" sz="2000" dirty="0">
              <a:latin typeface="Segoe UI"/>
              <a:cs typeface="Segoe UI"/>
            </a:endParaRPr>
          </a:p>
          <a:p>
            <a:r>
              <a:rPr lang="en-US" sz="2000" dirty="0">
                <a:latin typeface="Segoe UI"/>
                <a:cs typeface="Segoe UI"/>
              </a:rPr>
              <a:t>We can consider any class as a Spring Bean, </a:t>
            </a:r>
            <a:r>
              <a:rPr lang="en-US" sz="2000" b="1" dirty="0">
                <a:solidFill>
                  <a:srgbClr val="FF0000"/>
                </a:solidFill>
                <a:latin typeface="Segoe UI"/>
                <a:cs typeface="Segoe UI"/>
              </a:rPr>
              <a:t>except an abstract class</a:t>
            </a:r>
            <a:r>
              <a:rPr lang="en-US" sz="2000" dirty="0">
                <a:latin typeface="Segoe UI"/>
                <a:cs typeface="Segoe UI"/>
              </a:rPr>
              <a:t> and an </a:t>
            </a:r>
            <a:r>
              <a:rPr lang="en-US" sz="2000" b="1" dirty="0" smtClean="0">
                <a:solidFill>
                  <a:srgbClr val="FF0000"/>
                </a:solidFill>
                <a:latin typeface="Segoe UI"/>
                <a:cs typeface="Segoe UI"/>
              </a:rPr>
              <a:t>interface.</a:t>
            </a:r>
            <a:endParaRPr lang="en-US" sz="2000" b="1" dirty="0">
              <a:solidFill>
                <a:srgbClr val="FF0000"/>
              </a:solidFill>
              <a:latin typeface="Segoe UI"/>
              <a:cs typeface="Segoe UI"/>
            </a:endParaRPr>
          </a:p>
        </p:txBody>
      </p:sp>
    </p:spTree>
    <p:extLst>
      <p:ext uri="{BB962C8B-B14F-4D97-AF65-F5344CB8AC3E}">
        <p14:creationId xmlns:p14="http://schemas.microsoft.com/office/powerpoint/2010/main" val="2395530409"/>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201F-77C1-C2D7-7DF1-CFED7765E148}"/>
              </a:ext>
            </a:extLst>
          </p:cNvPr>
          <p:cNvSpPr>
            <a:spLocks noGrp="1"/>
          </p:cNvSpPr>
          <p:nvPr>
            <p:ph type="title"/>
          </p:nvPr>
        </p:nvSpPr>
        <p:spPr/>
        <p:txBody>
          <a:bodyPr>
            <a:normAutofit/>
          </a:bodyPr>
          <a:lstStyle/>
          <a:p>
            <a:r>
              <a:rPr lang="en-US" sz="4000" b="1" dirty="0" smtClean="0">
                <a:solidFill>
                  <a:srgbClr val="000080"/>
                </a:solidFill>
                <a:latin typeface="Times New Roman"/>
                <a:cs typeface="Segoe UI"/>
              </a:rPr>
              <a:t>Mark </a:t>
            </a:r>
            <a:r>
              <a:rPr lang="en-US" sz="4000" b="1" dirty="0">
                <a:solidFill>
                  <a:srgbClr val="000080"/>
                </a:solidFill>
                <a:latin typeface="Times New Roman"/>
                <a:cs typeface="Segoe UI"/>
              </a:rPr>
              <a:t>a class as a Bean in </a:t>
            </a:r>
            <a:r>
              <a:rPr lang="en-US" sz="4000" b="1" dirty="0" smtClean="0">
                <a:solidFill>
                  <a:srgbClr val="000080"/>
                </a:solidFill>
                <a:latin typeface="Times New Roman"/>
                <a:cs typeface="Segoe UI"/>
              </a:rPr>
              <a:t>Spring</a:t>
            </a:r>
            <a:endParaRPr lang="en-US" sz="4000" dirty="0">
              <a:latin typeface="Times New Roman"/>
              <a:cs typeface="Times New Roman"/>
            </a:endParaRPr>
          </a:p>
        </p:txBody>
      </p:sp>
      <p:sp>
        <p:nvSpPr>
          <p:cNvPr id="3" name="Content Placeholder 2">
            <a:extLst>
              <a:ext uri="{FF2B5EF4-FFF2-40B4-BE49-F238E27FC236}">
                <a16:creationId xmlns:a16="http://schemas.microsoft.com/office/drawing/2014/main" id="{9BD7C0E8-3969-FD33-5E96-E0F5C075F95D}"/>
              </a:ext>
            </a:extLst>
          </p:cNvPr>
          <p:cNvSpPr>
            <a:spLocks noGrp="1"/>
          </p:cNvSpPr>
          <p:nvPr>
            <p:ph idx="1"/>
          </p:nvPr>
        </p:nvSpPr>
        <p:spPr/>
        <p:txBody>
          <a:bodyPr vert="horz" lIns="91440" tIns="45720" rIns="91440" bIns="45720" rtlCol="0" anchor="t">
            <a:normAutofit/>
          </a:bodyPr>
          <a:lstStyle/>
          <a:p>
            <a:pPr marL="0" indent="0">
              <a:buNone/>
            </a:pPr>
            <a:r>
              <a:rPr lang="en-US" sz="2400" b="1" dirty="0" smtClean="0">
                <a:solidFill>
                  <a:srgbClr val="000080"/>
                </a:solidFill>
                <a:highlight>
                  <a:srgbClr val="FFFF00"/>
                </a:highlight>
                <a:latin typeface="Segoe UI"/>
                <a:cs typeface="Segoe UI"/>
              </a:rPr>
              <a:t>1. Using </a:t>
            </a:r>
            <a:r>
              <a:rPr lang="en-US" sz="2400" b="1" dirty="0">
                <a:solidFill>
                  <a:srgbClr val="000080"/>
                </a:solidFill>
                <a:highlight>
                  <a:srgbClr val="FFFF00"/>
                </a:highlight>
                <a:latin typeface="Segoe UI"/>
                <a:cs typeface="Segoe UI"/>
              </a:rPr>
              <a:t>XML Configuration File</a:t>
            </a:r>
            <a:endParaRPr lang="en-US" sz="2400" dirty="0">
              <a:highlight>
                <a:srgbClr val="FFFF00"/>
              </a:highlight>
            </a:endParaRPr>
          </a:p>
          <a:p>
            <a:r>
              <a:rPr lang="en-US" sz="2400" dirty="0">
                <a:latin typeface="Segoe UI"/>
                <a:cs typeface="Segoe UI"/>
              </a:rPr>
              <a:t>Use </a:t>
            </a:r>
            <a:r>
              <a:rPr lang="en-US" sz="2400" b="1" dirty="0">
                <a:latin typeface="Segoe UI"/>
                <a:cs typeface="Segoe UI"/>
              </a:rPr>
              <a:t>&lt;bean&gt; tag in the configuration file</a:t>
            </a:r>
            <a:r>
              <a:rPr lang="en-US" sz="2400" dirty="0">
                <a:latin typeface="Segoe UI"/>
                <a:cs typeface="Segoe UI"/>
              </a:rPr>
              <a:t> to mark a Java class as a Spring Bean. </a:t>
            </a:r>
          </a:p>
          <a:p>
            <a:r>
              <a:rPr lang="en-US" sz="2400" dirty="0">
                <a:latin typeface="Segoe UI"/>
                <a:cs typeface="Segoe UI"/>
              </a:rPr>
              <a:t>This </a:t>
            </a:r>
            <a:r>
              <a:rPr lang="en-US" sz="2400" b="1" dirty="0">
                <a:latin typeface="Segoe UI"/>
                <a:cs typeface="Segoe UI"/>
              </a:rPr>
              <a:t>configuration file provides instructions</a:t>
            </a:r>
            <a:r>
              <a:rPr lang="en-US" sz="2400" dirty="0">
                <a:latin typeface="Segoe UI"/>
                <a:cs typeface="Segoe UI"/>
              </a:rPr>
              <a:t> to the Spring Container to </a:t>
            </a:r>
            <a:r>
              <a:rPr lang="en-US" sz="2400" b="1" dirty="0">
                <a:latin typeface="Segoe UI"/>
                <a:cs typeface="Segoe UI"/>
              </a:rPr>
              <a:t>consider the class as a Spring Bean</a:t>
            </a:r>
            <a:r>
              <a:rPr lang="en-US" sz="2400" dirty="0">
                <a:latin typeface="Segoe UI"/>
                <a:cs typeface="Segoe UI"/>
              </a:rPr>
              <a:t>. </a:t>
            </a:r>
            <a:endParaRPr lang="en-US" dirty="0">
              <a:latin typeface="Aptos" panose="02110004020202020204"/>
              <a:cs typeface="Segoe UI"/>
            </a:endParaRPr>
          </a:p>
          <a:p>
            <a:r>
              <a:rPr lang="en-US" sz="2400" b="1" dirty="0" smtClean="0">
                <a:latin typeface="Segoe UI"/>
                <a:cs typeface="Segoe UI"/>
              </a:rPr>
              <a:t>Spring </a:t>
            </a:r>
            <a:r>
              <a:rPr lang="en-US" sz="2400" b="1" dirty="0">
                <a:latin typeface="Segoe UI"/>
                <a:cs typeface="Segoe UI"/>
              </a:rPr>
              <a:t>Container handles the whole life cycle of that Spring Bean</a:t>
            </a:r>
            <a:r>
              <a:rPr lang="en-US" sz="2400" dirty="0">
                <a:latin typeface="Segoe UI"/>
                <a:cs typeface="Segoe UI"/>
              </a:rPr>
              <a:t>.</a:t>
            </a:r>
            <a:endParaRPr lang="en-US" dirty="0"/>
          </a:p>
          <a:p>
            <a:pPr marL="0" indent="0">
              <a:buNone/>
            </a:pPr>
            <a:endParaRPr lang="en-US" sz="2400" b="1" dirty="0">
              <a:solidFill>
                <a:srgbClr val="3D3D3D"/>
              </a:solidFill>
              <a:latin typeface="Consolas"/>
              <a:cs typeface="Segoe UI"/>
            </a:endParaRPr>
          </a:p>
          <a:p>
            <a:pPr marL="0" indent="0">
              <a:buNone/>
            </a:pPr>
            <a:endParaRPr lang="en-US" sz="2400" b="1" dirty="0">
              <a:solidFill>
                <a:srgbClr val="3D3D3D"/>
              </a:solidFill>
              <a:latin typeface="Consolas"/>
              <a:cs typeface="Segoe UI"/>
            </a:endParaRPr>
          </a:p>
          <a:p>
            <a:pPr marL="0" indent="0">
              <a:buNone/>
            </a:pPr>
            <a:r>
              <a:rPr lang="en-US" sz="2400" b="1" dirty="0">
                <a:solidFill>
                  <a:srgbClr val="3D3D3D"/>
                </a:solidFill>
                <a:latin typeface="Consolas"/>
                <a:cs typeface="Segoe UI"/>
              </a:rPr>
              <a:t>&lt;</a:t>
            </a:r>
            <a:r>
              <a:rPr lang="en-US" sz="2400" b="1" dirty="0">
                <a:solidFill>
                  <a:srgbClr val="FF6600"/>
                </a:solidFill>
                <a:latin typeface="Consolas"/>
                <a:cs typeface="Segoe UI"/>
              </a:rPr>
              <a:t>bean</a:t>
            </a:r>
            <a:r>
              <a:rPr lang="en-US" sz="2400" b="1" dirty="0">
                <a:solidFill>
                  <a:srgbClr val="3D3D3D"/>
                </a:solidFill>
                <a:latin typeface="Consolas"/>
                <a:cs typeface="Segoe UI"/>
              </a:rPr>
              <a:t> id=</a:t>
            </a:r>
            <a:r>
              <a:rPr lang="en-US" sz="2400" b="1" dirty="0">
                <a:solidFill>
                  <a:srgbClr val="0000FF"/>
                </a:solidFill>
                <a:latin typeface="Consolas"/>
                <a:cs typeface="Segoe UI"/>
              </a:rPr>
              <a:t>"employee"</a:t>
            </a:r>
            <a:r>
              <a:rPr lang="en-US" sz="2400" b="1" dirty="0">
                <a:solidFill>
                  <a:srgbClr val="3D3D3D"/>
                </a:solidFill>
                <a:latin typeface="Consolas"/>
                <a:cs typeface="Segoe UI"/>
              </a:rPr>
              <a:t> class=</a:t>
            </a:r>
            <a:r>
              <a:rPr lang="en-US" sz="2400" b="1" dirty="0">
                <a:solidFill>
                  <a:srgbClr val="0000FF"/>
                </a:solidFill>
                <a:latin typeface="Consolas"/>
                <a:cs typeface="Segoe UI"/>
              </a:rPr>
              <a:t>"</a:t>
            </a:r>
            <a:r>
              <a:rPr lang="en-US" sz="2400" b="1" dirty="0" err="1">
                <a:solidFill>
                  <a:srgbClr val="0000FF"/>
                </a:solidFill>
                <a:latin typeface="Consolas"/>
                <a:cs typeface="Segoe UI"/>
              </a:rPr>
              <a:t>com.dev.example.Employee</a:t>
            </a:r>
            <a:r>
              <a:rPr lang="en-US" sz="2400" b="1" dirty="0">
                <a:solidFill>
                  <a:srgbClr val="0000FF"/>
                </a:solidFill>
                <a:latin typeface="Consolas"/>
                <a:cs typeface="Segoe UI"/>
              </a:rPr>
              <a:t>"</a:t>
            </a:r>
            <a:r>
              <a:rPr lang="en-US" sz="2400" b="1" dirty="0">
                <a:solidFill>
                  <a:srgbClr val="3D3D3D"/>
                </a:solidFill>
                <a:latin typeface="Consolas"/>
                <a:cs typeface="Segoe UI"/>
              </a:rPr>
              <a:t>/&gt;</a:t>
            </a:r>
            <a:endParaRPr lang="en-US" sz="2400" dirty="0">
              <a:latin typeface="Segoe UI"/>
              <a:cs typeface="Segoe UI"/>
            </a:endParaRPr>
          </a:p>
        </p:txBody>
      </p:sp>
    </p:spTree>
    <p:extLst>
      <p:ext uri="{BB962C8B-B14F-4D97-AF65-F5344CB8AC3E}">
        <p14:creationId xmlns:p14="http://schemas.microsoft.com/office/powerpoint/2010/main" val="267934897"/>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D9C16-E19B-8D58-26E6-ADA5A148508B}"/>
              </a:ext>
            </a:extLst>
          </p:cNvPr>
          <p:cNvSpPr>
            <a:spLocks noGrp="1"/>
          </p:cNvSpPr>
          <p:nvPr>
            <p:ph type="title"/>
          </p:nvPr>
        </p:nvSpPr>
        <p:spPr/>
        <p:txBody>
          <a:bodyPr>
            <a:normAutofit/>
          </a:bodyPr>
          <a:lstStyle/>
          <a:p>
            <a:r>
              <a:rPr lang="en-US" sz="4000" b="1" dirty="0">
                <a:ea typeface="+mj-lt"/>
                <a:cs typeface="+mj-lt"/>
              </a:rPr>
              <a:t>Key Attributes of the </a:t>
            </a:r>
            <a:r>
              <a:rPr lang="en-US" sz="4000" b="1" dirty="0">
                <a:solidFill>
                  <a:srgbClr val="FF0000"/>
                </a:solidFill>
                <a:latin typeface="Consolas"/>
              </a:rPr>
              <a:t>&lt;bean&gt;</a:t>
            </a:r>
            <a:r>
              <a:rPr lang="en-US" sz="4000" b="1" dirty="0">
                <a:ea typeface="+mj-lt"/>
                <a:cs typeface="+mj-lt"/>
              </a:rPr>
              <a:t> Tag</a:t>
            </a:r>
            <a:endParaRPr lang="en-US" sz="4000" b="1" dirty="0"/>
          </a:p>
        </p:txBody>
      </p:sp>
      <p:sp>
        <p:nvSpPr>
          <p:cNvPr id="3" name="Content Placeholder 2">
            <a:extLst>
              <a:ext uri="{FF2B5EF4-FFF2-40B4-BE49-F238E27FC236}">
                <a16:creationId xmlns:a16="http://schemas.microsoft.com/office/drawing/2014/main" id="{3D576353-728E-4BBA-65AD-75EAFE0539D8}"/>
              </a:ext>
            </a:extLst>
          </p:cNvPr>
          <p:cNvSpPr>
            <a:spLocks noGrp="1"/>
          </p:cNvSpPr>
          <p:nvPr>
            <p:ph idx="1"/>
          </p:nvPr>
        </p:nvSpPr>
        <p:spPr/>
        <p:txBody>
          <a:bodyPr vert="horz" lIns="91440" tIns="45720" rIns="91440" bIns="45720" rtlCol="0" anchor="t">
            <a:normAutofit/>
          </a:bodyPr>
          <a:lstStyle/>
          <a:p>
            <a:pPr marL="0" indent="0">
              <a:buNone/>
            </a:pPr>
            <a:r>
              <a:rPr lang="en-US" b="1" dirty="0">
                <a:solidFill>
                  <a:schemeClr val="tx2">
                    <a:lumMod val="90000"/>
                    <a:lumOff val="10000"/>
                  </a:schemeClr>
                </a:solidFill>
                <a:latin typeface="Consolas"/>
              </a:rPr>
              <a:t>id</a:t>
            </a:r>
            <a:r>
              <a:rPr lang="en-US" b="1" dirty="0">
                <a:solidFill>
                  <a:schemeClr val="tx2">
                    <a:lumMod val="90000"/>
                    <a:lumOff val="10000"/>
                  </a:schemeClr>
                </a:solidFill>
                <a:ea typeface="+mn-lt"/>
                <a:cs typeface="+mn-lt"/>
              </a:rPr>
              <a:t>:</a:t>
            </a:r>
            <a:endParaRPr lang="en-US" b="1" dirty="0">
              <a:solidFill>
                <a:schemeClr val="tx2">
                  <a:lumMod val="90000"/>
                  <a:lumOff val="10000"/>
                </a:schemeClr>
              </a:solidFill>
            </a:endParaRPr>
          </a:p>
          <a:p>
            <a:r>
              <a:rPr lang="en-US" sz="2400" b="1" dirty="0">
                <a:ea typeface="+mn-lt"/>
                <a:cs typeface="+mn-lt"/>
              </a:rPr>
              <a:t>Description</a:t>
            </a:r>
            <a:r>
              <a:rPr lang="en-US" sz="2400" dirty="0">
                <a:ea typeface="+mn-lt"/>
                <a:cs typeface="+mn-lt"/>
              </a:rPr>
              <a:t>: A unique identifier for the bean within the Spring container.</a:t>
            </a:r>
            <a:endParaRPr lang="en-US" sz="2400" dirty="0"/>
          </a:p>
          <a:p>
            <a:pPr marL="0" indent="0">
              <a:buNone/>
            </a:pPr>
            <a:endParaRPr lang="en-US" sz="2400" b="1" dirty="0">
              <a:latin typeface="Consolas"/>
            </a:endParaRPr>
          </a:p>
          <a:p>
            <a:pPr marL="0" indent="0">
              <a:buNone/>
            </a:pPr>
            <a:r>
              <a:rPr lang="en-US" b="1" dirty="0">
                <a:solidFill>
                  <a:schemeClr val="tx2">
                    <a:lumMod val="90000"/>
                    <a:lumOff val="10000"/>
                  </a:schemeClr>
                </a:solidFill>
                <a:latin typeface="Consolas"/>
              </a:rPr>
              <a:t>name</a:t>
            </a:r>
            <a:r>
              <a:rPr lang="en-US" sz="2400" dirty="0">
                <a:ea typeface="+mn-lt"/>
                <a:cs typeface="+mn-lt"/>
              </a:rPr>
              <a:t>:</a:t>
            </a:r>
            <a:endParaRPr lang="en-US" sz="2400" dirty="0"/>
          </a:p>
          <a:p>
            <a:r>
              <a:rPr lang="en-US" sz="2400" b="1" dirty="0">
                <a:ea typeface="+mn-lt"/>
                <a:cs typeface="+mn-lt"/>
              </a:rPr>
              <a:t>Description</a:t>
            </a:r>
            <a:r>
              <a:rPr lang="en-US" sz="2400" dirty="0">
                <a:ea typeface="+mn-lt"/>
                <a:cs typeface="+mn-lt"/>
              </a:rPr>
              <a:t>: An alias for the bean. A bean can have multiple aliases in addition to its </a:t>
            </a:r>
            <a:r>
              <a:rPr lang="en-US" sz="2400" dirty="0">
                <a:latin typeface="Consolas"/>
              </a:rPr>
              <a:t>id</a:t>
            </a:r>
            <a:r>
              <a:rPr lang="en-US" sz="2400" dirty="0">
                <a:ea typeface="+mn-lt"/>
                <a:cs typeface="+mn-lt"/>
              </a:rPr>
              <a:t>.</a:t>
            </a:r>
            <a:endParaRPr lang="en-US" dirty="0"/>
          </a:p>
          <a:p>
            <a:endParaRPr lang="en-US" sz="2400" dirty="0"/>
          </a:p>
          <a:p>
            <a:endParaRPr lang="en-US" dirty="0"/>
          </a:p>
        </p:txBody>
      </p:sp>
      <p:sp>
        <p:nvSpPr>
          <p:cNvPr id="4" name="TextBox 3">
            <a:extLst>
              <a:ext uri="{FF2B5EF4-FFF2-40B4-BE49-F238E27FC236}">
                <a16:creationId xmlns:a16="http://schemas.microsoft.com/office/drawing/2014/main" id="{E084C14A-FCB2-EC83-5B48-343577CE1E5A}"/>
              </a:ext>
            </a:extLst>
          </p:cNvPr>
          <p:cNvSpPr txBox="1"/>
          <p:nvPr/>
        </p:nvSpPr>
        <p:spPr>
          <a:xfrm>
            <a:off x="1831316" y="3139357"/>
            <a:ext cx="8867954" cy="400110"/>
          </a:xfrm>
          <a:prstGeom prst="rect">
            <a:avLst/>
          </a:prstGeom>
          <a:solidFill>
            <a:srgbClr val="FFFF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&lt;bean id = "</a:t>
            </a:r>
            <a:r>
              <a:rPr lang="en-US" sz="2000" b="1" err="1"/>
              <a:t>myBean</a:t>
            </a:r>
            <a:r>
              <a:rPr lang="en-US" sz="2000" b="1"/>
              <a:t>"     class =  "</a:t>
            </a:r>
            <a:r>
              <a:rPr lang="en-US" sz="2000" b="1" err="1"/>
              <a:t>com.example.MyClass</a:t>
            </a:r>
            <a:r>
              <a:rPr lang="en-US" sz="2000" b="1"/>
              <a:t>"/&gt;</a:t>
            </a:r>
          </a:p>
        </p:txBody>
      </p:sp>
      <p:sp>
        <p:nvSpPr>
          <p:cNvPr id="5" name="TextBox 4">
            <a:extLst>
              <a:ext uri="{FF2B5EF4-FFF2-40B4-BE49-F238E27FC236}">
                <a16:creationId xmlns:a16="http://schemas.microsoft.com/office/drawing/2014/main" id="{6A981307-2CF0-6965-861C-C9684CA19811}"/>
              </a:ext>
            </a:extLst>
          </p:cNvPr>
          <p:cNvSpPr txBox="1"/>
          <p:nvPr/>
        </p:nvSpPr>
        <p:spPr>
          <a:xfrm>
            <a:off x="304801" y="4810664"/>
            <a:ext cx="11763374" cy="400110"/>
          </a:xfrm>
          <a:prstGeom prst="rect">
            <a:avLst/>
          </a:prstGeom>
          <a:solidFill>
            <a:srgbClr val="FFFF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&lt;bean id = "</a:t>
            </a:r>
            <a:r>
              <a:rPr lang="en-US" sz="2000" b="1" dirty="0" err="1"/>
              <a:t>myBean</a:t>
            </a:r>
            <a:r>
              <a:rPr lang="en-US" sz="2000" b="1" dirty="0"/>
              <a:t>"     name = "</a:t>
            </a:r>
            <a:r>
              <a:rPr lang="en-US" sz="2000" b="1" dirty="0" err="1"/>
              <a:t>beanAlias</a:t>
            </a:r>
            <a:r>
              <a:rPr lang="en-US" sz="2000" b="1" dirty="0"/>
              <a:t>" </a:t>
            </a:r>
            <a:r>
              <a:rPr lang="en-US" sz="2000" b="1" dirty="0" smtClean="0"/>
              <a:t> </a:t>
            </a:r>
            <a:r>
              <a:rPr lang="en-US" sz="2000" b="1" dirty="0"/>
              <a:t>class = "</a:t>
            </a:r>
            <a:r>
              <a:rPr lang="en-US" sz="2000" b="1" dirty="0" err="1"/>
              <a:t>com.example.MyClass</a:t>
            </a:r>
            <a:r>
              <a:rPr lang="en-US" sz="2000" b="1" dirty="0"/>
              <a:t>"/&gt;</a:t>
            </a:r>
          </a:p>
        </p:txBody>
      </p:sp>
    </p:spTree>
    <p:extLst>
      <p:ext uri="{BB962C8B-B14F-4D97-AF65-F5344CB8AC3E}">
        <p14:creationId xmlns:p14="http://schemas.microsoft.com/office/powerpoint/2010/main" val="4123388148"/>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9CB0AB-8C07-2395-9EBA-53A9EDA143F6}"/>
              </a:ext>
            </a:extLst>
          </p:cNvPr>
          <p:cNvSpPr>
            <a:spLocks noGrp="1"/>
          </p:cNvSpPr>
          <p:nvPr>
            <p:ph idx="1"/>
          </p:nvPr>
        </p:nvSpPr>
        <p:spPr>
          <a:xfrm>
            <a:off x="819150" y="502113"/>
            <a:ext cx="10515600" cy="5444017"/>
          </a:xfrm>
        </p:spPr>
        <p:txBody>
          <a:bodyPr vert="horz" lIns="91440" tIns="45720" rIns="91440" bIns="45720" rtlCol="0" anchor="t">
            <a:normAutofit/>
          </a:bodyPr>
          <a:lstStyle/>
          <a:p>
            <a:pPr marL="0" indent="0">
              <a:buNone/>
            </a:pPr>
            <a:r>
              <a:rPr lang="en-US" b="1" dirty="0">
                <a:solidFill>
                  <a:schemeClr val="tx2">
                    <a:lumMod val="90000"/>
                    <a:lumOff val="10000"/>
                  </a:schemeClr>
                </a:solidFill>
                <a:latin typeface="Consolas"/>
              </a:rPr>
              <a:t>class</a:t>
            </a:r>
            <a:r>
              <a:rPr lang="en-US" sz="2400" dirty="0">
                <a:ea typeface="+mn-lt"/>
                <a:cs typeface="+mn-lt"/>
              </a:rPr>
              <a:t>:</a:t>
            </a:r>
            <a:endParaRPr lang="en-US" sz="2400" dirty="0"/>
          </a:p>
          <a:p>
            <a:r>
              <a:rPr lang="en-US" sz="2400" b="1" dirty="0">
                <a:ea typeface="+mn-lt"/>
                <a:cs typeface="+mn-lt"/>
              </a:rPr>
              <a:t>Description</a:t>
            </a:r>
            <a:r>
              <a:rPr lang="en-US" sz="2400" dirty="0">
                <a:ea typeface="+mn-lt"/>
                <a:cs typeface="+mn-lt"/>
              </a:rPr>
              <a:t>: The fully qualified class name of the bean. It tells Spring what class to instantiate when creating the bean.</a:t>
            </a:r>
            <a:endParaRPr lang="en-US" sz="2400" dirty="0"/>
          </a:p>
          <a:p>
            <a:pPr marL="0" indent="0">
              <a:buNone/>
            </a:pPr>
            <a:endParaRPr lang="en-US" sz="2400" b="1" dirty="0">
              <a:latin typeface="Consolas"/>
            </a:endParaRPr>
          </a:p>
          <a:p>
            <a:pPr marL="0" indent="0">
              <a:buNone/>
            </a:pPr>
            <a:r>
              <a:rPr lang="en-US" b="1" dirty="0">
                <a:solidFill>
                  <a:schemeClr val="tx2">
                    <a:lumMod val="90000"/>
                    <a:lumOff val="10000"/>
                  </a:schemeClr>
                </a:solidFill>
                <a:latin typeface="Consolas"/>
              </a:rPr>
              <a:t>scope</a:t>
            </a:r>
            <a:r>
              <a:rPr lang="en-US" sz="2400" dirty="0">
                <a:ea typeface="+mn-lt"/>
                <a:cs typeface="+mn-lt"/>
              </a:rPr>
              <a:t>:</a:t>
            </a:r>
            <a:endParaRPr lang="en-US" sz="2400" dirty="0"/>
          </a:p>
          <a:p>
            <a:r>
              <a:rPr lang="en-US" sz="2400" b="1" dirty="0">
                <a:ea typeface="+mn-lt"/>
                <a:cs typeface="+mn-lt"/>
              </a:rPr>
              <a:t>Description</a:t>
            </a:r>
            <a:r>
              <a:rPr lang="en-US" sz="2400" dirty="0">
                <a:ea typeface="+mn-lt"/>
                <a:cs typeface="+mn-lt"/>
              </a:rPr>
              <a:t>: Defines the scope of the bean, which determines its lifecycle. Common scopes are:</a:t>
            </a:r>
            <a:endParaRPr lang="en-US" dirty="0"/>
          </a:p>
          <a:p>
            <a:pPr lvl="1"/>
            <a:r>
              <a:rPr lang="en-US" dirty="0">
                <a:latin typeface="Consolas"/>
              </a:rPr>
              <a:t>singleton</a:t>
            </a:r>
            <a:r>
              <a:rPr lang="en-US" dirty="0">
                <a:ea typeface="+mn-lt"/>
                <a:cs typeface="+mn-lt"/>
              </a:rPr>
              <a:t>: A single instance of the bean is created (</a:t>
            </a:r>
            <a:r>
              <a:rPr lang="en-US" b="1" dirty="0">
                <a:solidFill>
                  <a:srgbClr val="FF0000"/>
                </a:solidFill>
                <a:ea typeface="+mn-lt"/>
                <a:cs typeface="+mn-lt"/>
              </a:rPr>
              <a:t>default scope</a:t>
            </a:r>
            <a:r>
              <a:rPr lang="en-US" dirty="0">
                <a:ea typeface="+mn-lt"/>
                <a:cs typeface="+mn-lt"/>
              </a:rPr>
              <a:t>).</a:t>
            </a:r>
            <a:endParaRPr lang="en-US" dirty="0"/>
          </a:p>
          <a:p>
            <a:pPr lvl="1"/>
            <a:r>
              <a:rPr lang="en-US" dirty="0">
                <a:latin typeface="Consolas"/>
              </a:rPr>
              <a:t>prototype</a:t>
            </a:r>
            <a:r>
              <a:rPr lang="en-US" dirty="0">
                <a:ea typeface="+mn-lt"/>
                <a:cs typeface="+mn-lt"/>
              </a:rPr>
              <a:t>: A new instance is created each time the bean is requested.</a:t>
            </a:r>
            <a:endParaRPr lang="en-US" dirty="0"/>
          </a:p>
          <a:p>
            <a:pPr lvl="1"/>
            <a:r>
              <a:rPr lang="en-US" dirty="0">
                <a:latin typeface="Consolas"/>
              </a:rPr>
              <a:t>request</a:t>
            </a:r>
            <a:r>
              <a:rPr lang="en-US" dirty="0">
                <a:ea typeface="+mn-lt"/>
                <a:cs typeface="+mn-lt"/>
              </a:rPr>
              <a:t>, </a:t>
            </a:r>
            <a:r>
              <a:rPr lang="en-US" dirty="0" smtClean="0">
                <a:latin typeface="Consolas"/>
              </a:rPr>
              <a:t>session</a:t>
            </a:r>
            <a:r>
              <a:rPr lang="en-US" dirty="0" smtClean="0">
                <a:ea typeface="+mn-lt"/>
                <a:cs typeface="+mn-lt"/>
              </a:rPr>
              <a:t>: </a:t>
            </a:r>
            <a:r>
              <a:rPr lang="en-US" dirty="0">
                <a:ea typeface="+mn-lt"/>
                <a:cs typeface="+mn-lt"/>
              </a:rPr>
              <a:t>Scopes specific to web applications</a:t>
            </a:r>
            <a:r>
              <a:rPr lang="en-US" dirty="0" smtClean="0">
                <a:ea typeface="+mn-lt"/>
                <a:cs typeface="+mn-lt"/>
              </a:rPr>
              <a:t>.</a:t>
            </a:r>
            <a:endParaRPr lang="en-US" sz="2400" dirty="0"/>
          </a:p>
        </p:txBody>
      </p:sp>
      <p:sp>
        <p:nvSpPr>
          <p:cNvPr id="4" name="TextBox 3">
            <a:extLst>
              <a:ext uri="{FF2B5EF4-FFF2-40B4-BE49-F238E27FC236}">
                <a16:creationId xmlns:a16="http://schemas.microsoft.com/office/drawing/2014/main" id="{DE360963-45AD-5CCC-3013-FCF18BDE1E0B}"/>
              </a:ext>
            </a:extLst>
          </p:cNvPr>
          <p:cNvSpPr txBox="1"/>
          <p:nvPr/>
        </p:nvSpPr>
        <p:spPr>
          <a:xfrm>
            <a:off x="285750" y="5946130"/>
            <a:ext cx="11700652" cy="400110"/>
          </a:xfrm>
          <a:prstGeom prst="rect">
            <a:avLst/>
          </a:prstGeom>
          <a:solidFill>
            <a:srgbClr val="FFFF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&lt;bean id = "</a:t>
            </a:r>
            <a:r>
              <a:rPr lang="en-US" sz="2000" b="1" dirty="0" err="1"/>
              <a:t>myBean</a:t>
            </a:r>
            <a:r>
              <a:rPr lang="en-US" sz="2000" b="1" dirty="0"/>
              <a:t>" class =  "</a:t>
            </a:r>
            <a:r>
              <a:rPr lang="en-US" sz="2000" b="1" dirty="0" err="1"/>
              <a:t>com.example.MyClass</a:t>
            </a:r>
            <a:r>
              <a:rPr lang="en-US" sz="2000" b="1" dirty="0"/>
              <a:t>"    scope = "prototype"/&gt;</a:t>
            </a:r>
          </a:p>
        </p:txBody>
      </p:sp>
    </p:spTree>
    <p:extLst>
      <p:ext uri="{BB962C8B-B14F-4D97-AF65-F5344CB8AC3E}">
        <p14:creationId xmlns:p14="http://schemas.microsoft.com/office/powerpoint/2010/main" val="2735874051"/>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B9ED4-EE26-0FBB-5D21-EA6D352DE91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EBAB1FB-C12B-21B7-95B3-537476EBB237}"/>
              </a:ext>
            </a:extLst>
          </p:cNvPr>
          <p:cNvSpPr>
            <a:spLocks noGrp="1"/>
          </p:cNvSpPr>
          <p:nvPr>
            <p:ph idx="1"/>
          </p:nvPr>
        </p:nvSpPr>
        <p:spPr/>
        <p:txBody>
          <a:bodyPr vert="horz" lIns="91440" tIns="45720" rIns="91440" bIns="45720" rtlCol="0" anchor="t">
            <a:normAutofit/>
          </a:bodyPr>
          <a:lstStyle/>
          <a:p>
            <a:pPr marL="0" indent="0">
              <a:buNone/>
            </a:pPr>
            <a:r>
              <a:rPr lang="en-US" b="1" dirty="0" err="1">
                <a:solidFill>
                  <a:schemeClr val="tx2">
                    <a:lumMod val="90000"/>
                    <a:lumOff val="10000"/>
                  </a:schemeClr>
                </a:solidFill>
                <a:latin typeface="Consolas"/>
              </a:rPr>
              <a:t>autowire</a:t>
            </a:r>
            <a:r>
              <a:rPr lang="en-US" dirty="0">
                <a:ea typeface="+mn-lt"/>
                <a:cs typeface="+mn-lt"/>
              </a:rPr>
              <a:t>:</a:t>
            </a:r>
            <a:endParaRPr lang="en-US" dirty="0"/>
          </a:p>
          <a:p>
            <a:r>
              <a:rPr lang="en-US" sz="2400" b="1" dirty="0">
                <a:ea typeface="+mn-lt"/>
                <a:cs typeface="+mn-lt"/>
              </a:rPr>
              <a:t>Description</a:t>
            </a:r>
            <a:r>
              <a:rPr lang="en-US" sz="2400" dirty="0">
                <a:ea typeface="+mn-lt"/>
                <a:cs typeface="+mn-lt"/>
              </a:rPr>
              <a:t>: Specifies the </a:t>
            </a:r>
            <a:r>
              <a:rPr lang="en-US" sz="2400" dirty="0" err="1">
                <a:ea typeface="+mn-lt"/>
                <a:cs typeface="+mn-lt"/>
              </a:rPr>
              <a:t>autowiring</a:t>
            </a:r>
            <a:r>
              <a:rPr lang="en-US" sz="2400" dirty="0">
                <a:ea typeface="+mn-lt"/>
                <a:cs typeface="+mn-lt"/>
              </a:rPr>
              <a:t> mode for dependency injection.</a:t>
            </a:r>
            <a:endParaRPr lang="en-US" sz="2400" dirty="0"/>
          </a:p>
          <a:p>
            <a:pPr lvl="1"/>
            <a:r>
              <a:rPr lang="en-US" sz="2000" b="1" dirty="0">
                <a:latin typeface="Consolas"/>
              </a:rPr>
              <a:t>no</a:t>
            </a:r>
            <a:r>
              <a:rPr lang="en-US" sz="2000" dirty="0">
                <a:ea typeface="+mn-lt"/>
                <a:cs typeface="+mn-lt"/>
              </a:rPr>
              <a:t>: Default mode, where no </a:t>
            </a:r>
            <a:r>
              <a:rPr lang="en-US" sz="2000" dirty="0" err="1">
                <a:ea typeface="+mn-lt"/>
                <a:cs typeface="+mn-lt"/>
              </a:rPr>
              <a:t>autowiring</a:t>
            </a:r>
            <a:r>
              <a:rPr lang="en-US" sz="2000" dirty="0">
                <a:ea typeface="+mn-lt"/>
                <a:cs typeface="+mn-lt"/>
              </a:rPr>
              <a:t> is done.</a:t>
            </a:r>
            <a:endParaRPr lang="en-US" sz="2000" dirty="0"/>
          </a:p>
          <a:p>
            <a:pPr lvl="1"/>
            <a:r>
              <a:rPr lang="en-US" sz="2000" b="1" dirty="0" err="1">
                <a:latin typeface="Consolas"/>
              </a:rPr>
              <a:t>byName</a:t>
            </a:r>
            <a:r>
              <a:rPr lang="en-US" sz="2000" dirty="0">
                <a:ea typeface="+mn-lt"/>
                <a:cs typeface="+mn-lt"/>
              </a:rPr>
              <a:t>: </a:t>
            </a:r>
            <a:r>
              <a:rPr lang="en-US" sz="2000" dirty="0" err="1">
                <a:ea typeface="+mn-lt"/>
                <a:cs typeface="+mn-lt"/>
              </a:rPr>
              <a:t>Autowires</a:t>
            </a:r>
            <a:r>
              <a:rPr lang="en-US" sz="2000" dirty="0">
                <a:ea typeface="+mn-lt"/>
                <a:cs typeface="+mn-lt"/>
              </a:rPr>
              <a:t> by matching the property name to the bean name.</a:t>
            </a:r>
            <a:endParaRPr lang="en-US" sz="2000" dirty="0"/>
          </a:p>
          <a:p>
            <a:pPr lvl="1"/>
            <a:r>
              <a:rPr lang="en-US" sz="2000" b="1" dirty="0" err="1">
                <a:latin typeface="Consolas"/>
              </a:rPr>
              <a:t>byType</a:t>
            </a:r>
            <a:r>
              <a:rPr lang="en-US" sz="2000" dirty="0">
                <a:ea typeface="+mn-lt"/>
                <a:cs typeface="+mn-lt"/>
              </a:rPr>
              <a:t>: </a:t>
            </a:r>
            <a:r>
              <a:rPr lang="en-US" sz="2000" dirty="0" err="1">
                <a:ea typeface="+mn-lt"/>
                <a:cs typeface="+mn-lt"/>
              </a:rPr>
              <a:t>Autowires</a:t>
            </a:r>
            <a:r>
              <a:rPr lang="en-US" sz="2000" dirty="0">
                <a:ea typeface="+mn-lt"/>
                <a:cs typeface="+mn-lt"/>
              </a:rPr>
              <a:t> by matching the property type to the bean type.</a:t>
            </a:r>
            <a:endParaRPr lang="en-US" sz="2000" dirty="0"/>
          </a:p>
          <a:p>
            <a:pPr lvl="1"/>
            <a:r>
              <a:rPr lang="en-US" sz="2000" b="1" dirty="0">
                <a:latin typeface="Consolas"/>
              </a:rPr>
              <a:t>constructor</a:t>
            </a:r>
            <a:r>
              <a:rPr lang="en-US" sz="2000" dirty="0">
                <a:ea typeface="+mn-lt"/>
                <a:cs typeface="+mn-lt"/>
              </a:rPr>
              <a:t>: </a:t>
            </a:r>
            <a:r>
              <a:rPr lang="en-US" sz="2000" dirty="0" err="1">
                <a:ea typeface="+mn-lt"/>
                <a:cs typeface="+mn-lt"/>
              </a:rPr>
              <a:t>Autowires</a:t>
            </a:r>
            <a:r>
              <a:rPr lang="en-US" sz="2000" dirty="0">
                <a:ea typeface="+mn-lt"/>
                <a:cs typeface="+mn-lt"/>
              </a:rPr>
              <a:t> via constructor injection.</a:t>
            </a:r>
            <a:endParaRPr lang="en-US" sz="2000" dirty="0"/>
          </a:p>
          <a:p>
            <a:endParaRPr lang="en-US" dirty="0"/>
          </a:p>
        </p:txBody>
      </p:sp>
      <p:sp>
        <p:nvSpPr>
          <p:cNvPr id="4" name="TextBox 3">
            <a:extLst>
              <a:ext uri="{FF2B5EF4-FFF2-40B4-BE49-F238E27FC236}">
                <a16:creationId xmlns:a16="http://schemas.microsoft.com/office/drawing/2014/main" id="{48527236-7084-150B-A820-4DC068DCF32E}"/>
              </a:ext>
            </a:extLst>
          </p:cNvPr>
          <p:cNvSpPr txBox="1"/>
          <p:nvPr/>
        </p:nvSpPr>
        <p:spPr>
          <a:xfrm>
            <a:off x="619125" y="5367248"/>
            <a:ext cx="11410950" cy="369332"/>
          </a:xfrm>
          <a:prstGeom prst="rect">
            <a:avLst/>
          </a:prstGeom>
          <a:solidFill>
            <a:srgbClr val="FFFF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&lt;bean id  =  "</a:t>
            </a:r>
            <a:r>
              <a:rPr lang="en-US" b="1" dirty="0" err="1"/>
              <a:t>myBean</a:t>
            </a:r>
            <a:r>
              <a:rPr lang="en-US" b="1" dirty="0"/>
              <a:t>"     class = "</a:t>
            </a:r>
            <a:r>
              <a:rPr lang="en-US" b="1" dirty="0" err="1"/>
              <a:t>com.example.MyClass</a:t>
            </a:r>
            <a:r>
              <a:rPr lang="en-US" b="1" dirty="0"/>
              <a:t>"   </a:t>
            </a:r>
            <a:r>
              <a:rPr lang="en-US" b="1" dirty="0" err="1"/>
              <a:t>autowire</a:t>
            </a:r>
            <a:r>
              <a:rPr lang="en-US" b="1" dirty="0"/>
              <a:t> = "</a:t>
            </a:r>
            <a:r>
              <a:rPr lang="en-US" b="1" dirty="0" err="1"/>
              <a:t>byType</a:t>
            </a:r>
            <a:r>
              <a:rPr lang="en-US" b="1" dirty="0"/>
              <a:t>"/&gt;</a:t>
            </a:r>
          </a:p>
        </p:txBody>
      </p:sp>
    </p:spTree>
    <p:extLst>
      <p:ext uri="{BB962C8B-B14F-4D97-AF65-F5344CB8AC3E}">
        <p14:creationId xmlns:p14="http://schemas.microsoft.com/office/powerpoint/2010/main" val="3084718326"/>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A0AB-4194-8339-F74B-B431D52BC7E1}"/>
              </a:ext>
            </a:extLst>
          </p:cNvPr>
          <p:cNvSpPr>
            <a:spLocks noGrp="1"/>
          </p:cNvSpPr>
          <p:nvPr>
            <p:ph type="title"/>
          </p:nvPr>
        </p:nvSpPr>
        <p:spPr>
          <a:xfrm>
            <a:off x="838200" y="365125"/>
            <a:ext cx="10515600" cy="2446996"/>
          </a:xfrm>
        </p:spPr>
        <p:txBody>
          <a:bodyPr>
            <a:normAutofit/>
          </a:bodyPr>
          <a:lstStyle/>
          <a:p>
            <a:r>
              <a:rPr lang="en-US" b="1">
                <a:latin typeface="Consolas"/>
              </a:rPr>
              <a:t>no</a:t>
            </a:r>
            <a:r>
              <a:rPr lang="en-US" b="1"/>
              <a:t> (Manual Wiring)</a:t>
            </a:r>
          </a:p>
          <a:p>
            <a:r>
              <a:rPr lang="en-US" sz="2200">
                <a:ea typeface="+mj-lt"/>
                <a:cs typeface="+mj-lt"/>
              </a:rPr>
              <a:t>This is the default mode, where no </a:t>
            </a:r>
            <a:r>
              <a:rPr lang="en-US" sz="2200" err="1">
                <a:ea typeface="+mj-lt"/>
                <a:cs typeface="+mj-lt"/>
              </a:rPr>
              <a:t>autowiring</a:t>
            </a:r>
            <a:r>
              <a:rPr lang="en-US" sz="2200">
                <a:ea typeface="+mj-lt"/>
                <a:cs typeface="+mj-lt"/>
              </a:rPr>
              <a:t> takes place. You manually wire dependencies using the </a:t>
            </a:r>
            <a:r>
              <a:rPr lang="en-US" sz="2200">
                <a:latin typeface="Consolas"/>
              </a:rPr>
              <a:t>&lt;property&gt;</a:t>
            </a:r>
            <a:r>
              <a:rPr lang="en-US" sz="2200">
                <a:ea typeface="+mj-lt"/>
                <a:cs typeface="+mj-lt"/>
              </a:rPr>
              <a:t> element.</a:t>
            </a:r>
            <a:endParaRPr lang="en-US" sz="2200"/>
          </a:p>
          <a:p>
            <a:endParaRPr lang="en-US"/>
          </a:p>
        </p:txBody>
      </p:sp>
      <p:sp>
        <p:nvSpPr>
          <p:cNvPr id="4" name="TextBox 3">
            <a:extLst>
              <a:ext uri="{FF2B5EF4-FFF2-40B4-BE49-F238E27FC236}">
                <a16:creationId xmlns:a16="http://schemas.microsoft.com/office/drawing/2014/main" id="{6D4E3D52-BE1A-F558-C7D6-5BF234311326}"/>
              </a:ext>
            </a:extLst>
          </p:cNvPr>
          <p:cNvSpPr txBox="1"/>
          <p:nvPr/>
        </p:nvSpPr>
        <p:spPr>
          <a:xfrm>
            <a:off x="752475" y="2976114"/>
            <a:ext cx="11246509" cy="3354765"/>
          </a:xfrm>
          <a:prstGeom prst="rect">
            <a:avLst/>
          </a:prstGeom>
          <a:solidFill>
            <a:srgbClr val="FFFF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ea typeface="+mn-lt"/>
                <a:cs typeface="+mn-lt"/>
              </a:rPr>
              <a:t>&lt;beans&gt; </a:t>
            </a:r>
            <a:r>
              <a:rPr lang="en-US" sz="2000" dirty="0">
                <a:ea typeface="+mn-lt"/>
                <a:cs typeface="+mn-lt"/>
              </a:rPr>
              <a:t>&lt;!-- Defining beans with explicit dependency injection --&gt; </a:t>
            </a:r>
            <a:endParaRPr lang="en-US" sz="1600" dirty="0">
              <a:ea typeface="+mn-lt"/>
              <a:cs typeface="+mn-lt"/>
            </a:endParaRPr>
          </a:p>
          <a:p>
            <a:r>
              <a:rPr lang="en-US" sz="2400" b="1" dirty="0">
                <a:ea typeface="+mn-lt"/>
                <a:cs typeface="+mn-lt"/>
              </a:rPr>
              <a:t>&lt;bean id = "</a:t>
            </a:r>
            <a:r>
              <a:rPr lang="en-US" sz="2400" b="1" dirty="0">
                <a:solidFill>
                  <a:srgbClr val="FF0000"/>
                </a:solidFill>
                <a:ea typeface="+mn-lt"/>
                <a:cs typeface="+mn-lt"/>
              </a:rPr>
              <a:t>engine</a:t>
            </a:r>
            <a:r>
              <a:rPr lang="en-US" sz="2400" b="1" dirty="0">
                <a:ea typeface="+mn-lt"/>
                <a:cs typeface="+mn-lt"/>
              </a:rPr>
              <a:t>"  class  =  "</a:t>
            </a:r>
            <a:r>
              <a:rPr lang="en-US" sz="2400" b="1" dirty="0" err="1">
                <a:ea typeface="+mn-lt"/>
                <a:cs typeface="+mn-lt"/>
              </a:rPr>
              <a:t>com.example.Engine</a:t>
            </a:r>
            <a:r>
              <a:rPr lang="en-US" sz="2400" b="1" dirty="0">
                <a:ea typeface="+mn-lt"/>
                <a:cs typeface="+mn-lt"/>
              </a:rPr>
              <a:t>" /&gt; </a:t>
            </a:r>
            <a:endParaRPr lang="en-US" b="1" dirty="0">
              <a:ea typeface="+mn-lt"/>
              <a:cs typeface="+mn-lt"/>
            </a:endParaRPr>
          </a:p>
          <a:p>
            <a:endParaRPr lang="en-US" sz="2400" b="1" dirty="0">
              <a:ea typeface="+mn-lt"/>
              <a:cs typeface="+mn-lt"/>
            </a:endParaRPr>
          </a:p>
          <a:p>
            <a:r>
              <a:rPr lang="en-US" sz="2400" b="1" dirty="0">
                <a:ea typeface="+mn-lt"/>
                <a:cs typeface="+mn-lt"/>
              </a:rPr>
              <a:t>&lt;bean id = "car"    class  =  "</a:t>
            </a:r>
            <a:r>
              <a:rPr lang="en-US" sz="2400" b="1" dirty="0" err="1">
                <a:ea typeface="+mn-lt"/>
                <a:cs typeface="+mn-lt"/>
              </a:rPr>
              <a:t>com.example.Car</a:t>
            </a:r>
            <a:r>
              <a:rPr lang="en-US" sz="2400" b="1" dirty="0">
                <a:ea typeface="+mn-lt"/>
                <a:cs typeface="+mn-lt"/>
              </a:rPr>
              <a:t>"&gt; </a:t>
            </a:r>
            <a:endParaRPr lang="en-US" b="1" dirty="0">
              <a:ea typeface="+mn-lt"/>
              <a:cs typeface="+mn-lt"/>
            </a:endParaRPr>
          </a:p>
          <a:p>
            <a:r>
              <a:rPr lang="en-US" sz="2000" dirty="0" smtClean="0">
                <a:ea typeface="+mn-lt"/>
                <a:cs typeface="+mn-lt"/>
              </a:rPr>
              <a:t>&lt;!-- </a:t>
            </a:r>
            <a:r>
              <a:rPr lang="en-US" sz="2000" dirty="0">
                <a:ea typeface="+mn-lt"/>
                <a:cs typeface="+mn-lt"/>
              </a:rPr>
              <a:t>Explicitly setting the dependency --&gt; </a:t>
            </a:r>
          </a:p>
          <a:p>
            <a:r>
              <a:rPr lang="en-US" sz="2400" b="1" dirty="0">
                <a:ea typeface="+mn-lt"/>
                <a:cs typeface="+mn-lt"/>
              </a:rPr>
              <a:t>&lt;property   name = "</a:t>
            </a:r>
            <a:r>
              <a:rPr lang="en-US" sz="2400" b="1" dirty="0">
                <a:solidFill>
                  <a:srgbClr val="FF0000"/>
                </a:solidFill>
                <a:ea typeface="+mn-lt"/>
                <a:cs typeface="+mn-lt"/>
              </a:rPr>
              <a:t>engine</a:t>
            </a:r>
            <a:r>
              <a:rPr lang="en-US" sz="2400" b="1" dirty="0">
                <a:ea typeface="+mn-lt"/>
                <a:cs typeface="+mn-lt"/>
              </a:rPr>
              <a:t>"    ref  =  "engine" /&gt; </a:t>
            </a:r>
            <a:endParaRPr lang="en-US" b="1" dirty="0">
              <a:ea typeface="+mn-lt"/>
              <a:cs typeface="+mn-lt"/>
            </a:endParaRPr>
          </a:p>
          <a:p>
            <a:r>
              <a:rPr lang="en-US" sz="2400" b="1" dirty="0">
                <a:ea typeface="+mn-lt"/>
                <a:cs typeface="+mn-lt"/>
              </a:rPr>
              <a:t>&lt;/bean&gt; </a:t>
            </a:r>
            <a:endParaRPr lang="en-US" b="1" dirty="0">
              <a:ea typeface="+mn-lt"/>
              <a:cs typeface="+mn-lt"/>
            </a:endParaRPr>
          </a:p>
          <a:p>
            <a:endParaRPr lang="en-US" sz="2400" b="1" dirty="0" smtClean="0">
              <a:ea typeface="+mn-lt"/>
              <a:cs typeface="+mn-lt"/>
            </a:endParaRPr>
          </a:p>
          <a:p>
            <a:r>
              <a:rPr lang="en-US" sz="2400" b="1" dirty="0" smtClean="0">
                <a:ea typeface="+mn-lt"/>
                <a:cs typeface="+mn-lt"/>
              </a:rPr>
              <a:t>&lt;/</a:t>
            </a:r>
            <a:r>
              <a:rPr lang="en-US" sz="2400" b="1" dirty="0">
                <a:ea typeface="+mn-lt"/>
                <a:cs typeface="+mn-lt"/>
              </a:rPr>
              <a:t>beans&gt;</a:t>
            </a:r>
            <a:endParaRPr lang="en-US" b="1" dirty="0">
              <a:ea typeface="+mn-lt"/>
              <a:cs typeface="+mn-lt"/>
            </a:endParaRPr>
          </a:p>
        </p:txBody>
      </p:sp>
    </p:spTree>
    <p:extLst>
      <p:ext uri="{BB962C8B-B14F-4D97-AF65-F5344CB8AC3E}">
        <p14:creationId xmlns:p14="http://schemas.microsoft.com/office/powerpoint/2010/main" val="121393005"/>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0BDE8B-23E3-4945-0AB0-CBA9AF223D5F}"/>
              </a:ext>
            </a:extLst>
          </p:cNvPr>
          <p:cNvSpPr>
            <a:spLocks noGrp="1"/>
          </p:cNvSpPr>
          <p:nvPr>
            <p:ph idx="1"/>
          </p:nvPr>
        </p:nvSpPr>
        <p:spPr>
          <a:xfrm>
            <a:off x="263106" y="402267"/>
            <a:ext cx="8109369" cy="1935491"/>
          </a:xfrm>
          <a:solidFill>
            <a:schemeClr val="accent1">
              <a:lumMod val="20000"/>
              <a:lumOff val="80000"/>
            </a:schemeClr>
          </a:solidFill>
        </p:spPr>
        <p:txBody>
          <a:bodyPr vert="horz" lIns="91440" tIns="45720" rIns="91440" bIns="45720" rtlCol="0" anchor="t">
            <a:normAutofit/>
          </a:bodyPr>
          <a:lstStyle/>
          <a:p>
            <a:pPr>
              <a:buNone/>
            </a:pPr>
            <a:r>
              <a:rPr lang="en-US" sz="1800" b="1" dirty="0">
                <a:ea typeface="+mn-lt"/>
                <a:cs typeface="+mn-lt"/>
              </a:rPr>
              <a:t>public class Engine {</a:t>
            </a:r>
            <a:endParaRPr lang="en-US" sz="1800" b="1" dirty="0"/>
          </a:p>
          <a:p>
            <a:pPr>
              <a:buNone/>
            </a:pPr>
            <a:r>
              <a:rPr lang="en-US" sz="1800" b="1" dirty="0">
                <a:ea typeface="+mn-lt"/>
                <a:cs typeface="+mn-lt"/>
              </a:rPr>
              <a:t>    public void start() {</a:t>
            </a:r>
            <a:endParaRPr lang="en-US" sz="1800" b="1" dirty="0"/>
          </a:p>
          <a:p>
            <a:pPr>
              <a:buNone/>
            </a:pPr>
            <a:r>
              <a:rPr lang="en-US" sz="1800" b="1" dirty="0">
                <a:ea typeface="+mn-lt"/>
                <a:cs typeface="+mn-lt"/>
              </a:rPr>
              <a:t>        </a:t>
            </a:r>
            <a:r>
              <a:rPr lang="en-US" sz="1800" b="1" dirty="0" err="1">
                <a:ea typeface="+mn-lt"/>
                <a:cs typeface="+mn-lt"/>
              </a:rPr>
              <a:t>System.out.println</a:t>
            </a:r>
            <a:r>
              <a:rPr lang="en-US" sz="1800" b="1" dirty="0">
                <a:ea typeface="+mn-lt"/>
                <a:cs typeface="+mn-lt"/>
              </a:rPr>
              <a:t>("Engine started!");</a:t>
            </a:r>
            <a:endParaRPr lang="en-US" sz="1800" b="1" dirty="0"/>
          </a:p>
          <a:p>
            <a:pPr>
              <a:buNone/>
            </a:pPr>
            <a:r>
              <a:rPr lang="en-US" sz="1800" b="1" dirty="0">
                <a:ea typeface="+mn-lt"/>
                <a:cs typeface="+mn-lt"/>
              </a:rPr>
              <a:t>    }</a:t>
            </a:r>
            <a:endParaRPr lang="en-US" sz="1800" b="1" dirty="0"/>
          </a:p>
          <a:p>
            <a:pPr>
              <a:buNone/>
            </a:pPr>
            <a:r>
              <a:rPr lang="en-US" sz="1800" b="1" dirty="0">
                <a:ea typeface="+mn-lt"/>
                <a:cs typeface="+mn-lt"/>
              </a:rPr>
              <a:t>}</a:t>
            </a:r>
            <a:endParaRPr lang="en-US" sz="1800" b="1" dirty="0"/>
          </a:p>
          <a:p>
            <a:pPr marL="0" indent="0">
              <a:buNone/>
            </a:pPr>
            <a:endParaRPr lang="en-US" sz="1800" b="1" dirty="0"/>
          </a:p>
        </p:txBody>
      </p:sp>
      <p:sp>
        <p:nvSpPr>
          <p:cNvPr id="4" name="TextBox 3">
            <a:extLst>
              <a:ext uri="{FF2B5EF4-FFF2-40B4-BE49-F238E27FC236}">
                <a16:creationId xmlns:a16="http://schemas.microsoft.com/office/drawing/2014/main" id="{BBCC82EF-8858-EC0B-3704-752E87C2D628}"/>
              </a:ext>
            </a:extLst>
          </p:cNvPr>
          <p:cNvSpPr txBox="1"/>
          <p:nvPr/>
        </p:nvSpPr>
        <p:spPr>
          <a:xfrm>
            <a:off x="263106" y="2337758"/>
            <a:ext cx="8109369" cy="4031873"/>
          </a:xfrm>
          <a:prstGeom prst="rect">
            <a:avLst/>
          </a:prstGeom>
          <a:solidFill>
            <a:srgbClr val="FFFF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cs typeface="Segoe UI"/>
              </a:rPr>
              <a:t>public class Car </a:t>
            </a:r>
            <a:endParaRPr lang="en-US" sz="1600" b="1" dirty="0"/>
          </a:p>
          <a:p>
            <a:r>
              <a:rPr lang="en-US" sz="2000" b="1" dirty="0">
                <a:cs typeface="Segoe UI"/>
              </a:rPr>
              <a:t>{​</a:t>
            </a:r>
            <a:endParaRPr lang="en-US" sz="1600" b="1" dirty="0"/>
          </a:p>
          <a:p>
            <a:r>
              <a:rPr lang="en-US" sz="2000" b="1" dirty="0">
                <a:cs typeface="Segoe UI"/>
              </a:rPr>
              <a:t>    private Engine </a:t>
            </a:r>
            <a:r>
              <a:rPr lang="en-US" sz="2000" b="1" dirty="0" err="1">
                <a:cs typeface="Segoe UI"/>
              </a:rPr>
              <a:t>engine</a:t>
            </a:r>
            <a:r>
              <a:rPr lang="en-US" sz="2000" b="1" dirty="0">
                <a:cs typeface="Segoe UI"/>
              </a:rPr>
              <a:t>;​</a:t>
            </a:r>
          </a:p>
          <a:p>
            <a:r>
              <a:rPr lang="en-US" sz="1600" b="1" dirty="0">
                <a:cs typeface="Segoe UI"/>
              </a:rPr>
              <a:t>    // Setter method to inject dependency​</a:t>
            </a:r>
          </a:p>
          <a:p>
            <a:r>
              <a:rPr lang="en-US" sz="2000" b="1" dirty="0">
                <a:cs typeface="Segoe UI"/>
              </a:rPr>
              <a:t>    public void </a:t>
            </a:r>
            <a:r>
              <a:rPr lang="en-US" sz="2000" b="1" dirty="0" err="1">
                <a:cs typeface="Segoe UI"/>
              </a:rPr>
              <a:t>setEngine</a:t>
            </a:r>
            <a:r>
              <a:rPr lang="en-US" sz="2000" b="1" dirty="0">
                <a:cs typeface="Segoe UI"/>
              </a:rPr>
              <a:t>(Engine engine) {​</a:t>
            </a:r>
          </a:p>
          <a:p>
            <a:r>
              <a:rPr lang="en-US" sz="2000" b="1" dirty="0">
                <a:cs typeface="Segoe UI"/>
              </a:rPr>
              <a:t>        </a:t>
            </a:r>
            <a:r>
              <a:rPr lang="en-US" sz="2000" b="1" dirty="0" err="1">
                <a:cs typeface="Segoe UI"/>
              </a:rPr>
              <a:t>this.engine</a:t>
            </a:r>
            <a:r>
              <a:rPr lang="en-US" sz="2000" b="1" dirty="0">
                <a:cs typeface="Segoe UI"/>
              </a:rPr>
              <a:t> = engine;​</a:t>
            </a:r>
          </a:p>
          <a:p>
            <a:r>
              <a:rPr lang="en-US" sz="2000" b="1" dirty="0">
                <a:cs typeface="Segoe UI"/>
              </a:rPr>
              <a:t>    }​</a:t>
            </a:r>
          </a:p>
          <a:p>
            <a:r>
              <a:rPr lang="en-US" sz="2000" b="1" dirty="0">
                <a:cs typeface="Segoe UI"/>
              </a:rPr>
              <a:t>    public void drive() </a:t>
            </a:r>
            <a:endParaRPr lang="en-US" sz="2000" b="1" dirty="0" smtClean="0">
              <a:cs typeface="Segoe UI"/>
            </a:endParaRPr>
          </a:p>
          <a:p>
            <a:r>
              <a:rPr lang="en-US" sz="2000" b="1" dirty="0">
                <a:cs typeface="Segoe UI"/>
              </a:rPr>
              <a:t> </a:t>
            </a:r>
            <a:r>
              <a:rPr lang="en-US" sz="2000" b="1" dirty="0" smtClean="0">
                <a:cs typeface="Segoe UI"/>
              </a:rPr>
              <a:t>   {</a:t>
            </a:r>
            <a:r>
              <a:rPr lang="en-US" sz="2000" b="1" dirty="0">
                <a:cs typeface="Segoe UI"/>
              </a:rPr>
              <a:t>​</a:t>
            </a:r>
          </a:p>
          <a:p>
            <a:r>
              <a:rPr lang="en-US" sz="2000" b="1" dirty="0">
                <a:cs typeface="Segoe UI"/>
              </a:rPr>
              <a:t>        </a:t>
            </a:r>
            <a:r>
              <a:rPr lang="en-US" sz="2000" b="1" dirty="0" err="1">
                <a:cs typeface="Segoe UI"/>
              </a:rPr>
              <a:t>engine.start</a:t>
            </a:r>
            <a:r>
              <a:rPr lang="en-US" sz="2000" b="1" dirty="0">
                <a:cs typeface="Segoe UI"/>
              </a:rPr>
              <a:t>();​</a:t>
            </a:r>
          </a:p>
          <a:p>
            <a:r>
              <a:rPr lang="en-US" sz="2000" b="1" dirty="0">
                <a:cs typeface="Segoe UI"/>
              </a:rPr>
              <a:t>        </a:t>
            </a:r>
            <a:r>
              <a:rPr lang="en-US" sz="2000" b="1" dirty="0" err="1">
                <a:cs typeface="Segoe UI"/>
              </a:rPr>
              <a:t>System.out.println</a:t>
            </a:r>
            <a:r>
              <a:rPr lang="en-US" sz="2000" b="1" dirty="0">
                <a:cs typeface="Segoe UI"/>
              </a:rPr>
              <a:t>("Car is driving...");​</a:t>
            </a:r>
          </a:p>
          <a:p>
            <a:r>
              <a:rPr lang="en-US" sz="2000" b="1" dirty="0">
                <a:cs typeface="Segoe UI"/>
              </a:rPr>
              <a:t>    }​</a:t>
            </a:r>
          </a:p>
          <a:p>
            <a:r>
              <a:rPr lang="en-US" sz="2000" b="1" dirty="0">
                <a:cs typeface="Segoe UI"/>
              </a:rPr>
              <a:t>}​</a:t>
            </a:r>
          </a:p>
        </p:txBody>
      </p:sp>
    </p:spTree>
    <p:extLst>
      <p:ext uri="{BB962C8B-B14F-4D97-AF65-F5344CB8AC3E}">
        <p14:creationId xmlns:p14="http://schemas.microsoft.com/office/powerpoint/2010/main" val="1394258775"/>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64694-AB98-9AB3-E4E1-386F3E5D4EDD}"/>
              </a:ext>
            </a:extLst>
          </p:cNvPr>
          <p:cNvSpPr>
            <a:spLocks noGrp="1"/>
          </p:cNvSpPr>
          <p:nvPr>
            <p:ph type="title"/>
          </p:nvPr>
        </p:nvSpPr>
        <p:spPr>
          <a:xfrm>
            <a:off x="838200" y="365125"/>
            <a:ext cx="10515600" cy="2475751"/>
          </a:xfrm>
        </p:spPr>
        <p:txBody>
          <a:bodyPr>
            <a:normAutofit/>
          </a:bodyPr>
          <a:lstStyle/>
          <a:p>
            <a:r>
              <a:rPr lang="en-US"/>
              <a:t>2. </a:t>
            </a:r>
            <a:r>
              <a:rPr lang="en-US" b="1" err="1">
                <a:latin typeface="Consolas"/>
              </a:rPr>
              <a:t>byName</a:t>
            </a:r>
            <a:endParaRPr lang="en-US" err="1"/>
          </a:p>
          <a:p>
            <a:r>
              <a:rPr lang="en-US" sz="2400">
                <a:ea typeface="+mj-lt"/>
                <a:cs typeface="+mj-lt"/>
              </a:rPr>
              <a:t>In this mode, Spring attempts to </a:t>
            </a:r>
            <a:r>
              <a:rPr lang="en-US" sz="2400" err="1">
                <a:ea typeface="+mj-lt"/>
                <a:cs typeface="+mj-lt"/>
              </a:rPr>
              <a:t>autowire</a:t>
            </a:r>
            <a:r>
              <a:rPr lang="en-US" sz="2400">
                <a:ea typeface="+mj-lt"/>
                <a:cs typeface="+mj-lt"/>
              </a:rPr>
              <a:t> by matching the property name to a bean name in the context.</a:t>
            </a:r>
            <a:endParaRPr lang="en-US" sz="2800"/>
          </a:p>
          <a:p>
            <a:endParaRPr lang="en-US"/>
          </a:p>
        </p:txBody>
      </p:sp>
      <p:sp>
        <p:nvSpPr>
          <p:cNvPr id="4" name="TextBox 3">
            <a:extLst>
              <a:ext uri="{FF2B5EF4-FFF2-40B4-BE49-F238E27FC236}">
                <a16:creationId xmlns:a16="http://schemas.microsoft.com/office/drawing/2014/main" id="{76D5463B-E653-8B12-988A-12509B074718}"/>
              </a:ext>
            </a:extLst>
          </p:cNvPr>
          <p:cNvSpPr txBox="1"/>
          <p:nvPr/>
        </p:nvSpPr>
        <p:spPr>
          <a:xfrm>
            <a:off x="238666" y="3200400"/>
            <a:ext cx="11424600" cy="1631216"/>
          </a:xfrm>
          <a:prstGeom prst="rect">
            <a:avLst/>
          </a:prstGeom>
          <a:solidFill>
            <a:srgbClr val="FFFF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ea typeface="+mn-lt"/>
                <a:cs typeface="+mn-lt"/>
              </a:rPr>
              <a:t>&lt;beans&gt; </a:t>
            </a:r>
            <a:endParaRPr lang="en-US" sz="1400" b="1" dirty="0">
              <a:ea typeface="+mn-lt"/>
              <a:cs typeface="+mn-lt"/>
            </a:endParaRPr>
          </a:p>
          <a:p>
            <a:r>
              <a:rPr lang="en-US" sz="2000" b="1" dirty="0">
                <a:ea typeface="+mn-lt"/>
                <a:cs typeface="+mn-lt"/>
              </a:rPr>
              <a:t> &lt;bean id = "</a:t>
            </a:r>
            <a:r>
              <a:rPr lang="en-US" sz="2000" b="1" dirty="0">
                <a:solidFill>
                  <a:srgbClr val="FF0000"/>
                </a:solidFill>
                <a:ea typeface="+mn-lt"/>
                <a:cs typeface="+mn-lt"/>
              </a:rPr>
              <a:t>engine</a:t>
            </a:r>
            <a:r>
              <a:rPr lang="en-US" sz="2000" b="1" dirty="0">
                <a:ea typeface="+mn-lt"/>
                <a:cs typeface="+mn-lt"/>
              </a:rPr>
              <a:t>"  class = "</a:t>
            </a:r>
            <a:r>
              <a:rPr lang="en-US" sz="2000" b="1" dirty="0" err="1">
                <a:ea typeface="+mn-lt"/>
                <a:cs typeface="+mn-lt"/>
              </a:rPr>
              <a:t>com.example.Engine</a:t>
            </a:r>
            <a:r>
              <a:rPr lang="en-US" sz="2000" b="1" dirty="0">
                <a:ea typeface="+mn-lt"/>
                <a:cs typeface="+mn-lt"/>
              </a:rPr>
              <a:t>" /&gt; </a:t>
            </a:r>
            <a:endParaRPr lang="en-US" sz="1400" b="1" dirty="0">
              <a:ea typeface="+mn-lt"/>
              <a:cs typeface="+mn-lt"/>
            </a:endParaRPr>
          </a:p>
          <a:p>
            <a:endParaRPr lang="en-US" sz="2000" b="1" dirty="0">
              <a:ea typeface="+mn-lt"/>
              <a:cs typeface="+mn-lt"/>
            </a:endParaRPr>
          </a:p>
          <a:p>
            <a:r>
              <a:rPr lang="en-US" sz="2000" b="1" dirty="0">
                <a:ea typeface="+mn-lt"/>
                <a:cs typeface="+mn-lt"/>
              </a:rPr>
              <a:t> &lt;bean id = "car"    class</a:t>
            </a:r>
            <a:r>
              <a:rPr lang="en-US" sz="2000" b="1" dirty="0" smtClean="0">
                <a:ea typeface="+mn-lt"/>
                <a:cs typeface="+mn-lt"/>
              </a:rPr>
              <a:t>= "</a:t>
            </a:r>
            <a:r>
              <a:rPr lang="en-US" sz="2000" b="1" dirty="0" err="1">
                <a:ea typeface="+mn-lt"/>
                <a:cs typeface="+mn-lt"/>
              </a:rPr>
              <a:t>com.example.Car</a:t>
            </a:r>
            <a:r>
              <a:rPr lang="en-US" sz="2000" b="1" dirty="0">
                <a:ea typeface="+mn-lt"/>
                <a:cs typeface="+mn-lt"/>
              </a:rPr>
              <a:t>"   </a:t>
            </a:r>
            <a:r>
              <a:rPr lang="en-US" sz="2000" b="1" dirty="0" err="1" smtClean="0">
                <a:ea typeface="+mn-lt"/>
                <a:cs typeface="+mn-lt"/>
              </a:rPr>
              <a:t>autowire</a:t>
            </a:r>
            <a:r>
              <a:rPr lang="en-US" sz="2000" b="1" dirty="0" smtClean="0">
                <a:ea typeface="+mn-lt"/>
                <a:cs typeface="+mn-lt"/>
              </a:rPr>
              <a:t> = "</a:t>
            </a:r>
            <a:r>
              <a:rPr lang="en-US" sz="2000" b="1" dirty="0" err="1">
                <a:ea typeface="+mn-lt"/>
                <a:cs typeface="+mn-lt"/>
              </a:rPr>
              <a:t>byName</a:t>
            </a:r>
            <a:r>
              <a:rPr lang="en-US" sz="2000" b="1" dirty="0">
                <a:ea typeface="+mn-lt"/>
                <a:cs typeface="+mn-lt"/>
              </a:rPr>
              <a:t>" /&gt; </a:t>
            </a:r>
            <a:endParaRPr lang="en-US" sz="2000" b="1" dirty="0" smtClean="0">
              <a:ea typeface="+mn-lt"/>
              <a:cs typeface="+mn-lt"/>
            </a:endParaRPr>
          </a:p>
          <a:p>
            <a:r>
              <a:rPr lang="en-US" sz="2000" b="1" dirty="0" smtClean="0">
                <a:ea typeface="+mn-lt"/>
                <a:cs typeface="+mn-lt"/>
              </a:rPr>
              <a:t>&lt;/</a:t>
            </a:r>
            <a:r>
              <a:rPr lang="en-US" sz="2000" b="1" dirty="0">
                <a:ea typeface="+mn-lt"/>
                <a:cs typeface="+mn-lt"/>
              </a:rPr>
              <a:t>beans&gt;</a:t>
            </a:r>
            <a:endParaRPr lang="en-US" sz="1400" b="1" dirty="0">
              <a:ea typeface="+mn-lt"/>
              <a:cs typeface="+mn-lt"/>
            </a:endParaRPr>
          </a:p>
        </p:txBody>
      </p:sp>
    </p:spTree>
    <p:extLst>
      <p:ext uri="{BB962C8B-B14F-4D97-AF65-F5344CB8AC3E}">
        <p14:creationId xmlns:p14="http://schemas.microsoft.com/office/powerpoint/2010/main" val="3823694103"/>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E308BA-75E3-98DC-D39D-F41236627E0F}"/>
              </a:ext>
            </a:extLst>
          </p:cNvPr>
          <p:cNvSpPr>
            <a:spLocks noGrp="1"/>
          </p:cNvSpPr>
          <p:nvPr>
            <p:ph idx="1"/>
          </p:nvPr>
        </p:nvSpPr>
        <p:spPr>
          <a:xfrm>
            <a:off x="565031" y="287248"/>
            <a:ext cx="10788769" cy="5889715"/>
          </a:xfrm>
          <a:solidFill>
            <a:srgbClr val="FFFF00"/>
          </a:solidFill>
        </p:spPr>
        <p:txBody>
          <a:bodyPr vert="horz" lIns="91440" tIns="45720" rIns="91440" bIns="45720" rtlCol="0" anchor="t">
            <a:normAutofit fontScale="70000" lnSpcReduction="20000"/>
          </a:bodyPr>
          <a:lstStyle/>
          <a:p>
            <a:pPr>
              <a:buNone/>
            </a:pPr>
            <a:r>
              <a:rPr lang="en-US" dirty="0">
                <a:ea typeface="+mn-lt"/>
                <a:cs typeface="+mn-lt"/>
              </a:rPr>
              <a:t>public class Engine {</a:t>
            </a:r>
            <a:endParaRPr lang="en-US" dirty="0"/>
          </a:p>
          <a:p>
            <a:pPr>
              <a:buNone/>
            </a:pPr>
            <a:r>
              <a:rPr lang="en-US" dirty="0">
                <a:ea typeface="+mn-lt"/>
                <a:cs typeface="+mn-lt"/>
              </a:rPr>
              <a:t>    public void start() {</a:t>
            </a:r>
            <a:endParaRPr lang="en-US" dirty="0"/>
          </a:p>
          <a:p>
            <a:pPr>
              <a:buNone/>
            </a:pPr>
            <a:r>
              <a:rPr lang="en-US" dirty="0">
                <a:ea typeface="+mn-lt"/>
                <a:cs typeface="+mn-lt"/>
              </a:rPr>
              <a:t>        </a:t>
            </a:r>
            <a:r>
              <a:rPr lang="en-US" dirty="0" err="1">
                <a:ea typeface="+mn-lt"/>
                <a:cs typeface="+mn-lt"/>
              </a:rPr>
              <a:t>System.out.println</a:t>
            </a:r>
            <a:r>
              <a:rPr lang="en-US" dirty="0">
                <a:ea typeface="+mn-lt"/>
                <a:cs typeface="+mn-lt"/>
              </a:rPr>
              <a:t>("Engine started!");</a:t>
            </a:r>
            <a:endParaRPr lang="en-US" dirty="0"/>
          </a:p>
          <a:p>
            <a:pPr>
              <a:buNone/>
            </a:pPr>
            <a:r>
              <a:rPr lang="en-US" dirty="0">
                <a:ea typeface="+mn-lt"/>
                <a:cs typeface="+mn-lt"/>
              </a:rPr>
              <a:t>    }</a:t>
            </a:r>
            <a:endParaRPr lang="en-US" dirty="0"/>
          </a:p>
          <a:p>
            <a:pPr>
              <a:buNone/>
            </a:pPr>
            <a:r>
              <a:rPr lang="en-US" dirty="0">
                <a:ea typeface="+mn-lt"/>
                <a:cs typeface="+mn-lt"/>
              </a:rPr>
              <a:t>}</a:t>
            </a:r>
            <a:endParaRPr lang="en-US" dirty="0"/>
          </a:p>
          <a:p>
            <a:pPr>
              <a:buNone/>
            </a:pPr>
            <a:r>
              <a:rPr lang="en-US" b="1" dirty="0">
                <a:ea typeface="+mn-lt"/>
                <a:cs typeface="+mn-lt"/>
              </a:rPr>
              <a:t>public class Car {</a:t>
            </a:r>
            <a:endParaRPr lang="en-US" b="1" dirty="0"/>
          </a:p>
          <a:p>
            <a:pPr>
              <a:buNone/>
            </a:pPr>
            <a:r>
              <a:rPr lang="en-US" b="1" dirty="0">
                <a:ea typeface="+mn-lt"/>
                <a:cs typeface="+mn-lt"/>
              </a:rPr>
              <a:t>   </a:t>
            </a:r>
            <a:r>
              <a:rPr lang="en-US" dirty="0">
                <a:ea typeface="+mn-lt"/>
                <a:cs typeface="+mn-lt"/>
              </a:rPr>
              <a:t> // Property name matches the bean name "engine"</a:t>
            </a:r>
            <a:endParaRPr lang="en-US" dirty="0"/>
          </a:p>
          <a:p>
            <a:pPr>
              <a:buNone/>
            </a:pPr>
            <a:r>
              <a:rPr lang="en-US" b="1" dirty="0">
                <a:ea typeface="+mn-lt"/>
                <a:cs typeface="+mn-lt"/>
              </a:rPr>
              <a:t>    private  Engine   </a:t>
            </a:r>
            <a:r>
              <a:rPr lang="en-US" b="1" dirty="0" err="1">
                <a:solidFill>
                  <a:srgbClr val="FF0000"/>
                </a:solidFill>
                <a:ea typeface="+mn-lt"/>
                <a:cs typeface="+mn-lt"/>
              </a:rPr>
              <a:t>engine</a:t>
            </a:r>
            <a:r>
              <a:rPr lang="en-US" b="1" dirty="0">
                <a:ea typeface="+mn-lt"/>
                <a:cs typeface="+mn-lt"/>
              </a:rPr>
              <a:t>;</a:t>
            </a:r>
            <a:endParaRPr lang="en-US" b="1" dirty="0"/>
          </a:p>
          <a:p>
            <a:pPr>
              <a:buNone/>
            </a:pPr>
            <a:r>
              <a:rPr lang="en-US" b="1" dirty="0">
                <a:ea typeface="+mn-lt"/>
                <a:cs typeface="+mn-lt"/>
              </a:rPr>
              <a:t>    </a:t>
            </a:r>
            <a:r>
              <a:rPr lang="en-US" dirty="0">
                <a:ea typeface="+mn-lt"/>
                <a:cs typeface="+mn-lt"/>
              </a:rPr>
              <a:t>// Setter method</a:t>
            </a:r>
            <a:endParaRPr lang="en-US" dirty="0"/>
          </a:p>
          <a:p>
            <a:pPr>
              <a:buNone/>
            </a:pPr>
            <a:r>
              <a:rPr lang="en-US" b="1" dirty="0">
                <a:ea typeface="+mn-lt"/>
                <a:cs typeface="+mn-lt"/>
              </a:rPr>
              <a:t>    public void </a:t>
            </a:r>
            <a:r>
              <a:rPr lang="en-US" b="1" dirty="0" err="1">
                <a:ea typeface="+mn-lt"/>
                <a:cs typeface="+mn-lt"/>
              </a:rPr>
              <a:t>setEngine</a:t>
            </a:r>
            <a:r>
              <a:rPr lang="en-US" b="1" dirty="0">
                <a:ea typeface="+mn-lt"/>
                <a:cs typeface="+mn-lt"/>
              </a:rPr>
              <a:t>(Engine engine) {</a:t>
            </a:r>
            <a:endParaRPr lang="en-US" b="1" dirty="0"/>
          </a:p>
          <a:p>
            <a:pPr>
              <a:buNone/>
            </a:pPr>
            <a:r>
              <a:rPr lang="en-US" b="1" dirty="0">
                <a:ea typeface="+mn-lt"/>
                <a:cs typeface="+mn-lt"/>
              </a:rPr>
              <a:t>        </a:t>
            </a:r>
            <a:r>
              <a:rPr lang="en-US" b="1" dirty="0" err="1">
                <a:ea typeface="+mn-lt"/>
                <a:cs typeface="+mn-lt"/>
              </a:rPr>
              <a:t>this.engine</a:t>
            </a:r>
            <a:r>
              <a:rPr lang="en-US" b="1" dirty="0">
                <a:ea typeface="+mn-lt"/>
                <a:cs typeface="+mn-lt"/>
              </a:rPr>
              <a:t> = engine;</a:t>
            </a:r>
            <a:endParaRPr lang="en-US" b="1" dirty="0"/>
          </a:p>
          <a:p>
            <a:pPr>
              <a:buNone/>
            </a:pPr>
            <a:r>
              <a:rPr lang="en-US" b="1" dirty="0">
                <a:ea typeface="+mn-lt"/>
                <a:cs typeface="+mn-lt"/>
              </a:rPr>
              <a:t>    }</a:t>
            </a:r>
            <a:endParaRPr lang="en-US" b="1" dirty="0"/>
          </a:p>
          <a:p>
            <a:pPr>
              <a:buNone/>
            </a:pPr>
            <a:r>
              <a:rPr lang="en-US" b="1" dirty="0">
                <a:ea typeface="+mn-lt"/>
                <a:cs typeface="+mn-lt"/>
              </a:rPr>
              <a:t>    public void drive() {</a:t>
            </a:r>
            <a:endParaRPr lang="en-US" b="1" dirty="0"/>
          </a:p>
          <a:p>
            <a:pPr>
              <a:buNone/>
            </a:pPr>
            <a:r>
              <a:rPr lang="en-US" b="1" dirty="0">
                <a:ea typeface="+mn-lt"/>
                <a:cs typeface="+mn-lt"/>
              </a:rPr>
              <a:t>        </a:t>
            </a:r>
            <a:r>
              <a:rPr lang="en-US" b="1" dirty="0" err="1">
                <a:ea typeface="+mn-lt"/>
                <a:cs typeface="+mn-lt"/>
              </a:rPr>
              <a:t>engine.start</a:t>
            </a:r>
            <a:r>
              <a:rPr lang="en-US" b="1" dirty="0">
                <a:ea typeface="+mn-lt"/>
                <a:cs typeface="+mn-lt"/>
              </a:rPr>
              <a:t>();</a:t>
            </a:r>
            <a:endParaRPr lang="en-US" b="1" dirty="0"/>
          </a:p>
          <a:p>
            <a:pPr>
              <a:buNone/>
            </a:pPr>
            <a:r>
              <a:rPr lang="en-US" b="1" dirty="0">
                <a:ea typeface="+mn-lt"/>
                <a:cs typeface="+mn-lt"/>
              </a:rPr>
              <a:t>        </a:t>
            </a:r>
            <a:r>
              <a:rPr lang="en-US" b="1" dirty="0" err="1">
                <a:ea typeface="+mn-lt"/>
                <a:cs typeface="+mn-lt"/>
              </a:rPr>
              <a:t>System.out.println</a:t>
            </a:r>
            <a:r>
              <a:rPr lang="en-US" b="1" dirty="0">
                <a:ea typeface="+mn-lt"/>
                <a:cs typeface="+mn-lt"/>
              </a:rPr>
              <a:t>("Car is driving...");</a:t>
            </a:r>
            <a:endParaRPr lang="en-US" b="1" dirty="0"/>
          </a:p>
          <a:p>
            <a:pPr>
              <a:buNone/>
            </a:pPr>
            <a:r>
              <a:rPr lang="en-US" b="1" dirty="0">
                <a:ea typeface="+mn-lt"/>
                <a:cs typeface="+mn-lt"/>
              </a:rPr>
              <a:t>    }</a:t>
            </a:r>
            <a:endParaRPr lang="en-US" b="1" dirty="0"/>
          </a:p>
          <a:p>
            <a:pPr>
              <a:buNone/>
            </a:pPr>
            <a:r>
              <a:rPr lang="en-US" b="1" dirty="0">
                <a:ea typeface="+mn-lt"/>
                <a:cs typeface="+mn-lt"/>
              </a:rPr>
              <a:t>}</a:t>
            </a:r>
            <a:endParaRPr lang="en-US" b="1" dirty="0"/>
          </a:p>
        </p:txBody>
      </p:sp>
    </p:spTree>
    <p:extLst>
      <p:ext uri="{BB962C8B-B14F-4D97-AF65-F5344CB8AC3E}">
        <p14:creationId xmlns:p14="http://schemas.microsoft.com/office/powerpoint/2010/main" val="3064062900"/>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A0E1D-0D2D-4A3E-A56C-BD841EABF923}"/>
              </a:ext>
            </a:extLst>
          </p:cNvPr>
          <p:cNvSpPr>
            <a:spLocks noGrp="1"/>
          </p:cNvSpPr>
          <p:nvPr>
            <p:ph type="title"/>
          </p:nvPr>
        </p:nvSpPr>
        <p:spPr>
          <a:xfrm>
            <a:off x="267419" y="1368305"/>
            <a:ext cx="11581681" cy="1603495"/>
          </a:xfrm>
        </p:spPr>
        <p:txBody>
          <a:bodyPr>
            <a:normAutofit fontScale="90000"/>
          </a:bodyPr>
          <a:lstStyle/>
          <a:p>
            <a:r>
              <a:rPr lang="en-US" dirty="0"/>
              <a:t>3. </a:t>
            </a:r>
            <a:r>
              <a:rPr lang="en-US" b="1" dirty="0" err="1">
                <a:latin typeface="Consolas"/>
              </a:rPr>
              <a:t>byType</a:t>
            </a:r>
            <a:endParaRPr lang="en-US" dirty="0"/>
          </a:p>
          <a:p>
            <a:r>
              <a:rPr lang="en-US" sz="2700" dirty="0" smtClean="0">
                <a:ea typeface="+mj-lt"/>
                <a:cs typeface="+mj-lt"/>
              </a:rPr>
              <a:t>Spring </a:t>
            </a:r>
            <a:r>
              <a:rPr lang="en-US" sz="2700" dirty="0">
                <a:ea typeface="+mj-lt"/>
                <a:cs typeface="+mj-lt"/>
              </a:rPr>
              <a:t>matches the type of the property with the type of the bean available in the </a:t>
            </a:r>
            <a:r>
              <a:rPr lang="en-US" sz="2700" dirty="0" smtClean="0">
                <a:ea typeface="+mj-lt"/>
                <a:cs typeface="+mj-lt"/>
              </a:rPr>
              <a:t>container.</a:t>
            </a:r>
            <a:br>
              <a:rPr lang="en-US" sz="2700" dirty="0" smtClean="0">
                <a:ea typeface="+mj-lt"/>
                <a:cs typeface="+mj-lt"/>
              </a:rPr>
            </a:br>
            <a:r>
              <a:rPr lang="en-US" sz="2700" dirty="0" smtClean="0">
                <a:ea typeface="+mj-lt"/>
                <a:cs typeface="+mj-lt"/>
              </a:rPr>
              <a:t>If </a:t>
            </a:r>
            <a:r>
              <a:rPr lang="en-US" sz="2700" dirty="0">
                <a:ea typeface="+mj-lt"/>
                <a:cs typeface="+mj-lt"/>
              </a:rPr>
              <a:t>there is exactly one matching bean, it will be </a:t>
            </a:r>
            <a:r>
              <a:rPr lang="en-US" sz="2700" dirty="0" smtClean="0">
                <a:ea typeface="+mj-lt"/>
                <a:cs typeface="+mj-lt"/>
              </a:rPr>
              <a:t>injected.</a:t>
            </a:r>
            <a:br>
              <a:rPr lang="en-US" sz="2700" dirty="0" smtClean="0">
                <a:ea typeface="+mj-lt"/>
                <a:cs typeface="+mj-lt"/>
              </a:rPr>
            </a:br>
            <a:r>
              <a:rPr lang="en-US" sz="2700" dirty="0" smtClean="0">
                <a:ea typeface="+mj-lt"/>
                <a:cs typeface="+mj-lt"/>
              </a:rPr>
              <a:t>If </a:t>
            </a:r>
            <a:r>
              <a:rPr lang="en-US" sz="2700" dirty="0">
                <a:ea typeface="+mj-lt"/>
                <a:cs typeface="+mj-lt"/>
              </a:rPr>
              <a:t>there are multiple matching beans, you will get an exception.</a:t>
            </a:r>
            <a:endParaRPr lang="en-US" sz="2700" dirty="0"/>
          </a:p>
          <a:p>
            <a:endParaRPr lang="en-US" dirty="0"/>
          </a:p>
        </p:txBody>
      </p:sp>
      <p:sp>
        <p:nvSpPr>
          <p:cNvPr id="4" name="TextBox 3">
            <a:extLst>
              <a:ext uri="{FF2B5EF4-FFF2-40B4-BE49-F238E27FC236}">
                <a16:creationId xmlns:a16="http://schemas.microsoft.com/office/drawing/2014/main" id="{D482444A-CE21-1D4C-1ED7-8C5AE20F0BE4}"/>
              </a:ext>
            </a:extLst>
          </p:cNvPr>
          <p:cNvSpPr txBox="1"/>
          <p:nvPr/>
        </p:nvSpPr>
        <p:spPr>
          <a:xfrm>
            <a:off x="267419" y="3200400"/>
            <a:ext cx="11930330" cy="1631216"/>
          </a:xfrm>
          <a:prstGeom prst="rect">
            <a:avLst/>
          </a:prstGeom>
          <a:solidFill>
            <a:srgbClr val="FFFF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ea typeface="+mn-lt"/>
                <a:cs typeface="+mn-lt"/>
              </a:rPr>
              <a:t>&lt;beans&gt;  </a:t>
            </a:r>
          </a:p>
          <a:p>
            <a:r>
              <a:rPr lang="en-US" sz="2000" b="1" dirty="0">
                <a:ea typeface="+mn-lt"/>
                <a:cs typeface="+mn-lt"/>
              </a:rPr>
              <a:t>&lt;bean id = "engine"    class = "</a:t>
            </a:r>
            <a:r>
              <a:rPr lang="en-US" sz="2000" b="1" dirty="0" err="1">
                <a:ea typeface="+mn-lt"/>
                <a:cs typeface="+mn-lt"/>
              </a:rPr>
              <a:t>com.example.Engine</a:t>
            </a:r>
            <a:r>
              <a:rPr lang="en-US" sz="2000" b="1" dirty="0">
                <a:ea typeface="+mn-lt"/>
                <a:cs typeface="+mn-lt"/>
              </a:rPr>
              <a:t>" /&gt; </a:t>
            </a:r>
          </a:p>
          <a:p>
            <a:endParaRPr lang="en-US" sz="2000" b="1" dirty="0">
              <a:ea typeface="+mn-lt"/>
              <a:cs typeface="+mn-lt"/>
            </a:endParaRPr>
          </a:p>
          <a:p>
            <a:r>
              <a:rPr lang="en-US" sz="2000" b="1" dirty="0">
                <a:ea typeface="+mn-lt"/>
                <a:cs typeface="+mn-lt"/>
              </a:rPr>
              <a:t>&lt;bean id = "car"       </a:t>
            </a:r>
            <a:r>
              <a:rPr lang="en-US" sz="2000" b="1" dirty="0" smtClean="0">
                <a:ea typeface="+mn-lt"/>
                <a:cs typeface="+mn-lt"/>
              </a:rPr>
              <a:t>class  </a:t>
            </a:r>
            <a:r>
              <a:rPr lang="en-US" sz="2000" b="1" dirty="0">
                <a:ea typeface="+mn-lt"/>
                <a:cs typeface="+mn-lt"/>
              </a:rPr>
              <a:t>= "</a:t>
            </a:r>
            <a:r>
              <a:rPr lang="en-US" sz="2000" b="1" dirty="0" err="1">
                <a:ea typeface="+mn-lt"/>
                <a:cs typeface="+mn-lt"/>
              </a:rPr>
              <a:t>com.example.Car</a:t>
            </a:r>
            <a:r>
              <a:rPr lang="en-US" sz="2000" b="1" dirty="0">
                <a:ea typeface="+mn-lt"/>
                <a:cs typeface="+mn-lt"/>
              </a:rPr>
              <a:t>"  </a:t>
            </a:r>
            <a:r>
              <a:rPr lang="en-US" sz="2000" b="1" dirty="0" err="1" smtClean="0">
                <a:ea typeface="+mn-lt"/>
                <a:cs typeface="+mn-lt"/>
              </a:rPr>
              <a:t>autowire</a:t>
            </a:r>
            <a:r>
              <a:rPr lang="en-US" sz="2000" b="1" dirty="0" smtClean="0">
                <a:ea typeface="+mn-lt"/>
                <a:cs typeface="+mn-lt"/>
              </a:rPr>
              <a:t> = "</a:t>
            </a:r>
            <a:r>
              <a:rPr lang="en-US" sz="2000" b="1" dirty="0" err="1">
                <a:ea typeface="+mn-lt"/>
                <a:cs typeface="+mn-lt"/>
              </a:rPr>
              <a:t>byType</a:t>
            </a:r>
            <a:r>
              <a:rPr lang="en-US" sz="2000" b="1" dirty="0">
                <a:ea typeface="+mn-lt"/>
                <a:cs typeface="+mn-lt"/>
              </a:rPr>
              <a:t>" /&gt; &lt;/beans&gt;</a:t>
            </a:r>
          </a:p>
        </p:txBody>
      </p:sp>
    </p:spTree>
    <p:extLst>
      <p:ext uri="{BB962C8B-B14F-4D97-AF65-F5344CB8AC3E}">
        <p14:creationId xmlns:p14="http://schemas.microsoft.com/office/powerpoint/2010/main" val="2531687684"/>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CDD477-C706-642E-BAEA-AFA5DDF11117}"/>
              </a:ext>
            </a:extLst>
          </p:cNvPr>
          <p:cNvSpPr>
            <a:spLocks noGrp="1"/>
          </p:cNvSpPr>
          <p:nvPr>
            <p:ph idx="1"/>
          </p:nvPr>
        </p:nvSpPr>
        <p:spPr>
          <a:xfrm>
            <a:off x="838200" y="330380"/>
            <a:ext cx="10515600" cy="5846583"/>
          </a:xfrm>
        </p:spPr>
        <p:txBody>
          <a:bodyPr vert="horz" lIns="91440" tIns="45720" rIns="91440" bIns="45720" rtlCol="0" anchor="t">
            <a:normAutofit fontScale="70000" lnSpcReduction="20000"/>
          </a:bodyPr>
          <a:lstStyle/>
          <a:p>
            <a:pPr>
              <a:buNone/>
            </a:pPr>
            <a:r>
              <a:rPr lang="en-US" dirty="0">
                <a:ea typeface="+mn-lt"/>
                <a:cs typeface="+mn-lt"/>
              </a:rPr>
              <a:t>public class Engine {</a:t>
            </a:r>
            <a:endParaRPr lang="en-US" dirty="0"/>
          </a:p>
          <a:p>
            <a:pPr>
              <a:buNone/>
            </a:pPr>
            <a:r>
              <a:rPr lang="en-US" dirty="0">
                <a:ea typeface="+mn-lt"/>
                <a:cs typeface="+mn-lt"/>
              </a:rPr>
              <a:t>    public void start() {</a:t>
            </a:r>
            <a:endParaRPr lang="en-US" dirty="0"/>
          </a:p>
          <a:p>
            <a:pPr>
              <a:buNone/>
            </a:pPr>
            <a:r>
              <a:rPr lang="en-US" dirty="0">
                <a:ea typeface="+mn-lt"/>
                <a:cs typeface="+mn-lt"/>
              </a:rPr>
              <a:t>        </a:t>
            </a:r>
            <a:r>
              <a:rPr lang="en-US" dirty="0" err="1">
                <a:ea typeface="+mn-lt"/>
                <a:cs typeface="+mn-lt"/>
              </a:rPr>
              <a:t>System.out.println</a:t>
            </a:r>
            <a:r>
              <a:rPr lang="en-US" dirty="0">
                <a:ea typeface="+mn-lt"/>
                <a:cs typeface="+mn-lt"/>
              </a:rPr>
              <a:t>("Engine started!");</a:t>
            </a:r>
            <a:endParaRPr lang="en-US" dirty="0"/>
          </a:p>
          <a:p>
            <a:pPr>
              <a:buNone/>
            </a:pPr>
            <a:r>
              <a:rPr lang="en-US" dirty="0">
                <a:ea typeface="+mn-lt"/>
                <a:cs typeface="+mn-lt"/>
              </a:rPr>
              <a:t>    }</a:t>
            </a:r>
            <a:endParaRPr lang="en-US" dirty="0"/>
          </a:p>
          <a:p>
            <a:pPr>
              <a:buNone/>
            </a:pPr>
            <a:r>
              <a:rPr lang="en-US" dirty="0">
                <a:ea typeface="+mn-lt"/>
                <a:cs typeface="+mn-lt"/>
              </a:rPr>
              <a:t>}</a:t>
            </a:r>
            <a:endParaRPr lang="en-US" dirty="0"/>
          </a:p>
          <a:p>
            <a:pPr>
              <a:buNone/>
            </a:pPr>
            <a:r>
              <a:rPr lang="en-US" b="1" dirty="0">
                <a:ea typeface="+mn-lt"/>
                <a:cs typeface="+mn-lt"/>
              </a:rPr>
              <a:t>public class Car {</a:t>
            </a:r>
            <a:endParaRPr lang="en-US" b="1" dirty="0"/>
          </a:p>
          <a:p>
            <a:pPr>
              <a:buNone/>
            </a:pPr>
            <a:r>
              <a:rPr lang="en-US" b="1" dirty="0">
                <a:ea typeface="+mn-lt"/>
                <a:cs typeface="+mn-lt"/>
              </a:rPr>
              <a:t>  </a:t>
            </a:r>
            <a:r>
              <a:rPr lang="en-US" dirty="0">
                <a:ea typeface="+mn-lt"/>
                <a:cs typeface="+mn-lt"/>
              </a:rPr>
              <a:t>  // Property of type Engine</a:t>
            </a:r>
            <a:endParaRPr lang="en-US" dirty="0"/>
          </a:p>
          <a:p>
            <a:pPr>
              <a:buNone/>
            </a:pPr>
            <a:r>
              <a:rPr lang="en-US" b="1" dirty="0">
                <a:ea typeface="+mn-lt"/>
                <a:cs typeface="+mn-lt"/>
              </a:rPr>
              <a:t>    private   </a:t>
            </a:r>
            <a:r>
              <a:rPr lang="en-US" b="1" dirty="0">
                <a:solidFill>
                  <a:srgbClr val="FF0000"/>
                </a:solidFill>
                <a:ea typeface="+mn-lt"/>
                <a:cs typeface="+mn-lt"/>
              </a:rPr>
              <a:t>Engine</a:t>
            </a:r>
            <a:r>
              <a:rPr lang="en-US" b="1" dirty="0">
                <a:ea typeface="+mn-lt"/>
                <a:cs typeface="+mn-lt"/>
              </a:rPr>
              <a:t>   </a:t>
            </a:r>
            <a:r>
              <a:rPr lang="en-US" b="1" dirty="0" err="1">
                <a:ea typeface="+mn-lt"/>
                <a:cs typeface="+mn-lt"/>
              </a:rPr>
              <a:t>engine</a:t>
            </a:r>
            <a:r>
              <a:rPr lang="en-US" b="1" dirty="0">
                <a:ea typeface="+mn-lt"/>
                <a:cs typeface="+mn-lt"/>
              </a:rPr>
              <a:t>;</a:t>
            </a:r>
            <a:endParaRPr lang="en-US" b="1" dirty="0"/>
          </a:p>
          <a:p>
            <a:pPr>
              <a:buNone/>
            </a:pPr>
            <a:r>
              <a:rPr lang="en-US" b="1" dirty="0">
                <a:ea typeface="+mn-lt"/>
                <a:cs typeface="+mn-lt"/>
              </a:rPr>
              <a:t> </a:t>
            </a:r>
            <a:r>
              <a:rPr lang="en-US" dirty="0">
                <a:ea typeface="+mn-lt"/>
                <a:cs typeface="+mn-lt"/>
              </a:rPr>
              <a:t>   // Setter method</a:t>
            </a:r>
            <a:endParaRPr lang="en-US" dirty="0"/>
          </a:p>
          <a:p>
            <a:pPr>
              <a:buNone/>
            </a:pPr>
            <a:r>
              <a:rPr lang="en-US" b="1" dirty="0">
                <a:ea typeface="+mn-lt"/>
                <a:cs typeface="+mn-lt"/>
              </a:rPr>
              <a:t>    public void </a:t>
            </a:r>
            <a:r>
              <a:rPr lang="en-US" b="1" dirty="0" err="1">
                <a:ea typeface="+mn-lt"/>
                <a:cs typeface="+mn-lt"/>
              </a:rPr>
              <a:t>setEngine</a:t>
            </a:r>
            <a:r>
              <a:rPr lang="en-US" b="1" dirty="0">
                <a:ea typeface="+mn-lt"/>
                <a:cs typeface="+mn-lt"/>
              </a:rPr>
              <a:t>(Engine engine) {</a:t>
            </a:r>
            <a:endParaRPr lang="en-US" b="1" dirty="0"/>
          </a:p>
          <a:p>
            <a:pPr>
              <a:buNone/>
            </a:pPr>
            <a:r>
              <a:rPr lang="en-US" b="1" dirty="0">
                <a:ea typeface="+mn-lt"/>
                <a:cs typeface="+mn-lt"/>
              </a:rPr>
              <a:t>        </a:t>
            </a:r>
            <a:r>
              <a:rPr lang="en-US" b="1" dirty="0" err="1">
                <a:ea typeface="+mn-lt"/>
                <a:cs typeface="+mn-lt"/>
              </a:rPr>
              <a:t>this.engine</a:t>
            </a:r>
            <a:r>
              <a:rPr lang="en-US" b="1" dirty="0">
                <a:ea typeface="+mn-lt"/>
                <a:cs typeface="+mn-lt"/>
              </a:rPr>
              <a:t> = engine;</a:t>
            </a:r>
            <a:endParaRPr lang="en-US" b="1" dirty="0"/>
          </a:p>
          <a:p>
            <a:pPr>
              <a:buNone/>
            </a:pPr>
            <a:r>
              <a:rPr lang="en-US" b="1" dirty="0">
                <a:ea typeface="+mn-lt"/>
                <a:cs typeface="+mn-lt"/>
              </a:rPr>
              <a:t>    }</a:t>
            </a:r>
            <a:endParaRPr lang="en-US" b="1" dirty="0"/>
          </a:p>
          <a:p>
            <a:pPr>
              <a:buNone/>
            </a:pPr>
            <a:r>
              <a:rPr lang="en-US" b="1" dirty="0">
                <a:ea typeface="+mn-lt"/>
                <a:cs typeface="+mn-lt"/>
              </a:rPr>
              <a:t>    public void drive() {</a:t>
            </a:r>
            <a:endParaRPr lang="en-US" b="1" dirty="0"/>
          </a:p>
          <a:p>
            <a:pPr>
              <a:buNone/>
            </a:pPr>
            <a:r>
              <a:rPr lang="en-US" b="1" dirty="0">
                <a:ea typeface="+mn-lt"/>
                <a:cs typeface="+mn-lt"/>
              </a:rPr>
              <a:t>        </a:t>
            </a:r>
            <a:r>
              <a:rPr lang="en-US" b="1" dirty="0" err="1">
                <a:ea typeface="+mn-lt"/>
                <a:cs typeface="+mn-lt"/>
              </a:rPr>
              <a:t>engine.start</a:t>
            </a:r>
            <a:r>
              <a:rPr lang="en-US" b="1" dirty="0">
                <a:ea typeface="+mn-lt"/>
                <a:cs typeface="+mn-lt"/>
              </a:rPr>
              <a:t>();</a:t>
            </a:r>
            <a:endParaRPr lang="en-US" b="1" dirty="0"/>
          </a:p>
          <a:p>
            <a:pPr>
              <a:buNone/>
            </a:pPr>
            <a:r>
              <a:rPr lang="en-US" b="1" dirty="0">
                <a:ea typeface="+mn-lt"/>
                <a:cs typeface="+mn-lt"/>
              </a:rPr>
              <a:t>        </a:t>
            </a:r>
            <a:r>
              <a:rPr lang="en-US" b="1" dirty="0" err="1">
                <a:ea typeface="+mn-lt"/>
                <a:cs typeface="+mn-lt"/>
              </a:rPr>
              <a:t>System.out.println</a:t>
            </a:r>
            <a:r>
              <a:rPr lang="en-US" b="1" dirty="0">
                <a:ea typeface="+mn-lt"/>
                <a:cs typeface="+mn-lt"/>
              </a:rPr>
              <a:t>("Car is driving...");</a:t>
            </a:r>
            <a:endParaRPr lang="en-US" b="1" dirty="0"/>
          </a:p>
          <a:p>
            <a:pPr>
              <a:buNone/>
            </a:pPr>
            <a:r>
              <a:rPr lang="en-US" b="1" dirty="0">
                <a:ea typeface="+mn-lt"/>
                <a:cs typeface="+mn-lt"/>
              </a:rPr>
              <a:t>    }</a:t>
            </a:r>
            <a:endParaRPr lang="en-US" b="1" dirty="0"/>
          </a:p>
          <a:p>
            <a:pPr>
              <a:buNone/>
            </a:pPr>
            <a:r>
              <a:rPr lang="en-US" b="1" dirty="0">
                <a:ea typeface="+mn-lt"/>
                <a:cs typeface="+mn-lt"/>
              </a:rPr>
              <a:t>}</a:t>
            </a:r>
            <a:endParaRPr lang="en-US" b="1" dirty="0"/>
          </a:p>
          <a:p>
            <a:pPr marL="0" indent="0">
              <a:buNone/>
            </a:pPr>
            <a:endParaRPr lang="en-US" dirty="0"/>
          </a:p>
        </p:txBody>
      </p:sp>
    </p:spTree>
    <p:extLst>
      <p:ext uri="{BB962C8B-B14F-4D97-AF65-F5344CB8AC3E}">
        <p14:creationId xmlns:p14="http://schemas.microsoft.com/office/powerpoint/2010/main" val="2690228009"/>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C1DC8-3D9E-6B35-84B4-933F83801957}"/>
              </a:ext>
            </a:extLst>
          </p:cNvPr>
          <p:cNvSpPr>
            <a:spLocks noGrp="1"/>
          </p:cNvSpPr>
          <p:nvPr>
            <p:ph type="title"/>
          </p:nvPr>
        </p:nvSpPr>
        <p:spPr>
          <a:xfrm>
            <a:off x="838200" y="365125"/>
            <a:ext cx="10515600" cy="1900657"/>
          </a:xfrm>
        </p:spPr>
        <p:txBody>
          <a:bodyPr>
            <a:normAutofit/>
          </a:bodyPr>
          <a:lstStyle/>
          <a:p>
            <a:r>
              <a:rPr lang="en-US"/>
              <a:t>4. </a:t>
            </a:r>
            <a:r>
              <a:rPr lang="en-US" b="1">
                <a:latin typeface="Consolas"/>
              </a:rPr>
              <a:t>constructor</a:t>
            </a:r>
            <a:endParaRPr lang="en-US" sz="2700"/>
          </a:p>
          <a:p>
            <a:r>
              <a:rPr lang="en-US" sz="2700">
                <a:ea typeface="+mj-lt"/>
                <a:cs typeface="+mj-lt"/>
              </a:rPr>
              <a:t>With this mode, Spring </a:t>
            </a:r>
            <a:r>
              <a:rPr lang="en-US" sz="2700" err="1">
                <a:ea typeface="+mj-lt"/>
                <a:cs typeface="+mj-lt"/>
              </a:rPr>
              <a:t>autowires</a:t>
            </a:r>
            <a:r>
              <a:rPr lang="en-US" sz="2700">
                <a:ea typeface="+mj-lt"/>
                <a:cs typeface="+mj-lt"/>
              </a:rPr>
              <a:t> dependencies via the constructor of the bean. It attempts to match the constructor arguments with the beans available in the Spring context by type.</a:t>
            </a:r>
            <a:endParaRPr lang="en-US" sz="2700"/>
          </a:p>
        </p:txBody>
      </p:sp>
      <p:sp>
        <p:nvSpPr>
          <p:cNvPr id="4" name="TextBox 3">
            <a:extLst>
              <a:ext uri="{FF2B5EF4-FFF2-40B4-BE49-F238E27FC236}">
                <a16:creationId xmlns:a16="http://schemas.microsoft.com/office/drawing/2014/main" id="{6DA7E13F-3872-23B3-CFBB-5964016D2C9B}"/>
              </a:ext>
            </a:extLst>
          </p:cNvPr>
          <p:cNvSpPr txBox="1"/>
          <p:nvPr/>
        </p:nvSpPr>
        <p:spPr>
          <a:xfrm>
            <a:off x="641231" y="3200400"/>
            <a:ext cx="10737010" cy="1754326"/>
          </a:xfrm>
          <a:prstGeom prst="rect">
            <a:avLst/>
          </a:prstGeom>
          <a:solidFill>
            <a:srgbClr val="FFFF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mn-lt"/>
                <a:cs typeface="+mn-lt"/>
              </a:rPr>
              <a:t>&lt;beans&gt;  </a:t>
            </a:r>
            <a:endParaRPr lang="en-US" sz="1400" b="1" dirty="0">
              <a:ea typeface="+mn-lt"/>
              <a:cs typeface="+mn-lt"/>
            </a:endParaRPr>
          </a:p>
          <a:p>
            <a:endParaRPr lang="en-US" b="1" dirty="0">
              <a:ea typeface="+mn-lt"/>
              <a:cs typeface="+mn-lt"/>
            </a:endParaRPr>
          </a:p>
          <a:p>
            <a:r>
              <a:rPr lang="en-US" b="1" dirty="0">
                <a:ea typeface="+mn-lt"/>
                <a:cs typeface="+mn-lt"/>
              </a:rPr>
              <a:t>&lt;bean id = "engine"    class = "</a:t>
            </a:r>
            <a:r>
              <a:rPr lang="en-US" b="1" dirty="0" err="1">
                <a:ea typeface="+mn-lt"/>
                <a:cs typeface="+mn-lt"/>
              </a:rPr>
              <a:t>com.example.Engine</a:t>
            </a:r>
            <a:r>
              <a:rPr lang="en-US" b="1" dirty="0">
                <a:ea typeface="+mn-lt"/>
                <a:cs typeface="+mn-lt"/>
              </a:rPr>
              <a:t>" /&gt; </a:t>
            </a:r>
            <a:endParaRPr lang="en-US" sz="1400" b="1" dirty="0">
              <a:ea typeface="+mn-lt"/>
              <a:cs typeface="+mn-lt"/>
            </a:endParaRPr>
          </a:p>
          <a:p>
            <a:r>
              <a:rPr lang="en-US" b="1" dirty="0">
                <a:ea typeface="+mn-lt"/>
                <a:cs typeface="+mn-lt"/>
              </a:rPr>
              <a:t> </a:t>
            </a:r>
            <a:endParaRPr lang="en-US" sz="1400" b="1" dirty="0">
              <a:ea typeface="+mn-lt"/>
              <a:cs typeface="+mn-lt"/>
            </a:endParaRPr>
          </a:p>
          <a:p>
            <a:r>
              <a:rPr lang="en-US" b="1" dirty="0">
                <a:ea typeface="+mn-lt"/>
                <a:cs typeface="+mn-lt"/>
              </a:rPr>
              <a:t>&lt;bean id = "car"     class  =  "</a:t>
            </a:r>
            <a:r>
              <a:rPr lang="en-US" b="1" dirty="0" err="1">
                <a:ea typeface="+mn-lt"/>
                <a:cs typeface="+mn-lt"/>
              </a:rPr>
              <a:t>com.example.Car</a:t>
            </a:r>
            <a:r>
              <a:rPr lang="en-US" b="1" dirty="0">
                <a:ea typeface="+mn-lt"/>
                <a:cs typeface="+mn-lt"/>
              </a:rPr>
              <a:t>"  </a:t>
            </a:r>
            <a:r>
              <a:rPr lang="en-US" b="1" dirty="0" err="1" smtClean="0">
                <a:ea typeface="+mn-lt"/>
                <a:cs typeface="+mn-lt"/>
              </a:rPr>
              <a:t>autowire</a:t>
            </a:r>
            <a:r>
              <a:rPr lang="en-US" b="1" dirty="0" smtClean="0">
                <a:ea typeface="+mn-lt"/>
                <a:cs typeface="+mn-lt"/>
              </a:rPr>
              <a:t> = "</a:t>
            </a:r>
            <a:r>
              <a:rPr lang="en-US" b="1" dirty="0">
                <a:ea typeface="+mn-lt"/>
                <a:cs typeface="+mn-lt"/>
              </a:rPr>
              <a:t>constructor" /&gt; &lt;/beans&gt;</a:t>
            </a:r>
            <a:endParaRPr lang="en-US" sz="1400" b="1" dirty="0">
              <a:ea typeface="+mn-lt"/>
              <a:cs typeface="+mn-lt"/>
            </a:endParaRPr>
          </a:p>
        </p:txBody>
      </p:sp>
    </p:spTree>
    <p:extLst>
      <p:ext uri="{BB962C8B-B14F-4D97-AF65-F5344CB8AC3E}">
        <p14:creationId xmlns:p14="http://schemas.microsoft.com/office/powerpoint/2010/main" val="2444523406"/>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E33D82-4AD3-4F73-D370-0933FF426E8E}"/>
              </a:ext>
            </a:extLst>
          </p:cNvPr>
          <p:cNvSpPr>
            <a:spLocks noGrp="1"/>
          </p:cNvSpPr>
          <p:nvPr>
            <p:ph idx="1"/>
          </p:nvPr>
        </p:nvSpPr>
        <p:spPr>
          <a:xfrm>
            <a:off x="838200" y="416644"/>
            <a:ext cx="10515600" cy="6047866"/>
          </a:xfrm>
        </p:spPr>
        <p:txBody>
          <a:bodyPr vert="horz" lIns="91440" tIns="45720" rIns="91440" bIns="45720" rtlCol="0" anchor="t">
            <a:normAutofit fontScale="70000" lnSpcReduction="20000"/>
          </a:bodyPr>
          <a:lstStyle/>
          <a:p>
            <a:pPr>
              <a:buNone/>
            </a:pPr>
            <a:r>
              <a:rPr lang="en-US" dirty="0">
                <a:ea typeface="+mn-lt"/>
                <a:cs typeface="+mn-lt"/>
              </a:rPr>
              <a:t>public class Engine {</a:t>
            </a:r>
            <a:endParaRPr lang="en-US" dirty="0"/>
          </a:p>
          <a:p>
            <a:pPr>
              <a:buNone/>
            </a:pPr>
            <a:r>
              <a:rPr lang="en-US" dirty="0">
                <a:ea typeface="+mn-lt"/>
                <a:cs typeface="+mn-lt"/>
              </a:rPr>
              <a:t>    public void start() {</a:t>
            </a:r>
            <a:endParaRPr lang="en-US" dirty="0"/>
          </a:p>
          <a:p>
            <a:pPr>
              <a:buNone/>
            </a:pPr>
            <a:r>
              <a:rPr lang="en-US" dirty="0">
                <a:ea typeface="+mn-lt"/>
                <a:cs typeface="+mn-lt"/>
              </a:rPr>
              <a:t>        </a:t>
            </a:r>
            <a:r>
              <a:rPr lang="en-US" dirty="0" err="1">
                <a:ea typeface="+mn-lt"/>
                <a:cs typeface="+mn-lt"/>
              </a:rPr>
              <a:t>System.out.println</a:t>
            </a:r>
            <a:r>
              <a:rPr lang="en-US" dirty="0">
                <a:ea typeface="+mn-lt"/>
                <a:cs typeface="+mn-lt"/>
              </a:rPr>
              <a:t>("Engine started!");</a:t>
            </a:r>
            <a:endParaRPr lang="en-US" dirty="0"/>
          </a:p>
          <a:p>
            <a:pPr>
              <a:buNone/>
            </a:pPr>
            <a:r>
              <a:rPr lang="en-US" dirty="0">
                <a:ea typeface="+mn-lt"/>
                <a:cs typeface="+mn-lt"/>
              </a:rPr>
              <a:t>    }</a:t>
            </a:r>
            <a:endParaRPr lang="en-US" dirty="0"/>
          </a:p>
          <a:p>
            <a:pPr>
              <a:buNone/>
            </a:pPr>
            <a:r>
              <a:rPr lang="en-US" dirty="0">
                <a:ea typeface="+mn-lt"/>
                <a:cs typeface="+mn-lt"/>
              </a:rPr>
              <a:t>}</a:t>
            </a:r>
            <a:endParaRPr lang="en-US" dirty="0"/>
          </a:p>
          <a:p>
            <a:pPr>
              <a:buNone/>
            </a:pPr>
            <a:r>
              <a:rPr lang="en-US" dirty="0">
                <a:ea typeface="+mn-lt"/>
                <a:cs typeface="+mn-lt"/>
              </a:rPr>
              <a:t>public class Car {</a:t>
            </a:r>
            <a:endParaRPr lang="en-US" dirty="0"/>
          </a:p>
          <a:p>
            <a:pPr>
              <a:buNone/>
            </a:pPr>
            <a:r>
              <a:rPr lang="en-US" dirty="0">
                <a:ea typeface="+mn-lt"/>
                <a:cs typeface="+mn-lt"/>
              </a:rPr>
              <a:t>    private Engine </a:t>
            </a:r>
            <a:r>
              <a:rPr lang="en-US" dirty="0" err="1">
                <a:ea typeface="+mn-lt"/>
                <a:cs typeface="+mn-lt"/>
              </a:rPr>
              <a:t>engine</a:t>
            </a:r>
            <a:r>
              <a:rPr lang="en-US" dirty="0">
                <a:ea typeface="+mn-lt"/>
                <a:cs typeface="+mn-lt"/>
              </a:rPr>
              <a:t>;</a:t>
            </a:r>
            <a:endParaRPr lang="en-US" dirty="0"/>
          </a:p>
          <a:p>
            <a:pPr>
              <a:buNone/>
            </a:pPr>
            <a:r>
              <a:rPr lang="en-US" dirty="0">
                <a:ea typeface="+mn-lt"/>
                <a:cs typeface="+mn-lt"/>
              </a:rPr>
              <a:t>    </a:t>
            </a:r>
            <a:r>
              <a:rPr lang="en-US" b="1" dirty="0">
                <a:ea typeface="+mn-lt"/>
                <a:cs typeface="+mn-lt"/>
              </a:rPr>
              <a:t>// Constructor-based dependency injection</a:t>
            </a:r>
            <a:endParaRPr lang="en-US" b="1" dirty="0"/>
          </a:p>
          <a:p>
            <a:pPr>
              <a:buNone/>
            </a:pPr>
            <a:r>
              <a:rPr lang="en-US" dirty="0">
                <a:ea typeface="+mn-lt"/>
                <a:cs typeface="+mn-lt"/>
              </a:rPr>
              <a:t>    </a:t>
            </a:r>
            <a:r>
              <a:rPr lang="en-US" b="1" dirty="0">
                <a:solidFill>
                  <a:srgbClr val="FF0000"/>
                </a:solidFill>
                <a:ea typeface="+mn-lt"/>
                <a:cs typeface="+mn-lt"/>
              </a:rPr>
              <a:t>public Car(Engine engine) </a:t>
            </a:r>
            <a:endParaRPr lang="en-US" b="1" dirty="0" smtClean="0">
              <a:solidFill>
                <a:srgbClr val="FF0000"/>
              </a:solidFill>
              <a:ea typeface="+mn-lt"/>
              <a:cs typeface="+mn-lt"/>
            </a:endParaRPr>
          </a:p>
          <a:p>
            <a:pPr>
              <a:buNone/>
            </a:pPr>
            <a:r>
              <a:rPr lang="en-US" b="1" dirty="0">
                <a:solidFill>
                  <a:srgbClr val="FF0000"/>
                </a:solidFill>
                <a:ea typeface="+mn-lt"/>
                <a:cs typeface="+mn-lt"/>
              </a:rPr>
              <a:t>	</a:t>
            </a:r>
            <a:r>
              <a:rPr lang="en-US" b="1" dirty="0" smtClean="0">
                <a:solidFill>
                  <a:srgbClr val="FF0000"/>
                </a:solidFill>
                <a:ea typeface="+mn-lt"/>
                <a:cs typeface="+mn-lt"/>
              </a:rPr>
              <a:t>	{</a:t>
            </a:r>
            <a:endParaRPr lang="en-US" b="1" dirty="0">
              <a:solidFill>
                <a:srgbClr val="FF0000"/>
              </a:solidFill>
            </a:endParaRPr>
          </a:p>
          <a:p>
            <a:pPr>
              <a:buNone/>
            </a:pPr>
            <a:r>
              <a:rPr lang="en-US" b="1" dirty="0">
                <a:solidFill>
                  <a:srgbClr val="FF0000"/>
                </a:solidFill>
                <a:ea typeface="+mn-lt"/>
                <a:cs typeface="+mn-lt"/>
              </a:rPr>
              <a:t>        </a:t>
            </a:r>
            <a:r>
              <a:rPr lang="en-US" b="1" dirty="0" err="1">
                <a:solidFill>
                  <a:srgbClr val="FF0000"/>
                </a:solidFill>
                <a:ea typeface="+mn-lt"/>
                <a:cs typeface="+mn-lt"/>
              </a:rPr>
              <a:t>this.engine</a:t>
            </a:r>
            <a:r>
              <a:rPr lang="en-US" b="1" dirty="0">
                <a:solidFill>
                  <a:srgbClr val="FF0000"/>
                </a:solidFill>
                <a:ea typeface="+mn-lt"/>
                <a:cs typeface="+mn-lt"/>
              </a:rPr>
              <a:t> = engine;</a:t>
            </a:r>
            <a:endParaRPr lang="en-US" b="1" dirty="0">
              <a:solidFill>
                <a:srgbClr val="FF0000"/>
              </a:solidFill>
            </a:endParaRPr>
          </a:p>
          <a:p>
            <a:pPr>
              <a:buNone/>
            </a:pPr>
            <a:r>
              <a:rPr lang="en-US" b="1" dirty="0">
                <a:solidFill>
                  <a:srgbClr val="FF0000"/>
                </a:solidFill>
                <a:ea typeface="+mn-lt"/>
                <a:cs typeface="+mn-lt"/>
              </a:rPr>
              <a:t>    }</a:t>
            </a:r>
            <a:endParaRPr lang="en-US" b="1" dirty="0">
              <a:solidFill>
                <a:srgbClr val="FF0000"/>
              </a:solidFill>
            </a:endParaRPr>
          </a:p>
          <a:p>
            <a:pPr>
              <a:buNone/>
            </a:pPr>
            <a:r>
              <a:rPr lang="en-US" dirty="0">
                <a:ea typeface="+mn-lt"/>
                <a:cs typeface="+mn-lt"/>
              </a:rPr>
              <a:t>    public void drive() {</a:t>
            </a:r>
            <a:endParaRPr lang="en-US" dirty="0"/>
          </a:p>
          <a:p>
            <a:pPr>
              <a:buNone/>
            </a:pPr>
            <a:r>
              <a:rPr lang="en-US" dirty="0">
                <a:ea typeface="+mn-lt"/>
                <a:cs typeface="+mn-lt"/>
              </a:rPr>
              <a:t>        </a:t>
            </a:r>
            <a:r>
              <a:rPr lang="en-US" dirty="0" err="1">
                <a:ea typeface="+mn-lt"/>
                <a:cs typeface="+mn-lt"/>
              </a:rPr>
              <a:t>engine.start</a:t>
            </a:r>
            <a:r>
              <a:rPr lang="en-US" dirty="0">
                <a:ea typeface="+mn-lt"/>
                <a:cs typeface="+mn-lt"/>
              </a:rPr>
              <a:t>();</a:t>
            </a:r>
            <a:endParaRPr lang="en-US" dirty="0"/>
          </a:p>
          <a:p>
            <a:pPr>
              <a:buNone/>
            </a:pPr>
            <a:r>
              <a:rPr lang="en-US" dirty="0">
                <a:ea typeface="+mn-lt"/>
                <a:cs typeface="+mn-lt"/>
              </a:rPr>
              <a:t>        </a:t>
            </a:r>
            <a:r>
              <a:rPr lang="en-US" dirty="0" err="1">
                <a:ea typeface="+mn-lt"/>
                <a:cs typeface="+mn-lt"/>
              </a:rPr>
              <a:t>System.out.println</a:t>
            </a:r>
            <a:r>
              <a:rPr lang="en-US" dirty="0">
                <a:ea typeface="+mn-lt"/>
                <a:cs typeface="+mn-lt"/>
              </a:rPr>
              <a:t>("Car is driving...");</a:t>
            </a:r>
            <a:endParaRPr lang="en-US" dirty="0"/>
          </a:p>
          <a:p>
            <a:pPr>
              <a:buNone/>
            </a:pPr>
            <a:r>
              <a:rPr lang="en-US" dirty="0">
                <a:ea typeface="+mn-lt"/>
                <a:cs typeface="+mn-lt"/>
              </a:rPr>
              <a:t>    }</a:t>
            </a:r>
            <a:endParaRPr lang="en-US" dirty="0"/>
          </a:p>
          <a:p>
            <a:pPr>
              <a:buNone/>
            </a:pPr>
            <a:r>
              <a:rPr lang="en-US" dirty="0">
                <a:ea typeface="+mn-lt"/>
                <a:cs typeface="+mn-lt"/>
              </a:rPr>
              <a:t>}</a:t>
            </a:r>
            <a:endParaRPr lang="en-US" dirty="0"/>
          </a:p>
          <a:p>
            <a:pPr marL="0" indent="0">
              <a:buNone/>
            </a:pPr>
            <a:endParaRPr lang="en-US" dirty="0"/>
          </a:p>
        </p:txBody>
      </p:sp>
    </p:spTree>
    <p:extLst>
      <p:ext uri="{BB962C8B-B14F-4D97-AF65-F5344CB8AC3E}">
        <p14:creationId xmlns:p14="http://schemas.microsoft.com/office/powerpoint/2010/main" val="3412758327"/>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AB19F-658B-BEE2-D7F3-A24E9699076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C75B01-C0CA-0944-F5CD-529BE7144103}"/>
              </a:ext>
            </a:extLst>
          </p:cNvPr>
          <p:cNvSpPr>
            <a:spLocks noGrp="1"/>
          </p:cNvSpPr>
          <p:nvPr>
            <p:ph idx="1"/>
          </p:nvPr>
        </p:nvSpPr>
        <p:spPr/>
        <p:txBody>
          <a:bodyPr vert="horz" lIns="91440" tIns="45720" rIns="91440" bIns="45720" rtlCol="0" anchor="t">
            <a:normAutofit/>
          </a:bodyPr>
          <a:lstStyle/>
          <a:p>
            <a:pPr marL="0" indent="0">
              <a:buNone/>
            </a:pPr>
            <a:r>
              <a:rPr lang="en-US" b="1" dirty="0">
                <a:latin typeface="Consolas"/>
              </a:rPr>
              <a:t>lazy-</a:t>
            </a:r>
            <a:r>
              <a:rPr lang="en-US" b="1" dirty="0" err="1">
                <a:latin typeface="Consolas"/>
              </a:rPr>
              <a:t>init</a:t>
            </a:r>
            <a:r>
              <a:rPr lang="en-US" dirty="0">
                <a:ea typeface="+mn-lt"/>
                <a:cs typeface="+mn-lt"/>
              </a:rPr>
              <a:t>:</a:t>
            </a:r>
            <a:endParaRPr lang="en-US" dirty="0"/>
          </a:p>
          <a:p>
            <a:r>
              <a:rPr lang="en-US" sz="2000" dirty="0" smtClean="0">
                <a:ea typeface="+mn-lt"/>
                <a:cs typeface="+mn-lt"/>
              </a:rPr>
              <a:t>Determines </a:t>
            </a:r>
            <a:r>
              <a:rPr lang="en-US" sz="2000" dirty="0">
                <a:ea typeface="+mn-lt"/>
                <a:cs typeface="+mn-lt"/>
              </a:rPr>
              <a:t>whether the bean should be lazily initialized or not. </a:t>
            </a:r>
            <a:endParaRPr lang="en-US" sz="2000" dirty="0" smtClean="0">
              <a:ea typeface="+mn-lt"/>
              <a:cs typeface="+mn-lt"/>
            </a:endParaRPr>
          </a:p>
          <a:p>
            <a:r>
              <a:rPr lang="en-US" sz="2000" dirty="0" smtClean="0">
                <a:ea typeface="+mn-lt"/>
                <a:cs typeface="+mn-lt"/>
              </a:rPr>
              <a:t>When </a:t>
            </a:r>
            <a:r>
              <a:rPr lang="en-US" sz="2000" dirty="0">
                <a:ea typeface="+mn-lt"/>
                <a:cs typeface="+mn-lt"/>
              </a:rPr>
              <a:t>set to </a:t>
            </a:r>
            <a:r>
              <a:rPr lang="en-US" sz="2000" dirty="0">
                <a:latin typeface="Consolas"/>
              </a:rPr>
              <a:t>true</a:t>
            </a:r>
            <a:r>
              <a:rPr lang="en-US" sz="2000" dirty="0">
                <a:ea typeface="+mn-lt"/>
                <a:cs typeface="+mn-lt"/>
              </a:rPr>
              <a:t>, the bean will not be instantiated until it is first requested, instead of during the Spring container startup.</a:t>
            </a:r>
            <a:endParaRPr lang="en-US" sz="2000" dirty="0"/>
          </a:p>
          <a:p>
            <a:endParaRPr lang="en-US" dirty="0"/>
          </a:p>
        </p:txBody>
      </p:sp>
      <p:sp>
        <p:nvSpPr>
          <p:cNvPr id="4" name="TextBox 3">
            <a:extLst>
              <a:ext uri="{FF2B5EF4-FFF2-40B4-BE49-F238E27FC236}">
                <a16:creationId xmlns:a16="http://schemas.microsoft.com/office/drawing/2014/main" id="{F3528ECE-7524-101A-81BB-950885E04F87}"/>
              </a:ext>
            </a:extLst>
          </p:cNvPr>
          <p:cNvSpPr txBox="1"/>
          <p:nvPr/>
        </p:nvSpPr>
        <p:spPr>
          <a:xfrm>
            <a:off x="438150" y="3724275"/>
            <a:ext cx="11010900" cy="369332"/>
          </a:xfrm>
          <a:prstGeom prst="rect">
            <a:avLst/>
          </a:prstGeom>
          <a:solidFill>
            <a:srgbClr val="FFFF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&lt;bean id  =   "</a:t>
            </a:r>
            <a:r>
              <a:rPr lang="en-US" b="1" dirty="0" err="1"/>
              <a:t>myBean</a:t>
            </a:r>
            <a:r>
              <a:rPr lang="en-US" b="1" dirty="0" smtClean="0"/>
              <a:t>"  </a:t>
            </a:r>
            <a:r>
              <a:rPr lang="en-US" b="1" dirty="0"/>
              <a:t>class  =  "</a:t>
            </a:r>
            <a:r>
              <a:rPr lang="en-US" b="1" dirty="0" err="1"/>
              <a:t>com.example.MyClass</a:t>
            </a:r>
            <a:r>
              <a:rPr lang="en-US" b="1" dirty="0"/>
              <a:t>" </a:t>
            </a:r>
            <a:r>
              <a:rPr lang="en-US" b="1" dirty="0" smtClean="0"/>
              <a:t> </a:t>
            </a:r>
            <a:r>
              <a:rPr lang="en-US" b="1" dirty="0"/>
              <a:t>lazy-</a:t>
            </a:r>
            <a:r>
              <a:rPr lang="en-US" b="1" dirty="0" err="1"/>
              <a:t>init</a:t>
            </a:r>
            <a:r>
              <a:rPr lang="en-US" b="1" dirty="0"/>
              <a:t> = "true"/&gt;</a:t>
            </a:r>
          </a:p>
        </p:txBody>
      </p:sp>
    </p:spTree>
    <p:extLst>
      <p:ext uri="{BB962C8B-B14F-4D97-AF65-F5344CB8AC3E}">
        <p14:creationId xmlns:p14="http://schemas.microsoft.com/office/powerpoint/2010/main" val="2183184077"/>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D7B24-913B-2C4D-6BEB-30FAE09BF34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5E364F5-571D-D2AC-A3C9-B987D949E08D}"/>
              </a:ext>
            </a:extLst>
          </p:cNvPr>
          <p:cNvSpPr>
            <a:spLocks noGrp="1"/>
          </p:cNvSpPr>
          <p:nvPr>
            <p:ph idx="1"/>
          </p:nvPr>
        </p:nvSpPr>
        <p:spPr/>
        <p:txBody>
          <a:bodyPr vert="horz" lIns="91440" tIns="45720" rIns="91440" bIns="45720" rtlCol="0" anchor="t">
            <a:normAutofit/>
          </a:bodyPr>
          <a:lstStyle/>
          <a:p>
            <a:pPr marL="0" indent="0">
              <a:buNone/>
            </a:pPr>
            <a:r>
              <a:rPr lang="en-US" b="1" dirty="0">
                <a:latin typeface="Consolas"/>
              </a:rPr>
              <a:t>primary</a:t>
            </a:r>
            <a:r>
              <a:rPr lang="en-US" dirty="0">
                <a:ea typeface="+mn-lt"/>
                <a:cs typeface="+mn-lt"/>
              </a:rPr>
              <a:t>:</a:t>
            </a:r>
            <a:endParaRPr lang="en-US" dirty="0"/>
          </a:p>
          <a:p>
            <a:r>
              <a:rPr lang="en-US" sz="2000" dirty="0" smtClean="0">
                <a:ea typeface="+mn-lt"/>
                <a:cs typeface="+mn-lt"/>
              </a:rPr>
              <a:t>When </a:t>
            </a:r>
            <a:r>
              <a:rPr lang="en-US" sz="2000" dirty="0">
                <a:ea typeface="+mn-lt"/>
                <a:cs typeface="+mn-lt"/>
              </a:rPr>
              <a:t>multiple beans of the same type are available, </a:t>
            </a:r>
            <a:r>
              <a:rPr lang="en-US" sz="2000" dirty="0">
                <a:latin typeface="Consolas"/>
              </a:rPr>
              <a:t>primary="true"</a:t>
            </a:r>
            <a:r>
              <a:rPr lang="en-US" sz="2000" dirty="0">
                <a:ea typeface="+mn-lt"/>
                <a:cs typeface="+mn-lt"/>
              </a:rPr>
              <a:t> can be used to mark one of them as the preferred bean to be injected by default.</a:t>
            </a:r>
            <a:endParaRPr lang="en-US" sz="2000" dirty="0"/>
          </a:p>
          <a:p>
            <a:endParaRPr lang="en-US" dirty="0"/>
          </a:p>
        </p:txBody>
      </p:sp>
      <p:sp>
        <p:nvSpPr>
          <p:cNvPr id="4" name="TextBox 3">
            <a:extLst>
              <a:ext uri="{FF2B5EF4-FFF2-40B4-BE49-F238E27FC236}">
                <a16:creationId xmlns:a16="http://schemas.microsoft.com/office/drawing/2014/main" id="{5AFABF12-A9A1-20A9-BFE2-7D3BF73FD754}"/>
              </a:ext>
            </a:extLst>
          </p:cNvPr>
          <p:cNvSpPr txBox="1"/>
          <p:nvPr/>
        </p:nvSpPr>
        <p:spPr>
          <a:xfrm>
            <a:off x="133350" y="3714750"/>
            <a:ext cx="11925300" cy="369332"/>
          </a:xfrm>
          <a:prstGeom prst="rect">
            <a:avLst/>
          </a:prstGeom>
          <a:solidFill>
            <a:srgbClr val="FFFF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&lt;bean id = "</a:t>
            </a:r>
            <a:r>
              <a:rPr lang="en-US" b="1" dirty="0" err="1"/>
              <a:t>myPrimaryBean</a:t>
            </a:r>
            <a:r>
              <a:rPr lang="en-US" b="1" dirty="0"/>
              <a:t>"     class =   "</a:t>
            </a:r>
            <a:r>
              <a:rPr lang="en-US" b="1" dirty="0" err="1"/>
              <a:t>com.example.MyClass</a:t>
            </a:r>
            <a:r>
              <a:rPr lang="en-US" b="1" dirty="0"/>
              <a:t>"    primary  =  "true"/&gt;</a:t>
            </a:r>
          </a:p>
        </p:txBody>
      </p:sp>
    </p:spTree>
    <p:extLst>
      <p:ext uri="{BB962C8B-B14F-4D97-AF65-F5344CB8AC3E}">
        <p14:creationId xmlns:p14="http://schemas.microsoft.com/office/powerpoint/2010/main" val="6490705"/>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FD748-0C21-D3C5-B80A-C22D4ABBD5F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F8D9F01-9612-9316-F383-7FAC078DCF75}"/>
              </a:ext>
            </a:extLst>
          </p:cNvPr>
          <p:cNvSpPr>
            <a:spLocks noGrp="1"/>
          </p:cNvSpPr>
          <p:nvPr>
            <p:ph idx="1"/>
          </p:nvPr>
        </p:nvSpPr>
        <p:spPr/>
        <p:txBody>
          <a:bodyPr vert="horz" lIns="91440" tIns="45720" rIns="91440" bIns="45720" rtlCol="0" anchor="t">
            <a:normAutofit/>
          </a:bodyPr>
          <a:lstStyle/>
          <a:p>
            <a:pPr>
              <a:buNone/>
            </a:pPr>
            <a:r>
              <a:rPr lang="en-US" b="1" dirty="0">
                <a:latin typeface="Consolas"/>
              </a:rPr>
              <a:t>constructor-</a:t>
            </a:r>
            <a:r>
              <a:rPr lang="en-US" b="1" dirty="0" err="1">
                <a:latin typeface="Consolas"/>
              </a:rPr>
              <a:t>arg</a:t>
            </a:r>
            <a:r>
              <a:rPr lang="en-US" dirty="0">
                <a:ea typeface="+mn-lt"/>
                <a:cs typeface="+mn-lt"/>
              </a:rPr>
              <a:t>:</a:t>
            </a:r>
            <a:endParaRPr lang="en-US" dirty="0"/>
          </a:p>
          <a:p>
            <a:pPr>
              <a:buFont typeface="Arial"/>
              <a:buChar char="•"/>
            </a:pPr>
            <a:r>
              <a:rPr lang="en-US" sz="2400" b="1" dirty="0">
                <a:ea typeface="+mn-lt"/>
                <a:cs typeface="+mn-lt"/>
              </a:rPr>
              <a:t>Description</a:t>
            </a:r>
            <a:r>
              <a:rPr lang="en-US" sz="2400" dirty="0">
                <a:ea typeface="+mn-lt"/>
                <a:cs typeface="+mn-lt"/>
              </a:rPr>
              <a:t>: Specifies arguments to pass to the bean’s constructor. This is used for constructor injection.</a:t>
            </a:r>
            <a:endParaRPr lang="en-US" sz="2400" dirty="0"/>
          </a:p>
          <a:p>
            <a:pPr>
              <a:buFont typeface="Arial"/>
              <a:buChar char="•"/>
            </a:pPr>
            <a:endParaRPr lang="en-US" sz="2400" dirty="0"/>
          </a:p>
          <a:p>
            <a:pPr marL="0" indent="0">
              <a:buNone/>
            </a:pPr>
            <a:endParaRPr lang="en-US" dirty="0"/>
          </a:p>
        </p:txBody>
      </p:sp>
      <p:sp>
        <p:nvSpPr>
          <p:cNvPr id="4" name="TextBox 3">
            <a:extLst>
              <a:ext uri="{FF2B5EF4-FFF2-40B4-BE49-F238E27FC236}">
                <a16:creationId xmlns:a16="http://schemas.microsoft.com/office/drawing/2014/main" id="{92B0BC04-3D7E-8512-F365-4B2A1DF73247}"/>
              </a:ext>
            </a:extLst>
          </p:cNvPr>
          <p:cNvSpPr txBox="1"/>
          <p:nvPr/>
        </p:nvSpPr>
        <p:spPr>
          <a:xfrm>
            <a:off x="838200" y="4076700"/>
            <a:ext cx="10690824" cy="1200329"/>
          </a:xfrm>
          <a:prstGeom prst="rect">
            <a:avLst/>
          </a:prstGeom>
          <a:solidFill>
            <a:srgbClr val="FFFF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&lt;bean id  = "</a:t>
            </a:r>
            <a:r>
              <a:rPr lang="en-US" sz="2400" b="1" err="1"/>
              <a:t>myBean</a:t>
            </a:r>
            <a:r>
              <a:rPr lang="en-US" sz="2400" b="1"/>
              <a:t>"     class = "</a:t>
            </a:r>
            <a:r>
              <a:rPr lang="en-US" sz="2400" b="1" err="1"/>
              <a:t>com.example.MyClass</a:t>
            </a:r>
            <a:r>
              <a:rPr lang="en-US" sz="2400" b="1"/>
              <a:t>"&gt;</a:t>
            </a:r>
          </a:p>
          <a:p>
            <a:r>
              <a:rPr lang="en-US" sz="2400" b="1"/>
              <a:t>    &lt;constructor-</a:t>
            </a:r>
            <a:r>
              <a:rPr lang="en-US" sz="2400" b="1" err="1"/>
              <a:t>arg</a:t>
            </a:r>
            <a:r>
              <a:rPr lang="en-US" sz="2400" b="1"/>
              <a:t>     value  =  "</a:t>
            </a:r>
            <a:r>
              <a:rPr lang="en-US" sz="2400" b="1" err="1"/>
              <a:t>someValue</a:t>
            </a:r>
            <a:r>
              <a:rPr lang="en-US" sz="2400" b="1"/>
              <a:t>"/&gt;</a:t>
            </a:r>
          </a:p>
          <a:p>
            <a:r>
              <a:rPr lang="en-US" sz="2400" b="1"/>
              <a:t>&lt;/bean&gt;</a:t>
            </a:r>
          </a:p>
        </p:txBody>
      </p:sp>
    </p:spTree>
    <p:extLst>
      <p:ext uri="{BB962C8B-B14F-4D97-AF65-F5344CB8AC3E}">
        <p14:creationId xmlns:p14="http://schemas.microsoft.com/office/powerpoint/2010/main" val="3640675567"/>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CAB1B-7169-8C79-7D84-288DA4D63C3E}"/>
              </a:ext>
            </a:extLst>
          </p:cNvPr>
          <p:cNvSpPr>
            <a:spLocks noGrp="1"/>
          </p:cNvSpPr>
          <p:nvPr>
            <p:ph type="title"/>
          </p:nvPr>
        </p:nvSpPr>
        <p:spPr/>
        <p:txBody>
          <a:bodyPr/>
          <a:lstStyle/>
          <a:p>
            <a:r>
              <a:rPr lang="en-US" sz="4000" b="1">
                <a:solidFill>
                  <a:srgbClr val="000080"/>
                </a:solidFill>
                <a:latin typeface="Times New Roman"/>
                <a:cs typeface="Times New Roman"/>
              </a:rPr>
              <a:t>Mark a class as a Bean in Spring</a:t>
            </a:r>
            <a:endParaRPr lang="en-US" sz="4000">
              <a:latin typeface="Times New Roman"/>
              <a:cs typeface="Times New Roman"/>
            </a:endParaRPr>
          </a:p>
        </p:txBody>
      </p:sp>
      <p:sp>
        <p:nvSpPr>
          <p:cNvPr id="3" name="Content Placeholder 2">
            <a:extLst>
              <a:ext uri="{FF2B5EF4-FFF2-40B4-BE49-F238E27FC236}">
                <a16:creationId xmlns:a16="http://schemas.microsoft.com/office/drawing/2014/main" id="{18B033E4-36B9-A30E-CC2C-15933D67250C}"/>
              </a:ext>
            </a:extLst>
          </p:cNvPr>
          <p:cNvSpPr>
            <a:spLocks noGrp="1"/>
          </p:cNvSpPr>
          <p:nvPr>
            <p:ph idx="1"/>
          </p:nvPr>
        </p:nvSpPr>
        <p:spPr>
          <a:xfrm>
            <a:off x="366486" y="1450673"/>
            <a:ext cx="10987314" cy="5246385"/>
          </a:xfrm>
        </p:spPr>
        <p:txBody>
          <a:bodyPr vert="horz" lIns="91440" tIns="45720" rIns="91440" bIns="45720" rtlCol="0" anchor="t">
            <a:normAutofit lnSpcReduction="10000"/>
          </a:bodyPr>
          <a:lstStyle/>
          <a:p>
            <a:pPr marL="0" indent="0">
              <a:buNone/>
            </a:pPr>
            <a:r>
              <a:rPr lang="en-US" sz="2400" b="1" dirty="0" smtClean="0">
                <a:solidFill>
                  <a:srgbClr val="000080"/>
                </a:solidFill>
                <a:highlight>
                  <a:srgbClr val="FFFF00"/>
                </a:highlight>
                <a:latin typeface="Segoe UI"/>
                <a:cs typeface="Segoe UI"/>
              </a:rPr>
              <a:t>2. Using </a:t>
            </a:r>
            <a:r>
              <a:rPr lang="en-US" sz="2400" b="1" dirty="0">
                <a:solidFill>
                  <a:srgbClr val="000080"/>
                </a:solidFill>
                <a:highlight>
                  <a:srgbClr val="FFFF00"/>
                </a:highlight>
                <a:latin typeface="Segoe UI"/>
                <a:cs typeface="Segoe UI"/>
              </a:rPr>
              <a:t>Annotation</a:t>
            </a:r>
            <a:endParaRPr lang="en-US" sz="2400" b="1" dirty="0">
              <a:highlight>
                <a:srgbClr val="FFFF00"/>
              </a:highlight>
            </a:endParaRPr>
          </a:p>
          <a:p>
            <a:pPr marL="0" indent="0">
              <a:buNone/>
            </a:pPr>
            <a:r>
              <a:rPr lang="en-US" sz="2400" b="1" dirty="0">
                <a:latin typeface="Segoe UI"/>
                <a:cs typeface="Segoe UI"/>
              </a:rPr>
              <a:t>@Component</a:t>
            </a:r>
            <a:r>
              <a:rPr lang="en-US" sz="2400" dirty="0">
                <a:latin typeface="Segoe UI"/>
                <a:cs typeface="Segoe UI"/>
              </a:rPr>
              <a:t> it is considered as a Spring Bean by the Spring Container. </a:t>
            </a:r>
          </a:p>
          <a:p>
            <a:endParaRPr lang="en-US" sz="2400" dirty="0">
              <a:solidFill>
                <a:srgbClr val="000000"/>
              </a:solidFill>
              <a:latin typeface="Segoe UI"/>
              <a:cs typeface="Segoe UI"/>
            </a:endParaRPr>
          </a:p>
          <a:p>
            <a:pPr marL="0" indent="0">
              <a:buNone/>
            </a:pPr>
            <a:r>
              <a:rPr lang="en-US" sz="2400" b="1" dirty="0">
                <a:solidFill>
                  <a:srgbClr val="FF6600"/>
                </a:solidFill>
                <a:latin typeface="Consolas"/>
                <a:cs typeface="Segoe UI"/>
              </a:rPr>
              <a:t>@Component</a:t>
            </a:r>
            <a:r>
              <a:rPr lang="en-US" sz="2400" dirty="0">
                <a:solidFill>
                  <a:srgbClr val="3D3D3D"/>
                </a:solidFill>
                <a:latin typeface="Consolas"/>
                <a:cs typeface="Segoe UI"/>
              </a:rPr>
              <a:t>
</a:t>
            </a:r>
            <a:r>
              <a:rPr lang="en-US" sz="2400" b="1" dirty="0">
                <a:solidFill>
                  <a:srgbClr val="993300"/>
                </a:solidFill>
                <a:latin typeface="Consolas"/>
                <a:cs typeface="Segoe UI"/>
              </a:rPr>
              <a:t>public class</a:t>
            </a:r>
            <a:r>
              <a:rPr lang="en-US" sz="2400" b="1" dirty="0">
                <a:solidFill>
                  <a:srgbClr val="3D3D3D"/>
                </a:solidFill>
                <a:latin typeface="Consolas"/>
                <a:cs typeface="Segoe UI"/>
              </a:rPr>
              <a:t> Employee</a:t>
            </a:r>
            <a:endParaRPr lang="en-US" sz="2400" dirty="0">
              <a:solidFill>
                <a:srgbClr val="000000"/>
              </a:solidFill>
              <a:latin typeface="Segoe UI"/>
              <a:cs typeface="Segoe UI"/>
            </a:endParaRPr>
          </a:p>
          <a:p>
            <a:pPr marL="0" indent="0">
              <a:buNone/>
            </a:pPr>
            <a:r>
              <a:rPr lang="en-US" sz="2400" b="1" dirty="0">
                <a:solidFill>
                  <a:srgbClr val="3D3D3D"/>
                </a:solidFill>
                <a:latin typeface="Consolas"/>
                <a:cs typeface="Segoe UI"/>
              </a:rPr>
              <a:t>{</a:t>
            </a:r>
            <a:r>
              <a:rPr lang="en-US" sz="2400" dirty="0">
                <a:solidFill>
                  <a:srgbClr val="3D3D3D"/>
                </a:solidFill>
                <a:latin typeface="Consolas"/>
                <a:cs typeface="Segoe UI"/>
              </a:rPr>
              <a:t>
</a:t>
            </a:r>
            <a:r>
              <a:rPr lang="en-US" sz="2400" b="1" dirty="0">
                <a:solidFill>
                  <a:srgbClr val="3D3D3D"/>
                </a:solidFill>
                <a:latin typeface="Consolas"/>
                <a:cs typeface="Segoe UI"/>
              </a:rPr>
              <a:t> . . . .</a:t>
            </a:r>
            <a:r>
              <a:rPr lang="en-US" sz="2400" dirty="0">
                <a:solidFill>
                  <a:srgbClr val="3D3D3D"/>
                </a:solidFill>
                <a:latin typeface="Consolas"/>
                <a:cs typeface="Segoe UI"/>
              </a:rPr>
              <a:t>
</a:t>
            </a:r>
            <a:r>
              <a:rPr lang="en-US" sz="2400" b="1" dirty="0">
                <a:solidFill>
                  <a:srgbClr val="3D3D3D"/>
                </a:solidFill>
                <a:latin typeface="Consolas"/>
                <a:cs typeface="Segoe UI"/>
              </a:rPr>
              <a:t>}</a:t>
            </a:r>
          </a:p>
          <a:p>
            <a:pPr marL="0" indent="0">
              <a:buNone/>
            </a:pPr>
            <a:endParaRPr lang="en-US" sz="2000" dirty="0">
              <a:solidFill>
                <a:srgbClr val="000000"/>
              </a:solidFill>
              <a:latin typeface="Segoe UI"/>
              <a:cs typeface="Segoe UI"/>
            </a:endParaRPr>
          </a:p>
          <a:p>
            <a:pPr marL="0" indent="0" algn="just">
              <a:buNone/>
            </a:pPr>
            <a:r>
              <a:rPr lang="en-US" sz="2000" dirty="0">
                <a:solidFill>
                  <a:srgbClr val="000000"/>
                </a:solidFill>
                <a:latin typeface="Segoe UI"/>
                <a:cs typeface="Segoe UI"/>
              </a:rPr>
              <a:t>If we don’t specify any name, the class name with first letter in lower case will become the name of the Spring bean by default. </a:t>
            </a:r>
            <a:endParaRPr lang="en-US" sz="2000" dirty="0">
              <a:solidFill>
                <a:srgbClr val="000000"/>
              </a:solidFill>
              <a:latin typeface="Aptos" panose="02110004020202020204"/>
              <a:cs typeface="Segoe UI"/>
            </a:endParaRPr>
          </a:p>
          <a:p>
            <a:pPr marL="0" indent="0" algn="just">
              <a:buNone/>
            </a:pPr>
            <a:r>
              <a:rPr lang="en-US" sz="2000" dirty="0">
                <a:solidFill>
                  <a:srgbClr val="000000"/>
                </a:solidFill>
                <a:latin typeface="Segoe UI"/>
                <a:cs typeface="Segoe UI"/>
              </a:rPr>
              <a:t>In this case it will be ’employee’. </a:t>
            </a:r>
            <a:endParaRPr lang="en-US" sz="2000" dirty="0">
              <a:solidFill>
                <a:srgbClr val="000000"/>
              </a:solidFill>
              <a:latin typeface="Aptos" panose="02110004020202020204"/>
              <a:cs typeface="Segoe UI"/>
            </a:endParaRPr>
          </a:p>
          <a:p>
            <a:pPr marL="0" indent="0" algn="just">
              <a:buNone/>
            </a:pPr>
            <a:r>
              <a:rPr lang="en-US" sz="2000" dirty="0">
                <a:solidFill>
                  <a:srgbClr val="000000"/>
                </a:solidFill>
                <a:latin typeface="Segoe UI"/>
                <a:cs typeface="Segoe UI"/>
              </a:rPr>
              <a:t>However, we can provide the name of Spring Bean as </a:t>
            </a:r>
            <a:r>
              <a:rPr lang="en-US" sz="2000" b="1" dirty="0">
                <a:solidFill>
                  <a:srgbClr val="000000"/>
                </a:solidFill>
                <a:latin typeface="Segoe UI"/>
                <a:cs typeface="Segoe UI"/>
              </a:rPr>
              <a:t>@Component(“employee”)</a:t>
            </a:r>
            <a:r>
              <a:rPr lang="en-US" sz="2000" dirty="0">
                <a:solidFill>
                  <a:srgbClr val="000000"/>
                </a:solidFill>
                <a:latin typeface="Segoe UI"/>
                <a:cs typeface="Segoe UI"/>
              </a:rPr>
              <a:t>.</a:t>
            </a:r>
            <a:endParaRPr lang="en-US" sz="2000" dirty="0"/>
          </a:p>
        </p:txBody>
      </p:sp>
    </p:spTree>
    <p:extLst>
      <p:ext uri="{BB962C8B-B14F-4D97-AF65-F5344CB8AC3E}">
        <p14:creationId xmlns:p14="http://schemas.microsoft.com/office/powerpoint/2010/main" val="3360084568"/>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91D9A-2D31-486D-E624-6160DC796985}"/>
              </a:ext>
            </a:extLst>
          </p:cNvPr>
          <p:cNvSpPr>
            <a:spLocks noGrp="1"/>
          </p:cNvSpPr>
          <p:nvPr>
            <p:ph type="title"/>
          </p:nvPr>
        </p:nvSpPr>
        <p:spPr/>
        <p:txBody>
          <a:bodyPr/>
          <a:lstStyle/>
          <a:p>
            <a:r>
              <a:rPr lang="en-US" sz="4000" b="1">
                <a:solidFill>
                  <a:srgbClr val="000080"/>
                </a:solidFill>
                <a:latin typeface="Times New Roman"/>
                <a:cs typeface="Times New Roman"/>
              </a:rPr>
              <a:t>Mark a class as a Bean in Spring</a:t>
            </a:r>
            <a:endParaRPr lang="en-US" sz="4000">
              <a:latin typeface="Times New Roman"/>
              <a:cs typeface="Times New Roman"/>
            </a:endParaRPr>
          </a:p>
        </p:txBody>
      </p:sp>
      <p:sp>
        <p:nvSpPr>
          <p:cNvPr id="3" name="Content Placeholder 2">
            <a:extLst>
              <a:ext uri="{FF2B5EF4-FFF2-40B4-BE49-F238E27FC236}">
                <a16:creationId xmlns:a16="http://schemas.microsoft.com/office/drawing/2014/main" id="{92BC8615-2A0E-7253-20B8-7AE306BE26C8}"/>
              </a:ext>
            </a:extLst>
          </p:cNvPr>
          <p:cNvSpPr>
            <a:spLocks noGrp="1"/>
          </p:cNvSpPr>
          <p:nvPr>
            <p:ph idx="1"/>
          </p:nvPr>
        </p:nvSpPr>
        <p:spPr/>
        <p:txBody>
          <a:bodyPr vert="horz" lIns="91440" tIns="45720" rIns="91440" bIns="45720" rtlCol="0" anchor="t">
            <a:normAutofit lnSpcReduction="10000"/>
          </a:bodyPr>
          <a:lstStyle/>
          <a:p>
            <a:pPr algn="just"/>
            <a:r>
              <a:rPr lang="en-US" sz="2400">
                <a:latin typeface="Segoe UI"/>
                <a:cs typeface="Segoe UI"/>
              </a:rPr>
              <a:t>We also have various Stereotype annotations that we can use as an alternative to @Component, but we should use them at some specific scenario. </a:t>
            </a:r>
            <a:endParaRPr lang="en-US" sz="2400" b="1">
              <a:latin typeface="Aptos" panose="02110004020202020204"/>
              <a:cs typeface="Segoe UI"/>
            </a:endParaRPr>
          </a:p>
          <a:p>
            <a:pPr marL="0" indent="0" algn="just">
              <a:buNone/>
            </a:pPr>
            <a:endParaRPr lang="en-US" sz="2400" b="1" i="1">
              <a:latin typeface="Segoe UI"/>
              <a:cs typeface="Segoe UI"/>
            </a:endParaRPr>
          </a:p>
          <a:p>
            <a:pPr marL="0" indent="0" algn="just">
              <a:buNone/>
            </a:pPr>
            <a:r>
              <a:rPr lang="en-US" sz="2400" b="1" i="1">
                <a:solidFill>
                  <a:srgbClr val="FF0000"/>
                </a:solidFill>
                <a:latin typeface="Segoe UI"/>
                <a:cs typeface="Segoe UI"/>
              </a:rPr>
              <a:t>@Component</a:t>
            </a:r>
            <a:r>
              <a:rPr lang="en-US" sz="2400">
                <a:latin typeface="Segoe UI"/>
                <a:cs typeface="Segoe UI"/>
              </a:rPr>
              <a:t> is a </a:t>
            </a:r>
            <a:r>
              <a:rPr lang="en-US" sz="2400" b="1">
                <a:latin typeface="Segoe UI"/>
                <a:cs typeface="Segoe UI"/>
              </a:rPr>
              <a:t>class level annotation</a:t>
            </a:r>
            <a:r>
              <a:rPr lang="en-US" sz="2400">
                <a:latin typeface="Segoe UI"/>
                <a:cs typeface="Segoe UI"/>
              </a:rPr>
              <a:t>. </a:t>
            </a:r>
            <a:endParaRPr lang="en-US" sz="2400">
              <a:latin typeface="Aptos" panose="02110004020202020204"/>
              <a:cs typeface="Segoe UI"/>
            </a:endParaRPr>
          </a:p>
          <a:p>
            <a:pPr algn="just"/>
            <a:endParaRPr lang="en-US" sz="2400">
              <a:latin typeface="Segoe UI"/>
              <a:cs typeface="Segoe UI"/>
            </a:endParaRPr>
          </a:p>
          <a:p>
            <a:pPr algn="just"/>
            <a:r>
              <a:rPr lang="en-US" sz="2400">
                <a:latin typeface="Segoe UI"/>
                <a:cs typeface="Segoe UI"/>
              </a:rPr>
              <a:t>Other stereotypes are a specialization of </a:t>
            </a:r>
            <a:r>
              <a:rPr lang="en-US" sz="2400" i="1">
                <a:latin typeface="Segoe UI"/>
                <a:cs typeface="Segoe UI"/>
              </a:rPr>
              <a:t>@Component</a:t>
            </a:r>
            <a:r>
              <a:rPr lang="en-US" sz="2400">
                <a:latin typeface="Segoe UI"/>
                <a:cs typeface="Segoe UI"/>
              </a:rPr>
              <a:t>. </a:t>
            </a:r>
            <a:endParaRPr lang="en-US" sz="2400">
              <a:latin typeface="Aptos" panose="02110004020202020204"/>
              <a:cs typeface="Segoe UI"/>
            </a:endParaRPr>
          </a:p>
          <a:p>
            <a:pPr algn="just"/>
            <a:endParaRPr lang="en-US" sz="2400">
              <a:latin typeface="Segoe UI"/>
              <a:cs typeface="Segoe UI"/>
            </a:endParaRPr>
          </a:p>
          <a:p>
            <a:pPr algn="just"/>
            <a:r>
              <a:rPr lang="en-US" sz="2400">
                <a:latin typeface="Segoe UI"/>
                <a:cs typeface="Segoe UI"/>
              </a:rPr>
              <a:t>During the component scanning, Spring container automatically discovers the classes annotated with </a:t>
            </a:r>
            <a:r>
              <a:rPr lang="en-US" sz="2400" i="1">
                <a:latin typeface="Segoe UI"/>
                <a:cs typeface="Segoe UI"/>
              </a:rPr>
              <a:t>@Componen</a:t>
            </a:r>
            <a:r>
              <a:rPr lang="en-US" sz="2400">
                <a:latin typeface="Segoe UI"/>
                <a:cs typeface="Segoe UI"/>
              </a:rPr>
              <a:t>t, It registers them into the Application Context as a Spring Bean.</a:t>
            </a:r>
            <a:endParaRPr lang="en-US" sz="2400"/>
          </a:p>
        </p:txBody>
      </p:sp>
    </p:spTree>
    <p:extLst>
      <p:ext uri="{BB962C8B-B14F-4D97-AF65-F5344CB8AC3E}">
        <p14:creationId xmlns:p14="http://schemas.microsoft.com/office/powerpoint/2010/main" val="3129173855"/>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0BA9B-754C-06B6-A7AF-C3CF79D8FDB3}"/>
              </a:ext>
            </a:extLst>
          </p:cNvPr>
          <p:cNvSpPr>
            <a:spLocks noGrp="1"/>
          </p:cNvSpPr>
          <p:nvPr>
            <p:ph type="title"/>
          </p:nvPr>
        </p:nvSpPr>
        <p:spPr/>
        <p:txBody>
          <a:bodyPr/>
          <a:lstStyle/>
          <a:p>
            <a:r>
              <a:rPr lang="en-US" sz="4000" b="1">
                <a:solidFill>
                  <a:srgbClr val="000080"/>
                </a:solidFill>
                <a:latin typeface="Times New Roman"/>
                <a:cs typeface="Times New Roman"/>
              </a:rPr>
              <a:t>Mark a class as a Bean in Spring</a:t>
            </a:r>
            <a:endParaRPr lang="en-US" sz="4000">
              <a:latin typeface="Times New Roman"/>
              <a:cs typeface="Times New Roman"/>
            </a:endParaRPr>
          </a:p>
        </p:txBody>
      </p:sp>
      <p:sp>
        <p:nvSpPr>
          <p:cNvPr id="3" name="Content Placeholder 2">
            <a:extLst>
              <a:ext uri="{FF2B5EF4-FFF2-40B4-BE49-F238E27FC236}">
                <a16:creationId xmlns:a16="http://schemas.microsoft.com/office/drawing/2014/main" id="{CA8281D2-1049-B39A-F7A8-8E6C03620B63}"/>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sz="2400" b="1" dirty="0" smtClean="0">
                <a:solidFill>
                  <a:srgbClr val="000080"/>
                </a:solidFill>
                <a:highlight>
                  <a:srgbClr val="FFFF00"/>
                </a:highlight>
                <a:latin typeface="Segoe UI"/>
                <a:cs typeface="Segoe UI"/>
              </a:rPr>
              <a:t>3. Using </a:t>
            </a:r>
            <a:r>
              <a:rPr lang="en-US" sz="2400" b="1" dirty="0">
                <a:solidFill>
                  <a:srgbClr val="000080"/>
                </a:solidFill>
                <a:highlight>
                  <a:srgbClr val="FFFF00"/>
                </a:highlight>
                <a:latin typeface="Segoe UI"/>
                <a:cs typeface="Segoe UI"/>
              </a:rPr>
              <a:t>Java-based Configuration</a:t>
            </a:r>
            <a:endParaRPr lang="en-US" dirty="0">
              <a:highlight>
                <a:srgbClr val="FFFF00"/>
              </a:highlight>
            </a:endParaRPr>
          </a:p>
          <a:p>
            <a:r>
              <a:rPr lang="en-US" sz="2400" dirty="0">
                <a:solidFill>
                  <a:srgbClr val="000000"/>
                </a:solidFill>
                <a:latin typeface="Segoe UI"/>
                <a:cs typeface="Segoe UI"/>
              </a:rPr>
              <a:t>Since </a:t>
            </a:r>
            <a:r>
              <a:rPr lang="en-US" sz="2400" b="1" dirty="0">
                <a:solidFill>
                  <a:srgbClr val="000000"/>
                </a:solidFill>
                <a:latin typeface="Segoe UI"/>
                <a:cs typeface="Segoe UI"/>
              </a:rPr>
              <a:t>Spring 3.0, a pure-Java configuration container</a:t>
            </a:r>
            <a:r>
              <a:rPr lang="en-US" sz="2400" dirty="0">
                <a:solidFill>
                  <a:srgbClr val="000000"/>
                </a:solidFill>
                <a:latin typeface="Segoe UI"/>
                <a:cs typeface="Segoe UI"/>
              </a:rPr>
              <a:t> </a:t>
            </a:r>
            <a:r>
              <a:rPr lang="en-US" sz="2400" b="1" dirty="0">
                <a:solidFill>
                  <a:srgbClr val="000000"/>
                </a:solidFill>
                <a:latin typeface="Segoe UI"/>
                <a:cs typeface="Segoe UI"/>
              </a:rPr>
              <a:t>was provided</a:t>
            </a:r>
            <a:r>
              <a:rPr lang="en-US" sz="2400" dirty="0">
                <a:solidFill>
                  <a:srgbClr val="000000"/>
                </a:solidFill>
                <a:latin typeface="Segoe UI"/>
                <a:cs typeface="Segoe UI"/>
              </a:rPr>
              <a:t>. </a:t>
            </a:r>
            <a:endParaRPr lang="en-US" sz="2400" b="1" dirty="0">
              <a:solidFill>
                <a:srgbClr val="000080"/>
              </a:solidFill>
              <a:latin typeface="Segoe UI"/>
              <a:cs typeface="Segoe UI"/>
            </a:endParaRPr>
          </a:p>
          <a:p>
            <a:r>
              <a:rPr lang="en-US" sz="2400" b="1" dirty="0">
                <a:solidFill>
                  <a:srgbClr val="FF0000"/>
                </a:solidFill>
                <a:latin typeface="Segoe UI"/>
                <a:cs typeface="Segoe UI"/>
              </a:rPr>
              <a:t>XML configuration is completely removed</a:t>
            </a:r>
            <a:r>
              <a:rPr lang="en-US" sz="2400" dirty="0">
                <a:solidFill>
                  <a:srgbClr val="FF0000"/>
                </a:solidFill>
                <a:latin typeface="Segoe UI"/>
                <a:cs typeface="Segoe UI"/>
              </a:rPr>
              <a:t> </a:t>
            </a:r>
            <a:r>
              <a:rPr lang="en-US" sz="2400" dirty="0">
                <a:solidFill>
                  <a:srgbClr val="000000"/>
                </a:solidFill>
                <a:latin typeface="Segoe UI"/>
                <a:cs typeface="Segoe UI"/>
              </a:rPr>
              <a:t>in this approach. </a:t>
            </a:r>
            <a:endParaRPr lang="en-US" sz="2400" b="1" dirty="0">
              <a:solidFill>
                <a:srgbClr val="000080"/>
              </a:solidFill>
              <a:latin typeface="Segoe UI"/>
              <a:cs typeface="Segoe UI"/>
            </a:endParaRPr>
          </a:p>
          <a:p>
            <a:endParaRPr lang="en-US" sz="2400" dirty="0">
              <a:solidFill>
                <a:srgbClr val="000000"/>
              </a:solidFill>
              <a:latin typeface="Segoe UI"/>
              <a:cs typeface="Segoe UI"/>
            </a:endParaRPr>
          </a:p>
          <a:p>
            <a:r>
              <a:rPr lang="en-US" sz="2400" dirty="0">
                <a:solidFill>
                  <a:srgbClr val="000000"/>
                </a:solidFill>
                <a:latin typeface="Segoe UI"/>
                <a:cs typeface="Segoe UI"/>
              </a:rPr>
              <a:t>The key features in Spring Framework’s new Java-configuration support are </a:t>
            </a:r>
            <a:r>
              <a:rPr lang="en-US" sz="2400" b="1" dirty="0">
                <a:solidFill>
                  <a:srgbClr val="FF0000"/>
                </a:solidFill>
                <a:latin typeface="Segoe UI"/>
                <a:cs typeface="Segoe UI"/>
              </a:rPr>
              <a:t>@Configuration</a:t>
            </a:r>
            <a:r>
              <a:rPr lang="en-US" sz="2400" b="1" dirty="0">
                <a:solidFill>
                  <a:srgbClr val="000000"/>
                </a:solidFill>
                <a:latin typeface="Segoe UI"/>
                <a:cs typeface="Segoe UI"/>
              </a:rPr>
              <a:t> </a:t>
            </a:r>
            <a:r>
              <a:rPr lang="en-US" sz="2400" dirty="0">
                <a:solidFill>
                  <a:srgbClr val="000000"/>
                </a:solidFill>
                <a:latin typeface="Segoe UI"/>
                <a:cs typeface="Segoe UI"/>
              </a:rPr>
              <a:t>annotated</a:t>
            </a:r>
            <a:r>
              <a:rPr lang="en-US" sz="2400" b="1" dirty="0">
                <a:solidFill>
                  <a:srgbClr val="000000"/>
                </a:solidFill>
                <a:latin typeface="Segoe UI"/>
                <a:cs typeface="Segoe UI"/>
              </a:rPr>
              <a:t> </a:t>
            </a:r>
            <a:r>
              <a:rPr lang="en-US" sz="2400" b="1" dirty="0">
                <a:solidFill>
                  <a:srgbClr val="FF0000"/>
                </a:solidFill>
                <a:latin typeface="Segoe UI"/>
                <a:cs typeface="Segoe UI"/>
              </a:rPr>
              <a:t>classes</a:t>
            </a:r>
            <a:r>
              <a:rPr lang="en-US" sz="2400" dirty="0">
                <a:solidFill>
                  <a:srgbClr val="000000"/>
                </a:solidFill>
                <a:latin typeface="Segoe UI"/>
                <a:cs typeface="Segoe UI"/>
              </a:rPr>
              <a:t> and </a:t>
            </a:r>
            <a:r>
              <a:rPr lang="en-US" sz="2400" b="1" dirty="0">
                <a:solidFill>
                  <a:srgbClr val="0000FF"/>
                </a:solidFill>
                <a:latin typeface="Segoe UI"/>
                <a:cs typeface="Segoe UI"/>
              </a:rPr>
              <a:t>@Bean</a:t>
            </a:r>
            <a:r>
              <a:rPr lang="en-US" sz="2400" b="1" dirty="0">
                <a:solidFill>
                  <a:srgbClr val="000000"/>
                </a:solidFill>
                <a:latin typeface="Segoe UI"/>
                <a:cs typeface="Segoe UI"/>
              </a:rPr>
              <a:t> </a:t>
            </a:r>
            <a:r>
              <a:rPr lang="en-US" sz="2400" dirty="0">
                <a:solidFill>
                  <a:srgbClr val="000000"/>
                </a:solidFill>
                <a:latin typeface="Segoe UI"/>
                <a:cs typeface="Segoe UI"/>
              </a:rPr>
              <a:t>annotated</a:t>
            </a:r>
            <a:r>
              <a:rPr lang="en-US" sz="2400" b="1" dirty="0">
                <a:solidFill>
                  <a:srgbClr val="0000FF"/>
                </a:solidFill>
                <a:latin typeface="Segoe UI"/>
                <a:cs typeface="Segoe UI"/>
              </a:rPr>
              <a:t> methods. </a:t>
            </a:r>
          </a:p>
          <a:p>
            <a:endParaRPr lang="en-US" sz="2400" dirty="0">
              <a:solidFill>
                <a:srgbClr val="000000"/>
              </a:solidFill>
              <a:latin typeface="Segoe UI"/>
              <a:cs typeface="Segoe UI"/>
            </a:endParaRPr>
          </a:p>
          <a:p>
            <a:r>
              <a:rPr lang="en-US" sz="2400" dirty="0">
                <a:solidFill>
                  <a:srgbClr val="000000"/>
                </a:solidFill>
                <a:latin typeface="Segoe UI"/>
                <a:cs typeface="Segoe UI"/>
              </a:rPr>
              <a:t>Using </a:t>
            </a:r>
            <a:r>
              <a:rPr lang="en-US" sz="2400" b="1" dirty="0">
                <a:solidFill>
                  <a:srgbClr val="000000"/>
                </a:solidFill>
                <a:latin typeface="Segoe UI"/>
                <a:cs typeface="Segoe UI"/>
              </a:rPr>
              <a:t>@Configuration </a:t>
            </a:r>
            <a:r>
              <a:rPr lang="en-US" sz="2400" dirty="0">
                <a:solidFill>
                  <a:srgbClr val="000000"/>
                </a:solidFill>
                <a:latin typeface="Segoe UI"/>
                <a:cs typeface="Segoe UI"/>
              </a:rPr>
              <a:t>annotation </a:t>
            </a:r>
            <a:r>
              <a:rPr lang="en-US" sz="2400" b="1" dirty="0">
                <a:solidFill>
                  <a:srgbClr val="000000"/>
                </a:solidFill>
                <a:latin typeface="Segoe UI"/>
                <a:cs typeface="Segoe UI"/>
              </a:rPr>
              <a:t>at any Java class represents</a:t>
            </a:r>
            <a:r>
              <a:rPr lang="en-US" sz="2400" dirty="0">
                <a:solidFill>
                  <a:srgbClr val="000000"/>
                </a:solidFill>
                <a:latin typeface="Segoe UI"/>
                <a:cs typeface="Segoe UI"/>
              </a:rPr>
              <a:t> that Spring container will consider it as a </a:t>
            </a:r>
            <a:r>
              <a:rPr lang="en-US" sz="2400" b="1" dirty="0">
                <a:solidFill>
                  <a:srgbClr val="000000"/>
                </a:solidFill>
                <a:latin typeface="Segoe UI"/>
                <a:cs typeface="Segoe UI"/>
              </a:rPr>
              <a:t>source of Bean’s definitions</a:t>
            </a:r>
            <a:r>
              <a:rPr lang="en-US" sz="2400" dirty="0">
                <a:solidFill>
                  <a:srgbClr val="000000"/>
                </a:solidFill>
                <a:latin typeface="Segoe UI"/>
                <a:cs typeface="Segoe UI"/>
              </a:rPr>
              <a:t>. </a:t>
            </a:r>
            <a:endParaRPr lang="en-US" sz="2400" b="1" dirty="0">
              <a:solidFill>
                <a:srgbClr val="000080"/>
              </a:solidFill>
              <a:latin typeface="Segoe UI"/>
              <a:cs typeface="Segoe UI"/>
            </a:endParaRPr>
          </a:p>
          <a:p>
            <a:endParaRPr lang="en-US" sz="2400" dirty="0">
              <a:solidFill>
                <a:srgbClr val="000000"/>
              </a:solidFill>
              <a:latin typeface="Segoe UI"/>
              <a:cs typeface="Segoe UI"/>
            </a:endParaRPr>
          </a:p>
          <a:p>
            <a:r>
              <a:rPr lang="en-US" sz="2400" dirty="0">
                <a:solidFill>
                  <a:srgbClr val="000000"/>
                </a:solidFill>
                <a:latin typeface="Segoe UI"/>
                <a:cs typeface="Segoe UI"/>
              </a:rPr>
              <a:t>Using the </a:t>
            </a:r>
            <a:r>
              <a:rPr lang="en-US" sz="2400" b="1" dirty="0">
                <a:solidFill>
                  <a:srgbClr val="000000"/>
                </a:solidFill>
                <a:latin typeface="Segoe UI"/>
                <a:cs typeface="Segoe UI"/>
              </a:rPr>
              <a:t>@Bean</a:t>
            </a:r>
            <a:r>
              <a:rPr lang="en-US" sz="2400" dirty="0">
                <a:solidFill>
                  <a:srgbClr val="000000"/>
                </a:solidFill>
                <a:latin typeface="Segoe UI"/>
                <a:cs typeface="Segoe UI"/>
              </a:rPr>
              <a:t> tells the Spring container that </a:t>
            </a:r>
            <a:r>
              <a:rPr lang="en-US" sz="2400" b="1" dirty="0">
                <a:solidFill>
                  <a:srgbClr val="000000"/>
                </a:solidFill>
                <a:latin typeface="Segoe UI"/>
                <a:cs typeface="Segoe UI"/>
              </a:rPr>
              <a:t>method will return an object which should be registered as a Spring bean</a:t>
            </a:r>
            <a:r>
              <a:rPr lang="en-US" sz="2400" dirty="0">
                <a:solidFill>
                  <a:srgbClr val="000000"/>
                </a:solidFill>
                <a:latin typeface="Segoe UI"/>
                <a:cs typeface="Segoe UI"/>
              </a:rPr>
              <a:t> in the Spring container.</a:t>
            </a:r>
            <a:endParaRPr lang="en-US" sz="2400" b="1" dirty="0">
              <a:solidFill>
                <a:srgbClr val="000080"/>
              </a:solidFill>
              <a:latin typeface="Segoe UI"/>
              <a:cs typeface="Segoe UI"/>
            </a:endParaRPr>
          </a:p>
          <a:p>
            <a:endParaRPr lang="en-US" sz="2400" dirty="0"/>
          </a:p>
        </p:txBody>
      </p:sp>
    </p:spTree>
    <p:extLst>
      <p:ext uri="{BB962C8B-B14F-4D97-AF65-F5344CB8AC3E}">
        <p14:creationId xmlns:p14="http://schemas.microsoft.com/office/powerpoint/2010/main" val="3728882511"/>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1CDC9-75C7-691E-5DCD-AF6DB4ACD2B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7DAE85E-5B83-EA27-1A7E-DF34EF5A69FE}"/>
              </a:ext>
            </a:extLst>
          </p:cNvPr>
          <p:cNvSpPr>
            <a:spLocks noGrp="1"/>
          </p:cNvSpPr>
          <p:nvPr>
            <p:ph idx="1"/>
          </p:nvPr>
        </p:nvSpPr>
        <p:spPr/>
        <p:txBody>
          <a:bodyPr vert="horz" lIns="91440" tIns="45720" rIns="91440" bIns="45720" rtlCol="0" anchor="t">
            <a:normAutofit/>
          </a:bodyPr>
          <a:lstStyle/>
          <a:p>
            <a:pPr marL="0" indent="0">
              <a:buNone/>
            </a:pPr>
            <a:r>
              <a:rPr lang="en-US" sz="2400" b="1" dirty="0">
                <a:solidFill>
                  <a:srgbClr val="FF6600"/>
                </a:solidFill>
                <a:latin typeface="Consolas"/>
              </a:rPr>
              <a:t>@Configuration</a:t>
            </a:r>
            <a:r>
              <a:rPr lang="en-US" sz="2400" b="1" dirty="0">
                <a:solidFill>
                  <a:srgbClr val="3D3D3D"/>
                </a:solidFill>
                <a:latin typeface="Consolas"/>
              </a:rPr>
              <a:t>
</a:t>
            </a:r>
            <a:r>
              <a:rPr lang="en-US" sz="2400" b="1" dirty="0">
                <a:solidFill>
                  <a:srgbClr val="993300"/>
                </a:solidFill>
                <a:latin typeface="Consolas"/>
              </a:rPr>
              <a:t>public class</a:t>
            </a:r>
            <a:r>
              <a:rPr lang="en-US" sz="2400" b="1" dirty="0">
                <a:solidFill>
                  <a:srgbClr val="3D3D3D"/>
                </a:solidFill>
                <a:latin typeface="Consolas"/>
              </a:rPr>
              <a:t> </a:t>
            </a:r>
            <a:r>
              <a:rPr lang="en-US" sz="2400" b="1" dirty="0" err="1" smtClean="0">
                <a:solidFill>
                  <a:srgbClr val="3D3D3D"/>
                </a:solidFill>
                <a:latin typeface="Consolas"/>
              </a:rPr>
              <a:t>EmployeeConfig</a:t>
            </a:r>
            <a:endParaRPr lang="en-US" sz="2400" b="1" dirty="0" smtClean="0">
              <a:solidFill>
                <a:srgbClr val="3D3D3D"/>
              </a:solidFill>
              <a:latin typeface="Consolas"/>
            </a:endParaRPr>
          </a:p>
          <a:p>
            <a:pPr marL="0" indent="0">
              <a:buNone/>
            </a:pPr>
            <a:r>
              <a:rPr lang="en-US" sz="2400" b="1" dirty="0" smtClean="0">
                <a:solidFill>
                  <a:srgbClr val="3D3D3D"/>
                </a:solidFill>
                <a:latin typeface="Consolas"/>
              </a:rPr>
              <a:t>{   </a:t>
            </a:r>
            <a:r>
              <a:rPr lang="en-US" sz="2400" b="1" dirty="0">
                <a:solidFill>
                  <a:srgbClr val="3D3D3D"/>
                </a:solidFill>
                <a:latin typeface="Consolas"/>
              </a:rPr>
              <a:t>
   </a:t>
            </a:r>
            <a:r>
              <a:rPr lang="en-US" sz="2400" b="1" dirty="0">
                <a:solidFill>
                  <a:srgbClr val="FF6600"/>
                </a:solidFill>
                <a:latin typeface="Consolas"/>
              </a:rPr>
              <a:t>@Bean</a:t>
            </a:r>
            <a:r>
              <a:rPr lang="en-US" sz="2400" b="1" dirty="0">
                <a:solidFill>
                  <a:srgbClr val="3D3D3D"/>
                </a:solidFill>
                <a:latin typeface="Consolas"/>
              </a:rPr>
              <a:t>
   </a:t>
            </a:r>
            <a:r>
              <a:rPr lang="en-US" sz="2400" b="1" dirty="0">
                <a:solidFill>
                  <a:srgbClr val="993300"/>
                </a:solidFill>
                <a:latin typeface="Consolas"/>
              </a:rPr>
              <a:t>public</a:t>
            </a:r>
            <a:r>
              <a:rPr lang="en-US" sz="2400" b="1" dirty="0">
                <a:solidFill>
                  <a:srgbClr val="3D3D3D"/>
                </a:solidFill>
                <a:latin typeface="Consolas"/>
              </a:rPr>
              <a:t> Employee </a:t>
            </a:r>
            <a:r>
              <a:rPr lang="en-US" sz="2400" b="1" dirty="0" err="1">
                <a:solidFill>
                  <a:srgbClr val="3D3D3D"/>
                </a:solidFill>
                <a:latin typeface="Consolas"/>
              </a:rPr>
              <a:t>getEmployee</a:t>
            </a:r>
            <a:r>
              <a:rPr lang="en-US" sz="2400" b="1" dirty="0" smtClean="0">
                <a:solidFill>
                  <a:srgbClr val="3D3D3D"/>
                </a:solidFill>
                <a:latin typeface="Consolas"/>
              </a:rPr>
              <a:t>()</a:t>
            </a:r>
          </a:p>
          <a:p>
            <a:pPr marL="0" indent="0">
              <a:buNone/>
            </a:pPr>
            <a:r>
              <a:rPr lang="en-US" sz="2400" b="1" dirty="0">
                <a:solidFill>
                  <a:srgbClr val="3D3D3D"/>
                </a:solidFill>
                <a:latin typeface="Consolas"/>
              </a:rPr>
              <a:t> </a:t>
            </a:r>
            <a:r>
              <a:rPr lang="en-US" sz="2400" b="1" dirty="0" smtClean="0">
                <a:solidFill>
                  <a:srgbClr val="3D3D3D"/>
                </a:solidFill>
                <a:latin typeface="Consolas"/>
              </a:rPr>
              <a:t> {</a:t>
            </a:r>
            <a:r>
              <a:rPr lang="en-US" sz="2400" b="1" dirty="0">
                <a:solidFill>
                  <a:srgbClr val="3D3D3D"/>
                </a:solidFill>
                <a:latin typeface="Consolas"/>
              </a:rPr>
              <a:t>
      </a:t>
            </a:r>
            <a:r>
              <a:rPr lang="en-US" sz="2400" b="1" dirty="0">
                <a:solidFill>
                  <a:srgbClr val="993300"/>
                </a:solidFill>
                <a:latin typeface="Consolas"/>
              </a:rPr>
              <a:t>return new</a:t>
            </a:r>
            <a:r>
              <a:rPr lang="en-US" sz="2400" b="1" dirty="0">
                <a:solidFill>
                  <a:srgbClr val="3D3D3D"/>
                </a:solidFill>
                <a:latin typeface="Consolas"/>
              </a:rPr>
              <a:t> Employee();
   }
}</a:t>
            </a:r>
            <a:endParaRPr lang="en-US" sz="2400" dirty="0"/>
          </a:p>
        </p:txBody>
      </p:sp>
    </p:spTree>
    <p:extLst>
      <p:ext uri="{BB962C8B-B14F-4D97-AF65-F5344CB8AC3E}">
        <p14:creationId xmlns:p14="http://schemas.microsoft.com/office/powerpoint/2010/main" val="151356198"/>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A0F7-7936-9280-BB8B-F44915028AD6}"/>
              </a:ext>
            </a:extLst>
          </p:cNvPr>
          <p:cNvSpPr>
            <a:spLocks noGrp="1"/>
          </p:cNvSpPr>
          <p:nvPr>
            <p:ph type="title"/>
          </p:nvPr>
        </p:nvSpPr>
        <p:spPr/>
        <p:txBody>
          <a:bodyPr>
            <a:normAutofit/>
          </a:bodyPr>
          <a:lstStyle/>
          <a:p>
            <a:r>
              <a:rPr lang="en-US" sz="4000" b="1">
                <a:solidFill>
                  <a:srgbClr val="000080"/>
                </a:solidFill>
                <a:latin typeface="Segoe UI"/>
                <a:cs typeface="Segoe UI"/>
              </a:rPr>
              <a:t>Spring Container</a:t>
            </a:r>
            <a:endParaRPr lang="en-US" sz="4000"/>
          </a:p>
        </p:txBody>
      </p:sp>
      <p:sp>
        <p:nvSpPr>
          <p:cNvPr id="3" name="Content Placeholder 2">
            <a:extLst>
              <a:ext uri="{FF2B5EF4-FFF2-40B4-BE49-F238E27FC236}">
                <a16:creationId xmlns:a16="http://schemas.microsoft.com/office/drawing/2014/main" id="{E2297404-0272-55AF-7952-62F5A55207A4}"/>
              </a:ext>
            </a:extLst>
          </p:cNvPr>
          <p:cNvSpPr>
            <a:spLocks noGrp="1"/>
          </p:cNvSpPr>
          <p:nvPr>
            <p:ph idx="1"/>
          </p:nvPr>
        </p:nvSpPr>
        <p:spPr>
          <a:xfrm>
            <a:off x="306238" y="1710606"/>
            <a:ext cx="6906884" cy="4883300"/>
          </a:xfrm>
        </p:spPr>
        <p:txBody>
          <a:bodyPr vert="horz" lIns="91440" tIns="45720" rIns="91440" bIns="45720" rtlCol="0" anchor="t">
            <a:normAutofit/>
          </a:bodyPr>
          <a:lstStyle/>
          <a:p>
            <a:pPr algn="just"/>
            <a:r>
              <a:rPr lang="en-US" sz="2000" b="1">
                <a:latin typeface="Segoe UI"/>
                <a:cs typeface="Segoe UI"/>
              </a:rPr>
              <a:t>Spring Container is itself a program</a:t>
            </a:r>
            <a:r>
              <a:rPr lang="en-US" sz="2000">
                <a:latin typeface="Segoe UI"/>
                <a:cs typeface="Segoe UI"/>
              </a:rPr>
              <a:t> in Spring Framework that </a:t>
            </a:r>
            <a:r>
              <a:rPr lang="en-US" sz="2000" b="1">
                <a:latin typeface="Segoe UI"/>
                <a:cs typeface="Segoe UI"/>
              </a:rPr>
              <a:t>manages the objects</a:t>
            </a:r>
            <a:r>
              <a:rPr lang="en-US" sz="2000">
                <a:latin typeface="Segoe UI"/>
                <a:cs typeface="Segoe UI"/>
              </a:rPr>
              <a:t>. </a:t>
            </a:r>
            <a:endParaRPr lang="en-US" sz="2000">
              <a:latin typeface="Aptos" panose="02110004020202020204"/>
              <a:cs typeface="Segoe UI"/>
            </a:endParaRPr>
          </a:p>
          <a:p>
            <a:pPr algn="just"/>
            <a:r>
              <a:rPr lang="en-US" sz="2000">
                <a:latin typeface="Segoe UI"/>
                <a:cs typeface="Segoe UI"/>
              </a:rPr>
              <a:t>The </a:t>
            </a:r>
            <a:r>
              <a:rPr lang="en-US" sz="2000" b="1">
                <a:latin typeface="Segoe UI"/>
                <a:cs typeface="Segoe UI"/>
              </a:rPr>
              <a:t>container gets its instructions by reading configuration metadata</a:t>
            </a:r>
            <a:r>
              <a:rPr lang="en-US" sz="2000">
                <a:latin typeface="Segoe UI"/>
                <a:cs typeface="Segoe UI"/>
              </a:rPr>
              <a:t> to instantiate, configure, and assemble the objects. </a:t>
            </a:r>
            <a:endParaRPr lang="en-US" sz="2000">
              <a:latin typeface="Aptos" panose="02110004020202020204"/>
              <a:cs typeface="Segoe UI"/>
            </a:endParaRPr>
          </a:p>
          <a:p>
            <a:pPr algn="just"/>
            <a:r>
              <a:rPr lang="en-US" sz="2000">
                <a:latin typeface="Segoe UI"/>
                <a:cs typeface="Segoe UI"/>
              </a:rPr>
              <a:t>We can represent configuration metadata in different forms, such as: XML, Java annotations, or Java code. </a:t>
            </a:r>
            <a:endParaRPr lang="en-US" sz="2000">
              <a:latin typeface="Aptos" panose="02110004020202020204"/>
              <a:cs typeface="Segoe UI"/>
            </a:endParaRPr>
          </a:p>
          <a:p>
            <a:pPr marL="457200" lvl="1" indent="0" algn="just">
              <a:buNone/>
            </a:pPr>
            <a:r>
              <a:rPr lang="en-US" sz="1800" b="1">
                <a:latin typeface="Segoe UI"/>
                <a:cs typeface="Segoe UI"/>
              </a:rPr>
              <a:t>1) Find and Scan Spring Beans</a:t>
            </a:r>
            <a:endParaRPr lang="en-US" sz="1800" b="1"/>
          </a:p>
          <a:p>
            <a:pPr marL="457200" lvl="1" indent="0">
              <a:buNone/>
            </a:pPr>
            <a:r>
              <a:rPr lang="en-US" sz="1800" b="1">
                <a:latin typeface="Segoe UI"/>
                <a:cs typeface="Segoe UI"/>
              </a:rPr>
              <a:t>2) Create Objects for the beans that it found after scanning</a:t>
            </a:r>
            <a:endParaRPr lang="en-US" sz="1800" b="1"/>
          </a:p>
          <a:p>
            <a:pPr marL="457200" lvl="1" indent="0">
              <a:buNone/>
            </a:pPr>
            <a:r>
              <a:rPr lang="en-US" sz="1800" b="1">
                <a:latin typeface="Segoe UI"/>
                <a:cs typeface="Segoe UI"/>
              </a:rPr>
              <a:t>3) Link/Inject objects if they have some relations such as HAS-A</a:t>
            </a:r>
            <a:endParaRPr lang="en-US" sz="1800" b="1"/>
          </a:p>
          <a:p>
            <a:pPr marL="457200" lvl="1" indent="0">
              <a:buNone/>
            </a:pPr>
            <a:r>
              <a:rPr lang="en-US" sz="1800" b="1">
                <a:latin typeface="Segoe UI"/>
                <a:cs typeface="Segoe UI"/>
              </a:rPr>
              <a:t>4) Destroy the objects</a:t>
            </a:r>
            <a:endParaRPr lang="en-US" sz="1800" b="1"/>
          </a:p>
        </p:txBody>
      </p:sp>
      <p:pic>
        <p:nvPicPr>
          <p:cNvPr id="4" name="Picture 3" descr="container magic">
            <a:extLst>
              <a:ext uri="{FF2B5EF4-FFF2-40B4-BE49-F238E27FC236}">
                <a16:creationId xmlns:a16="http://schemas.microsoft.com/office/drawing/2014/main" id="{49280083-E44A-FB10-5B87-ADE0F5BC232E}"/>
              </a:ext>
            </a:extLst>
          </p:cNvPr>
          <p:cNvPicPr>
            <a:picLocks noChangeAspect="1"/>
          </p:cNvPicPr>
          <p:nvPr/>
        </p:nvPicPr>
        <p:blipFill>
          <a:blip r:embed="rId2"/>
          <a:stretch>
            <a:fillRect/>
          </a:stretch>
        </p:blipFill>
        <p:spPr>
          <a:xfrm>
            <a:off x="7226062" y="1492318"/>
            <a:ext cx="4770405" cy="3873363"/>
          </a:xfrm>
          <a:prstGeom prst="rect">
            <a:avLst/>
          </a:prstGeom>
        </p:spPr>
      </p:pic>
      <p:sp>
        <p:nvSpPr>
          <p:cNvPr id="5" name="TextBox 4">
            <a:extLst>
              <a:ext uri="{FF2B5EF4-FFF2-40B4-BE49-F238E27FC236}">
                <a16:creationId xmlns:a16="http://schemas.microsoft.com/office/drawing/2014/main" id="{7AFF35FA-0829-D78C-333C-EB90BC0609BD}"/>
              </a:ext>
            </a:extLst>
          </p:cNvPr>
          <p:cNvSpPr txBox="1"/>
          <p:nvPr/>
        </p:nvSpPr>
        <p:spPr>
          <a:xfrm>
            <a:off x="8016815" y="5888966"/>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solidFill>
                  <a:srgbClr val="273030"/>
                </a:solidFill>
                <a:latin typeface="-apple-system"/>
              </a:rPr>
              <a:t>The Spring IoC container</a:t>
            </a:r>
            <a:endParaRPr lang="en-US"/>
          </a:p>
        </p:txBody>
      </p:sp>
    </p:spTree>
    <p:extLst>
      <p:ext uri="{BB962C8B-B14F-4D97-AF65-F5344CB8AC3E}">
        <p14:creationId xmlns:p14="http://schemas.microsoft.com/office/powerpoint/2010/main" val="2983519754"/>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5BF62-3FD8-3945-A298-20B61F470199}"/>
              </a:ext>
            </a:extLst>
          </p:cNvPr>
          <p:cNvSpPr>
            <a:spLocks noGrp="1"/>
          </p:cNvSpPr>
          <p:nvPr>
            <p:ph type="title"/>
          </p:nvPr>
        </p:nvSpPr>
        <p:spPr/>
        <p:txBody>
          <a:bodyPr>
            <a:normAutofit/>
          </a:bodyPr>
          <a:lstStyle/>
          <a:p>
            <a:r>
              <a:rPr lang="en-US" sz="4000" b="1">
                <a:solidFill>
                  <a:srgbClr val="000080"/>
                </a:solidFill>
                <a:latin typeface="Segoe UI"/>
                <a:cs typeface="Segoe UI"/>
              </a:rPr>
              <a:t>Types Of Spring Containers</a:t>
            </a:r>
            <a:endParaRPr lang="en-US" sz="4000"/>
          </a:p>
        </p:txBody>
      </p:sp>
      <p:sp>
        <p:nvSpPr>
          <p:cNvPr id="3" name="Content Placeholder 2">
            <a:extLst>
              <a:ext uri="{FF2B5EF4-FFF2-40B4-BE49-F238E27FC236}">
                <a16:creationId xmlns:a16="http://schemas.microsoft.com/office/drawing/2014/main" id="{B9229BB4-485E-C26D-F138-E2B7F83CBA98}"/>
              </a:ext>
            </a:extLst>
          </p:cNvPr>
          <p:cNvSpPr>
            <a:spLocks noGrp="1"/>
          </p:cNvSpPr>
          <p:nvPr>
            <p:ph idx="1"/>
          </p:nvPr>
        </p:nvSpPr>
        <p:spPr/>
        <p:txBody>
          <a:bodyPr vert="horz" lIns="91440" tIns="45720" rIns="91440" bIns="45720" rtlCol="0" anchor="t">
            <a:normAutofit/>
          </a:bodyPr>
          <a:lstStyle/>
          <a:p>
            <a:r>
              <a:rPr lang="en-US" sz="2400">
                <a:latin typeface="Segoe UI"/>
                <a:cs typeface="Segoe UI"/>
              </a:rPr>
              <a:t>Spring Framework provides two </a:t>
            </a:r>
            <a:r>
              <a:rPr lang="en-US" sz="2400" b="1">
                <a:solidFill>
                  <a:srgbClr val="0000FF"/>
                </a:solidFill>
                <a:latin typeface="Segoe UI"/>
                <a:cs typeface="Segoe UI"/>
              </a:rPr>
              <a:t>Java Interfaces</a:t>
            </a:r>
            <a:r>
              <a:rPr lang="en-US" sz="2400" b="1">
                <a:latin typeface="Segoe UI"/>
                <a:cs typeface="Segoe UI"/>
              </a:rPr>
              <a:t> that works as Spring Containers</a:t>
            </a:r>
            <a:r>
              <a:rPr lang="en-US" sz="2400">
                <a:latin typeface="Segoe UI"/>
                <a:cs typeface="Segoe UI"/>
              </a:rPr>
              <a:t>.</a:t>
            </a:r>
          </a:p>
          <a:p>
            <a:pPr lvl="1">
              <a:buFont typeface="Courier New" panose="020B0604020202020204" pitchFamily="34" charset="0"/>
              <a:buChar char="o"/>
            </a:pPr>
            <a:endParaRPr lang="en-US" sz="1800" b="1">
              <a:solidFill>
                <a:srgbClr val="000080"/>
              </a:solidFill>
              <a:latin typeface="Segoe UI"/>
              <a:cs typeface="Segoe UI"/>
            </a:endParaRPr>
          </a:p>
          <a:p>
            <a:pPr lvl="1">
              <a:buFont typeface="Courier New" panose="020B0604020202020204" pitchFamily="34" charset="0"/>
              <a:buChar char="o"/>
            </a:pPr>
            <a:r>
              <a:rPr lang="en-US" sz="2800" b="1">
                <a:solidFill>
                  <a:srgbClr val="000080"/>
                </a:solidFill>
                <a:latin typeface="Segoe UI"/>
                <a:cs typeface="Segoe UI"/>
              </a:rPr>
              <a:t>Bean Factory</a:t>
            </a:r>
            <a:endParaRPr lang="en-US" sz="2800">
              <a:latin typeface="Segoe UI"/>
              <a:cs typeface="Segoe UI"/>
            </a:endParaRPr>
          </a:p>
          <a:p>
            <a:pPr lvl="1">
              <a:buFont typeface="Courier New" panose="020B0604020202020204" pitchFamily="34" charset="0"/>
              <a:buChar char="o"/>
            </a:pPr>
            <a:endParaRPr lang="en-US" sz="2800" b="1">
              <a:solidFill>
                <a:srgbClr val="000080"/>
              </a:solidFill>
              <a:latin typeface="Segoe UI"/>
              <a:cs typeface="Segoe UI"/>
            </a:endParaRPr>
          </a:p>
          <a:p>
            <a:pPr lvl="1">
              <a:buFont typeface="Courier New" panose="020B0604020202020204" pitchFamily="34" charset="0"/>
              <a:buChar char="o"/>
            </a:pPr>
            <a:r>
              <a:rPr lang="en-US" sz="2800" b="1" err="1">
                <a:solidFill>
                  <a:srgbClr val="000080"/>
                </a:solidFill>
                <a:latin typeface="Segoe UI"/>
                <a:cs typeface="Segoe UI"/>
              </a:rPr>
              <a:t>ApplicationContext</a:t>
            </a:r>
            <a:endParaRPr lang="en-US" sz="2800" err="1">
              <a:latin typeface="Segoe UI"/>
              <a:cs typeface="Segoe UI"/>
            </a:endParaRPr>
          </a:p>
          <a:p>
            <a:endParaRPr lang="en-US" sz="2400" err="1">
              <a:latin typeface="Segoe UI"/>
              <a:cs typeface="Segoe UI"/>
            </a:endParaRPr>
          </a:p>
        </p:txBody>
      </p:sp>
    </p:spTree>
    <p:extLst>
      <p:ext uri="{BB962C8B-B14F-4D97-AF65-F5344CB8AC3E}">
        <p14:creationId xmlns:p14="http://schemas.microsoft.com/office/powerpoint/2010/main" val="1871940237"/>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6E883-4868-80E4-0D9C-BB47AE3FFEFB}"/>
              </a:ext>
            </a:extLst>
          </p:cNvPr>
          <p:cNvSpPr>
            <a:spLocks noGrp="1"/>
          </p:cNvSpPr>
          <p:nvPr>
            <p:ph type="title"/>
          </p:nvPr>
        </p:nvSpPr>
        <p:spPr/>
        <p:txBody>
          <a:bodyPr>
            <a:normAutofit/>
          </a:bodyPr>
          <a:lstStyle/>
          <a:p>
            <a:r>
              <a:rPr lang="en-US" sz="3600" b="1">
                <a:solidFill>
                  <a:srgbClr val="000080"/>
                </a:solidFill>
                <a:latin typeface="Segoe UI"/>
                <a:cs typeface="Segoe UI"/>
              </a:rPr>
              <a:t>Bean Factory</a:t>
            </a:r>
            <a:endParaRPr lang="en-US" sz="3600"/>
          </a:p>
        </p:txBody>
      </p:sp>
      <p:sp>
        <p:nvSpPr>
          <p:cNvPr id="3" name="Content Placeholder 2">
            <a:extLst>
              <a:ext uri="{FF2B5EF4-FFF2-40B4-BE49-F238E27FC236}">
                <a16:creationId xmlns:a16="http://schemas.microsoft.com/office/drawing/2014/main" id="{2161444A-F843-AA7D-E3F9-D243DC4B4CC3}"/>
              </a:ext>
            </a:extLst>
          </p:cNvPr>
          <p:cNvSpPr>
            <a:spLocks noGrp="1"/>
          </p:cNvSpPr>
          <p:nvPr>
            <p:ph idx="1"/>
          </p:nvPr>
        </p:nvSpPr>
        <p:spPr/>
        <p:txBody>
          <a:bodyPr vert="horz" lIns="91440" tIns="45720" rIns="91440" bIns="45720" rtlCol="0" anchor="t">
            <a:normAutofit/>
          </a:bodyPr>
          <a:lstStyle/>
          <a:p>
            <a:r>
              <a:rPr lang="en-US" sz="2400" dirty="0">
                <a:latin typeface="Segoe UI"/>
                <a:cs typeface="Segoe UI"/>
              </a:rPr>
              <a:t>It </a:t>
            </a:r>
            <a:r>
              <a:rPr lang="en-US" sz="2400" b="1" dirty="0">
                <a:latin typeface="Segoe UI"/>
                <a:cs typeface="Segoe UI"/>
              </a:rPr>
              <a:t>supports only XML configuration</a:t>
            </a:r>
            <a:r>
              <a:rPr lang="en-US" sz="2400" dirty="0">
                <a:latin typeface="Segoe UI"/>
                <a:cs typeface="Segoe UI"/>
              </a:rPr>
              <a:t>. </a:t>
            </a:r>
            <a:endParaRPr lang="en-US" sz="2400" dirty="0">
              <a:latin typeface="Aptos" panose="02110004020202020204"/>
              <a:cs typeface="Segoe UI"/>
            </a:endParaRPr>
          </a:p>
          <a:p>
            <a:r>
              <a:rPr lang="en-US" sz="2400" dirty="0">
                <a:latin typeface="Segoe UI"/>
                <a:cs typeface="Segoe UI"/>
              </a:rPr>
              <a:t>It comes under package </a:t>
            </a:r>
            <a:r>
              <a:rPr lang="en-US" sz="2400" b="1" dirty="0" err="1">
                <a:latin typeface="Segoe UI"/>
                <a:cs typeface="Segoe UI"/>
              </a:rPr>
              <a:t>org.springframework.beans</a:t>
            </a:r>
            <a:r>
              <a:rPr lang="en-US" sz="2400" i="1" dirty="0">
                <a:latin typeface="Segoe UI"/>
                <a:cs typeface="Segoe UI"/>
              </a:rPr>
              <a:t>. </a:t>
            </a:r>
            <a:endParaRPr lang="en-US" sz="2400" dirty="0">
              <a:latin typeface="Aptos" panose="02110004020202020204"/>
              <a:cs typeface="Segoe UI"/>
            </a:endParaRPr>
          </a:p>
          <a:p>
            <a:r>
              <a:rPr lang="en-US" sz="2400" dirty="0">
                <a:latin typeface="Segoe UI"/>
                <a:cs typeface="Segoe UI"/>
              </a:rPr>
              <a:t>Now it is supposed as a </a:t>
            </a:r>
            <a:r>
              <a:rPr lang="en-US" sz="2400" b="1" dirty="0">
                <a:latin typeface="Segoe UI"/>
                <a:cs typeface="Segoe UI"/>
              </a:rPr>
              <a:t>legacy container</a:t>
            </a:r>
            <a:r>
              <a:rPr lang="en-US" sz="2400" dirty="0">
                <a:latin typeface="Segoe UI"/>
                <a:cs typeface="Segoe UI"/>
              </a:rPr>
              <a:t>. </a:t>
            </a:r>
            <a:endParaRPr lang="en-US" sz="2400" dirty="0">
              <a:latin typeface="Aptos" panose="02110004020202020204"/>
              <a:cs typeface="Segoe UI"/>
            </a:endParaRPr>
          </a:p>
          <a:p>
            <a:r>
              <a:rPr lang="en-US" sz="2400" dirty="0">
                <a:latin typeface="Segoe UI"/>
                <a:cs typeface="Segoe UI"/>
              </a:rPr>
              <a:t>Since we can’t create an object from an Interface in Java, the </a:t>
            </a:r>
            <a:r>
              <a:rPr lang="en-US" sz="2400" b="1" dirty="0" err="1">
                <a:latin typeface="Segoe UI"/>
                <a:cs typeface="Segoe UI"/>
              </a:rPr>
              <a:t>BeanFactory</a:t>
            </a:r>
            <a:r>
              <a:rPr lang="en-US" sz="2400" b="1" dirty="0">
                <a:latin typeface="Segoe UI"/>
                <a:cs typeface="Segoe UI"/>
              </a:rPr>
              <a:t> interface</a:t>
            </a:r>
            <a:r>
              <a:rPr lang="en-US" sz="2400" dirty="0">
                <a:latin typeface="Segoe UI"/>
                <a:cs typeface="Segoe UI"/>
              </a:rPr>
              <a:t> provides a most </a:t>
            </a:r>
            <a:r>
              <a:rPr lang="en-US" sz="2400" b="1" dirty="0">
                <a:latin typeface="Segoe UI"/>
                <a:cs typeface="Segoe UI"/>
              </a:rPr>
              <a:t>commonly used implementation class</a:t>
            </a:r>
            <a:r>
              <a:rPr lang="en-US" sz="2400" dirty="0">
                <a:latin typeface="Segoe UI"/>
                <a:cs typeface="Segoe UI"/>
              </a:rPr>
              <a:t> which is </a:t>
            </a:r>
            <a:r>
              <a:rPr lang="en-US" sz="2400" b="1" dirty="0" err="1">
                <a:latin typeface="Segoe UI"/>
                <a:cs typeface="Segoe UI"/>
              </a:rPr>
              <a:t>XmlBeanFactory</a:t>
            </a:r>
            <a:r>
              <a:rPr lang="en-US" sz="2400" dirty="0">
                <a:latin typeface="Segoe UI"/>
                <a:cs typeface="Segoe UI"/>
              </a:rPr>
              <a:t>.</a:t>
            </a:r>
            <a:endParaRPr lang="en-US" sz="2400" dirty="0"/>
          </a:p>
          <a:p>
            <a:endParaRPr lang="en-US" sz="2400" dirty="0"/>
          </a:p>
        </p:txBody>
      </p:sp>
    </p:spTree>
    <p:extLst>
      <p:ext uri="{BB962C8B-B14F-4D97-AF65-F5344CB8AC3E}">
        <p14:creationId xmlns:p14="http://schemas.microsoft.com/office/powerpoint/2010/main" val="3627823903"/>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40239-462E-AC49-28B4-5B19C9A9A6C2}"/>
              </a:ext>
            </a:extLst>
          </p:cNvPr>
          <p:cNvSpPr>
            <a:spLocks noGrp="1"/>
          </p:cNvSpPr>
          <p:nvPr>
            <p:ph type="title"/>
          </p:nvPr>
        </p:nvSpPr>
        <p:spPr/>
        <p:txBody>
          <a:bodyPr>
            <a:normAutofit/>
          </a:bodyPr>
          <a:lstStyle/>
          <a:p>
            <a:r>
              <a:rPr lang="en-US" sz="3200" b="1" err="1">
                <a:solidFill>
                  <a:srgbClr val="000080"/>
                </a:solidFill>
                <a:latin typeface="Segoe UI"/>
                <a:cs typeface="Segoe UI"/>
              </a:rPr>
              <a:t>ApplicationContext</a:t>
            </a:r>
            <a:endParaRPr lang="en-US" sz="3200" err="1"/>
          </a:p>
        </p:txBody>
      </p:sp>
      <p:sp>
        <p:nvSpPr>
          <p:cNvPr id="3" name="Content Placeholder 2">
            <a:extLst>
              <a:ext uri="{FF2B5EF4-FFF2-40B4-BE49-F238E27FC236}">
                <a16:creationId xmlns:a16="http://schemas.microsoft.com/office/drawing/2014/main" id="{6E166FAD-DFA3-B5C3-EF33-C3F1BB1912DC}"/>
              </a:ext>
            </a:extLst>
          </p:cNvPr>
          <p:cNvSpPr>
            <a:spLocks noGrp="1"/>
          </p:cNvSpPr>
          <p:nvPr>
            <p:ph idx="1"/>
          </p:nvPr>
        </p:nvSpPr>
        <p:spPr/>
        <p:txBody>
          <a:bodyPr vert="horz" lIns="91440" tIns="45720" rIns="91440" bIns="45720" rtlCol="0" anchor="t">
            <a:normAutofit lnSpcReduction="10000"/>
          </a:bodyPr>
          <a:lstStyle/>
          <a:p>
            <a:r>
              <a:rPr lang="en-US" sz="2000">
                <a:latin typeface="Segoe UI"/>
                <a:cs typeface="Segoe UI"/>
              </a:rPr>
              <a:t>Represents the Spring IoC container and is responsible for instantiating, configuring, and assembling the beans. </a:t>
            </a:r>
          </a:p>
          <a:p>
            <a:r>
              <a:rPr lang="en-US" sz="2000">
                <a:latin typeface="Segoe UI"/>
                <a:cs typeface="Segoe UI"/>
              </a:rPr>
              <a:t>It supports all the forms of configuration: XML, Java and Annotation. </a:t>
            </a:r>
            <a:endParaRPr lang="en-US" sz="2000">
              <a:latin typeface="Aptos" panose="02110004020202020204"/>
              <a:cs typeface="Segoe UI"/>
            </a:endParaRPr>
          </a:p>
          <a:p>
            <a:r>
              <a:rPr lang="en-US" sz="2000">
                <a:latin typeface="Segoe UI"/>
                <a:cs typeface="Segoe UI"/>
              </a:rPr>
              <a:t>It comes under package </a:t>
            </a:r>
            <a:r>
              <a:rPr lang="en-US" sz="2000" b="1" err="1">
                <a:latin typeface="Segoe UI"/>
                <a:cs typeface="Segoe UI"/>
              </a:rPr>
              <a:t>org.springframework.context</a:t>
            </a:r>
            <a:r>
              <a:rPr lang="en-US" sz="2000">
                <a:latin typeface="Segoe UI"/>
                <a:cs typeface="Segoe UI"/>
              </a:rPr>
              <a:t>. </a:t>
            </a:r>
            <a:endParaRPr lang="en-US" sz="2000">
              <a:solidFill>
                <a:srgbClr val="000000"/>
              </a:solidFill>
              <a:latin typeface="Aptos" panose="02110004020202020204"/>
              <a:cs typeface="Segoe UI"/>
            </a:endParaRPr>
          </a:p>
          <a:p>
            <a:r>
              <a:rPr lang="en-US" sz="2000" err="1">
                <a:solidFill>
                  <a:srgbClr val="0000FF"/>
                </a:solidFill>
                <a:latin typeface="Segoe UI"/>
                <a:cs typeface="Segoe UI"/>
              </a:rPr>
              <a:t>ApplicationContext</a:t>
            </a:r>
            <a:r>
              <a:rPr lang="en-US" sz="2000">
                <a:latin typeface="Segoe UI"/>
                <a:cs typeface="Segoe UI"/>
              </a:rPr>
              <a:t> provides multiple implementation classes such as:</a:t>
            </a:r>
            <a:endParaRPr lang="en-US" sz="2000"/>
          </a:p>
          <a:p>
            <a:pPr marL="457200" lvl="1" indent="0">
              <a:buNone/>
            </a:pPr>
            <a:endParaRPr lang="en-US" sz="1600" b="1">
              <a:solidFill>
                <a:srgbClr val="000080"/>
              </a:solidFill>
              <a:latin typeface="Segoe UI"/>
              <a:cs typeface="Segoe UI"/>
            </a:endParaRPr>
          </a:p>
          <a:p>
            <a:pPr marL="457200" lvl="1" indent="0">
              <a:buNone/>
            </a:pPr>
            <a:r>
              <a:rPr lang="en-US" sz="1800" b="1">
                <a:solidFill>
                  <a:srgbClr val="000080"/>
                </a:solidFill>
                <a:latin typeface="Segoe UI"/>
                <a:cs typeface="Segoe UI"/>
              </a:rPr>
              <a:t>(A) </a:t>
            </a:r>
            <a:r>
              <a:rPr lang="en-US" sz="1800" b="1" err="1">
                <a:solidFill>
                  <a:srgbClr val="000080"/>
                </a:solidFill>
                <a:latin typeface="Segoe UI"/>
                <a:cs typeface="Segoe UI"/>
              </a:rPr>
              <a:t>ClassPathXmlApplicationContext</a:t>
            </a:r>
            <a:r>
              <a:rPr lang="en-US" sz="1800" b="1">
                <a:latin typeface="Segoe UI"/>
                <a:cs typeface="Segoe UI"/>
              </a:rPr>
              <a:t> :</a:t>
            </a:r>
            <a:r>
              <a:rPr lang="en-US" sz="1800">
                <a:latin typeface="Segoe UI"/>
                <a:cs typeface="Segoe UI"/>
              </a:rPr>
              <a:t> We should use it when configuration file is at project’s class path.</a:t>
            </a:r>
            <a:endParaRPr lang="en-US" sz="1800"/>
          </a:p>
          <a:p>
            <a:pPr marL="457200" lvl="1" indent="0">
              <a:buNone/>
            </a:pPr>
            <a:endParaRPr lang="en-US" sz="1800" b="1">
              <a:solidFill>
                <a:srgbClr val="000080"/>
              </a:solidFill>
              <a:latin typeface="Segoe UI"/>
              <a:cs typeface="Segoe UI"/>
            </a:endParaRPr>
          </a:p>
          <a:p>
            <a:pPr marL="457200" lvl="1" indent="0">
              <a:buNone/>
            </a:pPr>
            <a:r>
              <a:rPr lang="en-US" sz="1800" b="1">
                <a:solidFill>
                  <a:srgbClr val="000080"/>
                </a:solidFill>
                <a:latin typeface="Segoe UI"/>
                <a:cs typeface="Segoe UI"/>
              </a:rPr>
              <a:t>(B) </a:t>
            </a:r>
            <a:r>
              <a:rPr lang="en-US" sz="1800" b="1" err="1">
                <a:solidFill>
                  <a:srgbClr val="000080"/>
                </a:solidFill>
                <a:latin typeface="Segoe UI"/>
                <a:cs typeface="Segoe UI"/>
              </a:rPr>
              <a:t>FileSystemXmlApplicationContex</a:t>
            </a:r>
            <a:r>
              <a:rPr lang="en-US" sz="1800" b="1" err="1">
                <a:latin typeface="Segoe UI"/>
                <a:cs typeface="Segoe UI"/>
              </a:rPr>
              <a:t>t</a:t>
            </a:r>
            <a:r>
              <a:rPr lang="en-US" sz="1800" b="1">
                <a:latin typeface="Segoe UI"/>
                <a:cs typeface="Segoe UI"/>
              </a:rPr>
              <a:t> :</a:t>
            </a:r>
            <a:r>
              <a:rPr lang="en-US" sz="1800">
                <a:latin typeface="Segoe UI"/>
                <a:cs typeface="Segoe UI"/>
              </a:rPr>
              <a:t> We should use it when configuration file is at server’s file system.</a:t>
            </a:r>
            <a:endParaRPr lang="en-US" sz="1800"/>
          </a:p>
          <a:p>
            <a:pPr marL="457200" lvl="1" indent="0">
              <a:buNone/>
            </a:pPr>
            <a:endParaRPr lang="en-US" sz="1800" b="1">
              <a:solidFill>
                <a:srgbClr val="000080"/>
              </a:solidFill>
              <a:latin typeface="Segoe UI"/>
              <a:cs typeface="Segoe UI"/>
            </a:endParaRPr>
          </a:p>
          <a:p>
            <a:pPr marL="457200" lvl="1" indent="0">
              <a:buNone/>
            </a:pPr>
            <a:r>
              <a:rPr lang="en-US" sz="1800" b="1">
                <a:solidFill>
                  <a:srgbClr val="000080"/>
                </a:solidFill>
                <a:latin typeface="Segoe UI"/>
                <a:cs typeface="Segoe UI"/>
              </a:rPr>
              <a:t>(C) </a:t>
            </a:r>
            <a:r>
              <a:rPr lang="en-US" sz="1800" b="1" err="1">
                <a:solidFill>
                  <a:srgbClr val="000080"/>
                </a:solidFill>
                <a:latin typeface="Segoe UI"/>
                <a:cs typeface="Segoe UI"/>
              </a:rPr>
              <a:t>AnnotationConfigApplicationContext</a:t>
            </a:r>
            <a:r>
              <a:rPr lang="en-US" sz="1800" b="1">
                <a:latin typeface="Segoe UI"/>
                <a:cs typeface="Segoe UI"/>
              </a:rPr>
              <a:t> :</a:t>
            </a:r>
            <a:r>
              <a:rPr lang="en-US" sz="1800">
                <a:latin typeface="Segoe UI"/>
                <a:cs typeface="Segoe UI"/>
              </a:rPr>
              <a:t> We should use it when we are using annotation-based configuration.</a:t>
            </a:r>
            <a:endParaRPr lang="en-US" sz="1800"/>
          </a:p>
          <a:p>
            <a:pPr lvl="1">
              <a:buFont typeface="Courier New" panose="020B0604020202020204" pitchFamily="34" charset="0"/>
              <a:buChar char="o"/>
            </a:pPr>
            <a:endParaRPr lang="en-US" sz="1600">
              <a:latin typeface="Segoe UI"/>
              <a:cs typeface="Segoe UI"/>
            </a:endParaRPr>
          </a:p>
          <a:p>
            <a:endParaRPr lang="en-US" sz="4400"/>
          </a:p>
        </p:txBody>
      </p:sp>
    </p:spTree>
    <p:extLst>
      <p:ext uri="{BB962C8B-B14F-4D97-AF65-F5344CB8AC3E}">
        <p14:creationId xmlns:p14="http://schemas.microsoft.com/office/powerpoint/2010/main" val="2582823823"/>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80CD6-2EA5-7CE8-073E-F9316FE1F821}"/>
              </a:ext>
            </a:extLst>
          </p:cNvPr>
          <p:cNvSpPr>
            <a:spLocks noGrp="1"/>
          </p:cNvSpPr>
          <p:nvPr>
            <p:ph type="title"/>
          </p:nvPr>
        </p:nvSpPr>
        <p:spPr/>
        <p:txBody>
          <a:bodyPr>
            <a:normAutofit/>
          </a:bodyPr>
          <a:lstStyle/>
          <a:p>
            <a:r>
              <a:rPr lang="en-US" sz="3600" b="1">
                <a:solidFill>
                  <a:srgbClr val="000080"/>
                </a:solidFill>
                <a:latin typeface="Segoe UI"/>
                <a:cs typeface="Segoe UI"/>
              </a:rPr>
              <a:t>Create a Spring Container</a:t>
            </a:r>
            <a:endParaRPr lang="en-US" sz="3600"/>
          </a:p>
        </p:txBody>
      </p:sp>
      <p:sp>
        <p:nvSpPr>
          <p:cNvPr id="3" name="Content Placeholder 2">
            <a:extLst>
              <a:ext uri="{FF2B5EF4-FFF2-40B4-BE49-F238E27FC236}">
                <a16:creationId xmlns:a16="http://schemas.microsoft.com/office/drawing/2014/main" id="{BA315097-4149-E787-6F7F-C32D3EC2835C}"/>
              </a:ext>
            </a:extLst>
          </p:cNvPr>
          <p:cNvSpPr>
            <a:spLocks noGrp="1"/>
          </p:cNvSpPr>
          <p:nvPr>
            <p:ph idx="1"/>
          </p:nvPr>
        </p:nvSpPr>
        <p:spPr>
          <a:xfrm>
            <a:off x="199465" y="1825625"/>
            <a:ext cx="11837893" cy="4351338"/>
          </a:xfrm>
        </p:spPr>
        <p:txBody>
          <a:bodyPr vert="horz" lIns="91440" tIns="45720" rIns="91440" bIns="45720" rtlCol="0" anchor="t">
            <a:noAutofit/>
          </a:bodyPr>
          <a:lstStyle/>
          <a:p>
            <a:pPr marL="0" indent="0">
              <a:buNone/>
            </a:pPr>
            <a:r>
              <a:rPr lang="en-US" sz="1600" b="1" err="1">
                <a:solidFill>
                  <a:srgbClr val="3D3D3D"/>
                </a:solidFill>
                <a:highlight>
                  <a:srgbClr val="FFFF00"/>
                </a:highlight>
                <a:latin typeface="Consolas"/>
              </a:rPr>
              <a:t>ApplicationContext</a:t>
            </a:r>
            <a:r>
              <a:rPr lang="en-US" sz="1600" b="1">
                <a:solidFill>
                  <a:srgbClr val="3D3D3D"/>
                </a:solidFill>
                <a:highlight>
                  <a:srgbClr val="FFFF00"/>
                </a:highlight>
                <a:latin typeface="Consolas"/>
              </a:rPr>
              <a:t> context = </a:t>
            </a:r>
            <a:r>
              <a:rPr lang="en-US" sz="1600" b="1">
                <a:solidFill>
                  <a:srgbClr val="993300"/>
                </a:solidFill>
                <a:highlight>
                  <a:srgbClr val="FFFF00"/>
                </a:highlight>
                <a:latin typeface="Consolas"/>
              </a:rPr>
              <a:t>new </a:t>
            </a:r>
            <a:r>
              <a:rPr lang="en-US" sz="1600" b="1" err="1">
                <a:solidFill>
                  <a:srgbClr val="3D3D3D"/>
                </a:solidFill>
                <a:highlight>
                  <a:srgbClr val="FFFF00"/>
                </a:highlight>
                <a:latin typeface="Consolas"/>
              </a:rPr>
              <a:t>ClassPathXmlApplicationContext</a:t>
            </a:r>
            <a:r>
              <a:rPr lang="en-US" sz="1600" b="1">
                <a:solidFill>
                  <a:srgbClr val="3D3D3D"/>
                </a:solidFill>
                <a:highlight>
                  <a:srgbClr val="FFFF00"/>
                </a:highlight>
                <a:latin typeface="Consolas"/>
              </a:rPr>
              <a:t>(</a:t>
            </a:r>
            <a:r>
              <a:rPr lang="en-US" sz="1600" b="1">
                <a:solidFill>
                  <a:srgbClr val="0000FF"/>
                </a:solidFill>
                <a:highlight>
                  <a:srgbClr val="FFFF00"/>
                </a:highlight>
                <a:latin typeface="Consolas"/>
              </a:rPr>
              <a:t>"com/spring/example/config.xml"</a:t>
            </a:r>
            <a:r>
              <a:rPr lang="en-US" sz="1600" b="1">
                <a:solidFill>
                  <a:srgbClr val="3D3D3D"/>
                </a:solidFill>
                <a:highlight>
                  <a:srgbClr val="FFFF00"/>
                </a:highlight>
                <a:latin typeface="Consolas"/>
              </a:rPr>
              <a:t>);</a:t>
            </a:r>
            <a:endParaRPr lang="en-US" sz="1600">
              <a:highlight>
                <a:srgbClr val="FFFF00"/>
              </a:highlight>
            </a:endParaRPr>
          </a:p>
          <a:p>
            <a:endParaRPr lang="en-US" sz="2400" b="1">
              <a:solidFill>
                <a:srgbClr val="3D3D3D"/>
              </a:solidFill>
              <a:latin typeface="Consolas"/>
            </a:endParaRPr>
          </a:p>
          <a:p>
            <a:r>
              <a:rPr lang="en-US" sz="2400">
                <a:solidFill>
                  <a:srgbClr val="000000"/>
                </a:solidFill>
                <a:latin typeface="Segoe UI"/>
                <a:cs typeface="Segoe UI"/>
              </a:rPr>
              <a:t>we are using </a:t>
            </a:r>
            <a:r>
              <a:rPr lang="en-US" sz="2400" err="1">
                <a:solidFill>
                  <a:srgbClr val="000000"/>
                </a:solidFill>
                <a:latin typeface="Segoe UI"/>
                <a:cs typeface="Segoe UI"/>
              </a:rPr>
              <a:t>ClassPathXmlApplicationContext</a:t>
            </a:r>
            <a:r>
              <a:rPr lang="en-US" sz="2400">
                <a:solidFill>
                  <a:srgbClr val="000000"/>
                </a:solidFill>
                <a:latin typeface="Segoe UI"/>
                <a:cs typeface="Segoe UI"/>
              </a:rPr>
              <a:t> to create the container context and supplying configuration file named as config.xml (For XML-based configuration).</a:t>
            </a:r>
          </a:p>
          <a:p>
            <a:endParaRPr lang="en-US" sz="2400">
              <a:solidFill>
                <a:srgbClr val="000000"/>
              </a:solidFill>
              <a:latin typeface="Segoe UI"/>
              <a:cs typeface="Segoe UI"/>
            </a:endParaRPr>
          </a:p>
          <a:p>
            <a:endParaRPr lang="en-US" sz="2400">
              <a:solidFill>
                <a:srgbClr val="000000"/>
              </a:solidFill>
              <a:latin typeface="Segoe UI"/>
              <a:cs typeface="Segoe UI"/>
            </a:endParaRPr>
          </a:p>
          <a:p>
            <a:pPr marL="0" indent="0">
              <a:buNone/>
            </a:pPr>
            <a:r>
              <a:rPr lang="en-US" sz="1600" b="1" err="1">
                <a:solidFill>
                  <a:srgbClr val="3D3D3D"/>
                </a:solidFill>
                <a:highlight>
                  <a:srgbClr val="FFFF00"/>
                </a:highlight>
                <a:latin typeface="Consolas"/>
                <a:cs typeface="Segoe UI"/>
              </a:rPr>
              <a:t>AnnotationConfigApplicationContext</a:t>
            </a:r>
            <a:r>
              <a:rPr lang="en-US" sz="1600" b="1">
                <a:solidFill>
                  <a:srgbClr val="3D3D3D"/>
                </a:solidFill>
                <a:highlight>
                  <a:srgbClr val="FFFF00"/>
                </a:highlight>
                <a:latin typeface="Consolas"/>
                <a:cs typeface="Segoe UI"/>
              </a:rPr>
              <a:t>  context = </a:t>
            </a:r>
            <a:r>
              <a:rPr lang="en-US" sz="1600" b="1">
                <a:solidFill>
                  <a:srgbClr val="993300"/>
                </a:solidFill>
                <a:highlight>
                  <a:srgbClr val="FFFF00"/>
                </a:highlight>
                <a:latin typeface="Consolas"/>
                <a:cs typeface="Segoe UI"/>
              </a:rPr>
              <a:t>new </a:t>
            </a:r>
            <a:r>
              <a:rPr lang="en-US" sz="1600" b="1" err="1">
                <a:solidFill>
                  <a:srgbClr val="3D3D3D"/>
                </a:solidFill>
                <a:highlight>
                  <a:srgbClr val="FFFF00"/>
                </a:highlight>
                <a:latin typeface="Consolas"/>
                <a:cs typeface="Segoe UI"/>
              </a:rPr>
              <a:t>AnnotationConfigApplicationContext</a:t>
            </a:r>
            <a:r>
              <a:rPr lang="en-US" sz="1600" b="1">
                <a:solidFill>
                  <a:srgbClr val="3D3D3D"/>
                </a:solidFill>
                <a:highlight>
                  <a:srgbClr val="FFFF00"/>
                </a:highlight>
                <a:latin typeface="Consolas"/>
                <a:cs typeface="Segoe UI"/>
              </a:rPr>
              <a:t>(</a:t>
            </a:r>
            <a:r>
              <a:rPr lang="en-US" sz="1600" b="1" err="1">
                <a:solidFill>
                  <a:srgbClr val="3D3D3D"/>
                </a:solidFill>
                <a:highlight>
                  <a:srgbClr val="FFFF00"/>
                </a:highlight>
                <a:latin typeface="Consolas"/>
                <a:cs typeface="Segoe UI"/>
              </a:rPr>
              <a:t>AppConfig.</a:t>
            </a:r>
            <a:r>
              <a:rPr lang="en-US" sz="1600" b="1" err="1">
                <a:solidFill>
                  <a:srgbClr val="993300"/>
                </a:solidFill>
                <a:highlight>
                  <a:srgbClr val="FFFF00"/>
                </a:highlight>
                <a:latin typeface="Consolas"/>
                <a:cs typeface="Segoe UI"/>
              </a:rPr>
              <a:t>class</a:t>
            </a:r>
            <a:r>
              <a:rPr lang="en-US" sz="1600" b="1">
                <a:solidFill>
                  <a:srgbClr val="3D3D3D"/>
                </a:solidFill>
                <a:highlight>
                  <a:srgbClr val="FFFF00"/>
                </a:highlight>
                <a:latin typeface="Consolas"/>
                <a:cs typeface="Segoe UI"/>
              </a:rPr>
              <a:t>);</a:t>
            </a:r>
          </a:p>
          <a:p>
            <a:r>
              <a:rPr lang="en-US" sz="2400" err="1">
                <a:solidFill>
                  <a:srgbClr val="000000"/>
                </a:solidFill>
                <a:latin typeface="Segoe UI"/>
                <a:cs typeface="Segoe UI"/>
              </a:rPr>
              <a:t>AnnotationConfigApplicationContext</a:t>
            </a:r>
            <a:r>
              <a:rPr lang="en-US" sz="2400">
                <a:solidFill>
                  <a:srgbClr val="000000"/>
                </a:solidFill>
                <a:latin typeface="Segoe UI"/>
                <a:cs typeface="Segoe UI"/>
              </a:rPr>
              <a:t> to create the container context and supplying configuration class named as </a:t>
            </a:r>
            <a:r>
              <a:rPr lang="en-US" sz="2400" err="1">
                <a:solidFill>
                  <a:srgbClr val="000000"/>
                </a:solidFill>
                <a:latin typeface="Segoe UI"/>
                <a:cs typeface="Segoe UI"/>
              </a:rPr>
              <a:t>AppConfig.class</a:t>
            </a:r>
            <a:r>
              <a:rPr lang="en-US" sz="2400">
                <a:solidFill>
                  <a:srgbClr val="000000"/>
                </a:solidFill>
                <a:latin typeface="Segoe UI"/>
                <a:cs typeface="Segoe UI"/>
              </a:rPr>
              <a:t> (For Annotation-based configuration).</a:t>
            </a:r>
            <a:endParaRPr lang="en-US" sz="2400" b="1">
              <a:solidFill>
                <a:srgbClr val="3D3D3D"/>
              </a:solidFill>
              <a:latin typeface="Consolas"/>
              <a:cs typeface="Segoe UI"/>
            </a:endParaRPr>
          </a:p>
        </p:txBody>
      </p:sp>
    </p:spTree>
    <p:extLst>
      <p:ext uri="{BB962C8B-B14F-4D97-AF65-F5344CB8AC3E}">
        <p14:creationId xmlns:p14="http://schemas.microsoft.com/office/powerpoint/2010/main" val="1723787225"/>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CF3AE-3EA5-813B-DA7E-A612B1082A7F}"/>
              </a:ext>
            </a:extLst>
          </p:cNvPr>
          <p:cNvSpPr>
            <a:spLocks noGrp="1"/>
          </p:cNvSpPr>
          <p:nvPr>
            <p:ph type="title"/>
          </p:nvPr>
        </p:nvSpPr>
        <p:spPr/>
        <p:txBody>
          <a:bodyPr>
            <a:normAutofit/>
          </a:bodyPr>
          <a:lstStyle/>
          <a:p>
            <a:r>
              <a:rPr lang="en-US" sz="3600" b="1">
                <a:solidFill>
                  <a:srgbClr val="000080"/>
                </a:solidFill>
                <a:latin typeface="Segoe UI"/>
                <a:cs typeface="Segoe UI"/>
              </a:rPr>
              <a:t>Get Bean from Spring Container</a:t>
            </a:r>
            <a:endParaRPr lang="en-US" sz="3600"/>
          </a:p>
        </p:txBody>
      </p:sp>
      <p:sp>
        <p:nvSpPr>
          <p:cNvPr id="3" name="Content Placeholder 2">
            <a:extLst>
              <a:ext uri="{FF2B5EF4-FFF2-40B4-BE49-F238E27FC236}">
                <a16:creationId xmlns:a16="http://schemas.microsoft.com/office/drawing/2014/main" id="{4F47A3E2-177A-E398-DA45-DB94662ADF3C}"/>
              </a:ext>
            </a:extLst>
          </p:cNvPr>
          <p:cNvSpPr>
            <a:spLocks noGrp="1"/>
          </p:cNvSpPr>
          <p:nvPr>
            <p:ph idx="1"/>
          </p:nvPr>
        </p:nvSpPr>
        <p:spPr>
          <a:xfrm>
            <a:off x="306238" y="1825625"/>
            <a:ext cx="11047562" cy="4351338"/>
          </a:xfrm>
        </p:spPr>
        <p:txBody>
          <a:bodyPr vert="horz" lIns="91440" tIns="45720" rIns="91440" bIns="45720" rtlCol="0" anchor="t">
            <a:normAutofit/>
          </a:bodyPr>
          <a:lstStyle/>
          <a:p>
            <a:r>
              <a:rPr lang="en-US" sz="2000">
                <a:latin typeface="Segoe UI"/>
                <a:cs typeface="Segoe UI"/>
              </a:rPr>
              <a:t>Spring Container (</a:t>
            </a:r>
            <a:r>
              <a:rPr lang="en-US" sz="2000" err="1">
                <a:latin typeface="Segoe UI"/>
                <a:cs typeface="Segoe UI"/>
              </a:rPr>
              <a:t>BeanFactory</a:t>
            </a:r>
            <a:r>
              <a:rPr lang="en-US" sz="2000">
                <a:latin typeface="Segoe UI"/>
                <a:cs typeface="Segoe UI"/>
              </a:rPr>
              <a:t>/</a:t>
            </a:r>
            <a:r>
              <a:rPr lang="en-US" sz="2000" err="1">
                <a:latin typeface="Segoe UI"/>
                <a:cs typeface="Segoe UI"/>
              </a:rPr>
              <a:t>ApplicationContext</a:t>
            </a:r>
            <a:r>
              <a:rPr lang="en-US" sz="2000">
                <a:latin typeface="Segoe UI"/>
                <a:cs typeface="Segoe UI"/>
              </a:rPr>
              <a:t>)  provides </a:t>
            </a:r>
            <a:r>
              <a:rPr lang="en-US" sz="2000" err="1">
                <a:latin typeface="Segoe UI"/>
                <a:cs typeface="Segoe UI"/>
              </a:rPr>
              <a:t>getBean</a:t>
            </a:r>
            <a:r>
              <a:rPr lang="en-US" sz="2000">
                <a:latin typeface="Segoe UI"/>
                <a:cs typeface="Segoe UI"/>
              </a:rPr>
              <a:t>() method to get bean from it.</a:t>
            </a:r>
            <a:endParaRPr lang="en-US" sz="4400">
              <a:latin typeface="Aptos" panose="02110004020202020204"/>
              <a:cs typeface="Segoe UI"/>
            </a:endParaRPr>
          </a:p>
          <a:p>
            <a:r>
              <a:rPr lang="en-US" sz="2000">
                <a:latin typeface="Segoe UI"/>
                <a:cs typeface="Segoe UI"/>
              </a:rPr>
              <a:t>However, </a:t>
            </a:r>
            <a:r>
              <a:rPr lang="en-US" sz="2000" err="1">
                <a:latin typeface="Segoe UI"/>
                <a:cs typeface="Segoe UI"/>
              </a:rPr>
              <a:t>getBean</a:t>
            </a:r>
            <a:r>
              <a:rPr lang="en-US" sz="2000">
                <a:latin typeface="Segoe UI"/>
                <a:cs typeface="Segoe UI"/>
              </a:rPr>
              <a:t>() method has multiple flavors as it has got different combination of parameters. </a:t>
            </a:r>
            <a:endParaRPr lang="en-US" sz="4400">
              <a:latin typeface="Aptos" panose="02110004020202020204"/>
              <a:cs typeface="Segoe UI"/>
            </a:endParaRPr>
          </a:p>
          <a:p>
            <a:r>
              <a:rPr lang="en-US" sz="2000">
                <a:latin typeface="Segoe UI"/>
                <a:cs typeface="Segoe UI"/>
              </a:rPr>
              <a:t>We can use any one of them as per our requirement. </a:t>
            </a:r>
            <a:endParaRPr lang="en-US" sz="4400">
              <a:solidFill>
                <a:srgbClr val="000000"/>
              </a:solidFill>
              <a:latin typeface="Aptos" panose="02110004020202020204"/>
            </a:endParaRPr>
          </a:p>
          <a:p>
            <a:pPr marL="0" indent="0">
              <a:buNone/>
            </a:pPr>
            <a:endParaRPr lang="en-US" sz="1800" b="1">
              <a:solidFill>
                <a:srgbClr val="3D3D3D"/>
              </a:solidFill>
              <a:highlight>
                <a:srgbClr val="FFFF00"/>
              </a:highlight>
              <a:latin typeface="Consolas"/>
            </a:endParaRPr>
          </a:p>
          <a:p>
            <a:pPr marL="0" indent="0">
              <a:buNone/>
            </a:pPr>
            <a:r>
              <a:rPr lang="en-US" sz="1800" b="1" err="1">
                <a:solidFill>
                  <a:srgbClr val="3D3D3D"/>
                </a:solidFill>
                <a:highlight>
                  <a:srgbClr val="FFFF00"/>
                </a:highlight>
                <a:latin typeface="Consolas"/>
              </a:rPr>
              <a:t>ApplicationContext</a:t>
            </a:r>
            <a:r>
              <a:rPr lang="en-US" sz="1800" b="1">
                <a:solidFill>
                  <a:srgbClr val="3D3D3D"/>
                </a:solidFill>
                <a:highlight>
                  <a:srgbClr val="FFFF00"/>
                </a:highlight>
                <a:latin typeface="Consolas"/>
              </a:rPr>
              <a:t> </a:t>
            </a:r>
            <a:r>
              <a:rPr lang="en-US" sz="1800" b="1" err="1">
                <a:solidFill>
                  <a:srgbClr val="3D3D3D"/>
                </a:solidFill>
                <a:highlight>
                  <a:srgbClr val="FFFF00"/>
                </a:highlight>
                <a:latin typeface="Consolas"/>
              </a:rPr>
              <a:t>ctx</a:t>
            </a:r>
            <a:r>
              <a:rPr lang="en-US" sz="1800" b="1">
                <a:solidFill>
                  <a:srgbClr val="3D3D3D"/>
                </a:solidFill>
                <a:highlight>
                  <a:srgbClr val="FFFF00"/>
                </a:highlight>
                <a:latin typeface="Consolas"/>
              </a:rPr>
              <a:t> = </a:t>
            </a:r>
            <a:r>
              <a:rPr lang="en-US" sz="1800" b="1">
                <a:solidFill>
                  <a:srgbClr val="993300"/>
                </a:solidFill>
                <a:highlight>
                  <a:srgbClr val="FFFF00"/>
                </a:highlight>
                <a:latin typeface="Consolas"/>
              </a:rPr>
              <a:t>new </a:t>
            </a:r>
            <a:r>
              <a:rPr lang="en-US" sz="1800" b="1" err="1">
                <a:solidFill>
                  <a:srgbClr val="3D3D3D"/>
                </a:solidFill>
                <a:highlight>
                  <a:srgbClr val="FFFF00"/>
                </a:highlight>
                <a:latin typeface="Consolas"/>
              </a:rPr>
              <a:t>ClassPathXmlApplicationContext</a:t>
            </a:r>
            <a:r>
              <a:rPr lang="en-US" sz="1800" b="1">
                <a:solidFill>
                  <a:srgbClr val="3D3D3D"/>
                </a:solidFill>
                <a:highlight>
                  <a:srgbClr val="FFFF00"/>
                </a:highlight>
                <a:latin typeface="Consolas"/>
              </a:rPr>
              <a:t>(</a:t>
            </a:r>
            <a:r>
              <a:rPr lang="en-US" sz="1800" b="1">
                <a:solidFill>
                  <a:srgbClr val="0000FF"/>
                </a:solidFill>
                <a:highlight>
                  <a:srgbClr val="FFFF00"/>
                </a:highlight>
                <a:latin typeface="Consolas"/>
              </a:rPr>
              <a:t>"com/example/config.xml"</a:t>
            </a:r>
            <a:r>
              <a:rPr lang="en-US" sz="1800" b="1">
                <a:solidFill>
                  <a:srgbClr val="3D3D3D"/>
                </a:solidFill>
                <a:highlight>
                  <a:srgbClr val="FFFF00"/>
                </a:highlight>
                <a:latin typeface="Consolas"/>
              </a:rPr>
              <a:t>); 
</a:t>
            </a:r>
          </a:p>
          <a:p>
            <a:pPr marL="0" indent="0">
              <a:buNone/>
            </a:pPr>
            <a:r>
              <a:rPr lang="en-US" sz="1800" b="1">
                <a:solidFill>
                  <a:srgbClr val="3D3D3D"/>
                </a:solidFill>
                <a:highlight>
                  <a:srgbClr val="FFFF00"/>
                </a:highlight>
                <a:latin typeface="Consolas"/>
              </a:rPr>
              <a:t>Person </a:t>
            </a:r>
            <a:r>
              <a:rPr lang="en-US" sz="1800" b="1" err="1">
                <a:solidFill>
                  <a:srgbClr val="800080"/>
                </a:solidFill>
                <a:highlight>
                  <a:srgbClr val="FFFF00"/>
                </a:highlight>
                <a:latin typeface="Consolas"/>
              </a:rPr>
              <a:t>person</a:t>
            </a:r>
            <a:r>
              <a:rPr lang="en-US" sz="1800" b="1">
                <a:solidFill>
                  <a:srgbClr val="3D3D3D"/>
                </a:solidFill>
                <a:highlight>
                  <a:srgbClr val="FFFF00"/>
                </a:highlight>
                <a:latin typeface="Consolas"/>
              </a:rPr>
              <a:t> = </a:t>
            </a:r>
            <a:r>
              <a:rPr lang="en-US" sz="1800" b="1" err="1">
                <a:solidFill>
                  <a:srgbClr val="3D3D3D"/>
                </a:solidFill>
                <a:highlight>
                  <a:srgbClr val="FFFF00"/>
                </a:highlight>
                <a:latin typeface="Consolas"/>
              </a:rPr>
              <a:t>ctx.getBean</a:t>
            </a:r>
            <a:r>
              <a:rPr lang="en-US" sz="1800" b="1">
                <a:solidFill>
                  <a:srgbClr val="3D3D3D"/>
                </a:solidFill>
                <a:highlight>
                  <a:srgbClr val="FFFF00"/>
                </a:highlight>
                <a:latin typeface="Consolas"/>
              </a:rPr>
              <a:t>(</a:t>
            </a:r>
            <a:r>
              <a:rPr lang="en-US" sz="1800" b="1" err="1">
                <a:solidFill>
                  <a:srgbClr val="3D3D3D"/>
                </a:solidFill>
                <a:highlight>
                  <a:srgbClr val="FFFF00"/>
                </a:highlight>
                <a:latin typeface="Consolas"/>
              </a:rPr>
              <a:t>Person.</a:t>
            </a:r>
            <a:r>
              <a:rPr lang="en-US" sz="1800" b="1" err="1">
                <a:solidFill>
                  <a:srgbClr val="993300"/>
                </a:solidFill>
                <a:highlight>
                  <a:srgbClr val="FFFF00"/>
                </a:highlight>
                <a:latin typeface="Consolas"/>
              </a:rPr>
              <a:t>class</a:t>
            </a:r>
            <a:r>
              <a:rPr lang="en-US" sz="1800" b="1">
                <a:solidFill>
                  <a:srgbClr val="3D3D3D"/>
                </a:solidFill>
                <a:highlight>
                  <a:srgbClr val="FFFF00"/>
                </a:highlight>
                <a:latin typeface="Consolas"/>
              </a:rPr>
              <a:t>);</a:t>
            </a:r>
            <a:endParaRPr lang="en-US" sz="4400">
              <a:solidFill>
                <a:srgbClr val="000000"/>
              </a:solidFill>
              <a:highlight>
                <a:srgbClr val="FFFF00"/>
              </a:highlight>
              <a:latin typeface="Aptos" panose="02110004020202020204"/>
            </a:endParaRPr>
          </a:p>
          <a:p>
            <a:pPr marL="0" indent="0">
              <a:buNone/>
            </a:pPr>
            <a:r>
              <a:rPr lang="en-US" sz="4400">
                <a:solidFill>
                  <a:srgbClr val="3D3D3D"/>
                </a:solidFill>
                <a:highlight>
                  <a:srgbClr val="FFFF00"/>
                </a:highlight>
                <a:latin typeface="Consolas"/>
              </a:rPr>
              <a:t>
</a:t>
            </a:r>
            <a:r>
              <a:rPr lang="en-US" sz="1800" b="1" err="1">
                <a:solidFill>
                  <a:srgbClr val="3D3D3D"/>
                </a:solidFill>
                <a:highlight>
                  <a:srgbClr val="FFFF00"/>
                </a:highlight>
                <a:latin typeface="Consolas"/>
              </a:rPr>
              <a:t>System.</a:t>
            </a:r>
            <a:r>
              <a:rPr lang="en-US" sz="1800" b="1" i="1" err="1">
                <a:solidFill>
                  <a:srgbClr val="000080"/>
                </a:solidFill>
                <a:highlight>
                  <a:srgbClr val="FFFF00"/>
                </a:highlight>
                <a:latin typeface="Consolas"/>
              </a:rPr>
              <a:t>out</a:t>
            </a:r>
            <a:r>
              <a:rPr lang="en-US" sz="1800" b="1" err="1">
                <a:solidFill>
                  <a:srgbClr val="3D3D3D"/>
                </a:solidFill>
                <a:highlight>
                  <a:srgbClr val="FFFF00"/>
                </a:highlight>
                <a:latin typeface="Consolas"/>
              </a:rPr>
              <a:t>.println</a:t>
            </a:r>
            <a:r>
              <a:rPr lang="en-US" sz="1800" b="1">
                <a:solidFill>
                  <a:srgbClr val="3D3D3D"/>
                </a:solidFill>
                <a:highlight>
                  <a:srgbClr val="FFFF00"/>
                </a:highlight>
                <a:latin typeface="Consolas"/>
              </a:rPr>
              <a:t>(</a:t>
            </a:r>
            <a:r>
              <a:rPr lang="en-US" sz="1800" b="1">
                <a:solidFill>
                  <a:srgbClr val="800080"/>
                </a:solidFill>
                <a:highlight>
                  <a:srgbClr val="FFFF00"/>
                </a:highlight>
                <a:latin typeface="Consolas"/>
              </a:rPr>
              <a:t>person</a:t>
            </a:r>
            <a:r>
              <a:rPr lang="en-US" sz="1800" b="1">
                <a:solidFill>
                  <a:srgbClr val="3D3D3D"/>
                </a:solidFill>
                <a:highlight>
                  <a:srgbClr val="FFFF00"/>
                </a:highlight>
                <a:latin typeface="Consolas"/>
              </a:rPr>
              <a:t>);</a:t>
            </a:r>
            <a:endParaRPr lang="en-US" sz="4400">
              <a:highlight>
                <a:srgbClr val="FFFF00"/>
              </a:highlight>
            </a:endParaRPr>
          </a:p>
        </p:txBody>
      </p:sp>
    </p:spTree>
    <p:extLst>
      <p:ext uri="{BB962C8B-B14F-4D97-AF65-F5344CB8AC3E}">
        <p14:creationId xmlns:p14="http://schemas.microsoft.com/office/powerpoint/2010/main" val="284974777"/>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FDEDD-3BE7-0508-9162-1B0712E247D8}"/>
              </a:ext>
            </a:extLst>
          </p:cNvPr>
          <p:cNvSpPr>
            <a:spLocks noGrp="1"/>
          </p:cNvSpPr>
          <p:nvPr>
            <p:ph type="title"/>
          </p:nvPr>
        </p:nvSpPr>
        <p:spPr/>
        <p:txBody>
          <a:bodyPr>
            <a:normAutofit/>
          </a:bodyPr>
          <a:lstStyle/>
          <a:p>
            <a:r>
              <a:rPr lang="en-US" sz="3600" b="1">
                <a:solidFill>
                  <a:srgbClr val="000080"/>
                </a:solidFill>
                <a:latin typeface="Segoe UI"/>
                <a:cs typeface="Segoe UI"/>
              </a:rPr>
              <a:t>Spring Bean</a:t>
            </a:r>
            <a:endParaRPr lang="en-US" sz="6600"/>
          </a:p>
        </p:txBody>
      </p:sp>
      <p:sp>
        <p:nvSpPr>
          <p:cNvPr id="3" name="Content Placeholder 2">
            <a:extLst>
              <a:ext uri="{FF2B5EF4-FFF2-40B4-BE49-F238E27FC236}">
                <a16:creationId xmlns:a16="http://schemas.microsoft.com/office/drawing/2014/main" id="{0EA86E45-887F-E6EA-9719-06E29EF601D4}"/>
              </a:ext>
            </a:extLst>
          </p:cNvPr>
          <p:cNvSpPr>
            <a:spLocks noGrp="1"/>
          </p:cNvSpPr>
          <p:nvPr>
            <p:ph idx="1"/>
          </p:nvPr>
        </p:nvSpPr>
        <p:spPr>
          <a:xfrm>
            <a:off x="378759" y="1825625"/>
            <a:ext cx="10975041" cy="4351338"/>
          </a:xfrm>
        </p:spPr>
        <p:txBody>
          <a:bodyPr vert="horz" lIns="91440" tIns="45720" rIns="91440" bIns="45720" rtlCol="0" anchor="t">
            <a:normAutofit/>
          </a:bodyPr>
          <a:lstStyle/>
          <a:p>
            <a:r>
              <a:rPr lang="en-US" sz="1800" b="1">
                <a:latin typeface="Segoe UI"/>
                <a:cs typeface="Segoe UI"/>
              </a:rPr>
              <a:t>Spring Bean is a class in spring</a:t>
            </a:r>
            <a:r>
              <a:rPr lang="en-US" sz="1800">
                <a:latin typeface="Segoe UI"/>
                <a:cs typeface="Segoe UI"/>
              </a:rPr>
              <a:t>, which follows the </a:t>
            </a:r>
            <a:r>
              <a:rPr lang="en-US" sz="1800" b="1">
                <a:latin typeface="Segoe UI"/>
                <a:cs typeface="Segoe UI"/>
              </a:rPr>
              <a:t>rules provided by the Spring Container</a:t>
            </a:r>
            <a:r>
              <a:rPr lang="en-US" sz="1800">
                <a:latin typeface="Segoe UI"/>
                <a:cs typeface="Segoe UI"/>
              </a:rPr>
              <a:t>. </a:t>
            </a:r>
            <a:endParaRPr lang="en-US" sz="1800">
              <a:latin typeface="Aptos" panose="02110004020202020204"/>
              <a:cs typeface="Segoe UI"/>
            </a:endParaRPr>
          </a:p>
          <a:p>
            <a:r>
              <a:rPr lang="en-US" sz="1800">
                <a:latin typeface="Segoe UI"/>
                <a:cs typeface="Segoe UI"/>
              </a:rPr>
              <a:t>Below are the rules that Spring Container expects from developers to follow while creating a class that will act as a bean:</a:t>
            </a:r>
            <a:endParaRPr lang="en-US" sz="1800"/>
          </a:p>
          <a:p>
            <a:pPr marL="0" indent="0">
              <a:buNone/>
            </a:pPr>
            <a:r>
              <a:rPr lang="en-US" sz="1800" b="1">
                <a:latin typeface="Segoe UI"/>
                <a:cs typeface="Segoe UI"/>
              </a:rPr>
              <a:t>1) Class must be public.</a:t>
            </a:r>
            <a:endParaRPr lang="en-US" sz="1800" b="1"/>
          </a:p>
          <a:p>
            <a:pPr marL="0" indent="0">
              <a:buNone/>
            </a:pPr>
            <a:r>
              <a:rPr lang="en-US" sz="1800" b="1">
                <a:latin typeface="Segoe UI"/>
                <a:cs typeface="Segoe UI"/>
              </a:rPr>
              <a:t>2) Variables are recommended to be private.</a:t>
            </a:r>
            <a:endParaRPr lang="en-US" sz="1800" b="1"/>
          </a:p>
          <a:p>
            <a:pPr marL="0" indent="0">
              <a:buNone/>
            </a:pPr>
            <a:r>
              <a:rPr lang="en-US" sz="1800" b="1">
                <a:latin typeface="Segoe UI"/>
                <a:cs typeface="Segoe UI"/>
              </a:rPr>
              <a:t>3) Methods should be public.</a:t>
            </a:r>
            <a:endParaRPr lang="en-US" sz="1800" b="1"/>
          </a:p>
          <a:p>
            <a:pPr marL="0" indent="0">
              <a:buNone/>
            </a:pPr>
            <a:r>
              <a:rPr lang="en-US" sz="1800" b="1">
                <a:latin typeface="Segoe UI"/>
                <a:cs typeface="Segoe UI"/>
              </a:rPr>
              <a:t>4) Class should be under a package. It can be either under a base package or its sub package.</a:t>
            </a:r>
            <a:endParaRPr lang="en-US" sz="1800" b="1"/>
          </a:p>
          <a:p>
            <a:pPr marL="0" indent="0">
              <a:buNone/>
            </a:pPr>
            <a:r>
              <a:rPr lang="en-US" sz="1800" b="1">
                <a:latin typeface="Segoe UI"/>
                <a:cs typeface="Segoe UI"/>
              </a:rPr>
              <a:t>5) Provide any one of the two combinations given below. There is no harm in providing both of them, but any one will be sufficient.</a:t>
            </a:r>
            <a:endParaRPr lang="en-US" sz="1800" b="1"/>
          </a:p>
          <a:p>
            <a:pPr marL="0" indent="0">
              <a:buNone/>
            </a:pPr>
            <a:r>
              <a:rPr lang="en-US" sz="1800">
                <a:latin typeface="Segoe UI"/>
                <a:cs typeface="Segoe UI"/>
              </a:rPr>
              <a:t> </a:t>
            </a:r>
            <a:r>
              <a:rPr lang="en-US" sz="1800" b="1">
                <a:latin typeface="Segoe UI"/>
                <a:cs typeface="Segoe UI"/>
              </a:rPr>
              <a:t>(A)</a:t>
            </a:r>
            <a:r>
              <a:rPr lang="en-US" sz="1800">
                <a:latin typeface="Segoe UI"/>
                <a:cs typeface="Segoe UI"/>
              </a:rPr>
              <a:t> Default constructor with  setter &amp; getter methods</a:t>
            </a:r>
            <a:endParaRPr lang="en-US" sz="1800"/>
          </a:p>
          <a:p>
            <a:pPr marL="0" indent="0">
              <a:buNone/>
            </a:pPr>
            <a:r>
              <a:rPr lang="en-US" sz="1800">
                <a:latin typeface="Segoe UI"/>
                <a:cs typeface="Segoe UI"/>
              </a:rPr>
              <a:t> </a:t>
            </a:r>
            <a:r>
              <a:rPr lang="en-US" sz="1800" b="1">
                <a:latin typeface="Segoe UI"/>
                <a:cs typeface="Segoe UI"/>
              </a:rPr>
              <a:t>(B)</a:t>
            </a:r>
            <a:r>
              <a:rPr lang="en-US" sz="1800">
                <a:latin typeface="Segoe UI"/>
                <a:cs typeface="Segoe UI"/>
              </a:rPr>
              <a:t> Parameterized constructor</a:t>
            </a:r>
            <a:endParaRPr lang="en-US" sz="1800"/>
          </a:p>
        </p:txBody>
      </p:sp>
    </p:spTree>
    <p:extLst>
      <p:ext uri="{BB962C8B-B14F-4D97-AF65-F5344CB8AC3E}">
        <p14:creationId xmlns:p14="http://schemas.microsoft.com/office/powerpoint/2010/main" val="260913992"/>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0BD09-156C-9643-FBF4-D784F8BC934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5DFE238-4738-E748-76CA-B9A11DCF97BA}"/>
              </a:ext>
            </a:extLst>
          </p:cNvPr>
          <p:cNvSpPr>
            <a:spLocks noGrp="1"/>
          </p:cNvSpPr>
          <p:nvPr>
            <p:ph idx="1"/>
          </p:nvPr>
        </p:nvSpPr>
        <p:spPr/>
        <p:txBody>
          <a:bodyPr vert="horz" lIns="91440" tIns="45720" rIns="91440" bIns="45720" rtlCol="0" anchor="t">
            <a:normAutofit/>
          </a:bodyPr>
          <a:lstStyle/>
          <a:p>
            <a:pPr marL="0" indent="0" algn="just">
              <a:buNone/>
            </a:pPr>
            <a:r>
              <a:rPr lang="en-US" sz="2200" b="1">
                <a:latin typeface="Segoe UI"/>
                <a:cs typeface="Segoe UI"/>
              </a:rPr>
              <a:t>6)</a:t>
            </a:r>
            <a:r>
              <a:rPr lang="en-US" sz="2200">
                <a:latin typeface="Segoe UI"/>
                <a:cs typeface="Segoe UI"/>
              </a:rPr>
              <a:t> Class can override 3 methods from Object class: </a:t>
            </a:r>
            <a:r>
              <a:rPr lang="en-US" sz="2200" err="1">
                <a:latin typeface="Segoe UI"/>
                <a:cs typeface="Segoe UI"/>
              </a:rPr>
              <a:t>toString</a:t>
            </a:r>
            <a:r>
              <a:rPr lang="en-US" sz="2200">
                <a:latin typeface="Segoe UI"/>
                <a:cs typeface="Segoe UI"/>
              </a:rPr>
              <a:t>(), </a:t>
            </a:r>
            <a:r>
              <a:rPr lang="en-US" sz="2200" err="1">
                <a:latin typeface="Segoe UI"/>
                <a:cs typeface="Segoe UI"/>
              </a:rPr>
              <a:t>hashcode</a:t>
            </a:r>
            <a:r>
              <a:rPr lang="en-US" sz="2200">
                <a:latin typeface="Segoe UI"/>
                <a:cs typeface="Segoe UI"/>
              </a:rPr>
              <a:t>() and equals().</a:t>
            </a:r>
            <a:endParaRPr lang="en-US"/>
          </a:p>
          <a:p>
            <a:pPr marL="0" indent="0" algn="just">
              <a:buNone/>
            </a:pPr>
            <a:endParaRPr lang="en-US" sz="2200" b="1">
              <a:latin typeface="Segoe UI"/>
              <a:cs typeface="Segoe UI"/>
            </a:endParaRPr>
          </a:p>
          <a:p>
            <a:pPr marL="0" indent="0" algn="just">
              <a:buNone/>
            </a:pPr>
            <a:r>
              <a:rPr lang="en-US" sz="2200" b="1">
                <a:latin typeface="Segoe UI"/>
                <a:cs typeface="Segoe UI"/>
              </a:rPr>
              <a:t>7)</a:t>
            </a:r>
            <a:r>
              <a:rPr lang="en-US" sz="2200">
                <a:latin typeface="Segoe UI"/>
                <a:cs typeface="Segoe UI"/>
              </a:rPr>
              <a:t> Class can use Core Java Annotations, Spring Framework Annotations, and some Integration Annotations. Core Java annotations comes under package </a:t>
            </a:r>
            <a:r>
              <a:rPr lang="en-US" sz="2200" err="1">
                <a:latin typeface="Segoe UI"/>
                <a:cs typeface="Segoe UI"/>
              </a:rPr>
              <a:t>java.lang</a:t>
            </a:r>
            <a:r>
              <a:rPr lang="en-US" sz="2200">
                <a:latin typeface="Segoe UI"/>
                <a:cs typeface="Segoe UI"/>
              </a:rPr>
              <a:t>, such as Deprecated, Override, </a:t>
            </a:r>
            <a:r>
              <a:rPr lang="en-US" sz="2200" err="1">
                <a:latin typeface="Segoe UI"/>
                <a:cs typeface="Segoe UI"/>
              </a:rPr>
              <a:t>SafeVarargs</a:t>
            </a:r>
            <a:r>
              <a:rPr lang="en-US" sz="2200">
                <a:latin typeface="Segoe UI"/>
                <a:cs typeface="Segoe UI"/>
              </a:rPr>
              <a:t>, </a:t>
            </a:r>
            <a:r>
              <a:rPr lang="en-US" sz="2200" err="1">
                <a:latin typeface="Segoe UI"/>
                <a:cs typeface="Segoe UI"/>
              </a:rPr>
              <a:t>SupressWarnings</a:t>
            </a:r>
            <a:r>
              <a:rPr lang="en-US" sz="2200">
                <a:latin typeface="Segoe UI"/>
                <a:cs typeface="Segoe UI"/>
              </a:rPr>
              <a:t>.</a:t>
            </a:r>
          </a:p>
        </p:txBody>
      </p:sp>
    </p:spTree>
    <p:extLst>
      <p:ext uri="{BB962C8B-B14F-4D97-AF65-F5344CB8AC3E}">
        <p14:creationId xmlns:p14="http://schemas.microsoft.com/office/powerpoint/2010/main" val="2759920183"/>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48255-55A1-5780-1870-3355CDA484AC}"/>
              </a:ext>
            </a:extLst>
          </p:cNvPr>
          <p:cNvSpPr>
            <a:spLocks noGrp="1"/>
          </p:cNvSpPr>
          <p:nvPr>
            <p:ph type="title"/>
          </p:nvPr>
        </p:nvSpPr>
        <p:spPr/>
        <p:txBody>
          <a:bodyPr>
            <a:normAutofit/>
          </a:bodyPr>
          <a:lstStyle/>
          <a:p>
            <a:r>
              <a:rPr lang="en-US" sz="3600" b="1">
                <a:solidFill>
                  <a:srgbClr val="000080"/>
                </a:solidFill>
                <a:latin typeface="Segoe UI"/>
                <a:cs typeface="Segoe UI"/>
              </a:rPr>
              <a:t>Spring container requires:</a:t>
            </a:r>
            <a:endParaRPr lang="en-US" sz="6600"/>
          </a:p>
        </p:txBody>
      </p:sp>
      <p:sp>
        <p:nvSpPr>
          <p:cNvPr id="3" name="Content Placeholder 2">
            <a:extLst>
              <a:ext uri="{FF2B5EF4-FFF2-40B4-BE49-F238E27FC236}">
                <a16:creationId xmlns:a16="http://schemas.microsoft.com/office/drawing/2014/main" id="{8CE45767-7FCB-AECD-07AA-5A75871BA589}"/>
              </a:ext>
            </a:extLst>
          </p:cNvPr>
          <p:cNvSpPr>
            <a:spLocks noGrp="1"/>
          </p:cNvSpPr>
          <p:nvPr>
            <p:ph idx="1"/>
          </p:nvPr>
        </p:nvSpPr>
        <p:spPr>
          <a:xfrm>
            <a:off x="521899" y="1423059"/>
            <a:ext cx="11450127" cy="4753904"/>
          </a:xfrm>
        </p:spPr>
        <p:txBody>
          <a:bodyPr vert="horz" lIns="91440" tIns="45720" rIns="91440" bIns="45720" rtlCol="0" anchor="t">
            <a:normAutofit/>
          </a:bodyPr>
          <a:lstStyle/>
          <a:p>
            <a:r>
              <a:rPr lang="en-US" sz="2000">
                <a:latin typeface="Segoe UI"/>
                <a:cs typeface="Segoe UI"/>
              </a:rPr>
              <a:t>Spring container </a:t>
            </a:r>
            <a:r>
              <a:rPr lang="en-US" sz="2000" b="1">
                <a:solidFill>
                  <a:srgbClr val="FF0000"/>
                </a:solidFill>
                <a:latin typeface="Segoe UI"/>
                <a:cs typeface="Segoe UI"/>
              </a:rPr>
              <a:t>requires two inputs from a programmer to create an object:</a:t>
            </a:r>
            <a:r>
              <a:rPr lang="en-US" sz="2000">
                <a:latin typeface="Segoe UI"/>
                <a:cs typeface="Segoe UI"/>
              </a:rPr>
              <a:t> </a:t>
            </a:r>
            <a:endParaRPr lang="en-US" sz="2000">
              <a:latin typeface="Aptos" panose="02110004020202020204"/>
              <a:cs typeface="Segoe UI"/>
            </a:endParaRPr>
          </a:p>
          <a:p>
            <a:pPr lvl="1">
              <a:buFont typeface="Courier New" panose="020B0604020202020204" pitchFamily="34" charset="0"/>
              <a:buChar char="o"/>
            </a:pPr>
            <a:r>
              <a:rPr lang="en-US" sz="1600" b="1">
                <a:latin typeface="Segoe UI"/>
                <a:cs typeface="Segoe UI"/>
              </a:rPr>
              <a:t>Spring Bean </a:t>
            </a:r>
            <a:endParaRPr lang="en-US" sz="1600">
              <a:latin typeface="Aptos" panose="02110004020202020204"/>
              <a:cs typeface="Segoe UI"/>
            </a:endParaRPr>
          </a:p>
          <a:p>
            <a:pPr lvl="1">
              <a:buFont typeface="Courier New" panose="020B0604020202020204" pitchFamily="34" charset="0"/>
              <a:buChar char="o"/>
            </a:pPr>
            <a:r>
              <a:rPr lang="en-US" sz="1600" b="1">
                <a:latin typeface="Segoe UI"/>
                <a:cs typeface="Segoe UI"/>
              </a:rPr>
              <a:t>Spring Configuration</a:t>
            </a:r>
            <a:r>
              <a:rPr lang="en-US" sz="1600">
                <a:latin typeface="Segoe UI"/>
                <a:cs typeface="Segoe UI"/>
              </a:rPr>
              <a:t>.  </a:t>
            </a:r>
            <a:endParaRPr lang="en-US" sz="1600">
              <a:latin typeface="Aptos" panose="02110004020202020204"/>
              <a:cs typeface="Segoe UI"/>
            </a:endParaRPr>
          </a:p>
          <a:p>
            <a:r>
              <a:rPr lang="en-US" sz="2000">
                <a:latin typeface="Segoe UI"/>
                <a:cs typeface="Segoe UI"/>
              </a:rPr>
              <a:t>Spring </a:t>
            </a:r>
            <a:r>
              <a:rPr lang="en-US" sz="2000" b="1">
                <a:latin typeface="Segoe UI"/>
                <a:cs typeface="Segoe UI"/>
              </a:rPr>
              <a:t>configuration</a:t>
            </a:r>
            <a:r>
              <a:rPr lang="en-US" sz="2000">
                <a:latin typeface="Segoe UI"/>
                <a:cs typeface="Segoe UI"/>
              </a:rPr>
              <a:t> generally contains the </a:t>
            </a:r>
            <a:r>
              <a:rPr lang="en-US" sz="2000" b="1">
                <a:latin typeface="Segoe UI"/>
                <a:cs typeface="Segoe UI"/>
              </a:rPr>
              <a:t>name of the bean</a:t>
            </a:r>
            <a:r>
              <a:rPr lang="en-US" sz="2000">
                <a:latin typeface="Segoe UI"/>
                <a:cs typeface="Segoe UI"/>
              </a:rPr>
              <a:t>, </a:t>
            </a:r>
            <a:r>
              <a:rPr lang="en-US" sz="2000" b="1">
                <a:latin typeface="Segoe UI"/>
                <a:cs typeface="Segoe UI"/>
              </a:rPr>
              <a:t>linking details with other beans</a:t>
            </a:r>
            <a:r>
              <a:rPr lang="en-US" sz="2000">
                <a:latin typeface="Segoe UI"/>
                <a:cs typeface="Segoe UI"/>
              </a:rPr>
              <a:t> and some other information if any. </a:t>
            </a:r>
            <a:endParaRPr lang="en-US" sz="2000">
              <a:latin typeface="Aptos" panose="02110004020202020204"/>
              <a:cs typeface="Segoe UI"/>
            </a:endParaRPr>
          </a:p>
          <a:p>
            <a:r>
              <a:rPr lang="en-US" sz="2000">
                <a:latin typeface="Segoe UI"/>
                <a:cs typeface="Segoe UI"/>
              </a:rPr>
              <a:t>Furthermore, Spring Configuration can be in any of the three forms:</a:t>
            </a:r>
            <a:endParaRPr lang="en-US" sz="2000"/>
          </a:p>
          <a:p>
            <a:pPr marL="457200" lvl="1" indent="0">
              <a:buNone/>
            </a:pPr>
            <a:r>
              <a:rPr lang="en-US" sz="1600">
                <a:highlight>
                  <a:srgbClr val="FFFF00"/>
                </a:highlight>
                <a:latin typeface="Segoe UI"/>
                <a:cs typeface="Segoe UI"/>
              </a:rPr>
              <a:t>1) XML-based Configuration</a:t>
            </a:r>
            <a:endParaRPr lang="en-US" sz="1600">
              <a:highlight>
                <a:srgbClr val="FFFF00"/>
              </a:highlight>
            </a:endParaRPr>
          </a:p>
          <a:p>
            <a:pPr marL="457200" lvl="1" indent="0">
              <a:buNone/>
            </a:pPr>
            <a:r>
              <a:rPr lang="en-US" sz="1600" b="1">
                <a:highlight>
                  <a:srgbClr val="FFFF00"/>
                </a:highlight>
                <a:latin typeface="Segoe UI"/>
                <a:cs typeface="Segoe UI"/>
              </a:rPr>
              <a:t>2) Java-based Configuration</a:t>
            </a:r>
            <a:endParaRPr lang="en-US" sz="1600" b="1">
              <a:highlight>
                <a:srgbClr val="FFFF00"/>
              </a:highlight>
            </a:endParaRPr>
          </a:p>
          <a:p>
            <a:pPr marL="457200" lvl="1" indent="0">
              <a:buNone/>
            </a:pPr>
            <a:r>
              <a:rPr lang="en-US" sz="1600" b="1">
                <a:highlight>
                  <a:srgbClr val="FFFF00"/>
                </a:highlight>
                <a:latin typeface="Segoe UI"/>
                <a:cs typeface="Segoe UI"/>
              </a:rPr>
              <a:t>3) Annotation-based Configuration</a:t>
            </a:r>
            <a:endParaRPr lang="en-US" sz="1600" b="1">
              <a:highlight>
                <a:srgbClr val="FFFF00"/>
              </a:highlight>
            </a:endParaRPr>
          </a:p>
          <a:p>
            <a:r>
              <a:rPr lang="en-US" sz="2000">
                <a:latin typeface="Segoe UI"/>
                <a:cs typeface="Segoe UI"/>
              </a:rPr>
              <a:t>Please note that annotation configuration is the most popular and highly used in the industry now-a-days. </a:t>
            </a:r>
            <a:endParaRPr lang="en-US" sz="2000">
              <a:latin typeface="Aptos" panose="02110004020202020204"/>
              <a:cs typeface="Segoe UI"/>
            </a:endParaRPr>
          </a:p>
          <a:p>
            <a:r>
              <a:rPr lang="en-US" sz="2000" b="1">
                <a:latin typeface="Segoe UI"/>
                <a:cs typeface="Segoe UI"/>
              </a:rPr>
              <a:t>Spring Boot has already removed the XML configuration</a:t>
            </a:r>
            <a:r>
              <a:rPr lang="en-US" sz="2000">
                <a:latin typeface="Segoe UI"/>
                <a:cs typeface="Segoe UI"/>
              </a:rPr>
              <a:t>.</a:t>
            </a:r>
            <a:endParaRPr lang="en-US" sz="2000"/>
          </a:p>
        </p:txBody>
      </p:sp>
    </p:spTree>
    <p:extLst>
      <p:ext uri="{BB962C8B-B14F-4D97-AF65-F5344CB8AC3E}">
        <p14:creationId xmlns:p14="http://schemas.microsoft.com/office/powerpoint/2010/main" val="1574529388"/>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86660-6C76-1B01-016A-E173A2D71B42}"/>
              </a:ext>
            </a:extLst>
          </p:cNvPr>
          <p:cNvSpPr>
            <a:spLocks noGrp="1"/>
          </p:cNvSpPr>
          <p:nvPr>
            <p:ph type="title"/>
          </p:nvPr>
        </p:nvSpPr>
        <p:spPr/>
        <p:txBody>
          <a:bodyPr>
            <a:normAutofit/>
          </a:bodyPr>
          <a:lstStyle/>
          <a:p>
            <a:r>
              <a:rPr lang="en-US" sz="3200" b="1">
                <a:solidFill>
                  <a:srgbClr val="000080"/>
                </a:solidFill>
                <a:latin typeface="Segoe UI"/>
                <a:cs typeface="Segoe UI"/>
              </a:rPr>
              <a:t>XML-based Configuration</a:t>
            </a:r>
            <a:endParaRPr lang="en-US" sz="3200"/>
          </a:p>
        </p:txBody>
      </p:sp>
      <p:sp>
        <p:nvSpPr>
          <p:cNvPr id="3" name="Content Placeholder 2">
            <a:extLst>
              <a:ext uri="{FF2B5EF4-FFF2-40B4-BE49-F238E27FC236}">
                <a16:creationId xmlns:a16="http://schemas.microsoft.com/office/drawing/2014/main" id="{5C673A6C-5F79-2962-86E4-CD6F97310AF9}"/>
              </a:ext>
            </a:extLst>
          </p:cNvPr>
          <p:cNvSpPr>
            <a:spLocks noGrp="1"/>
          </p:cNvSpPr>
          <p:nvPr>
            <p:ph idx="1"/>
          </p:nvPr>
        </p:nvSpPr>
        <p:spPr/>
        <p:txBody>
          <a:bodyPr vert="horz" lIns="91440" tIns="45720" rIns="91440" bIns="45720" rtlCol="0" anchor="t">
            <a:normAutofit lnSpcReduction="10000"/>
          </a:bodyPr>
          <a:lstStyle/>
          <a:p>
            <a:r>
              <a:rPr lang="en-US" sz="2000">
                <a:latin typeface="Segoe UI"/>
                <a:cs typeface="Segoe UI"/>
              </a:rPr>
              <a:t>In Spring Framework, developer defines the bean name, dependencies and the other services needed by Spring Container. </a:t>
            </a:r>
            <a:endParaRPr lang="en-US" sz="4400">
              <a:latin typeface="Aptos" panose="02110004020202020204"/>
              <a:cs typeface="Segoe UI"/>
            </a:endParaRPr>
          </a:p>
          <a:p>
            <a:r>
              <a:rPr lang="en-US" sz="2000">
                <a:latin typeface="Segoe UI"/>
                <a:cs typeface="Segoe UI"/>
              </a:rPr>
              <a:t>If these details are specified in configuration files which are in XML format, it is known as XML-based configuration. </a:t>
            </a:r>
            <a:endParaRPr lang="en-US" sz="4400">
              <a:latin typeface="Aptos" panose="02110004020202020204"/>
              <a:cs typeface="Segoe UI"/>
            </a:endParaRPr>
          </a:p>
          <a:p>
            <a:r>
              <a:rPr lang="en-US" sz="2000">
                <a:latin typeface="Segoe UI"/>
                <a:cs typeface="Segoe UI"/>
              </a:rPr>
              <a:t>These configuration files usually contain a lot of bean definitions and other required application-specific configuration options. </a:t>
            </a:r>
            <a:endParaRPr lang="en-US" sz="4400">
              <a:latin typeface="Aptos" panose="02110004020202020204"/>
              <a:cs typeface="Segoe UI"/>
            </a:endParaRPr>
          </a:p>
          <a:p>
            <a:r>
              <a:rPr lang="en-US" sz="2000">
                <a:latin typeface="Segoe UI"/>
                <a:cs typeface="Segoe UI"/>
              </a:rPr>
              <a:t>They generally start with a bean tag. </a:t>
            </a:r>
            <a:endParaRPr lang="en-US" sz="4400">
              <a:latin typeface="Aptos" panose="02110004020202020204"/>
              <a:cs typeface="Segoe UI"/>
            </a:endParaRPr>
          </a:p>
          <a:p>
            <a:r>
              <a:rPr lang="en-US" sz="2000">
                <a:latin typeface="Segoe UI"/>
                <a:cs typeface="Segoe UI"/>
              </a:rPr>
              <a:t>All configurations can be in one or multiple XML files. </a:t>
            </a:r>
          </a:p>
          <a:p>
            <a:pPr marL="0" indent="0">
              <a:buNone/>
            </a:pPr>
            <a:r>
              <a:rPr lang="en-US" sz="2000" b="1">
                <a:solidFill>
                  <a:srgbClr val="3D3D3D"/>
                </a:solidFill>
                <a:latin typeface="Consolas"/>
                <a:cs typeface="Segoe UI"/>
              </a:rPr>
              <a:t>&lt;bean id="employeeBean" class="com.dev.spring.EmployeeBean"&gt;
  &lt;property name="name" value="employee1"/&gt;
  &lt;property name="age" value="24"/&gt;
&lt;/bean&gt;</a:t>
            </a:r>
            <a:endParaRPr lang="en-US" sz="2000">
              <a:latin typeface="Segoe UI"/>
              <a:cs typeface="Segoe UI"/>
            </a:endParaRPr>
          </a:p>
        </p:txBody>
      </p:sp>
    </p:spTree>
    <p:extLst>
      <p:ext uri="{BB962C8B-B14F-4D97-AF65-F5344CB8AC3E}">
        <p14:creationId xmlns:p14="http://schemas.microsoft.com/office/powerpoint/2010/main" val="1432317051"/>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E30BD1-79F1-B272-17E9-4C2E69692915}"/>
              </a:ext>
            </a:extLst>
          </p:cNvPr>
          <p:cNvSpPr>
            <a:spLocks noGrp="1"/>
          </p:cNvSpPr>
          <p:nvPr>
            <p:ph idx="1"/>
          </p:nvPr>
        </p:nvSpPr>
        <p:spPr>
          <a:xfrm>
            <a:off x="363748" y="632305"/>
            <a:ext cx="11665787" cy="5544658"/>
          </a:xfrm>
        </p:spPr>
        <p:txBody>
          <a:bodyPr vert="horz" lIns="91440" tIns="45720" rIns="91440" bIns="45720" rtlCol="0" anchor="t">
            <a:noAutofit/>
          </a:bodyPr>
          <a:lstStyle/>
          <a:p>
            <a:pPr marL="0" indent="0">
              <a:buNone/>
            </a:pPr>
            <a:r>
              <a:rPr lang="en-US" sz="2000" b="1">
                <a:ea typeface="+mn-lt"/>
                <a:cs typeface="+mn-lt"/>
              </a:rPr>
              <a:t>&lt;?xml version="1.0" encoding="UTF-8"?&gt;</a:t>
            </a:r>
            <a:r>
              <a:rPr lang="en-US" sz="2000" b="1">
                <a:solidFill>
                  <a:srgbClr val="24292E"/>
                </a:solidFill>
                <a:ea typeface="+mn-lt"/>
                <a:cs typeface="+mn-lt"/>
              </a:rPr>
              <a:t> </a:t>
            </a:r>
            <a:endParaRPr lang="en-US" sz="2000" b="1">
              <a:ea typeface="+mn-lt"/>
              <a:cs typeface="+mn-lt"/>
            </a:endParaRPr>
          </a:p>
          <a:p>
            <a:pPr marL="0" indent="0">
              <a:buNone/>
            </a:pPr>
            <a:r>
              <a:rPr lang="en-US" sz="2000" b="1">
                <a:ea typeface="+mn-lt"/>
                <a:cs typeface="+mn-lt"/>
              </a:rPr>
              <a:t>&lt;beans xmlns="http://www.springframework.org/schema/beans" xmlns:xsi="http://www.w3.org/2001/XMLSchema-instance" xsi:schemaLocation="http://www.springframework.org/schema/beans https://www.springframework.org/schema/beans/spring-beans.xsd"&gt;</a:t>
            </a:r>
            <a:r>
              <a:rPr lang="en-US" sz="2000" b="1">
                <a:solidFill>
                  <a:srgbClr val="24292E"/>
                </a:solidFill>
                <a:ea typeface="+mn-lt"/>
                <a:cs typeface="+mn-lt"/>
              </a:rPr>
              <a:t> </a:t>
            </a:r>
            <a:endParaRPr lang="en-US" sz="2000" b="1">
              <a:ea typeface="+mn-lt"/>
              <a:cs typeface="+mn-lt"/>
            </a:endParaRPr>
          </a:p>
          <a:p>
            <a:pPr marL="0" indent="0">
              <a:buNone/>
            </a:pPr>
            <a:r>
              <a:rPr lang="en-US" sz="2000" b="1">
                <a:ea typeface="+mn-lt"/>
                <a:cs typeface="+mn-lt"/>
              </a:rPr>
              <a:t> </a:t>
            </a:r>
            <a:r>
              <a:rPr lang="en-US" sz="2000" b="1">
                <a:highlight>
                  <a:srgbClr val="FFFF00"/>
                </a:highlight>
                <a:ea typeface="+mn-lt"/>
                <a:cs typeface="+mn-lt"/>
              </a:rPr>
              <a:t>&lt;bean id="..." class="..."&gt;</a:t>
            </a:r>
            <a:r>
              <a:rPr lang="en-US" sz="2000" b="1">
                <a:solidFill>
                  <a:srgbClr val="24292E"/>
                </a:solidFill>
                <a:highlight>
                  <a:srgbClr val="FFFF00"/>
                </a:highlight>
                <a:ea typeface="+mn-lt"/>
                <a:cs typeface="+mn-lt"/>
              </a:rPr>
              <a:t> </a:t>
            </a:r>
            <a:endParaRPr lang="en-US" sz="2000" b="1">
              <a:highlight>
                <a:srgbClr val="FFFF00"/>
              </a:highlight>
              <a:ea typeface="+mn-lt"/>
              <a:cs typeface="+mn-lt"/>
            </a:endParaRPr>
          </a:p>
          <a:p>
            <a:pPr marL="0" indent="0">
              <a:buNone/>
            </a:pPr>
            <a:r>
              <a:rPr lang="en-US" sz="2000" b="1">
                <a:highlight>
                  <a:srgbClr val="FFFF00"/>
                </a:highlight>
                <a:ea typeface="+mn-lt"/>
                <a:cs typeface="+mn-lt"/>
              </a:rPr>
              <a:t>   &lt;!-- collaborators and configuration for this bean go here --&gt;</a:t>
            </a:r>
            <a:r>
              <a:rPr lang="en-US" sz="2000" b="1">
                <a:solidFill>
                  <a:srgbClr val="24292E"/>
                </a:solidFill>
                <a:highlight>
                  <a:srgbClr val="FFFF00"/>
                </a:highlight>
                <a:ea typeface="+mn-lt"/>
                <a:cs typeface="+mn-lt"/>
              </a:rPr>
              <a:t> </a:t>
            </a:r>
            <a:endParaRPr lang="en-US" sz="2000" b="1">
              <a:highlight>
                <a:srgbClr val="FFFF00"/>
              </a:highlight>
              <a:ea typeface="+mn-lt"/>
              <a:cs typeface="+mn-lt"/>
            </a:endParaRPr>
          </a:p>
          <a:p>
            <a:pPr marL="0" indent="0">
              <a:buNone/>
            </a:pPr>
            <a:r>
              <a:rPr lang="en-US" sz="2000" b="1">
                <a:highlight>
                  <a:srgbClr val="FFFF00"/>
                </a:highlight>
                <a:ea typeface="+mn-lt"/>
                <a:cs typeface="+mn-lt"/>
              </a:rPr>
              <a:t> &lt;/bean&gt;</a:t>
            </a:r>
            <a:r>
              <a:rPr lang="en-US" sz="2000" b="1">
                <a:solidFill>
                  <a:srgbClr val="24292E"/>
                </a:solidFill>
                <a:highlight>
                  <a:srgbClr val="FFFF00"/>
                </a:highlight>
                <a:ea typeface="+mn-lt"/>
                <a:cs typeface="+mn-lt"/>
              </a:rPr>
              <a:t> </a:t>
            </a:r>
            <a:endParaRPr lang="en-US" sz="2000" b="1">
              <a:highlight>
                <a:srgbClr val="FFFF00"/>
              </a:highlight>
              <a:ea typeface="+mn-lt"/>
              <a:cs typeface="+mn-lt"/>
            </a:endParaRPr>
          </a:p>
          <a:p>
            <a:pPr marL="0" indent="0">
              <a:buNone/>
            </a:pPr>
            <a:endParaRPr lang="en-US" sz="2000" b="1">
              <a:highlight>
                <a:srgbClr val="FFFF00"/>
              </a:highlight>
              <a:ea typeface="+mn-lt"/>
              <a:cs typeface="+mn-lt"/>
            </a:endParaRPr>
          </a:p>
          <a:p>
            <a:pPr marL="0" indent="0">
              <a:buNone/>
            </a:pPr>
            <a:r>
              <a:rPr lang="en-US" sz="2000" b="1">
                <a:highlight>
                  <a:srgbClr val="FFFF00"/>
                </a:highlight>
                <a:ea typeface="+mn-lt"/>
                <a:cs typeface="+mn-lt"/>
              </a:rPr>
              <a:t> &lt;bean id="..." class="..."&gt;</a:t>
            </a:r>
            <a:r>
              <a:rPr lang="en-US" sz="2000" b="1">
                <a:solidFill>
                  <a:srgbClr val="24292E"/>
                </a:solidFill>
                <a:highlight>
                  <a:srgbClr val="FFFF00"/>
                </a:highlight>
                <a:ea typeface="+mn-lt"/>
                <a:cs typeface="+mn-lt"/>
              </a:rPr>
              <a:t> </a:t>
            </a:r>
            <a:endParaRPr lang="en-US" sz="2000" b="1">
              <a:highlight>
                <a:srgbClr val="FFFF00"/>
              </a:highlight>
              <a:ea typeface="+mn-lt"/>
              <a:cs typeface="+mn-lt"/>
            </a:endParaRPr>
          </a:p>
          <a:p>
            <a:pPr marL="0" indent="0">
              <a:buNone/>
            </a:pPr>
            <a:r>
              <a:rPr lang="en-US" sz="2000" b="1">
                <a:highlight>
                  <a:srgbClr val="FFFF00"/>
                </a:highlight>
                <a:ea typeface="+mn-lt"/>
                <a:cs typeface="+mn-lt"/>
              </a:rPr>
              <a:t>  &lt;!-- collaborators and configuration for this bean go here --&gt;</a:t>
            </a:r>
            <a:r>
              <a:rPr lang="en-US" sz="2000" b="1">
                <a:solidFill>
                  <a:srgbClr val="24292E"/>
                </a:solidFill>
                <a:highlight>
                  <a:srgbClr val="FFFF00"/>
                </a:highlight>
                <a:ea typeface="+mn-lt"/>
                <a:cs typeface="+mn-lt"/>
              </a:rPr>
              <a:t> </a:t>
            </a:r>
            <a:endParaRPr lang="en-US" sz="2000" b="1">
              <a:highlight>
                <a:srgbClr val="FFFF00"/>
              </a:highlight>
              <a:ea typeface="+mn-lt"/>
              <a:cs typeface="+mn-lt"/>
            </a:endParaRPr>
          </a:p>
          <a:p>
            <a:pPr marL="0" indent="0">
              <a:buNone/>
            </a:pPr>
            <a:r>
              <a:rPr lang="en-US" sz="2000" b="1">
                <a:highlight>
                  <a:srgbClr val="FFFF00"/>
                </a:highlight>
                <a:ea typeface="+mn-lt"/>
                <a:cs typeface="+mn-lt"/>
              </a:rPr>
              <a:t> &lt;/bean&gt;</a:t>
            </a:r>
            <a:r>
              <a:rPr lang="en-US" sz="2000" b="1">
                <a:solidFill>
                  <a:srgbClr val="24292E"/>
                </a:solidFill>
                <a:highlight>
                  <a:srgbClr val="FFFF00"/>
                </a:highlight>
                <a:ea typeface="+mn-lt"/>
                <a:cs typeface="+mn-lt"/>
              </a:rPr>
              <a:t> </a:t>
            </a:r>
            <a:endParaRPr lang="en-US" sz="2000" b="1">
              <a:highlight>
                <a:srgbClr val="FFFF00"/>
              </a:highlight>
              <a:ea typeface="+mn-lt"/>
              <a:cs typeface="+mn-lt"/>
            </a:endParaRPr>
          </a:p>
          <a:p>
            <a:pPr marL="0" indent="0">
              <a:buNone/>
            </a:pPr>
            <a:r>
              <a:rPr lang="en-US" sz="2000" b="1">
                <a:ea typeface="+mn-lt"/>
                <a:cs typeface="+mn-lt"/>
              </a:rPr>
              <a:t> </a:t>
            </a:r>
          </a:p>
          <a:p>
            <a:pPr marL="0" indent="0">
              <a:buNone/>
            </a:pPr>
            <a:r>
              <a:rPr lang="en-US" sz="2000" b="1">
                <a:ea typeface="+mn-lt"/>
                <a:cs typeface="+mn-lt"/>
              </a:rPr>
              <a:t> &lt;!-- more bean definitions go here --&gt;</a:t>
            </a:r>
            <a:r>
              <a:rPr lang="en-US" sz="2000" b="1">
                <a:solidFill>
                  <a:srgbClr val="24292E"/>
                </a:solidFill>
                <a:ea typeface="+mn-lt"/>
                <a:cs typeface="+mn-lt"/>
              </a:rPr>
              <a:t> </a:t>
            </a:r>
            <a:endParaRPr lang="en-US" sz="2000" b="1">
              <a:ea typeface="+mn-lt"/>
              <a:cs typeface="+mn-lt"/>
            </a:endParaRPr>
          </a:p>
          <a:p>
            <a:pPr marL="0" indent="0">
              <a:buNone/>
            </a:pPr>
            <a:endParaRPr lang="en-US" sz="2000" b="1">
              <a:ea typeface="+mn-lt"/>
              <a:cs typeface="+mn-lt"/>
            </a:endParaRPr>
          </a:p>
          <a:p>
            <a:pPr marL="0" indent="0">
              <a:buNone/>
            </a:pPr>
            <a:r>
              <a:rPr lang="en-US" sz="2000" b="1">
                <a:ea typeface="+mn-lt"/>
                <a:cs typeface="+mn-lt"/>
              </a:rPr>
              <a:t>&lt;/beans&gt;</a:t>
            </a:r>
            <a:endParaRPr lang="en-US" sz="2000" b="1"/>
          </a:p>
        </p:txBody>
      </p:sp>
    </p:spTree>
    <p:extLst>
      <p:ext uri="{BB962C8B-B14F-4D97-AF65-F5344CB8AC3E}">
        <p14:creationId xmlns:p14="http://schemas.microsoft.com/office/powerpoint/2010/main" val="1719466447"/>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26165A13-7152-6C6E-528E-C99D3F5A92C1}"/>
              </a:ext>
            </a:extLst>
          </p:cNvPr>
          <p:cNvPicPr>
            <a:picLocks noGrp="1" noChangeAspect="1"/>
          </p:cNvPicPr>
          <p:nvPr>
            <p:ph idx="1"/>
          </p:nvPr>
        </p:nvPicPr>
        <p:blipFill>
          <a:blip r:embed="rId2"/>
          <a:srcRect r="1" b="1440"/>
          <a:stretch/>
        </p:blipFill>
        <p:spPr>
          <a:xfrm>
            <a:off x="122716" y="115738"/>
            <a:ext cx="11938653" cy="6618898"/>
          </a:xfrm>
          <a:prstGeom prst="rect">
            <a:avLst/>
          </a:prstGeom>
        </p:spPr>
      </p:pic>
      <p:sp>
        <p:nvSpPr>
          <p:cNvPr id="3" name="TextBox 2">
            <a:extLst>
              <a:ext uri="{FF2B5EF4-FFF2-40B4-BE49-F238E27FC236}">
                <a16:creationId xmlns:a16="http://schemas.microsoft.com/office/drawing/2014/main" id="{07E9C73B-345F-8775-1994-16568EE7C01D}"/>
              </a:ext>
            </a:extLst>
          </p:cNvPr>
          <p:cNvSpPr txBox="1"/>
          <p:nvPr/>
        </p:nvSpPr>
        <p:spPr>
          <a:xfrm>
            <a:off x="2832847" y="1625600"/>
            <a:ext cx="1661458" cy="286870"/>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5" name="TextBox 4">
            <a:extLst>
              <a:ext uri="{FF2B5EF4-FFF2-40B4-BE49-F238E27FC236}">
                <a16:creationId xmlns:a16="http://schemas.microsoft.com/office/drawing/2014/main" id="{5BD5E14C-2636-7B64-2EA2-990427357C5E}"/>
              </a:ext>
            </a:extLst>
          </p:cNvPr>
          <p:cNvSpPr txBox="1"/>
          <p:nvPr/>
        </p:nvSpPr>
        <p:spPr>
          <a:xfrm>
            <a:off x="6772243" y="2804543"/>
            <a:ext cx="770062" cy="301247"/>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142221797"/>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907EA00B-7AF5-8999-1026-A9FEA5613BEC}"/>
              </a:ext>
            </a:extLst>
          </p:cNvPr>
          <p:cNvPicPr>
            <a:picLocks noGrp="1" noChangeAspect="1"/>
          </p:cNvPicPr>
          <p:nvPr>
            <p:ph idx="1"/>
          </p:nvPr>
        </p:nvPicPr>
        <p:blipFill>
          <a:blip r:embed="rId2"/>
          <a:srcRect r="-2" b="53"/>
          <a:stretch/>
        </p:blipFill>
        <p:spPr>
          <a:xfrm>
            <a:off x="-6588" y="10"/>
            <a:ext cx="12198588" cy="6857990"/>
          </a:xfrm>
          <a:prstGeom prst="rect">
            <a:avLst/>
          </a:prstGeom>
        </p:spPr>
      </p:pic>
      <p:sp>
        <p:nvSpPr>
          <p:cNvPr id="3" name="TextBox 2">
            <a:extLst>
              <a:ext uri="{FF2B5EF4-FFF2-40B4-BE49-F238E27FC236}">
                <a16:creationId xmlns:a16="http://schemas.microsoft.com/office/drawing/2014/main" id="{4CF1B271-BF90-0A31-106A-A691B67EB3B8}"/>
              </a:ext>
            </a:extLst>
          </p:cNvPr>
          <p:cNvSpPr txBox="1"/>
          <p:nvPr/>
        </p:nvSpPr>
        <p:spPr>
          <a:xfrm>
            <a:off x="834394" y="3278996"/>
            <a:ext cx="985722" cy="344379"/>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5" name="TextBox 4">
            <a:extLst>
              <a:ext uri="{FF2B5EF4-FFF2-40B4-BE49-F238E27FC236}">
                <a16:creationId xmlns:a16="http://schemas.microsoft.com/office/drawing/2014/main" id="{7BBF30E7-CCE4-9B1B-CA6B-C39A357B260A}"/>
              </a:ext>
            </a:extLst>
          </p:cNvPr>
          <p:cNvSpPr txBox="1"/>
          <p:nvPr/>
        </p:nvSpPr>
        <p:spPr>
          <a:xfrm>
            <a:off x="1323224" y="1625600"/>
            <a:ext cx="1445796" cy="1106378"/>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3573926402"/>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 screen&#10;&#10;Description automatically generated">
            <a:extLst>
              <a:ext uri="{FF2B5EF4-FFF2-40B4-BE49-F238E27FC236}">
                <a16:creationId xmlns:a16="http://schemas.microsoft.com/office/drawing/2014/main" id="{2531161C-2BAE-B709-CF88-9E76B80BF741}"/>
              </a:ext>
            </a:extLst>
          </p:cNvPr>
          <p:cNvPicPr>
            <a:picLocks noGrp="1" noChangeAspect="1"/>
          </p:cNvPicPr>
          <p:nvPr>
            <p:ph idx="1"/>
          </p:nvPr>
        </p:nvPicPr>
        <p:blipFill>
          <a:blip r:embed="rId2"/>
          <a:srcRect r="-2" b="53"/>
          <a:stretch/>
        </p:blipFill>
        <p:spPr>
          <a:xfrm>
            <a:off x="-6588" y="10"/>
            <a:ext cx="12198588" cy="6857990"/>
          </a:xfrm>
          <a:prstGeom prst="rect">
            <a:avLst/>
          </a:prstGeom>
        </p:spPr>
      </p:pic>
    </p:spTree>
    <p:extLst>
      <p:ext uri="{BB962C8B-B14F-4D97-AF65-F5344CB8AC3E}">
        <p14:creationId xmlns:p14="http://schemas.microsoft.com/office/powerpoint/2010/main" val="3271361846"/>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49C996C6-FBD7-40EB-8B69-3E863808846F}"/>
              </a:ext>
            </a:extLst>
          </p:cNvPr>
          <p:cNvPicPr>
            <a:picLocks noGrp="1" noChangeAspect="1"/>
          </p:cNvPicPr>
          <p:nvPr>
            <p:ph idx="1"/>
          </p:nvPr>
        </p:nvPicPr>
        <p:blipFill rotWithShape="1">
          <a:blip r:embed="rId2"/>
          <a:srcRect t="5689" r="25141" b="11502"/>
          <a:stretch/>
        </p:blipFill>
        <p:spPr>
          <a:xfrm>
            <a:off x="122717" y="401216"/>
            <a:ext cx="8937308" cy="5561045"/>
          </a:xfrm>
          <a:prstGeom prst="rect">
            <a:avLst/>
          </a:prstGeom>
        </p:spPr>
      </p:pic>
      <p:sp>
        <p:nvSpPr>
          <p:cNvPr id="3" name="TextBox 2">
            <a:extLst>
              <a:ext uri="{FF2B5EF4-FFF2-40B4-BE49-F238E27FC236}">
                <a16:creationId xmlns:a16="http://schemas.microsoft.com/office/drawing/2014/main" id="{305EFE3C-CCC8-7D46-08D4-8D343166BA80}"/>
              </a:ext>
            </a:extLst>
          </p:cNvPr>
          <p:cNvSpPr txBox="1"/>
          <p:nvPr/>
        </p:nvSpPr>
        <p:spPr>
          <a:xfrm>
            <a:off x="2144700" y="2592944"/>
            <a:ext cx="2941042" cy="588794"/>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1862556125"/>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7DF77FFA-4B08-3B2E-30CD-331476EE083A}"/>
              </a:ext>
            </a:extLst>
          </p:cNvPr>
          <p:cNvPicPr>
            <a:picLocks noGrp="1" noChangeAspect="1"/>
          </p:cNvPicPr>
          <p:nvPr>
            <p:ph idx="1"/>
          </p:nvPr>
        </p:nvPicPr>
        <p:blipFill>
          <a:blip r:embed="rId2"/>
          <a:srcRect r="1" b="1440"/>
          <a:stretch/>
        </p:blipFill>
        <p:spPr>
          <a:xfrm>
            <a:off x="122716" y="115738"/>
            <a:ext cx="11938653" cy="6618898"/>
          </a:xfrm>
          <a:prstGeom prst="rect">
            <a:avLst/>
          </a:prstGeom>
        </p:spPr>
      </p:pic>
      <p:sp>
        <p:nvSpPr>
          <p:cNvPr id="3" name="TextBox 2">
            <a:extLst>
              <a:ext uri="{FF2B5EF4-FFF2-40B4-BE49-F238E27FC236}">
                <a16:creationId xmlns:a16="http://schemas.microsoft.com/office/drawing/2014/main" id="{AF85D715-B6DE-EE66-EDF6-5A92218FFE1D}"/>
              </a:ext>
            </a:extLst>
          </p:cNvPr>
          <p:cNvSpPr txBox="1"/>
          <p:nvPr/>
        </p:nvSpPr>
        <p:spPr>
          <a:xfrm>
            <a:off x="2645941" y="2632015"/>
            <a:ext cx="3329231" cy="344379"/>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4106158143"/>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86B3510D-2950-0451-CD57-FBBFF35AB95C}"/>
              </a:ext>
            </a:extLst>
          </p:cNvPr>
          <p:cNvPicPr>
            <a:picLocks noGrp="1" noChangeAspect="1"/>
          </p:cNvPicPr>
          <p:nvPr>
            <p:ph idx="1"/>
          </p:nvPr>
        </p:nvPicPr>
        <p:blipFill>
          <a:blip r:embed="rId2"/>
          <a:srcRect t="54" r="-2" b="-2"/>
          <a:stretch/>
        </p:blipFill>
        <p:spPr>
          <a:xfrm>
            <a:off x="-6588" y="10"/>
            <a:ext cx="12198588" cy="6857990"/>
          </a:xfrm>
          <a:prstGeom prst="rect">
            <a:avLst/>
          </a:prstGeom>
        </p:spPr>
      </p:pic>
      <p:sp>
        <p:nvSpPr>
          <p:cNvPr id="3" name="TextBox 2">
            <a:extLst>
              <a:ext uri="{FF2B5EF4-FFF2-40B4-BE49-F238E27FC236}">
                <a16:creationId xmlns:a16="http://schemas.microsoft.com/office/drawing/2014/main" id="{13E8A265-7067-C082-F966-C43CE8FD5EF8}"/>
              </a:ext>
            </a:extLst>
          </p:cNvPr>
          <p:cNvSpPr txBox="1"/>
          <p:nvPr/>
        </p:nvSpPr>
        <p:spPr>
          <a:xfrm>
            <a:off x="3752998" y="4227902"/>
            <a:ext cx="2941042" cy="646331"/>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a:p>
            <a:endParaRPr lang="en-US"/>
          </a:p>
        </p:txBody>
      </p:sp>
    </p:spTree>
    <p:extLst>
      <p:ext uri="{BB962C8B-B14F-4D97-AF65-F5344CB8AC3E}">
        <p14:creationId xmlns:p14="http://schemas.microsoft.com/office/powerpoint/2010/main" val="523298326"/>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05651D40-BF71-1218-F5BB-02814F0652D1}"/>
              </a:ext>
            </a:extLst>
          </p:cNvPr>
          <p:cNvPicPr>
            <a:picLocks noGrp="1" noChangeAspect="1"/>
          </p:cNvPicPr>
          <p:nvPr>
            <p:ph idx="1"/>
          </p:nvPr>
        </p:nvPicPr>
        <p:blipFill>
          <a:blip r:embed="rId2"/>
          <a:srcRect t="603" r="1" b="837"/>
          <a:stretch/>
        </p:blipFill>
        <p:spPr>
          <a:xfrm>
            <a:off x="122716" y="115738"/>
            <a:ext cx="11938653" cy="6618898"/>
          </a:xfrm>
          <a:prstGeom prst="rect">
            <a:avLst/>
          </a:prstGeom>
        </p:spPr>
      </p:pic>
    </p:spTree>
    <p:extLst>
      <p:ext uri="{BB962C8B-B14F-4D97-AF65-F5344CB8AC3E}">
        <p14:creationId xmlns:p14="http://schemas.microsoft.com/office/powerpoint/2010/main" val="3633799061"/>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52E93798-9D9A-0852-FDC8-9FFB176749BC}"/>
              </a:ext>
            </a:extLst>
          </p:cNvPr>
          <p:cNvPicPr>
            <a:picLocks noGrp="1" noChangeAspect="1"/>
          </p:cNvPicPr>
          <p:nvPr>
            <p:ph idx="1"/>
          </p:nvPr>
        </p:nvPicPr>
        <p:blipFill>
          <a:blip r:embed="rId2"/>
          <a:srcRect/>
          <a:stretch/>
        </p:blipFill>
        <p:spPr>
          <a:xfrm>
            <a:off x="20" y="1"/>
            <a:ext cx="12191979" cy="6858000"/>
          </a:xfrm>
          <a:prstGeom prst="rect">
            <a:avLst/>
          </a:prstGeom>
        </p:spPr>
      </p:pic>
      <p:sp>
        <p:nvSpPr>
          <p:cNvPr id="3" name="TextBox 2">
            <a:extLst>
              <a:ext uri="{FF2B5EF4-FFF2-40B4-BE49-F238E27FC236}">
                <a16:creationId xmlns:a16="http://schemas.microsoft.com/office/drawing/2014/main" id="{7E4232BF-5A2A-389E-843D-F0234FE9DB78}"/>
              </a:ext>
            </a:extLst>
          </p:cNvPr>
          <p:cNvSpPr txBox="1"/>
          <p:nvPr/>
        </p:nvSpPr>
        <p:spPr>
          <a:xfrm>
            <a:off x="3451074" y="5148052"/>
            <a:ext cx="2941042" cy="588794"/>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4043371941"/>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9C31F36C-6E68-CF13-5535-F4D1902E8411}"/>
              </a:ext>
            </a:extLst>
          </p:cNvPr>
          <p:cNvPicPr>
            <a:picLocks noGrp="1" noChangeAspect="1"/>
          </p:cNvPicPr>
          <p:nvPr>
            <p:ph idx="1"/>
          </p:nvPr>
        </p:nvPicPr>
        <p:blipFill>
          <a:blip r:embed="rId2"/>
          <a:srcRect t="54" r="-2" b="-2"/>
          <a:stretch/>
        </p:blipFill>
        <p:spPr>
          <a:xfrm>
            <a:off x="-6588" y="10"/>
            <a:ext cx="12198588" cy="6857990"/>
          </a:xfrm>
          <a:prstGeom prst="rect">
            <a:avLst/>
          </a:prstGeom>
        </p:spPr>
      </p:pic>
      <p:sp>
        <p:nvSpPr>
          <p:cNvPr id="3" name="TextBox 2">
            <a:extLst>
              <a:ext uri="{FF2B5EF4-FFF2-40B4-BE49-F238E27FC236}">
                <a16:creationId xmlns:a16="http://schemas.microsoft.com/office/drawing/2014/main" id="{AF29AC8A-8B36-2A28-2170-53EF70D41944}"/>
              </a:ext>
            </a:extLst>
          </p:cNvPr>
          <p:cNvSpPr txBox="1"/>
          <p:nvPr/>
        </p:nvSpPr>
        <p:spPr>
          <a:xfrm>
            <a:off x="2272130" y="1122392"/>
            <a:ext cx="2941042" cy="588794"/>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5" name="TextBox 4">
            <a:extLst>
              <a:ext uri="{FF2B5EF4-FFF2-40B4-BE49-F238E27FC236}">
                <a16:creationId xmlns:a16="http://schemas.microsoft.com/office/drawing/2014/main" id="{D8D7C60D-5B21-8ED6-F172-3F56BD8B9E3E}"/>
              </a:ext>
            </a:extLst>
          </p:cNvPr>
          <p:cNvSpPr txBox="1"/>
          <p:nvPr/>
        </p:nvSpPr>
        <p:spPr>
          <a:xfrm>
            <a:off x="2415903" y="4989901"/>
            <a:ext cx="5471457" cy="588794"/>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1009366335"/>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ADE8FE49-C406-7166-961B-B359C5250C17}"/>
              </a:ext>
            </a:extLst>
          </p:cNvPr>
          <p:cNvPicPr>
            <a:picLocks noGrp="1" noChangeAspect="1"/>
          </p:cNvPicPr>
          <p:nvPr>
            <p:ph idx="1"/>
          </p:nvPr>
        </p:nvPicPr>
        <p:blipFill>
          <a:blip r:embed="rId2"/>
          <a:srcRect t="54" r="-2" b="-2"/>
          <a:stretch/>
        </p:blipFill>
        <p:spPr>
          <a:xfrm>
            <a:off x="-6588" y="10"/>
            <a:ext cx="12198588" cy="6857990"/>
          </a:xfrm>
          <a:prstGeom prst="rect">
            <a:avLst/>
          </a:prstGeom>
        </p:spPr>
      </p:pic>
      <p:sp>
        <p:nvSpPr>
          <p:cNvPr id="3" name="TextBox 2">
            <a:extLst>
              <a:ext uri="{FF2B5EF4-FFF2-40B4-BE49-F238E27FC236}">
                <a16:creationId xmlns:a16="http://schemas.microsoft.com/office/drawing/2014/main" id="{0774A8C0-EEBE-7AF1-A871-5F15EBE9E4F2}"/>
              </a:ext>
            </a:extLst>
          </p:cNvPr>
          <p:cNvSpPr txBox="1"/>
          <p:nvPr/>
        </p:nvSpPr>
        <p:spPr>
          <a:xfrm>
            <a:off x="2243375" y="3997864"/>
            <a:ext cx="6521004" cy="1969020"/>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573538637"/>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06001FFA-1CEB-FCE5-2C71-E67394203641}"/>
              </a:ext>
            </a:extLst>
          </p:cNvPr>
          <p:cNvPicPr>
            <a:picLocks noGrp="1" noChangeAspect="1"/>
          </p:cNvPicPr>
          <p:nvPr>
            <p:ph idx="1"/>
          </p:nvPr>
        </p:nvPicPr>
        <p:blipFill>
          <a:blip r:embed="rId2"/>
          <a:srcRect t="54" r="-2" b="-2"/>
          <a:stretch/>
        </p:blipFill>
        <p:spPr>
          <a:xfrm>
            <a:off x="-6588" y="10"/>
            <a:ext cx="12198588" cy="6857990"/>
          </a:xfrm>
          <a:prstGeom prst="rect">
            <a:avLst/>
          </a:prstGeom>
        </p:spPr>
      </p:pic>
      <p:sp>
        <p:nvSpPr>
          <p:cNvPr id="3" name="TextBox 2">
            <a:extLst>
              <a:ext uri="{FF2B5EF4-FFF2-40B4-BE49-F238E27FC236}">
                <a16:creationId xmlns:a16="http://schemas.microsoft.com/office/drawing/2014/main" id="{41D50E98-A82E-831D-924D-4CF89A3AA5B1}"/>
              </a:ext>
            </a:extLst>
          </p:cNvPr>
          <p:cNvSpPr txBox="1"/>
          <p:nvPr/>
        </p:nvSpPr>
        <p:spPr>
          <a:xfrm>
            <a:off x="4313714" y="2315713"/>
            <a:ext cx="4292514" cy="2544114"/>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1829862222"/>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ED77B808-915B-D7D4-94C2-8D832B7144CA}"/>
              </a:ext>
            </a:extLst>
          </p:cNvPr>
          <p:cNvPicPr>
            <a:picLocks noGrp="1" noChangeAspect="1"/>
          </p:cNvPicPr>
          <p:nvPr>
            <p:ph idx="1"/>
          </p:nvPr>
        </p:nvPicPr>
        <p:blipFill>
          <a:blip r:embed="rId2"/>
          <a:srcRect t="194" r="1" b="1245"/>
          <a:stretch/>
        </p:blipFill>
        <p:spPr>
          <a:xfrm>
            <a:off x="122716" y="115738"/>
            <a:ext cx="11938653" cy="6618898"/>
          </a:xfrm>
          <a:prstGeom prst="rect">
            <a:avLst/>
          </a:prstGeom>
        </p:spPr>
      </p:pic>
      <p:sp>
        <p:nvSpPr>
          <p:cNvPr id="3" name="TextBox 2">
            <a:extLst>
              <a:ext uri="{FF2B5EF4-FFF2-40B4-BE49-F238E27FC236}">
                <a16:creationId xmlns:a16="http://schemas.microsoft.com/office/drawing/2014/main" id="{90C62EA7-4CD8-0104-6B66-A6D51B34DF2E}"/>
              </a:ext>
            </a:extLst>
          </p:cNvPr>
          <p:cNvSpPr txBox="1"/>
          <p:nvPr/>
        </p:nvSpPr>
        <p:spPr>
          <a:xfrm>
            <a:off x="7678017" y="949864"/>
            <a:ext cx="956967" cy="588794"/>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3367664982"/>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644BF44B-2B54-54EE-0AD0-31CEFD8F1EEF}"/>
              </a:ext>
            </a:extLst>
          </p:cNvPr>
          <p:cNvPicPr>
            <a:picLocks noGrp="1" noChangeAspect="1"/>
          </p:cNvPicPr>
          <p:nvPr>
            <p:ph idx="1"/>
          </p:nvPr>
        </p:nvPicPr>
        <p:blipFill>
          <a:blip r:embed="rId2"/>
          <a:srcRect r="1" b="1440"/>
          <a:stretch/>
        </p:blipFill>
        <p:spPr>
          <a:xfrm>
            <a:off x="122716" y="115738"/>
            <a:ext cx="11938653" cy="6618898"/>
          </a:xfrm>
          <a:prstGeom prst="rect">
            <a:avLst/>
          </a:prstGeom>
        </p:spPr>
      </p:pic>
      <p:sp>
        <p:nvSpPr>
          <p:cNvPr id="3" name="TextBox 2">
            <a:extLst>
              <a:ext uri="{FF2B5EF4-FFF2-40B4-BE49-F238E27FC236}">
                <a16:creationId xmlns:a16="http://schemas.microsoft.com/office/drawing/2014/main" id="{3EFDC712-E610-13BA-2C80-AEBF35FB8119}"/>
              </a:ext>
            </a:extLst>
          </p:cNvPr>
          <p:cNvSpPr txBox="1"/>
          <p:nvPr/>
        </p:nvSpPr>
        <p:spPr>
          <a:xfrm>
            <a:off x="3939903" y="1122392"/>
            <a:ext cx="4551306" cy="4355661"/>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1684438979"/>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1F55D92E-A07E-A375-2696-3F13D3DE6E39}"/>
              </a:ext>
            </a:extLst>
          </p:cNvPr>
          <p:cNvPicPr>
            <a:picLocks noGrp="1" noChangeAspect="1"/>
          </p:cNvPicPr>
          <p:nvPr>
            <p:ph idx="1"/>
          </p:nvPr>
        </p:nvPicPr>
        <p:blipFill>
          <a:blip r:embed="rId2"/>
          <a:srcRect l="121" r="1" b="1"/>
          <a:stretch/>
        </p:blipFill>
        <p:spPr>
          <a:xfrm>
            <a:off x="20" y="10"/>
            <a:ext cx="12191980" cy="6866290"/>
          </a:xfrm>
          <a:prstGeom prst="rect">
            <a:avLst/>
          </a:prstGeom>
        </p:spPr>
      </p:pic>
      <p:sp>
        <p:nvSpPr>
          <p:cNvPr id="3" name="TextBox 2">
            <a:extLst>
              <a:ext uri="{FF2B5EF4-FFF2-40B4-BE49-F238E27FC236}">
                <a16:creationId xmlns:a16="http://schemas.microsoft.com/office/drawing/2014/main" id="{59A27783-1D4A-8EE1-A66F-A24D1C96199D}"/>
              </a:ext>
            </a:extLst>
          </p:cNvPr>
          <p:cNvSpPr txBox="1"/>
          <p:nvPr/>
        </p:nvSpPr>
        <p:spPr>
          <a:xfrm>
            <a:off x="719375" y="2689524"/>
            <a:ext cx="2941042" cy="588794"/>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1754767344"/>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24DA3A29-3501-2EAD-F4B0-73E04DFD24C0}"/>
              </a:ext>
            </a:extLst>
          </p:cNvPr>
          <p:cNvPicPr>
            <a:picLocks noGrp="1" noChangeAspect="1"/>
          </p:cNvPicPr>
          <p:nvPr>
            <p:ph idx="1"/>
          </p:nvPr>
        </p:nvPicPr>
        <p:blipFill>
          <a:blip r:embed="rId2"/>
          <a:srcRect r="1" b="1440"/>
          <a:stretch/>
        </p:blipFill>
        <p:spPr>
          <a:xfrm>
            <a:off x="122716" y="115738"/>
            <a:ext cx="11938653" cy="6618898"/>
          </a:xfrm>
          <a:prstGeom prst="rect">
            <a:avLst/>
          </a:prstGeom>
        </p:spPr>
      </p:pic>
      <p:sp>
        <p:nvSpPr>
          <p:cNvPr id="3" name="TextBox 2">
            <a:extLst>
              <a:ext uri="{FF2B5EF4-FFF2-40B4-BE49-F238E27FC236}">
                <a16:creationId xmlns:a16="http://schemas.microsoft.com/office/drawing/2014/main" id="{4A28B95A-3D74-06D8-76B7-9AF6D0247E83}"/>
              </a:ext>
            </a:extLst>
          </p:cNvPr>
          <p:cNvSpPr txBox="1"/>
          <p:nvPr/>
        </p:nvSpPr>
        <p:spPr>
          <a:xfrm>
            <a:off x="1208205" y="2905184"/>
            <a:ext cx="1603949" cy="330003"/>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5" name="TextBox 4">
            <a:extLst>
              <a:ext uri="{FF2B5EF4-FFF2-40B4-BE49-F238E27FC236}">
                <a16:creationId xmlns:a16="http://schemas.microsoft.com/office/drawing/2014/main" id="{5AA36915-23DB-D55C-9C75-2A22D28D1BEA}"/>
              </a:ext>
            </a:extLst>
          </p:cNvPr>
          <p:cNvSpPr txBox="1"/>
          <p:nvPr/>
        </p:nvSpPr>
        <p:spPr>
          <a:xfrm>
            <a:off x="4313714" y="2890807"/>
            <a:ext cx="3415496" cy="718191"/>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1085098139"/>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87A24130-727F-D383-B389-7D912F7CE6CE}"/>
              </a:ext>
            </a:extLst>
          </p:cNvPr>
          <p:cNvPicPr>
            <a:picLocks noGrp="1" noChangeAspect="1"/>
          </p:cNvPicPr>
          <p:nvPr>
            <p:ph idx="1"/>
          </p:nvPr>
        </p:nvPicPr>
        <p:blipFill>
          <a:blip r:embed="rId2"/>
          <a:srcRect/>
          <a:stretch/>
        </p:blipFill>
        <p:spPr>
          <a:xfrm>
            <a:off x="20" y="14378"/>
            <a:ext cx="12191979" cy="6858000"/>
          </a:xfrm>
          <a:prstGeom prst="rect">
            <a:avLst/>
          </a:prstGeom>
        </p:spPr>
      </p:pic>
      <p:sp>
        <p:nvSpPr>
          <p:cNvPr id="3" name="TextBox 2">
            <a:extLst>
              <a:ext uri="{FF2B5EF4-FFF2-40B4-BE49-F238E27FC236}">
                <a16:creationId xmlns:a16="http://schemas.microsoft.com/office/drawing/2014/main" id="{7EA94CDD-A452-4D44-553F-84D7E62FBEBC}"/>
              </a:ext>
            </a:extLst>
          </p:cNvPr>
          <p:cNvSpPr txBox="1"/>
          <p:nvPr/>
        </p:nvSpPr>
        <p:spPr>
          <a:xfrm>
            <a:off x="1438243" y="1266165"/>
            <a:ext cx="4335647" cy="2155927"/>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907406549"/>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8E23E964-3A4E-00EF-80AA-2DE0F4AEEB93}"/>
              </a:ext>
            </a:extLst>
          </p:cNvPr>
          <p:cNvPicPr>
            <a:picLocks noGrp="1" noChangeAspect="1"/>
          </p:cNvPicPr>
          <p:nvPr>
            <p:ph idx="1"/>
          </p:nvPr>
        </p:nvPicPr>
        <p:blipFill>
          <a:blip r:embed="rId2"/>
          <a:srcRect t="54" r="-2" b="-2"/>
          <a:stretch/>
        </p:blipFill>
        <p:spPr>
          <a:xfrm>
            <a:off x="-6588" y="10"/>
            <a:ext cx="12198588" cy="6857990"/>
          </a:xfrm>
          <a:prstGeom prst="rect">
            <a:avLst/>
          </a:prstGeom>
        </p:spPr>
      </p:pic>
      <p:sp>
        <p:nvSpPr>
          <p:cNvPr id="3" name="TextBox 2">
            <a:extLst>
              <a:ext uri="{FF2B5EF4-FFF2-40B4-BE49-F238E27FC236}">
                <a16:creationId xmlns:a16="http://schemas.microsoft.com/office/drawing/2014/main" id="{11573F2F-EF45-012F-FC5E-E9E19F0C7695}"/>
              </a:ext>
            </a:extLst>
          </p:cNvPr>
          <p:cNvSpPr txBox="1"/>
          <p:nvPr/>
        </p:nvSpPr>
        <p:spPr>
          <a:xfrm>
            <a:off x="604356" y="2905184"/>
            <a:ext cx="10029081" cy="2831663"/>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1747399036"/>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D5BDC929-672C-BA38-1402-837C85A4EE67}"/>
              </a:ext>
            </a:extLst>
          </p:cNvPr>
          <p:cNvPicPr>
            <a:picLocks noGrp="1" noChangeAspect="1"/>
          </p:cNvPicPr>
          <p:nvPr>
            <p:ph idx="1"/>
          </p:nvPr>
        </p:nvPicPr>
        <p:blipFill>
          <a:blip r:embed="rId2"/>
          <a:srcRect l="121" r="1" b="1"/>
          <a:stretch/>
        </p:blipFill>
        <p:spPr>
          <a:xfrm>
            <a:off x="20" y="10"/>
            <a:ext cx="12191980" cy="6866290"/>
          </a:xfrm>
          <a:prstGeom prst="rect">
            <a:avLst/>
          </a:prstGeom>
        </p:spPr>
      </p:pic>
      <p:sp>
        <p:nvSpPr>
          <p:cNvPr id="3" name="TextBox 2">
            <a:extLst>
              <a:ext uri="{FF2B5EF4-FFF2-40B4-BE49-F238E27FC236}">
                <a16:creationId xmlns:a16="http://schemas.microsoft.com/office/drawing/2014/main" id="{02970093-3E5D-66B4-6788-51482995CB94}"/>
              </a:ext>
            </a:extLst>
          </p:cNvPr>
          <p:cNvSpPr txBox="1"/>
          <p:nvPr/>
        </p:nvSpPr>
        <p:spPr>
          <a:xfrm>
            <a:off x="3623601" y="1108014"/>
            <a:ext cx="8102515" cy="2213436"/>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4134702718"/>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0223FDEA-FF35-2D15-E3D3-F27AD29ECDE4}"/>
              </a:ext>
            </a:extLst>
          </p:cNvPr>
          <p:cNvPicPr>
            <a:picLocks noGrp="1" noChangeAspect="1"/>
          </p:cNvPicPr>
          <p:nvPr>
            <p:ph idx="1"/>
          </p:nvPr>
        </p:nvPicPr>
        <p:blipFill>
          <a:blip r:embed="rId2"/>
          <a:srcRect/>
          <a:stretch/>
        </p:blipFill>
        <p:spPr>
          <a:xfrm>
            <a:off x="-5025" y="3081"/>
            <a:ext cx="12191979" cy="6858000"/>
          </a:xfrm>
          <a:prstGeom prst="rect">
            <a:avLst/>
          </a:prstGeom>
        </p:spPr>
      </p:pic>
      <p:sp>
        <p:nvSpPr>
          <p:cNvPr id="3" name="TextBox 2">
            <a:extLst>
              <a:ext uri="{FF2B5EF4-FFF2-40B4-BE49-F238E27FC236}">
                <a16:creationId xmlns:a16="http://schemas.microsoft.com/office/drawing/2014/main" id="{17CB7BAE-A42A-059F-0202-78F0DBBB3DF0}"/>
              </a:ext>
            </a:extLst>
          </p:cNvPr>
          <p:cNvSpPr txBox="1"/>
          <p:nvPr/>
        </p:nvSpPr>
        <p:spPr>
          <a:xfrm>
            <a:off x="3785674" y="2205271"/>
            <a:ext cx="6358335" cy="1477328"/>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dirty="0" smtClean="0"/>
          </a:p>
          <a:p>
            <a:pPr algn="l"/>
            <a:endParaRPr lang="en-US" dirty="0"/>
          </a:p>
          <a:p>
            <a:pPr algn="l"/>
            <a:endParaRPr lang="en-US" dirty="0" smtClean="0"/>
          </a:p>
          <a:p>
            <a:pPr algn="l"/>
            <a:endParaRPr lang="en-US" dirty="0"/>
          </a:p>
          <a:p>
            <a:pPr algn="l"/>
            <a:endParaRPr lang="en-US" dirty="0"/>
          </a:p>
        </p:txBody>
      </p:sp>
      <p:sp>
        <p:nvSpPr>
          <p:cNvPr id="2" name="TextBox 1">
            <a:extLst>
              <a:ext uri="{FF2B5EF4-FFF2-40B4-BE49-F238E27FC236}">
                <a16:creationId xmlns:a16="http://schemas.microsoft.com/office/drawing/2014/main" id="{92D48880-61C2-C10C-336F-C5070DD468E5}"/>
              </a:ext>
            </a:extLst>
          </p:cNvPr>
          <p:cNvSpPr txBox="1"/>
          <p:nvPr/>
        </p:nvSpPr>
        <p:spPr>
          <a:xfrm>
            <a:off x="3785674" y="4009829"/>
            <a:ext cx="7933426" cy="1200329"/>
          </a:xfrm>
          <a:prstGeom prst="rect">
            <a:avLst/>
          </a:prstGeom>
          <a:solidFill>
            <a:srgbClr val="00206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0000"/>
                </a:solidFill>
              </a:rPr>
              <a:t>&lt;bean name="student" class = "</a:t>
            </a:r>
            <a:r>
              <a:rPr lang="en-US" dirty="0" err="1">
                <a:solidFill>
                  <a:srgbClr val="FF0000"/>
                </a:solidFill>
              </a:rPr>
              <a:t>org.atul.uttam.Student</a:t>
            </a:r>
            <a:r>
              <a:rPr lang="en-US" dirty="0">
                <a:solidFill>
                  <a:srgbClr val="FF0000"/>
                </a:solidFill>
              </a:rPr>
              <a:t>" </a:t>
            </a:r>
            <a:r>
              <a:rPr lang="en-US" b="1" dirty="0">
                <a:solidFill>
                  <a:srgbClr val="FFFF00"/>
                </a:solidFill>
              </a:rPr>
              <a:t>scope="prototype</a:t>
            </a:r>
            <a:r>
              <a:rPr lang="en-US" dirty="0">
                <a:solidFill>
                  <a:srgbClr val="FF0000"/>
                </a:solidFill>
              </a:rPr>
              <a:t>" /&gt;   </a:t>
            </a:r>
            <a:endParaRPr lang="en-US" dirty="0"/>
          </a:p>
          <a:p>
            <a:endParaRPr lang="en-US" dirty="0">
              <a:solidFill>
                <a:srgbClr val="FF0000"/>
              </a:solidFill>
            </a:endParaRPr>
          </a:p>
          <a:p>
            <a:r>
              <a:rPr lang="en-US" b="1" dirty="0">
                <a:solidFill>
                  <a:srgbClr val="FF0000"/>
                </a:solidFill>
              </a:rPr>
              <a:t>  for getting two different objects  </a:t>
            </a:r>
            <a:r>
              <a:rPr lang="en-US" b="1" dirty="0">
                <a:solidFill>
                  <a:srgbClr val="FFFF00"/>
                </a:solidFill>
              </a:rPr>
              <a:t>OR use different id</a:t>
            </a:r>
          </a:p>
        </p:txBody>
      </p:sp>
    </p:spTree>
    <p:extLst>
      <p:ext uri="{BB962C8B-B14F-4D97-AF65-F5344CB8AC3E}">
        <p14:creationId xmlns:p14="http://schemas.microsoft.com/office/powerpoint/2010/main" val="4293708526"/>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9666465A-375E-DC33-58F9-35423655FDBD}"/>
              </a:ext>
            </a:extLst>
          </p:cNvPr>
          <p:cNvPicPr>
            <a:picLocks noGrp="1" noChangeAspect="1"/>
          </p:cNvPicPr>
          <p:nvPr>
            <p:ph idx="1"/>
          </p:nvPr>
        </p:nvPicPr>
        <p:blipFill>
          <a:blip r:embed="rId2"/>
          <a:srcRect l="121" r="1" b="1"/>
          <a:stretch/>
        </p:blipFill>
        <p:spPr>
          <a:xfrm>
            <a:off x="20" y="10"/>
            <a:ext cx="12191980" cy="6866290"/>
          </a:xfrm>
          <a:prstGeom prst="rect">
            <a:avLst/>
          </a:prstGeom>
        </p:spPr>
      </p:pic>
      <p:sp>
        <p:nvSpPr>
          <p:cNvPr id="3" name="TextBox 2">
            <a:extLst>
              <a:ext uri="{FF2B5EF4-FFF2-40B4-BE49-F238E27FC236}">
                <a16:creationId xmlns:a16="http://schemas.microsoft.com/office/drawing/2014/main" id="{A840DBF4-FC46-8509-6130-73DC1C5D4A30}"/>
              </a:ext>
            </a:extLst>
          </p:cNvPr>
          <p:cNvSpPr txBox="1"/>
          <p:nvPr/>
        </p:nvSpPr>
        <p:spPr>
          <a:xfrm>
            <a:off x="3954281" y="3264618"/>
            <a:ext cx="7642439" cy="660682"/>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745233455"/>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95EFFAB5-D891-14D8-3E6F-245039E2995E}"/>
              </a:ext>
            </a:extLst>
          </p:cNvPr>
          <p:cNvPicPr>
            <a:picLocks noGrp="1" noChangeAspect="1"/>
          </p:cNvPicPr>
          <p:nvPr>
            <p:ph idx="1"/>
          </p:nvPr>
        </p:nvPicPr>
        <p:blipFill>
          <a:blip r:embed="rId2"/>
          <a:srcRect l="121" r="1" b="1"/>
          <a:stretch/>
        </p:blipFill>
        <p:spPr>
          <a:xfrm>
            <a:off x="20" y="10"/>
            <a:ext cx="12191980" cy="6866290"/>
          </a:xfrm>
          <a:prstGeom prst="rect">
            <a:avLst/>
          </a:prstGeom>
        </p:spPr>
      </p:pic>
    </p:spTree>
    <p:extLst>
      <p:ext uri="{BB962C8B-B14F-4D97-AF65-F5344CB8AC3E}">
        <p14:creationId xmlns:p14="http://schemas.microsoft.com/office/powerpoint/2010/main" val="344825460"/>
      </p:ext>
    </p:extLst>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410A1-1EFD-17A4-2BA5-D9F032FD73FC}"/>
              </a:ext>
            </a:extLst>
          </p:cNvPr>
          <p:cNvSpPr>
            <a:spLocks noGrp="1"/>
          </p:cNvSpPr>
          <p:nvPr>
            <p:ph type="title"/>
          </p:nvPr>
        </p:nvSpPr>
        <p:spPr/>
        <p:txBody>
          <a:bodyPr>
            <a:normAutofit/>
          </a:bodyPr>
          <a:lstStyle/>
          <a:p>
            <a:r>
              <a:rPr lang="en-US" sz="3600" b="1">
                <a:solidFill>
                  <a:srgbClr val="000080"/>
                </a:solidFill>
                <a:latin typeface="Segoe UI"/>
                <a:cs typeface="Segoe UI"/>
              </a:rPr>
              <a:t>Annotation-based Configuration</a:t>
            </a:r>
            <a:endParaRPr lang="en-US" sz="3600"/>
          </a:p>
        </p:txBody>
      </p:sp>
      <p:sp>
        <p:nvSpPr>
          <p:cNvPr id="4" name="TextBox 3">
            <a:extLst>
              <a:ext uri="{FF2B5EF4-FFF2-40B4-BE49-F238E27FC236}">
                <a16:creationId xmlns:a16="http://schemas.microsoft.com/office/drawing/2014/main" id="{FA75AECA-ACC3-0551-1089-21565A48AE40}"/>
              </a:ext>
            </a:extLst>
          </p:cNvPr>
          <p:cNvSpPr txBox="1"/>
          <p:nvPr/>
        </p:nvSpPr>
        <p:spPr>
          <a:xfrm>
            <a:off x="832411" y="4708079"/>
            <a:ext cx="1035853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a:highlight>
                  <a:srgbClr val="FFFF00"/>
                </a:highlight>
                <a:latin typeface="Segoe UI"/>
                <a:cs typeface="Segoe UI"/>
              </a:rPr>
              <a:t>Note</a:t>
            </a:r>
            <a:r>
              <a:rPr lang="en-US">
                <a:highlight>
                  <a:srgbClr val="FFFF00"/>
                </a:highlight>
                <a:latin typeface="Segoe UI"/>
                <a:cs typeface="Segoe UI"/>
              </a:rPr>
              <a:t>: Since Spring Boot has reduced the use of XML configurations, we don’t need to follow this step in Spring Boot Application. We can directly use annotations whenever it is required. </a:t>
            </a:r>
            <a:endParaRPr lang="en-US">
              <a:highlight>
                <a:srgbClr val="FFFF00"/>
              </a:highlight>
            </a:endParaRPr>
          </a:p>
        </p:txBody>
      </p:sp>
      <p:sp>
        <p:nvSpPr>
          <p:cNvPr id="3" name="TextBox 2">
            <a:extLst>
              <a:ext uri="{FF2B5EF4-FFF2-40B4-BE49-F238E27FC236}">
                <a16:creationId xmlns:a16="http://schemas.microsoft.com/office/drawing/2014/main" id="{6BA24F9C-7685-7328-BABC-F3F128A2E007}"/>
              </a:ext>
            </a:extLst>
          </p:cNvPr>
          <p:cNvSpPr txBox="1"/>
          <p:nvPr/>
        </p:nvSpPr>
        <p:spPr>
          <a:xfrm>
            <a:off x="928777" y="1719532"/>
            <a:ext cx="10276935"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solidFill>
                  <a:srgbClr val="191E1E"/>
                </a:solidFill>
                <a:latin typeface="-apple-system"/>
              </a:rPr>
              <a:t>Define beans using annotation-based configuration metadata on your application’s component classes.</a:t>
            </a:r>
            <a:endParaRPr lang="en-US" sz="2800"/>
          </a:p>
        </p:txBody>
      </p:sp>
    </p:spTree>
    <p:extLst>
      <p:ext uri="{BB962C8B-B14F-4D97-AF65-F5344CB8AC3E}">
        <p14:creationId xmlns:p14="http://schemas.microsoft.com/office/powerpoint/2010/main" val="868186938"/>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A3164-B584-F0CC-A6FF-D0076A8B3F08}"/>
              </a:ext>
            </a:extLst>
          </p:cNvPr>
          <p:cNvSpPr>
            <a:spLocks noGrp="1"/>
          </p:cNvSpPr>
          <p:nvPr>
            <p:ph type="title"/>
          </p:nvPr>
        </p:nvSpPr>
        <p:spPr/>
        <p:txBody>
          <a:bodyPr/>
          <a:lstStyle/>
          <a:p>
            <a:r>
              <a:rPr lang="en-US" sz="3600" b="1">
                <a:solidFill>
                  <a:srgbClr val="000080"/>
                </a:solidFill>
                <a:latin typeface="Segoe UI"/>
                <a:cs typeface="Segoe UI"/>
              </a:rPr>
              <a:t>Annotation-based Configuration</a:t>
            </a:r>
            <a:endParaRPr lang="en-US" sz="3600">
              <a:latin typeface="Segoe UI"/>
              <a:cs typeface="Segoe UI"/>
            </a:endParaRPr>
          </a:p>
        </p:txBody>
      </p:sp>
      <p:sp>
        <p:nvSpPr>
          <p:cNvPr id="3" name="Content Placeholder 2">
            <a:extLst>
              <a:ext uri="{FF2B5EF4-FFF2-40B4-BE49-F238E27FC236}">
                <a16:creationId xmlns:a16="http://schemas.microsoft.com/office/drawing/2014/main" id="{CCD3721D-FDB5-E2CC-8AA7-9375A04BD4B6}"/>
              </a:ext>
            </a:extLst>
          </p:cNvPr>
          <p:cNvSpPr>
            <a:spLocks noGrp="1"/>
          </p:cNvSpPr>
          <p:nvPr>
            <p:ph idx="1"/>
          </p:nvPr>
        </p:nvSpPr>
        <p:spPr/>
        <p:txBody>
          <a:bodyPr vert="horz" lIns="91440" tIns="45720" rIns="91440" bIns="45720" rtlCol="0" anchor="t">
            <a:noAutofit/>
          </a:bodyPr>
          <a:lstStyle/>
          <a:p>
            <a:r>
              <a:rPr lang="en-US" sz="2000" dirty="0">
                <a:latin typeface="Segoe UI"/>
                <a:cs typeface="Segoe UI"/>
              </a:rPr>
              <a:t>Furthermore, in order to make a class as a bean, we need to apply an annotation on the top of the class. </a:t>
            </a:r>
            <a:endParaRPr lang="en-US" sz="2000" dirty="0">
              <a:latin typeface="Aptos" panose="02110004020202020204"/>
              <a:cs typeface="Segoe UI"/>
            </a:endParaRPr>
          </a:p>
          <a:p>
            <a:r>
              <a:rPr lang="en-US" sz="2000" dirty="0">
                <a:latin typeface="Segoe UI"/>
                <a:cs typeface="Segoe UI"/>
              </a:rPr>
              <a:t>There are various annotations that we can apply on top of the class, such as @Component, @Controller, @Service, @Repository etc. </a:t>
            </a:r>
            <a:endParaRPr lang="en-US" sz="2000" dirty="0">
              <a:latin typeface="Aptos" panose="02110004020202020204"/>
              <a:cs typeface="Segoe UI"/>
            </a:endParaRPr>
          </a:p>
          <a:p>
            <a:r>
              <a:rPr lang="en-US" sz="2000" dirty="0">
                <a:latin typeface="Segoe UI"/>
                <a:cs typeface="Segoe UI"/>
              </a:rPr>
              <a:t>Most of the time we apply @Component annotation as it is the basic annotation. </a:t>
            </a:r>
            <a:endParaRPr lang="en-US" sz="1800" dirty="0">
              <a:solidFill>
                <a:srgbClr val="000000"/>
              </a:solidFill>
              <a:latin typeface="Aptos" panose="02110004020202020204"/>
            </a:endParaRPr>
          </a:p>
          <a:p>
            <a:pPr marL="0" indent="0">
              <a:buNone/>
            </a:pPr>
            <a:endParaRPr lang="en-US" sz="1800" b="1" dirty="0">
              <a:solidFill>
                <a:srgbClr val="FF6600"/>
              </a:solidFill>
              <a:latin typeface="Consolas"/>
            </a:endParaRPr>
          </a:p>
          <a:p>
            <a:pPr marL="0" indent="0">
              <a:lnSpc>
                <a:spcPct val="100000"/>
              </a:lnSpc>
              <a:spcBef>
                <a:spcPts val="0"/>
              </a:spcBef>
              <a:buNone/>
            </a:pPr>
            <a:r>
              <a:rPr lang="en-US" sz="1800" b="1" dirty="0">
                <a:solidFill>
                  <a:srgbClr val="FF6600"/>
                </a:solidFill>
                <a:latin typeface="Consolas"/>
              </a:rPr>
              <a:t>@Component</a:t>
            </a:r>
            <a:r>
              <a:rPr lang="en-US" sz="4400" dirty="0">
                <a:solidFill>
                  <a:srgbClr val="3D3D3D"/>
                </a:solidFill>
                <a:latin typeface="Consolas"/>
              </a:rPr>
              <a:t>
</a:t>
            </a:r>
            <a:r>
              <a:rPr lang="en-US" sz="1800" b="1" dirty="0">
                <a:solidFill>
                  <a:srgbClr val="993300"/>
                </a:solidFill>
                <a:latin typeface="Consolas"/>
              </a:rPr>
              <a:t>public class</a:t>
            </a:r>
            <a:r>
              <a:rPr lang="en-US" sz="1800" b="1" dirty="0">
                <a:solidFill>
                  <a:srgbClr val="3D3D3D"/>
                </a:solidFill>
                <a:latin typeface="Consolas"/>
              </a:rPr>
              <a:t> Employee{ </a:t>
            </a:r>
            <a:r>
              <a:rPr lang="en-US" sz="4400" dirty="0">
                <a:solidFill>
                  <a:srgbClr val="3D3D3D"/>
                </a:solidFill>
                <a:latin typeface="Consolas"/>
              </a:rPr>
              <a:t>
</a:t>
            </a:r>
            <a:r>
              <a:rPr lang="en-US" sz="1800" b="1" dirty="0">
                <a:solidFill>
                  <a:srgbClr val="FF6600"/>
                </a:solidFill>
                <a:latin typeface="Consolas"/>
              </a:rPr>
              <a:t>    </a:t>
            </a:r>
            <a:r>
              <a:rPr lang="en-US" sz="1800" b="1" dirty="0">
                <a:solidFill>
                  <a:srgbClr val="993300"/>
                </a:solidFill>
                <a:latin typeface="Consolas"/>
              </a:rPr>
              <a:t>private </a:t>
            </a:r>
            <a:r>
              <a:rPr lang="en-US" sz="1800" b="1" dirty="0">
                <a:latin typeface="Consolas"/>
              </a:rPr>
              <a:t>Long </a:t>
            </a:r>
            <a:r>
              <a:rPr lang="en-US" sz="1800" b="1" dirty="0">
                <a:solidFill>
                  <a:srgbClr val="3D3D3D"/>
                </a:solidFill>
                <a:latin typeface="Consolas"/>
              </a:rPr>
              <a:t>id</a:t>
            </a:r>
            <a:r>
              <a:rPr lang="en-US" sz="1800" b="1" dirty="0">
                <a:solidFill>
                  <a:srgbClr val="993300"/>
                </a:solidFill>
                <a:latin typeface="Consolas"/>
              </a:rPr>
              <a:t>;</a:t>
            </a:r>
            <a:r>
              <a:rPr lang="en-US" sz="1800" b="1" dirty="0">
                <a:solidFill>
                  <a:srgbClr val="3D3D3D"/>
                </a:solidFill>
                <a:latin typeface="Consolas"/>
              </a:rPr>
              <a:t> </a:t>
            </a:r>
            <a:endParaRPr lang="en-US" sz="1800" dirty="0">
              <a:solidFill>
                <a:srgbClr val="000000"/>
              </a:solidFill>
              <a:latin typeface="Aptos" panose="02110004020202020204"/>
            </a:endParaRPr>
          </a:p>
          <a:p>
            <a:pPr marL="0" indent="0">
              <a:lnSpc>
                <a:spcPct val="100000"/>
              </a:lnSpc>
              <a:spcBef>
                <a:spcPts val="0"/>
              </a:spcBef>
              <a:buNone/>
            </a:pPr>
            <a:r>
              <a:rPr lang="en-US" sz="1800" b="1" dirty="0">
                <a:solidFill>
                  <a:srgbClr val="993300"/>
                </a:solidFill>
                <a:latin typeface="Consolas"/>
              </a:rPr>
              <a:t>      private</a:t>
            </a:r>
            <a:r>
              <a:rPr lang="en-US" sz="1800" b="1" dirty="0">
                <a:solidFill>
                  <a:srgbClr val="3D3D3D"/>
                </a:solidFill>
                <a:latin typeface="Consolas"/>
              </a:rPr>
              <a:t> String name;</a:t>
            </a:r>
            <a:endParaRPr lang="en-US" sz="1800" dirty="0">
              <a:solidFill>
                <a:srgbClr val="000000"/>
              </a:solidFill>
              <a:latin typeface="Aptos" panose="02110004020202020204"/>
            </a:endParaRPr>
          </a:p>
          <a:p>
            <a:pPr marL="0" indent="0">
              <a:lnSpc>
                <a:spcPct val="100000"/>
              </a:lnSpc>
              <a:spcBef>
                <a:spcPts val="0"/>
              </a:spcBef>
              <a:buNone/>
            </a:pPr>
            <a:r>
              <a:rPr lang="en-US" sz="1800" b="1" dirty="0">
                <a:solidFill>
                  <a:srgbClr val="993300"/>
                </a:solidFill>
                <a:latin typeface="Consolas"/>
              </a:rPr>
              <a:t>      private</a:t>
            </a:r>
            <a:r>
              <a:rPr lang="en-US" sz="1800" b="1" dirty="0">
                <a:solidFill>
                  <a:srgbClr val="3D3D3D"/>
                </a:solidFill>
                <a:latin typeface="Consolas"/>
              </a:rPr>
              <a:t> String department;</a:t>
            </a:r>
            <a:r>
              <a:rPr lang="en-US" sz="4400" dirty="0">
                <a:solidFill>
                  <a:srgbClr val="3D3D3D"/>
                </a:solidFill>
                <a:latin typeface="Consolas"/>
              </a:rPr>
              <a:t>
</a:t>
            </a:r>
            <a:r>
              <a:rPr lang="en-US" sz="1800" b="1" dirty="0">
                <a:solidFill>
                  <a:srgbClr val="3D3D3D"/>
                </a:solidFill>
                <a:latin typeface="Consolas"/>
              </a:rPr>
              <a:t>}</a:t>
            </a:r>
            <a:endParaRPr lang="en-US" sz="1800" dirty="0"/>
          </a:p>
        </p:txBody>
      </p:sp>
      <p:sp>
        <p:nvSpPr>
          <p:cNvPr id="5" name="TextBox 4">
            <a:extLst>
              <a:ext uri="{FF2B5EF4-FFF2-40B4-BE49-F238E27FC236}">
                <a16:creationId xmlns:a16="http://schemas.microsoft.com/office/drawing/2014/main" id="{3C973E6E-B312-E6EE-558A-85ACEA0DEE5F}"/>
              </a:ext>
            </a:extLst>
          </p:cNvPr>
          <p:cNvSpPr txBox="1"/>
          <p:nvPr/>
        </p:nvSpPr>
        <p:spPr>
          <a:xfrm>
            <a:off x="357674" y="4001294"/>
            <a:ext cx="4623194" cy="2831663"/>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2596921234"/>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C843E-906E-74C7-A4E7-0340A9D64ABE}"/>
              </a:ext>
            </a:extLst>
          </p:cNvPr>
          <p:cNvSpPr>
            <a:spLocks noGrp="1"/>
          </p:cNvSpPr>
          <p:nvPr>
            <p:ph type="title"/>
          </p:nvPr>
        </p:nvSpPr>
        <p:spPr/>
        <p:txBody>
          <a:bodyPr/>
          <a:lstStyle/>
          <a:p>
            <a:endParaRPr lang="en-US"/>
          </a:p>
        </p:txBody>
      </p:sp>
      <p:pic>
        <p:nvPicPr>
          <p:cNvPr id="4" name="Content Placeholder 3" descr="A screenshot of a computer&#10;&#10;Description automatically generated">
            <a:extLst>
              <a:ext uri="{FF2B5EF4-FFF2-40B4-BE49-F238E27FC236}">
                <a16:creationId xmlns:a16="http://schemas.microsoft.com/office/drawing/2014/main" id="{96E4A5DD-AB48-F2BA-0B46-11E5775FD15B}"/>
              </a:ext>
            </a:extLst>
          </p:cNvPr>
          <p:cNvPicPr>
            <a:picLocks noGrp="1" noChangeAspect="1"/>
          </p:cNvPicPr>
          <p:nvPr>
            <p:ph idx="1"/>
          </p:nvPr>
        </p:nvPicPr>
        <p:blipFill>
          <a:blip r:embed="rId2"/>
          <a:stretch>
            <a:fillRect/>
          </a:stretch>
        </p:blipFill>
        <p:spPr>
          <a:xfrm>
            <a:off x="-11473" y="120537"/>
            <a:ext cx="12203472" cy="6738844"/>
          </a:xfrm>
        </p:spPr>
      </p:pic>
      <p:sp>
        <p:nvSpPr>
          <p:cNvPr id="5" name="TextBox 4">
            <a:extLst>
              <a:ext uri="{FF2B5EF4-FFF2-40B4-BE49-F238E27FC236}">
                <a16:creationId xmlns:a16="http://schemas.microsoft.com/office/drawing/2014/main" id="{16D4D2A8-5FA4-A827-C67F-364D1535F0B7}"/>
              </a:ext>
            </a:extLst>
          </p:cNvPr>
          <p:cNvSpPr txBox="1"/>
          <p:nvPr/>
        </p:nvSpPr>
        <p:spPr>
          <a:xfrm>
            <a:off x="676243" y="1036127"/>
            <a:ext cx="3056062" cy="833210"/>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7" name="TextBox 6">
            <a:extLst>
              <a:ext uri="{FF2B5EF4-FFF2-40B4-BE49-F238E27FC236}">
                <a16:creationId xmlns:a16="http://schemas.microsoft.com/office/drawing/2014/main" id="{ED2ADE8D-706D-56D4-BE69-F68E9823AF1B}"/>
              </a:ext>
            </a:extLst>
          </p:cNvPr>
          <p:cNvSpPr txBox="1"/>
          <p:nvPr/>
        </p:nvSpPr>
        <p:spPr>
          <a:xfrm>
            <a:off x="1797677" y="2013788"/>
            <a:ext cx="2135911" cy="991361"/>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2394295585"/>
      </p:ext>
    </p:extLst>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47679-F10E-38FF-D475-82DE14153A2A}"/>
              </a:ext>
            </a:extLst>
          </p:cNvPr>
          <p:cNvSpPr>
            <a:spLocks noGrp="1"/>
          </p:cNvSpPr>
          <p:nvPr>
            <p:ph type="title"/>
          </p:nvPr>
        </p:nvSpPr>
        <p:spPr/>
        <p:txBody>
          <a:bodyPr/>
          <a:lstStyle/>
          <a:p>
            <a:endParaRPr lang="en-US"/>
          </a:p>
        </p:txBody>
      </p:sp>
      <p:pic>
        <p:nvPicPr>
          <p:cNvPr id="4" name="Content Placeholder 3" descr="A screenshot of a computer program&#10;&#10;Description automatically generated">
            <a:extLst>
              <a:ext uri="{FF2B5EF4-FFF2-40B4-BE49-F238E27FC236}">
                <a16:creationId xmlns:a16="http://schemas.microsoft.com/office/drawing/2014/main" id="{FC61DBF1-3350-9A7B-AB68-BDA649EF2F9F}"/>
              </a:ext>
            </a:extLst>
          </p:cNvPr>
          <p:cNvPicPr>
            <a:picLocks noGrp="1" noChangeAspect="1"/>
          </p:cNvPicPr>
          <p:nvPr>
            <p:ph idx="1"/>
          </p:nvPr>
        </p:nvPicPr>
        <p:blipFill>
          <a:blip r:embed="rId2"/>
          <a:stretch>
            <a:fillRect/>
          </a:stretch>
        </p:blipFill>
        <p:spPr>
          <a:xfrm>
            <a:off x="-10885" y="796"/>
            <a:ext cx="12202885" cy="6857997"/>
          </a:xfrm>
        </p:spPr>
      </p:pic>
      <p:sp>
        <p:nvSpPr>
          <p:cNvPr id="5" name="TextBox 4">
            <a:extLst>
              <a:ext uri="{FF2B5EF4-FFF2-40B4-BE49-F238E27FC236}">
                <a16:creationId xmlns:a16="http://schemas.microsoft.com/office/drawing/2014/main" id="{F9D91791-B035-D68A-8293-075419DE8D8D}"/>
              </a:ext>
            </a:extLst>
          </p:cNvPr>
          <p:cNvSpPr txBox="1"/>
          <p:nvPr/>
        </p:nvSpPr>
        <p:spPr>
          <a:xfrm>
            <a:off x="4486243" y="1711863"/>
            <a:ext cx="7110477" cy="1422682"/>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3577699775"/>
      </p:ext>
    </p:extLst>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9240F-9C25-8DF2-A5D0-A3C11176BB90}"/>
              </a:ext>
            </a:extLst>
          </p:cNvPr>
          <p:cNvSpPr>
            <a:spLocks noGrp="1"/>
          </p:cNvSpPr>
          <p:nvPr>
            <p:ph type="title"/>
          </p:nvPr>
        </p:nvSpPr>
        <p:spPr/>
        <p:txBody>
          <a:bodyPr/>
          <a:lstStyle/>
          <a:p>
            <a:endParaRPr lang="en-US"/>
          </a:p>
        </p:txBody>
      </p:sp>
      <p:pic>
        <p:nvPicPr>
          <p:cNvPr id="4" name="Content Placeholder 3" descr="A screenshot of a computer&#10;&#10;Description automatically generated">
            <a:extLst>
              <a:ext uri="{FF2B5EF4-FFF2-40B4-BE49-F238E27FC236}">
                <a16:creationId xmlns:a16="http://schemas.microsoft.com/office/drawing/2014/main" id="{88A2CB17-117E-BA83-6FF0-FF8D17521DF3}"/>
              </a:ext>
            </a:extLst>
          </p:cNvPr>
          <p:cNvPicPr>
            <a:picLocks noGrp="1" noChangeAspect="1"/>
          </p:cNvPicPr>
          <p:nvPr>
            <p:ph idx="1"/>
          </p:nvPr>
        </p:nvPicPr>
        <p:blipFill>
          <a:blip r:embed="rId2"/>
          <a:stretch>
            <a:fillRect/>
          </a:stretch>
        </p:blipFill>
        <p:spPr>
          <a:xfrm>
            <a:off x="1" y="795"/>
            <a:ext cx="12191998" cy="6868884"/>
          </a:xfrm>
        </p:spPr>
      </p:pic>
      <p:sp>
        <p:nvSpPr>
          <p:cNvPr id="5" name="TextBox 4">
            <a:extLst>
              <a:ext uri="{FF2B5EF4-FFF2-40B4-BE49-F238E27FC236}">
                <a16:creationId xmlns:a16="http://schemas.microsoft.com/office/drawing/2014/main" id="{880FC9F5-7E43-2996-0BC0-3303C423D30F}"/>
              </a:ext>
            </a:extLst>
          </p:cNvPr>
          <p:cNvSpPr txBox="1"/>
          <p:nvPr/>
        </p:nvSpPr>
        <p:spPr>
          <a:xfrm>
            <a:off x="4342469" y="1266165"/>
            <a:ext cx="4263760" cy="1925889"/>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3" name="TextBox 2">
            <a:extLst>
              <a:ext uri="{FF2B5EF4-FFF2-40B4-BE49-F238E27FC236}">
                <a16:creationId xmlns:a16="http://schemas.microsoft.com/office/drawing/2014/main" id="{D1542A41-9FD8-89A9-3DD0-AADBE4067B5D}"/>
              </a:ext>
            </a:extLst>
          </p:cNvPr>
          <p:cNvSpPr txBox="1"/>
          <p:nvPr/>
        </p:nvSpPr>
        <p:spPr>
          <a:xfrm>
            <a:off x="298581" y="3336915"/>
            <a:ext cx="11775232" cy="2031325"/>
          </a:xfrm>
          <a:prstGeom prst="rect">
            <a:avLst/>
          </a:prstGeom>
          <a:solidFill>
            <a:srgbClr val="00206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A9B837"/>
                </a:solidFill>
              </a:rPr>
              <a:t>@Component</a:t>
            </a:r>
            <a:r>
              <a:rPr lang="en-US" b="1" dirty="0"/>
              <a:t/>
            </a:r>
            <a:br>
              <a:rPr lang="en-US" b="1" dirty="0"/>
            </a:br>
            <a:r>
              <a:rPr lang="en-US" b="1" dirty="0">
                <a:solidFill>
                  <a:srgbClr val="7EC3E6"/>
                </a:solidFill>
              </a:rPr>
              <a:t>//@Scope("singleton") //Default not necessary to write, will //provide one instance</a:t>
            </a:r>
            <a:r>
              <a:rPr lang="en-US" b="1" dirty="0"/>
              <a:t/>
            </a:r>
            <a:br>
              <a:rPr lang="en-US" b="1" dirty="0"/>
            </a:br>
            <a:r>
              <a:rPr lang="en-US" b="1" dirty="0">
                <a:solidFill>
                  <a:srgbClr val="A9B837"/>
                </a:solidFill>
              </a:rPr>
              <a:t>@Scope</a:t>
            </a:r>
            <a:r>
              <a:rPr lang="en-US" b="1" dirty="0">
                <a:solidFill>
                  <a:srgbClr val="EBEBEB"/>
                </a:solidFill>
              </a:rPr>
              <a:t>(</a:t>
            </a:r>
            <a:r>
              <a:rPr lang="en-US" b="1" dirty="0">
                <a:solidFill>
                  <a:srgbClr val="54B33E"/>
                </a:solidFill>
              </a:rPr>
              <a:t>"prototype"</a:t>
            </a:r>
            <a:r>
              <a:rPr lang="en-US" b="1" dirty="0">
                <a:solidFill>
                  <a:srgbClr val="EBEBEB"/>
                </a:solidFill>
              </a:rPr>
              <a:t>)     </a:t>
            </a:r>
            <a:r>
              <a:rPr lang="en-US" b="1" dirty="0">
                <a:solidFill>
                  <a:srgbClr val="7EC3E6"/>
                </a:solidFill>
              </a:rPr>
              <a:t>//</a:t>
            </a:r>
            <a:r>
              <a:rPr lang="en-US" b="1" dirty="0">
                <a:solidFill>
                  <a:srgbClr val="7EC3E6"/>
                </a:solidFill>
                <a:ea typeface="+mn-lt"/>
                <a:cs typeface="+mn-lt"/>
              </a:rPr>
              <a:t>provide more than one instances as per requirement</a:t>
            </a:r>
            <a:br>
              <a:rPr lang="en-US" b="1" dirty="0">
                <a:solidFill>
                  <a:srgbClr val="7EC3E6"/>
                </a:solidFill>
                <a:ea typeface="+mn-lt"/>
                <a:cs typeface="+mn-lt"/>
              </a:rPr>
            </a:br>
            <a:r>
              <a:rPr lang="en-US" b="1" dirty="0">
                <a:solidFill>
                  <a:srgbClr val="ED864A"/>
                </a:solidFill>
              </a:rPr>
              <a:t>public class </a:t>
            </a:r>
            <a:r>
              <a:rPr lang="en-US" b="1" dirty="0">
                <a:solidFill>
                  <a:srgbClr val="FFFFFF"/>
                </a:solidFill>
              </a:rPr>
              <a:t>Laptop </a:t>
            </a:r>
            <a:endParaRPr lang="en-US" b="1" dirty="0">
              <a:solidFill>
                <a:srgbClr val="EBEBEB"/>
              </a:solidFill>
            </a:endParaRPr>
          </a:p>
          <a:p>
            <a:r>
              <a:rPr lang="en-US" b="1" dirty="0">
                <a:solidFill>
                  <a:srgbClr val="EBEBEB"/>
                </a:solidFill>
              </a:rPr>
              <a:t>{</a:t>
            </a:r>
            <a:r>
              <a:rPr lang="en-US" b="1" dirty="0"/>
              <a:t/>
            </a:r>
            <a:br>
              <a:rPr lang="en-US" b="1" dirty="0"/>
            </a:br>
            <a:r>
              <a:rPr lang="en-US" b="1" dirty="0">
                <a:solidFill>
                  <a:srgbClr val="A9B837"/>
                </a:solidFill>
              </a:rPr>
              <a:t>@</a:t>
            </a:r>
            <a:r>
              <a:rPr lang="en-US" b="1" dirty="0" err="1">
                <a:solidFill>
                  <a:srgbClr val="A9B837"/>
                </a:solidFill>
              </a:rPr>
              <a:t>Autowired</a:t>
            </a:r>
            <a:r>
              <a:rPr lang="en-US" b="1" dirty="0"/>
              <a:t/>
            </a:r>
            <a:br>
              <a:rPr lang="en-US" b="1" dirty="0"/>
            </a:br>
            <a:r>
              <a:rPr lang="en-US" b="1" dirty="0">
                <a:solidFill>
                  <a:srgbClr val="ED864A"/>
                </a:solidFill>
              </a:rPr>
              <a:t>private </a:t>
            </a:r>
            <a:r>
              <a:rPr lang="en-US" b="1" dirty="0" err="1">
                <a:solidFill>
                  <a:srgbClr val="FFFFFF"/>
                </a:solidFill>
              </a:rPr>
              <a:t>HardDisk</a:t>
            </a:r>
            <a:r>
              <a:rPr lang="en-US" b="1" dirty="0">
                <a:solidFill>
                  <a:srgbClr val="FFFFFF"/>
                </a:solidFill>
              </a:rPr>
              <a:t> </a:t>
            </a:r>
            <a:r>
              <a:rPr lang="en-US" b="1" dirty="0">
                <a:solidFill>
                  <a:srgbClr val="ED94FF"/>
                </a:solidFill>
              </a:rPr>
              <a:t>HDD</a:t>
            </a:r>
            <a:r>
              <a:rPr lang="en-US" b="1" dirty="0">
                <a:solidFill>
                  <a:srgbClr val="ED864A"/>
                </a:solidFill>
              </a:rPr>
              <a:t>;</a:t>
            </a:r>
            <a:endParaRPr lang="en-US" b="1" dirty="0"/>
          </a:p>
        </p:txBody>
      </p:sp>
    </p:spTree>
    <p:extLst>
      <p:ext uri="{BB962C8B-B14F-4D97-AF65-F5344CB8AC3E}">
        <p14:creationId xmlns:p14="http://schemas.microsoft.com/office/powerpoint/2010/main" val="1198172684"/>
      </p:ext>
    </p:extLst>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4C4D0-14F4-2B4C-048D-2DA204307F22}"/>
              </a:ext>
            </a:extLst>
          </p:cNvPr>
          <p:cNvSpPr>
            <a:spLocks noGrp="1"/>
          </p:cNvSpPr>
          <p:nvPr>
            <p:ph type="title"/>
          </p:nvPr>
        </p:nvSpPr>
        <p:spPr/>
        <p:txBody>
          <a:bodyPr/>
          <a:lstStyle/>
          <a:p>
            <a:endParaRPr lang="en-US"/>
          </a:p>
        </p:txBody>
      </p:sp>
      <p:pic>
        <p:nvPicPr>
          <p:cNvPr id="4" name="Content Placeholder 3" descr="A screenshot of a computer&#10;&#10;Description automatically generated">
            <a:extLst>
              <a:ext uri="{FF2B5EF4-FFF2-40B4-BE49-F238E27FC236}">
                <a16:creationId xmlns:a16="http://schemas.microsoft.com/office/drawing/2014/main" id="{0CD0C6BA-196F-58B1-B3BF-DC8F5283E6CB}"/>
              </a:ext>
            </a:extLst>
          </p:cNvPr>
          <p:cNvPicPr>
            <a:picLocks noGrp="1" noChangeAspect="1"/>
          </p:cNvPicPr>
          <p:nvPr>
            <p:ph idx="1"/>
          </p:nvPr>
        </p:nvPicPr>
        <p:blipFill>
          <a:blip r:embed="rId2"/>
          <a:stretch>
            <a:fillRect/>
          </a:stretch>
        </p:blipFill>
        <p:spPr>
          <a:xfrm>
            <a:off x="0" y="795"/>
            <a:ext cx="12192000" cy="6857999"/>
          </a:xfrm>
        </p:spPr>
      </p:pic>
      <p:sp>
        <p:nvSpPr>
          <p:cNvPr id="5" name="TextBox 4">
            <a:extLst>
              <a:ext uri="{FF2B5EF4-FFF2-40B4-BE49-F238E27FC236}">
                <a16:creationId xmlns:a16="http://schemas.microsoft.com/office/drawing/2014/main" id="{DCB73F2B-6F35-F525-76B0-6E3523453CE5}"/>
              </a:ext>
            </a:extLst>
          </p:cNvPr>
          <p:cNvSpPr txBox="1"/>
          <p:nvPr/>
        </p:nvSpPr>
        <p:spPr>
          <a:xfrm>
            <a:off x="4241828" y="1553712"/>
            <a:ext cx="3314854" cy="2486606"/>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3245528581"/>
      </p:ext>
    </p:extLst>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E8AB2-C3F8-738D-7062-22EC472F239B}"/>
              </a:ext>
            </a:extLst>
          </p:cNvPr>
          <p:cNvSpPr>
            <a:spLocks noGrp="1"/>
          </p:cNvSpPr>
          <p:nvPr>
            <p:ph type="title"/>
          </p:nvPr>
        </p:nvSpPr>
        <p:spPr/>
        <p:txBody>
          <a:bodyPr>
            <a:normAutofit/>
          </a:bodyPr>
          <a:lstStyle/>
          <a:p>
            <a:r>
              <a:rPr lang="en-US" sz="3200" b="1">
                <a:solidFill>
                  <a:srgbClr val="000080"/>
                </a:solidFill>
                <a:latin typeface="Segoe UI"/>
                <a:cs typeface="Segoe UI"/>
              </a:rPr>
              <a:t>Java-based Configuration</a:t>
            </a:r>
            <a:endParaRPr lang="en-US" sz="3200"/>
          </a:p>
        </p:txBody>
      </p:sp>
      <p:sp>
        <p:nvSpPr>
          <p:cNvPr id="3" name="Content Placeholder 2">
            <a:extLst>
              <a:ext uri="{FF2B5EF4-FFF2-40B4-BE49-F238E27FC236}">
                <a16:creationId xmlns:a16="http://schemas.microsoft.com/office/drawing/2014/main" id="{94047810-943A-BD55-0488-29A9B43C9B01}"/>
              </a:ext>
            </a:extLst>
          </p:cNvPr>
          <p:cNvSpPr>
            <a:spLocks noGrp="1"/>
          </p:cNvSpPr>
          <p:nvPr>
            <p:ph idx="1"/>
          </p:nvPr>
        </p:nvSpPr>
        <p:spPr>
          <a:xfrm>
            <a:off x="838200" y="1480569"/>
            <a:ext cx="10515600" cy="4696394"/>
          </a:xfrm>
        </p:spPr>
        <p:txBody>
          <a:bodyPr vert="horz" lIns="91440" tIns="45720" rIns="91440" bIns="45720" rtlCol="0" anchor="t">
            <a:normAutofit lnSpcReduction="10000"/>
          </a:bodyPr>
          <a:lstStyle/>
          <a:p>
            <a:r>
              <a:rPr lang="en-US" sz="1800" dirty="0">
                <a:latin typeface="Segoe UI"/>
                <a:cs typeface="Segoe UI"/>
              </a:rPr>
              <a:t>Starting with Spring 3.0, a pure-Java configuration container was provided. </a:t>
            </a:r>
            <a:endParaRPr lang="en-US" sz="4000" dirty="0">
              <a:latin typeface="Aptos" panose="02110004020202020204"/>
              <a:cs typeface="Segoe UI"/>
            </a:endParaRPr>
          </a:p>
          <a:p>
            <a:r>
              <a:rPr lang="en-US" sz="1800" dirty="0">
                <a:latin typeface="Segoe UI"/>
                <a:cs typeface="Segoe UI"/>
              </a:rPr>
              <a:t>We don’t need any XML with this method of configuration. </a:t>
            </a:r>
            <a:endParaRPr lang="en-US" sz="4000" dirty="0">
              <a:latin typeface="Aptos" panose="02110004020202020204"/>
              <a:cs typeface="Segoe UI"/>
            </a:endParaRPr>
          </a:p>
          <a:p>
            <a:r>
              <a:rPr lang="en-US" sz="1800" dirty="0">
                <a:latin typeface="Segoe UI"/>
                <a:cs typeface="Segoe UI"/>
              </a:rPr>
              <a:t>The key features in Spring Framework’s new Java-configuration support are </a:t>
            </a:r>
            <a:r>
              <a:rPr lang="en-US" sz="1800" b="1" dirty="0">
                <a:solidFill>
                  <a:srgbClr val="FF0000"/>
                </a:solidFill>
                <a:highlight>
                  <a:srgbClr val="FFFF00"/>
                </a:highlight>
                <a:latin typeface="Segoe UI"/>
                <a:cs typeface="Segoe UI"/>
              </a:rPr>
              <a:t>@Configuration</a:t>
            </a:r>
            <a:r>
              <a:rPr lang="en-US" sz="1800" b="1" dirty="0">
                <a:highlight>
                  <a:srgbClr val="FFFF00"/>
                </a:highlight>
                <a:latin typeface="Segoe UI"/>
                <a:cs typeface="Segoe UI"/>
              </a:rPr>
              <a:t> </a:t>
            </a:r>
            <a:endParaRPr lang="en-US" sz="1800" b="1" dirty="0" smtClean="0">
              <a:highlight>
                <a:srgbClr val="FFFF00"/>
              </a:highlight>
              <a:latin typeface="Segoe UI"/>
              <a:cs typeface="Segoe UI"/>
            </a:endParaRPr>
          </a:p>
          <a:p>
            <a:pPr marL="0" indent="0">
              <a:buNone/>
            </a:pPr>
            <a:r>
              <a:rPr lang="en-US" sz="1800" b="1" dirty="0">
                <a:highlight>
                  <a:srgbClr val="FFFF00"/>
                </a:highlight>
                <a:latin typeface="Segoe UI"/>
                <a:cs typeface="Segoe UI"/>
              </a:rPr>
              <a:t> </a:t>
            </a:r>
            <a:r>
              <a:rPr lang="en-US" sz="1800" b="1" dirty="0" smtClean="0">
                <a:highlight>
                  <a:srgbClr val="FFFF00"/>
                </a:highlight>
                <a:latin typeface="Segoe UI"/>
                <a:cs typeface="Segoe UI"/>
              </a:rPr>
              <a:t>   annotated </a:t>
            </a:r>
            <a:r>
              <a:rPr lang="en-US" sz="1800" b="1" dirty="0">
                <a:solidFill>
                  <a:srgbClr val="FF0000"/>
                </a:solidFill>
                <a:highlight>
                  <a:srgbClr val="FFFF00"/>
                </a:highlight>
                <a:latin typeface="Segoe UI"/>
                <a:cs typeface="Segoe UI"/>
              </a:rPr>
              <a:t>classes</a:t>
            </a:r>
            <a:r>
              <a:rPr lang="en-US" sz="1800" b="1" dirty="0">
                <a:highlight>
                  <a:srgbClr val="FFFF00"/>
                </a:highlight>
                <a:latin typeface="Segoe UI"/>
                <a:cs typeface="Segoe UI"/>
              </a:rPr>
              <a:t> and </a:t>
            </a:r>
            <a:r>
              <a:rPr lang="en-US" sz="1800" b="1" dirty="0">
                <a:solidFill>
                  <a:srgbClr val="FF0000"/>
                </a:solidFill>
                <a:highlight>
                  <a:srgbClr val="FFFF00"/>
                </a:highlight>
                <a:latin typeface="Segoe UI"/>
                <a:cs typeface="Segoe UI"/>
              </a:rPr>
              <a:t>@Bean</a:t>
            </a:r>
            <a:r>
              <a:rPr lang="en-US" sz="1800" b="1" dirty="0">
                <a:highlight>
                  <a:srgbClr val="FFFF00"/>
                </a:highlight>
                <a:latin typeface="Segoe UI"/>
                <a:cs typeface="Segoe UI"/>
              </a:rPr>
              <a:t> annotated </a:t>
            </a:r>
            <a:r>
              <a:rPr lang="en-US" sz="1800" b="1" dirty="0">
                <a:solidFill>
                  <a:srgbClr val="FF0000"/>
                </a:solidFill>
                <a:highlight>
                  <a:srgbClr val="FFFF00"/>
                </a:highlight>
                <a:latin typeface="Segoe UI"/>
                <a:cs typeface="Segoe UI"/>
              </a:rPr>
              <a:t>methods</a:t>
            </a:r>
            <a:r>
              <a:rPr lang="en-US" sz="1800" b="1" dirty="0">
                <a:highlight>
                  <a:srgbClr val="FFFF00"/>
                </a:highlight>
                <a:latin typeface="Segoe UI"/>
                <a:cs typeface="Segoe UI"/>
              </a:rPr>
              <a:t>.</a:t>
            </a:r>
            <a:r>
              <a:rPr lang="en-US" sz="1800" dirty="0">
                <a:latin typeface="Segoe UI"/>
                <a:cs typeface="Segoe UI"/>
              </a:rPr>
              <a:t> </a:t>
            </a:r>
            <a:endParaRPr lang="en-US" sz="4000" dirty="0">
              <a:latin typeface="Aptos" panose="02110004020202020204"/>
              <a:cs typeface="Segoe UI"/>
            </a:endParaRPr>
          </a:p>
          <a:p>
            <a:r>
              <a:rPr lang="en-US" sz="2000" b="1" dirty="0">
                <a:latin typeface="Segoe UI"/>
                <a:cs typeface="Segoe UI"/>
              </a:rPr>
              <a:t>Using @Configuration annotation represents that Spring container will use it as a source of Beans definitions. </a:t>
            </a:r>
            <a:endParaRPr lang="en-US" sz="2000" b="1" dirty="0">
              <a:latin typeface="Aptos" panose="02110004020202020204"/>
              <a:cs typeface="Segoe UI"/>
            </a:endParaRPr>
          </a:p>
          <a:p>
            <a:r>
              <a:rPr lang="en-US" sz="2000" b="1" dirty="0">
                <a:solidFill>
                  <a:srgbClr val="191E1E"/>
                </a:solidFill>
                <a:ea typeface="+mn-lt"/>
                <a:cs typeface="+mn-lt"/>
              </a:rPr>
              <a:t>The </a:t>
            </a:r>
            <a:r>
              <a:rPr lang="en-US" sz="3200" b="1" dirty="0">
                <a:solidFill>
                  <a:srgbClr val="191E1E"/>
                </a:solidFill>
                <a:latin typeface="Consolas"/>
                <a:cs typeface="Segoe UI"/>
              </a:rPr>
              <a:t>@Bean</a:t>
            </a:r>
            <a:r>
              <a:rPr lang="en-US" sz="2000" b="1" dirty="0">
                <a:solidFill>
                  <a:srgbClr val="191E1E"/>
                </a:solidFill>
                <a:ea typeface="+mn-lt"/>
                <a:cs typeface="+mn-lt"/>
              </a:rPr>
              <a:t> annotation is used to indicate that a method instantiates, configures, and initializes a new object to be managed by the Spring </a:t>
            </a:r>
            <a:r>
              <a:rPr lang="en-US" sz="2000" b="1" dirty="0" err="1">
                <a:solidFill>
                  <a:srgbClr val="191E1E"/>
                </a:solidFill>
                <a:ea typeface="+mn-lt"/>
                <a:cs typeface="+mn-lt"/>
              </a:rPr>
              <a:t>IoC</a:t>
            </a:r>
            <a:r>
              <a:rPr lang="en-US" sz="2000" b="1" dirty="0">
                <a:solidFill>
                  <a:srgbClr val="191E1E"/>
                </a:solidFill>
                <a:ea typeface="+mn-lt"/>
                <a:cs typeface="+mn-lt"/>
              </a:rPr>
              <a:t> container.</a:t>
            </a:r>
          </a:p>
          <a:p>
            <a:pPr marL="0" indent="0">
              <a:buNone/>
            </a:pPr>
            <a:endParaRPr lang="en-US" sz="1800" dirty="0">
              <a:latin typeface="Segoe UI"/>
              <a:cs typeface="Segoe UI"/>
            </a:endParaRPr>
          </a:p>
          <a:p>
            <a:pPr marL="0" indent="0">
              <a:buNone/>
            </a:pPr>
            <a:r>
              <a:rPr lang="en-US" sz="1800" b="1" dirty="0">
                <a:latin typeface="Segoe UI"/>
                <a:cs typeface="Segoe UI"/>
              </a:rPr>
              <a:t>1. </a:t>
            </a:r>
            <a:r>
              <a:rPr lang="en-US" sz="1800" b="1" dirty="0">
                <a:solidFill>
                  <a:srgbClr val="FF0000"/>
                </a:solidFill>
                <a:latin typeface="Segoe UI"/>
                <a:cs typeface="Segoe UI"/>
              </a:rPr>
              <a:t>@Bean</a:t>
            </a:r>
            <a:r>
              <a:rPr lang="en-US" sz="1800" b="1" dirty="0">
                <a:latin typeface="Segoe UI"/>
                <a:cs typeface="Segoe UI"/>
              </a:rPr>
              <a:t> annotation plays the same role as the &lt;bean/&gt; element.</a:t>
            </a:r>
            <a:endParaRPr lang="en-US" sz="4000" b="1" dirty="0"/>
          </a:p>
          <a:p>
            <a:pPr marL="0" indent="0">
              <a:buNone/>
            </a:pPr>
            <a:endParaRPr lang="en-US" sz="1800" b="1" dirty="0">
              <a:latin typeface="Segoe UI"/>
              <a:cs typeface="Segoe UI"/>
            </a:endParaRPr>
          </a:p>
          <a:p>
            <a:pPr marL="0" indent="0">
              <a:buNone/>
            </a:pPr>
            <a:r>
              <a:rPr lang="en-US" sz="1800" b="1" dirty="0">
                <a:latin typeface="Segoe UI"/>
                <a:cs typeface="Segoe UI"/>
              </a:rPr>
              <a:t>2. </a:t>
            </a:r>
            <a:r>
              <a:rPr lang="en-US" sz="1800" b="1" dirty="0">
                <a:solidFill>
                  <a:srgbClr val="FF0000"/>
                </a:solidFill>
                <a:latin typeface="Segoe UI"/>
                <a:cs typeface="Segoe UI"/>
              </a:rPr>
              <a:t>@Configuration</a:t>
            </a:r>
            <a:r>
              <a:rPr lang="en-US" sz="1800" b="1" dirty="0">
                <a:latin typeface="Segoe UI"/>
                <a:cs typeface="Segoe UI"/>
              </a:rPr>
              <a:t> classes allow define inter-bean dependencies by simply calling other @Bean methods in the same class.</a:t>
            </a:r>
            <a:endParaRPr lang="en-US" sz="4000" b="1" dirty="0"/>
          </a:p>
          <a:p>
            <a:endParaRPr lang="en-US" sz="4000" dirty="0"/>
          </a:p>
        </p:txBody>
      </p:sp>
    </p:spTree>
    <p:extLst>
      <p:ext uri="{BB962C8B-B14F-4D97-AF65-F5344CB8AC3E}">
        <p14:creationId xmlns:p14="http://schemas.microsoft.com/office/powerpoint/2010/main" val="3591868212"/>
      </p:ext>
    </p:extLst>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5768B-03E5-287F-1B3E-502A6FC6B54F}"/>
              </a:ext>
            </a:extLst>
          </p:cNvPr>
          <p:cNvSpPr>
            <a:spLocks noGrp="1"/>
          </p:cNvSpPr>
          <p:nvPr>
            <p:ph type="title"/>
          </p:nvPr>
        </p:nvSpPr>
        <p:spPr/>
        <p:txBody>
          <a:bodyPr/>
          <a:lstStyle/>
          <a:p>
            <a:r>
              <a:rPr lang="en-US" sz="3200" b="1">
                <a:solidFill>
                  <a:srgbClr val="000080"/>
                </a:solidFill>
                <a:latin typeface="Segoe UI"/>
                <a:cs typeface="Segoe UI"/>
              </a:rPr>
              <a:t>Java-based Configuration</a:t>
            </a:r>
            <a:endParaRPr lang="en-US" sz="3200">
              <a:latin typeface="Segoe UI"/>
              <a:cs typeface="Segoe UI"/>
            </a:endParaRPr>
          </a:p>
        </p:txBody>
      </p:sp>
      <p:sp>
        <p:nvSpPr>
          <p:cNvPr id="3" name="Content Placeholder 2">
            <a:extLst>
              <a:ext uri="{FF2B5EF4-FFF2-40B4-BE49-F238E27FC236}">
                <a16:creationId xmlns:a16="http://schemas.microsoft.com/office/drawing/2014/main" id="{475D39C5-1EB8-9B3B-0459-832A08DFA68A}"/>
              </a:ext>
            </a:extLst>
          </p:cNvPr>
          <p:cNvSpPr>
            <a:spLocks noGrp="1"/>
          </p:cNvSpPr>
          <p:nvPr>
            <p:ph idx="1"/>
          </p:nvPr>
        </p:nvSpPr>
        <p:spPr>
          <a:xfrm>
            <a:off x="707571" y="1780905"/>
            <a:ext cx="6412174" cy="4351338"/>
          </a:xfrm>
          <a:solidFill>
            <a:srgbClr val="FFFF00"/>
          </a:solidFill>
        </p:spPr>
        <p:txBody>
          <a:bodyPr vert="horz" lIns="91440" tIns="45720" rIns="91440" bIns="45720" rtlCol="0" anchor="t">
            <a:noAutofit/>
          </a:bodyPr>
          <a:lstStyle/>
          <a:p>
            <a:pPr marL="0" indent="0">
              <a:buNone/>
            </a:pPr>
            <a:r>
              <a:rPr lang="en-US" sz="2000" b="1" dirty="0">
                <a:solidFill>
                  <a:srgbClr val="FF6600"/>
                </a:solidFill>
                <a:latin typeface="Consolas"/>
              </a:rPr>
              <a:t>@Configuration</a:t>
            </a:r>
            <a:r>
              <a:rPr lang="en-US" sz="2000" b="1" dirty="0">
                <a:solidFill>
                  <a:srgbClr val="3D3D3D"/>
                </a:solidFill>
                <a:latin typeface="Consolas"/>
              </a:rPr>
              <a:t>
</a:t>
            </a:r>
            <a:r>
              <a:rPr lang="en-US" sz="2000" b="1" dirty="0">
                <a:solidFill>
                  <a:srgbClr val="993300"/>
                </a:solidFill>
                <a:latin typeface="Consolas"/>
              </a:rPr>
              <a:t>public class</a:t>
            </a:r>
            <a:r>
              <a:rPr lang="en-US" sz="2000" b="1" dirty="0">
                <a:solidFill>
                  <a:srgbClr val="3D3D3D"/>
                </a:solidFill>
                <a:latin typeface="Consolas"/>
              </a:rPr>
              <a:t> </a:t>
            </a:r>
            <a:r>
              <a:rPr lang="en-US" sz="2000" b="1" dirty="0" err="1">
                <a:solidFill>
                  <a:srgbClr val="3D3D3D"/>
                </a:solidFill>
                <a:latin typeface="Consolas"/>
              </a:rPr>
              <a:t>EmployeeConfig</a:t>
            </a:r>
            <a:r>
              <a:rPr lang="en-US" sz="2000" b="1" dirty="0" smtClean="0">
                <a:solidFill>
                  <a:srgbClr val="3D3D3D"/>
                </a:solidFill>
                <a:latin typeface="Consolas"/>
              </a:rPr>
              <a:t>{</a:t>
            </a:r>
            <a:r>
              <a:rPr lang="en-US" sz="2000" b="1" dirty="0">
                <a:solidFill>
                  <a:srgbClr val="3D3D3D"/>
                </a:solidFill>
                <a:latin typeface="Consolas"/>
              </a:rPr>
              <a:t>
</a:t>
            </a:r>
            <a:r>
              <a:rPr lang="en-US" sz="2000" b="1" dirty="0">
                <a:solidFill>
                  <a:srgbClr val="FF6600"/>
                </a:solidFill>
                <a:latin typeface="Consolas"/>
              </a:rPr>
              <a:t>   @Bean</a:t>
            </a:r>
            <a:r>
              <a:rPr lang="en-US" sz="2000" b="1" dirty="0">
                <a:solidFill>
                  <a:srgbClr val="3D3D3D"/>
                </a:solidFill>
                <a:latin typeface="Consolas"/>
              </a:rPr>
              <a:t>
   </a:t>
            </a:r>
            <a:r>
              <a:rPr lang="en-US" sz="2000" b="1" dirty="0">
                <a:solidFill>
                  <a:srgbClr val="993300"/>
                </a:solidFill>
                <a:latin typeface="Consolas"/>
              </a:rPr>
              <a:t>public</a:t>
            </a:r>
            <a:r>
              <a:rPr lang="en-US" sz="2000" b="1" dirty="0">
                <a:solidFill>
                  <a:srgbClr val="3D3D3D"/>
                </a:solidFill>
                <a:latin typeface="Consolas"/>
              </a:rPr>
              <a:t> </a:t>
            </a:r>
            <a:r>
              <a:rPr lang="en-US" sz="2000" b="1" dirty="0" err="1">
                <a:solidFill>
                  <a:srgbClr val="3D3D3D"/>
                </a:solidFill>
                <a:latin typeface="Consolas"/>
              </a:rPr>
              <a:t>EmployeeBean</a:t>
            </a:r>
            <a:r>
              <a:rPr lang="en-US" sz="2000" b="1" dirty="0">
                <a:solidFill>
                  <a:srgbClr val="3D3D3D"/>
                </a:solidFill>
                <a:latin typeface="Consolas"/>
              </a:rPr>
              <a:t> </a:t>
            </a:r>
            <a:r>
              <a:rPr lang="en-US" sz="2000" b="1" dirty="0" err="1">
                <a:solidFill>
                  <a:srgbClr val="3D3D3D"/>
                </a:solidFill>
                <a:latin typeface="Consolas"/>
              </a:rPr>
              <a:t>permanentEmployee</a:t>
            </a:r>
            <a:r>
              <a:rPr lang="en-US" sz="2000" b="1" dirty="0">
                <a:solidFill>
                  <a:srgbClr val="3D3D3D"/>
                </a:solidFill>
                <a:latin typeface="Consolas"/>
              </a:rPr>
              <a:t>(){
      </a:t>
            </a:r>
            <a:r>
              <a:rPr lang="en-US" sz="2000" b="1" dirty="0">
                <a:solidFill>
                  <a:srgbClr val="993300"/>
                </a:solidFill>
                <a:latin typeface="Consolas"/>
              </a:rPr>
              <a:t>return new</a:t>
            </a:r>
            <a:r>
              <a:rPr lang="en-US" sz="2000" b="1" dirty="0">
                <a:solidFill>
                  <a:srgbClr val="3D3D3D"/>
                </a:solidFill>
                <a:latin typeface="Consolas"/>
              </a:rPr>
              <a:t> </a:t>
            </a:r>
            <a:r>
              <a:rPr lang="en-US" sz="2000" b="1" dirty="0" err="1">
                <a:solidFill>
                  <a:srgbClr val="3D3D3D"/>
                </a:solidFill>
                <a:latin typeface="Consolas"/>
              </a:rPr>
              <a:t>EmployeeBean</a:t>
            </a:r>
            <a:r>
              <a:rPr lang="en-US" sz="2000" b="1" dirty="0">
                <a:solidFill>
                  <a:srgbClr val="3D3D3D"/>
                </a:solidFill>
                <a:latin typeface="Consolas"/>
              </a:rPr>
              <a:t>();
   </a:t>
            </a:r>
            <a:r>
              <a:rPr lang="en-US" sz="2000" b="1" dirty="0" smtClean="0">
                <a:solidFill>
                  <a:srgbClr val="3D3D3D"/>
                </a:solidFill>
                <a:latin typeface="Consolas"/>
              </a:rPr>
              <a:t>}</a:t>
            </a:r>
            <a:r>
              <a:rPr lang="en-US" sz="2000" b="1" dirty="0">
                <a:solidFill>
                  <a:srgbClr val="3D3D3D"/>
                </a:solidFill>
                <a:latin typeface="Consolas"/>
              </a:rPr>
              <a:t>
   </a:t>
            </a:r>
            <a:r>
              <a:rPr lang="en-US" sz="2000" b="1" dirty="0">
                <a:solidFill>
                  <a:srgbClr val="FF6600"/>
                </a:solidFill>
                <a:latin typeface="Consolas"/>
              </a:rPr>
              <a:t>@Bean(</a:t>
            </a:r>
            <a:r>
              <a:rPr lang="en-US" sz="2000" b="1" dirty="0">
                <a:solidFill>
                  <a:srgbClr val="3D3D3D"/>
                </a:solidFill>
                <a:latin typeface="Consolas"/>
              </a:rPr>
              <a:t>name</a:t>
            </a:r>
            <a:r>
              <a:rPr lang="en-US" sz="2000" b="1" dirty="0">
                <a:solidFill>
                  <a:srgbClr val="FF6600"/>
                </a:solidFill>
                <a:latin typeface="Consolas"/>
              </a:rPr>
              <a:t>=</a:t>
            </a:r>
            <a:r>
              <a:rPr lang="en-US" sz="2000" b="1" dirty="0">
                <a:solidFill>
                  <a:srgbClr val="0000FF"/>
                </a:solidFill>
                <a:latin typeface="Consolas"/>
              </a:rPr>
              <a:t>"</a:t>
            </a:r>
            <a:r>
              <a:rPr lang="en-US" sz="2000" b="1" dirty="0" err="1">
                <a:solidFill>
                  <a:srgbClr val="0000FF"/>
                </a:solidFill>
                <a:latin typeface="Consolas"/>
              </a:rPr>
              <a:t>contractEmployee</a:t>
            </a:r>
            <a:r>
              <a:rPr lang="en-US" sz="2000" b="1" dirty="0">
                <a:solidFill>
                  <a:srgbClr val="0000FF"/>
                </a:solidFill>
                <a:latin typeface="Consolas"/>
              </a:rPr>
              <a:t>"</a:t>
            </a:r>
            <a:r>
              <a:rPr lang="en-US" sz="2000" b="1" dirty="0">
                <a:solidFill>
                  <a:srgbClr val="FF6600"/>
                </a:solidFill>
                <a:latin typeface="Consolas"/>
              </a:rPr>
              <a:t>)</a:t>
            </a:r>
            <a:r>
              <a:rPr lang="en-US" sz="2000" b="1" dirty="0">
                <a:solidFill>
                  <a:srgbClr val="3D3D3D"/>
                </a:solidFill>
                <a:latin typeface="Consolas"/>
              </a:rPr>
              <a:t>
</a:t>
            </a:r>
            <a:r>
              <a:rPr lang="en-US" sz="2000" b="1" dirty="0">
                <a:solidFill>
                  <a:srgbClr val="993300"/>
                </a:solidFill>
                <a:latin typeface="Consolas"/>
              </a:rPr>
              <a:t>   public</a:t>
            </a:r>
            <a:r>
              <a:rPr lang="en-US" sz="2000" b="1" dirty="0">
                <a:solidFill>
                  <a:srgbClr val="3D3D3D"/>
                </a:solidFill>
                <a:latin typeface="Consolas"/>
              </a:rPr>
              <a:t> </a:t>
            </a:r>
            <a:r>
              <a:rPr lang="en-US" sz="2000" b="1" dirty="0" err="1">
                <a:solidFill>
                  <a:srgbClr val="3D3D3D"/>
                </a:solidFill>
                <a:latin typeface="Consolas"/>
              </a:rPr>
              <a:t>EmployeeBean</a:t>
            </a:r>
            <a:r>
              <a:rPr lang="en-US" sz="2000" b="1" dirty="0">
                <a:solidFill>
                  <a:srgbClr val="3D3D3D"/>
                </a:solidFill>
                <a:latin typeface="Consolas"/>
              </a:rPr>
              <a:t> </a:t>
            </a:r>
            <a:r>
              <a:rPr lang="en-US" sz="2000" b="1" dirty="0" err="1">
                <a:solidFill>
                  <a:srgbClr val="3D3D3D"/>
                </a:solidFill>
                <a:latin typeface="Consolas"/>
              </a:rPr>
              <a:t>otherEmployee</a:t>
            </a:r>
            <a:r>
              <a:rPr lang="en-US" sz="2000" b="1" dirty="0">
                <a:solidFill>
                  <a:srgbClr val="3D3D3D"/>
                </a:solidFill>
                <a:latin typeface="Consolas"/>
              </a:rPr>
              <a:t>(){
      </a:t>
            </a:r>
            <a:r>
              <a:rPr lang="en-US" sz="2000" b="1" dirty="0">
                <a:solidFill>
                  <a:srgbClr val="993300"/>
                </a:solidFill>
                <a:latin typeface="Consolas"/>
              </a:rPr>
              <a:t>return new</a:t>
            </a:r>
            <a:r>
              <a:rPr lang="en-US" sz="2000" b="1" dirty="0">
                <a:solidFill>
                  <a:srgbClr val="3D3D3D"/>
                </a:solidFill>
                <a:latin typeface="Consolas"/>
              </a:rPr>
              <a:t> </a:t>
            </a:r>
            <a:r>
              <a:rPr lang="en-US" sz="2000" b="1" dirty="0" err="1">
                <a:solidFill>
                  <a:srgbClr val="3D3D3D"/>
                </a:solidFill>
                <a:latin typeface="Consolas"/>
              </a:rPr>
              <a:t>EmployeeBean</a:t>
            </a:r>
            <a:r>
              <a:rPr lang="en-US" sz="2000" b="1" dirty="0">
                <a:solidFill>
                  <a:srgbClr val="3D3D3D"/>
                </a:solidFill>
                <a:latin typeface="Consolas"/>
              </a:rPr>
              <a:t>(); 
   }
}</a:t>
            </a:r>
            <a:endParaRPr lang="en-US" sz="2000" dirty="0"/>
          </a:p>
        </p:txBody>
      </p:sp>
      <p:sp>
        <p:nvSpPr>
          <p:cNvPr id="4" name="TextBox 3">
            <a:extLst>
              <a:ext uri="{FF2B5EF4-FFF2-40B4-BE49-F238E27FC236}">
                <a16:creationId xmlns:a16="http://schemas.microsoft.com/office/drawing/2014/main" id="{DDB527EE-0150-5BAE-923D-8F5829D07262}"/>
              </a:ext>
            </a:extLst>
          </p:cNvPr>
          <p:cNvSpPr txBox="1"/>
          <p:nvPr/>
        </p:nvSpPr>
        <p:spPr>
          <a:xfrm>
            <a:off x="7411606" y="2386914"/>
            <a:ext cx="4267199"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highlight>
                  <a:srgbClr val="FFFF00"/>
                </a:highlight>
                <a:latin typeface="Segoe UI"/>
                <a:cs typeface="Segoe UI"/>
              </a:rPr>
              <a:t>Here, method name becomes the bean id by default. </a:t>
            </a:r>
            <a:endParaRPr lang="en-US" b="1" dirty="0">
              <a:highlight>
                <a:srgbClr val="FFFF00"/>
              </a:highlight>
              <a:latin typeface="Aptos" panose="02110004020202020204"/>
              <a:cs typeface="Segoe UI"/>
            </a:endParaRPr>
          </a:p>
          <a:p>
            <a:endParaRPr lang="en-US" b="1" dirty="0">
              <a:highlight>
                <a:srgbClr val="FFFF00"/>
              </a:highlight>
              <a:latin typeface="Segoe UI"/>
              <a:cs typeface="Segoe UI"/>
            </a:endParaRPr>
          </a:p>
          <a:p>
            <a:endParaRPr lang="en-US" b="1" dirty="0">
              <a:highlight>
                <a:srgbClr val="FFFF00"/>
              </a:highlight>
              <a:latin typeface="Segoe UI"/>
              <a:cs typeface="Segoe UI"/>
            </a:endParaRPr>
          </a:p>
          <a:p>
            <a:endParaRPr lang="en-US" b="1" dirty="0">
              <a:highlight>
                <a:srgbClr val="FFFF00"/>
              </a:highlight>
              <a:latin typeface="Segoe UI"/>
              <a:cs typeface="Segoe UI"/>
            </a:endParaRPr>
          </a:p>
          <a:p>
            <a:endParaRPr lang="en-US" b="1" dirty="0">
              <a:highlight>
                <a:srgbClr val="FFFF00"/>
              </a:highlight>
              <a:latin typeface="Segoe UI"/>
              <a:cs typeface="Segoe UI"/>
            </a:endParaRPr>
          </a:p>
          <a:p>
            <a:endParaRPr lang="en-US" b="1" dirty="0">
              <a:highlight>
                <a:srgbClr val="FFFF00"/>
              </a:highlight>
              <a:latin typeface="Segoe UI"/>
              <a:cs typeface="Segoe UI"/>
            </a:endParaRPr>
          </a:p>
          <a:p>
            <a:r>
              <a:rPr lang="en-US" b="1" dirty="0">
                <a:highlight>
                  <a:srgbClr val="FFFF00"/>
                </a:highlight>
                <a:latin typeface="Segoe UI"/>
                <a:cs typeface="Segoe UI"/>
              </a:rPr>
              <a:t>However, we can provide the name of bean as per our choice by specifying ‘name’ attribute of @Bean annotation as shown left.</a:t>
            </a:r>
            <a:endParaRPr lang="en-US" b="1" dirty="0">
              <a:highlight>
                <a:srgbClr val="FFFF00"/>
              </a:highlight>
            </a:endParaRPr>
          </a:p>
        </p:txBody>
      </p:sp>
      <p:sp>
        <p:nvSpPr>
          <p:cNvPr id="5" name="TextBox 4">
            <a:extLst>
              <a:ext uri="{FF2B5EF4-FFF2-40B4-BE49-F238E27FC236}">
                <a16:creationId xmlns:a16="http://schemas.microsoft.com/office/drawing/2014/main" id="{2113273E-8386-D907-7935-24526F44796D}"/>
              </a:ext>
            </a:extLst>
          </p:cNvPr>
          <p:cNvSpPr txBox="1"/>
          <p:nvPr/>
        </p:nvSpPr>
        <p:spPr>
          <a:xfrm>
            <a:off x="7412966" y="368060"/>
            <a:ext cx="3648973"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191E1E"/>
                </a:solidFill>
                <a:highlight>
                  <a:srgbClr val="FFFF00"/>
                </a:highlight>
                <a:latin typeface="-apple-system"/>
              </a:rPr>
              <a:t>The </a:t>
            </a:r>
            <a:r>
              <a:rPr lang="en-US" b="1">
                <a:solidFill>
                  <a:srgbClr val="FF0000"/>
                </a:solidFill>
                <a:highlight>
                  <a:srgbClr val="FFFF00"/>
                </a:highlight>
              </a:rPr>
              <a:t>@Bean</a:t>
            </a:r>
            <a:r>
              <a:rPr lang="en-US" b="1">
                <a:solidFill>
                  <a:srgbClr val="191E1E"/>
                </a:solidFill>
                <a:highlight>
                  <a:srgbClr val="FFFF00"/>
                </a:highlight>
                <a:latin typeface="-apple-system"/>
              </a:rPr>
              <a:t> annotation is used to indicate that a method instantiates, configures, and initializes a new object to be managed by the Spring IoC container.</a:t>
            </a:r>
            <a:endParaRPr lang="en-US" b="1">
              <a:highlight>
                <a:srgbClr val="FFFF00"/>
              </a:highlight>
            </a:endParaRPr>
          </a:p>
        </p:txBody>
      </p:sp>
    </p:spTree>
    <p:extLst>
      <p:ext uri="{BB962C8B-B14F-4D97-AF65-F5344CB8AC3E}">
        <p14:creationId xmlns:p14="http://schemas.microsoft.com/office/powerpoint/2010/main" val="3985241899"/>
      </p:ext>
    </p:extLst>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 program&#10;&#10;Description automatically generated">
            <a:extLst>
              <a:ext uri="{FF2B5EF4-FFF2-40B4-BE49-F238E27FC236}">
                <a16:creationId xmlns:a16="http://schemas.microsoft.com/office/drawing/2014/main" id="{0908B837-0393-9C60-4E08-88A1D8002EBA}"/>
              </a:ext>
            </a:extLst>
          </p:cNvPr>
          <p:cNvPicPr>
            <a:picLocks noGrp="1" noChangeAspect="1"/>
          </p:cNvPicPr>
          <p:nvPr>
            <p:ph idx="1"/>
          </p:nvPr>
        </p:nvPicPr>
        <p:blipFill>
          <a:blip r:embed="rId2"/>
          <a:srcRect b="19"/>
          <a:stretch/>
        </p:blipFill>
        <p:spPr>
          <a:xfrm>
            <a:off x="20" y="1282"/>
            <a:ext cx="12191980" cy="6856718"/>
          </a:xfrm>
          <a:prstGeom prst="rect">
            <a:avLst/>
          </a:prstGeom>
        </p:spPr>
      </p:pic>
      <p:sp>
        <p:nvSpPr>
          <p:cNvPr id="3" name="TextBox 2">
            <a:extLst>
              <a:ext uri="{FF2B5EF4-FFF2-40B4-BE49-F238E27FC236}">
                <a16:creationId xmlns:a16="http://schemas.microsoft.com/office/drawing/2014/main" id="{745AA4F1-83EB-79CE-6D3F-D321F3C1E325}"/>
              </a:ext>
            </a:extLst>
          </p:cNvPr>
          <p:cNvSpPr txBox="1"/>
          <p:nvPr/>
        </p:nvSpPr>
        <p:spPr>
          <a:xfrm>
            <a:off x="6786620" y="2157561"/>
            <a:ext cx="784440" cy="358757"/>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6" name="TextBox 5">
            <a:extLst>
              <a:ext uri="{FF2B5EF4-FFF2-40B4-BE49-F238E27FC236}">
                <a16:creationId xmlns:a16="http://schemas.microsoft.com/office/drawing/2014/main" id="{6FC1230C-CD08-1822-7DC6-043106EBDAAB}"/>
              </a:ext>
            </a:extLst>
          </p:cNvPr>
          <p:cNvSpPr txBox="1"/>
          <p:nvPr/>
        </p:nvSpPr>
        <p:spPr>
          <a:xfrm>
            <a:off x="2689073" y="906731"/>
            <a:ext cx="1603949" cy="330003"/>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2226105658"/>
      </p:ext>
    </p:extLst>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CEA47444-61EB-6D71-A023-9123DE2F1D53}"/>
              </a:ext>
            </a:extLst>
          </p:cNvPr>
          <p:cNvPicPr>
            <a:picLocks noGrp="1" noChangeAspect="1"/>
          </p:cNvPicPr>
          <p:nvPr>
            <p:ph idx="1"/>
          </p:nvPr>
        </p:nvPicPr>
        <p:blipFill>
          <a:blip r:embed="rId2"/>
          <a:srcRect b="19"/>
          <a:stretch/>
        </p:blipFill>
        <p:spPr>
          <a:xfrm>
            <a:off x="20" y="1282"/>
            <a:ext cx="12191980" cy="6856718"/>
          </a:xfrm>
          <a:prstGeom prst="rect">
            <a:avLst/>
          </a:prstGeom>
        </p:spPr>
      </p:pic>
      <p:sp>
        <p:nvSpPr>
          <p:cNvPr id="3" name="TextBox 2">
            <a:extLst>
              <a:ext uri="{FF2B5EF4-FFF2-40B4-BE49-F238E27FC236}">
                <a16:creationId xmlns:a16="http://schemas.microsoft.com/office/drawing/2014/main" id="{CC0B1DFE-C25E-C4D1-8E3F-A7085DD8F402}"/>
              </a:ext>
            </a:extLst>
          </p:cNvPr>
          <p:cNvSpPr txBox="1"/>
          <p:nvPr/>
        </p:nvSpPr>
        <p:spPr>
          <a:xfrm>
            <a:off x="3839262" y="2933939"/>
            <a:ext cx="6808552" cy="2443474"/>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2192596898"/>
      </p:ext>
    </p:extLst>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36FBB607-C12C-6B83-AB71-1B84BADFC5B4}"/>
              </a:ext>
            </a:extLst>
          </p:cNvPr>
          <p:cNvPicPr>
            <a:picLocks noGrp="1" noChangeAspect="1"/>
          </p:cNvPicPr>
          <p:nvPr>
            <p:ph idx="1"/>
          </p:nvPr>
        </p:nvPicPr>
        <p:blipFill>
          <a:blip r:embed="rId2"/>
          <a:srcRect b="19"/>
          <a:stretch/>
        </p:blipFill>
        <p:spPr>
          <a:xfrm>
            <a:off x="20" y="1282"/>
            <a:ext cx="12191980" cy="6856718"/>
          </a:xfrm>
          <a:prstGeom prst="rect">
            <a:avLst/>
          </a:prstGeom>
        </p:spPr>
      </p:pic>
      <p:sp>
        <p:nvSpPr>
          <p:cNvPr id="3" name="TextBox 2">
            <a:extLst>
              <a:ext uri="{FF2B5EF4-FFF2-40B4-BE49-F238E27FC236}">
                <a16:creationId xmlns:a16="http://schemas.microsoft.com/office/drawing/2014/main" id="{A79F061E-257F-A06A-455E-C29CF13D4D91}"/>
              </a:ext>
            </a:extLst>
          </p:cNvPr>
          <p:cNvSpPr txBox="1"/>
          <p:nvPr/>
        </p:nvSpPr>
        <p:spPr>
          <a:xfrm>
            <a:off x="1064431" y="1826882"/>
            <a:ext cx="1575195" cy="1221399"/>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1170220305"/>
      </p:ext>
    </p:extLst>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computer screen shot of a program&#10;&#10;Description automatically generated">
            <a:extLst>
              <a:ext uri="{FF2B5EF4-FFF2-40B4-BE49-F238E27FC236}">
                <a16:creationId xmlns:a16="http://schemas.microsoft.com/office/drawing/2014/main" id="{B9192BC5-F38B-C643-3806-AE210CF0666F}"/>
              </a:ext>
            </a:extLst>
          </p:cNvPr>
          <p:cNvPicPr>
            <a:picLocks noGrp="1" noChangeAspect="1"/>
          </p:cNvPicPr>
          <p:nvPr>
            <p:ph idx="1"/>
          </p:nvPr>
        </p:nvPicPr>
        <p:blipFill>
          <a:blip r:embed="rId2"/>
          <a:srcRect b="19"/>
          <a:stretch/>
        </p:blipFill>
        <p:spPr>
          <a:xfrm>
            <a:off x="20" y="1282"/>
            <a:ext cx="12191980" cy="6856718"/>
          </a:xfrm>
          <a:prstGeom prst="rect">
            <a:avLst/>
          </a:prstGeom>
        </p:spPr>
      </p:pic>
      <p:sp>
        <p:nvSpPr>
          <p:cNvPr id="3" name="TextBox 2">
            <a:extLst>
              <a:ext uri="{FF2B5EF4-FFF2-40B4-BE49-F238E27FC236}">
                <a16:creationId xmlns:a16="http://schemas.microsoft.com/office/drawing/2014/main" id="{4CEE756F-DA61-A6C7-7865-73EB926BA562}"/>
              </a:ext>
            </a:extLst>
          </p:cNvPr>
          <p:cNvSpPr txBox="1"/>
          <p:nvPr/>
        </p:nvSpPr>
        <p:spPr>
          <a:xfrm>
            <a:off x="3738620" y="1884391"/>
            <a:ext cx="7167986" cy="1552078"/>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968172196"/>
      </p:ext>
    </p:extLst>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computer screen shot of a program code&#10;&#10;Description automatically generated">
            <a:extLst>
              <a:ext uri="{FF2B5EF4-FFF2-40B4-BE49-F238E27FC236}">
                <a16:creationId xmlns:a16="http://schemas.microsoft.com/office/drawing/2014/main" id="{417CD35A-8771-9BBC-09EB-973EE762C791}"/>
              </a:ext>
            </a:extLst>
          </p:cNvPr>
          <p:cNvPicPr>
            <a:picLocks noGrp="1" noChangeAspect="1"/>
          </p:cNvPicPr>
          <p:nvPr>
            <p:ph idx="1"/>
          </p:nvPr>
        </p:nvPicPr>
        <p:blipFill>
          <a:blip r:embed="rId2"/>
          <a:srcRect b="19"/>
          <a:stretch/>
        </p:blipFill>
        <p:spPr>
          <a:xfrm>
            <a:off x="20" y="1282"/>
            <a:ext cx="12191980" cy="6856718"/>
          </a:xfrm>
          <a:prstGeom prst="rect">
            <a:avLst/>
          </a:prstGeom>
        </p:spPr>
      </p:pic>
      <p:sp>
        <p:nvSpPr>
          <p:cNvPr id="3" name="TextBox 2">
            <a:extLst>
              <a:ext uri="{FF2B5EF4-FFF2-40B4-BE49-F238E27FC236}">
                <a16:creationId xmlns:a16="http://schemas.microsoft.com/office/drawing/2014/main" id="{AC1CC9DA-ADEC-75B3-FA7A-54293F9CC2C3}"/>
              </a:ext>
            </a:extLst>
          </p:cNvPr>
          <p:cNvSpPr txBox="1"/>
          <p:nvPr/>
        </p:nvSpPr>
        <p:spPr>
          <a:xfrm>
            <a:off x="3163526" y="1812505"/>
            <a:ext cx="3717419" cy="1839625"/>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3656918542"/>
      </p:ext>
    </p:extLst>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computer screen shot of a program&#10;&#10;Description automatically generated">
            <a:extLst>
              <a:ext uri="{FF2B5EF4-FFF2-40B4-BE49-F238E27FC236}">
                <a16:creationId xmlns:a16="http://schemas.microsoft.com/office/drawing/2014/main" id="{82A4D0CE-B8F0-7B5B-0415-616E4D8E6D75}"/>
              </a:ext>
            </a:extLst>
          </p:cNvPr>
          <p:cNvPicPr>
            <a:picLocks noGrp="1" noChangeAspect="1"/>
          </p:cNvPicPr>
          <p:nvPr>
            <p:ph idx="1"/>
          </p:nvPr>
        </p:nvPicPr>
        <p:blipFill>
          <a:blip r:embed="rId2"/>
          <a:srcRect b="19"/>
          <a:stretch/>
        </p:blipFill>
        <p:spPr>
          <a:xfrm>
            <a:off x="20" y="1282"/>
            <a:ext cx="12191980" cy="6856718"/>
          </a:xfrm>
          <a:prstGeom prst="rect">
            <a:avLst/>
          </a:prstGeom>
        </p:spPr>
      </p:pic>
    </p:spTree>
    <p:extLst>
      <p:ext uri="{BB962C8B-B14F-4D97-AF65-F5344CB8AC3E}">
        <p14:creationId xmlns:p14="http://schemas.microsoft.com/office/powerpoint/2010/main" val="3086598522"/>
      </p:ext>
    </p:extLst>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59DA0-B475-8C62-77F3-A659FFF128C5}"/>
              </a:ext>
            </a:extLst>
          </p:cNvPr>
          <p:cNvSpPr>
            <a:spLocks noGrp="1"/>
          </p:cNvSpPr>
          <p:nvPr>
            <p:ph type="title"/>
          </p:nvPr>
        </p:nvSpPr>
        <p:spPr/>
        <p:txBody>
          <a:bodyPr>
            <a:normAutofit/>
          </a:bodyPr>
          <a:lstStyle/>
          <a:p>
            <a:r>
              <a:rPr lang="en-US" sz="3600" b="1">
                <a:ea typeface="+mj-lt"/>
                <a:cs typeface="+mj-lt"/>
              </a:rPr>
              <a:t>Dependency Injection in Spring</a:t>
            </a:r>
          </a:p>
        </p:txBody>
      </p:sp>
      <p:sp>
        <p:nvSpPr>
          <p:cNvPr id="3" name="Content Placeholder 2">
            <a:extLst>
              <a:ext uri="{FF2B5EF4-FFF2-40B4-BE49-F238E27FC236}">
                <a16:creationId xmlns:a16="http://schemas.microsoft.com/office/drawing/2014/main" id="{BD07FA1A-8F13-8752-A59A-9277D2AE0925}"/>
              </a:ext>
            </a:extLst>
          </p:cNvPr>
          <p:cNvSpPr>
            <a:spLocks noGrp="1"/>
          </p:cNvSpPr>
          <p:nvPr>
            <p:ph idx="1"/>
          </p:nvPr>
        </p:nvSpPr>
        <p:spPr/>
        <p:txBody>
          <a:bodyPr vert="horz" lIns="91440" tIns="45720" rIns="91440" bIns="45720" rtlCol="0" anchor="t">
            <a:normAutofit/>
          </a:bodyPr>
          <a:lstStyle/>
          <a:p>
            <a:r>
              <a:rPr lang="en-US" dirty="0">
                <a:ea typeface="+mn-lt"/>
                <a:cs typeface="+mn-lt"/>
              </a:rPr>
              <a:t>Types of Dependency Injection: </a:t>
            </a:r>
          </a:p>
          <a:p>
            <a:pPr lvl="1">
              <a:buFont typeface="Courier New" panose="020B0604020202020204" pitchFamily="34" charset="0"/>
              <a:buChar char="o"/>
            </a:pPr>
            <a:r>
              <a:rPr lang="en-US" sz="2000" dirty="0">
                <a:ea typeface="+mn-lt"/>
                <a:cs typeface="+mn-lt"/>
              </a:rPr>
              <a:t>Constructor, </a:t>
            </a:r>
          </a:p>
          <a:p>
            <a:pPr lvl="1">
              <a:buFont typeface="Courier New" panose="020B0604020202020204" pitchFamily="34" charset="0"/>
              <a:buChar char="o"/>
            </a:pPr>
            <a:r>
              <a:rPr lang="en-US" sz="2000" dirty="0">
                <a:ea typeface="+mn-lt"/>
                <a:cs typeface="+mn-lt"/>
              </a:rPr>
              <a:t>Setter, </a:t>
            </a:r>
          </a:p>
          <a:p>
            <a:pPr lvl="1">
              <a:buFont typeface="Courier New" panose="020B0604020202020204" pitchFamily="34" charset="0"/>
              <a:buChar char="o"/>
            </a:pPr>
            <a:r>
              <a:rPr lang="en-US" sz="2000" dirty="0">
                <a:ea typeface="+mn-lt"/>
                <a:cs typeface="+mn-lt"/>
              </a:rPr>
              <a:t>Field  </a:t>
            </a:r>
          </a:p>
          <a:p>
            <a:r>
              <a:rPr lang="en-US" dirty="0">
                <a:ea typeface="+mn-lt"/>
                <a:cs typeface="+mn-lt"/>
              </a:rPr>
              <a:t>Configuring DI: </a:t>
            </a:r>
          </a:p>
          <a:p>
            <a:pPr lvl="1">
              <a:buFont typeface="Courier New" panose="020B0604020202020204" pitchFamily="34" charset="0"/>
              <a:buChar char="o"/>
            </a:pPr>
            <a:r>
              <a:rPr lang="en-US" sz="2000" dirty="0">
                <a:ea typeface="+mn-lt"/>
                <a:cs typeface="+mn-lt"/>
              </a:rPr>
              <a:t>XML-based </a:t>
            </a:r>
          </a:p>
          <a:p>
            <a:pPr lvl="1">
              <a:buFont typeface="Courier New" panose="020B0604020202020204" pitchFamily="34" charset="0"/>
              <a:buChar char="o"/>
            </a:pPr>
            <a:r>
              <a:rPr lang="en-US" sz="2000" dirty="0">
                <a:ea typeface="+mn-lt"/>
                <a:cs typeface="+mn-lt"/>
              </a:rPr>
              <a:t>Annotation-based (@</a:t>
            </a:r>
            <a:r>
              <a:rPr lang="en-US" sz="2000" dirty="0" err="1">
                <a:ea typeface="+mn-lt"/>
                <a:cs typeface="+mn-lt"/>
              </a:rPr>
              <a:t>Autowired</a:t>
            </a:r>
            <a:r>
              <a:rPr lang="en-US" sz="2000" dirty="0">
                <a:ea typeface="+mn-lt"/>
                <a:cs typeface="+mn-lt"/>
              </a:rPr>
              <a:t>) </a:t>
            </a:r>
          </a:p>
          <a:p>
            <a:pPr lvl="1">
              <a:buFont typeface="Courier New" panose="020B0604020202020204" pitchFamily="34" charset="0"/>
              <a:buChar char="o"/>
            </a:pPr>
            <a:r>
              <a:rPr lang="en-US" sz="2000" dirty="0">
                <a:ea typeface="+mn-lt"/>
                <a:cs typeface="+mn-lt"/>
              </a:rPr>
              <a:t>Best Practices and Managing Dependencies </a:t>
            </a:r>
            <a:br>
              <a:rPr lang="en-US" sz="2000" dirty="0">
                <a:ea typeface="+mn-lt"/>
                <a:cs typeface="+mn-lt"/>
              </a:rPr>
            </a:br>
            <a:endParaRPr lang="en-US" sz="2000" dirty="0">
              <a:ea typeface="+mn-lt"/>
              <a:cs typeface="+mn-lt"/>
            </a:endParaRPr>
          </a:p>
        </p:txBody>
      </p:sp>
    </p:spTree>
    <p:extLst>
      <p:ext uri="{BB962C8B-B14F-4D97-AF65-F5344CB8AC3E}">
        <p14:creationId xmlns:p14="http://schemas.microsoft.com/office/powerpoint/2010/main" val="2153061519"/>
      </p:ext>
    </p:extLst>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688F0-CFED-2CF1-BDCB-508A4A376EC6}"/>
              </a:ext>
            </a:extLst>
          </p:cNvPr>
          <p:cNvSpPr>
            <a:spLocks noGrp="1"/>
          </p:cNvSpPr>
          <p:nvPr>
            <p:ph type="title"/>
          </p:nvPr>
        </p:nvSpPr>
        <p:spPr/>
        <p:txBody>
          <a:bodyPr/>
          <a:lstStyle/>
          <a:p>
            <a:r>
              <a:rPr lang="en-US"/>
              <a:t>Dependency</a:t>
            </a:r>
          </a:p>
        </p:txBody>
      </p:sp>
      <p:pic>
        <p:nvPicPr>
          <p:cNvPr id="7" name="Content Placeholder 6" descr="Cartoon of a person in a suit and tie putting a hat on another person&#10;&#10;Description automatically generated">
            <a:extLst>
              <a:ext uri="{FF2B5EF4-FFF2-40B4-BE49-F238E27FC236}">
                <a16:creationId xmlns:a16="http://schemas.microsoft.com/office/drawing/2014/main" id="{17DCF881-80FB-BEC2-F89E-B957046CA37B}"/>
              </a:ext>
            </a:extLst>
          </p:cNvPr>
          <p:cNvPicPr>
            <a:picLocks noGrp="1" noChangeAspect="1"/>
          </p:cNvPicPr>
          <p:nvPr>
            <p:ph idx="1"/>
          </p:nvPr>
        </p:nvPicPr>
        <p:blipFill>
          <a:blip r:embed="rId2"/>
          <a:stretch>
            <a:fillRect/>
          </a:stretch>
        </p:blipFill>
        <p:spPr>
          <a:xfrm>
            <a:off x="242574" y="1351014"/>
            <a:ext cx="11865002" cy="5300560"/>
          </a:xfrm>
        </p:spPr>
      </p:pic>
    </p:spTree>
    <p:extLst>
      <p:ext uri="{BB962C8B-B14F-4D97-AF65-F5344CB8AC3E}">
        <p14:creationId xmlns:p14="http://schemas.microsoft.com/office/powerpoint/2010/main" val="2246079027"/>
      </p:ext>
    </p:extLst>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49A41-AAC8-61D3-5992-943C524738B0}"/>
              </a:ext>
            </a:extLst>
          </p:cNvPr>
          <p:cNvSpPr>
            <a:spLocks noGrp="1"/>
          </p:cNvSpPr>
          <p:nvPr>
            <p:ph type="title"/>
          </p:nvPr>
        </p:nvSpPr>
        <p:spPr/>
        <p:txBody>
          <a:bodyPr/>
          <a:lstStyle/>
          <a:p>
            <a:r>
              <a:rPr lang="en-US" sz="3600" b="1"/>
              <a:t>Introduction to Inversion of Control (IoC)</a:t>
            </a:r>
          </a:p>
        </p:txBody>
      </p:sp>
      <p:sp>
        <p:nvSpPr>
          <p:cNvPr id="3" name="Content Placeholder 2">
            <a:extLst>
              <a:ext uri="{FF2B5EF4-FFF2-40B4-BE49-F238E27FC236}">
                <a16:creationId xmlns:a16="http://schemas.microsoft.com/office/drawing/2014/main" id="{B3D78C28-AD20-7ED2-0564-2089F52A0BC3}"/>
              </a:ext>
            </a:extLst>
          </p:cNvPr>
          <p:cNvSpPr>
            <a:spLocks noGrp="1"/>
          </p:cNvSpPr>
          <p:nvPr>
            <p:ph idx="1"/>
          </p:nvPr>
        </p:nvSpPr>
        <p:spPr/>
        <p:txBody>
          <a:bodyPr vert="horz" lIns="91440" tIns="45720" rIns="91440" bIns="45720" rtlCol="0" anchor="t">
            <a:normAutofit/>
          </a:bodyPr>
          <a:lstStyle/>
          <a:p>
            <a:r>
              <a:rPr lang="en-US" sz="2000">
                <a:ea typeface="+mn-lt"/>
                <a:cs typeface="+mn-lt"/>
              </a:rPr>
              <a:t>Inversion of Control (IoC) refers to a </a:t>
            </a:r>
            <a:r>
              <a:rPr lang="en-US" sz="2000" b="1">
                <a:ea typeface="+mn-lt"/>
                <a:cs typeface="+mn-lt"/>
              </a:rPr>
              <a:t>programming principle</a:t>
            </a:r>
            <a:r>
              <a:rPr lang="en-US" sz="2000">
                <a:ea typeface="+mn-lt"/>
                <a:cs typeface="+mn-lt"/>
              </a:rPr>
              <a:t> where </a:t>
            </a:r>
            <a:endParaRPr lang="en-US"/>
          </a:p>
          <a:p>
            <a:r>
              <a:rPr lang="en-US" sz="2000">
                <a:ea typeface="+mn-lt"/>
                <a:cs typeface="+mn-lt"/>
              </a:rPr>
              <a:t>The control of </a:t>
            </a:r>
            <a:r>
              <a:rPr lang="en-US" sz="2000" b="1">
                <a:ea typeface="+mn-lt"/>
                <a:cs typeface="+mn-lt"/>
              </a:rPr>
              <a:t>object creation and management</a:t>
            </a:r>
            <a:r>
              <a:rPr lang="en-US" sz="2000">
                <a:ea typeface="+mn-lt"/>
                <a:cs typeface="+mn-lt"/>
              </a:rPr>
              <a:t> is transferred </a:t>
            </a:r>
            <a:r>
              <a:rPr lang="en-US" sz="2000" b="1">
                <a:ea typeface="+mn-lt"/>
                <a:cs typeface="+mn-lt"/>
              </a:rPr>
              <a:t>from the programmer</a:t>
            </a:r>
            <a:r>
              <a:rPr lang="en-US" sz="2000">
                <a:ea typeface="+mn-lt"/>
                <a:cs typeface="+mn-lt"/>
              </a:rPr>
              <a:t> </a:t>
            </a:r>
            <a:r>
              <a:rPr lang="en-US" sz="2000" b="1">
                <a:ea typeface="+mn-lt"/>
                <a:cs typeface="+mn-lt"/>
              </a:rPr>
              <a:t>to</a:t>
            </a:r>
            <a:r>
              <a:rPr lang="en-US" sz="2000">
                <a:ea typeface="+mn-lt"/>
                <a:cs typeface="+mn-lt"/>
              </a:rPr>
              <a:t> a </a:t>
            </a:r>
            <a:r>
              <a:rPr lang="en-US" sz="2000" b="1">
                <a:ea typeface="+mn-lt"/>
                <a:cs typeface="+mn-lt"/>
              </a:rPr>
              <a:t>framework</a:t>
            </a:r>
            <a:r>
              <a:rPr lang="en-US" sz="2000">
                <a:ea typeface="+mn-lt"/>
                <a:cs typeface="+mn-lt"/>
              </a:rPr>
              <a:t>. </a:t>
            </a:r>
            <a:endParaRPr lang="en-US"/>
          </a:p>
          <a:p>
            <a:r>
              <a:rPr lang="en-US" sz="2000">
                <a:ea typeface="+mn-lt"/>
                <a:cs typeface="+mn-lt"/>
              </a:rPr>
              <a:t>This shift allows developers to focus more on the business logic rather than the infrastructure.</a:t>
            </a:r>
            <a:endParaRPr lang="en-US" sz="2000"/>
          </a:p>
        </p:txBody>
      </p:sp>
    </p:spTree>
    <p:extLst>
      <p:ext uri="{BB962C8B-B14F-4D97-AF65-F5344CB8AC3E}">
        <p14:creationId xmlns:p14="http://schemas.microsoft.com/office/powerpoint/2010/main" val="2584572296"/>
      </p:ext>
    </p:extLst>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C8661-5B28-0191-78CB-80034257FE71}"/>
              </a:ext>
            </a:extLst>
          </p:cNvPr>
          <p:cNvSpPr>
            <a:spLocks noGrp="1"/>
          </p:cNvSpPr>
          <p:nvPr>
            <p:ph type="title"/>
          </p:nvPr>
        </p:nvSpPr>
        <p:spPr/>
        <p:txBody>
          <a:bodyPr>
            <a:normAutofit/>
          </a:bodyPr>
          <a:lstStyle/>
          <a:p>
            <a:r>
              <a:rPr lang="en-US" sz="3600" b="1">
                <a:ea typeface="+mj-lt"/>
                <a:cs typeface="+mj-lt"/>
              </a:rPr>
              <a:t>Dependency Injection (DI) in Spring</a:t>
            </a:r>
            <a:endParaRPr lang="en-US" sz="3600">
              <a:ea typeface="+mj-lt"/>
              <a:cs typeface="+mj-lt"/>
            </a:endParaRPr>
          </a:p>
        </p:txBody>
      </p:sp>
      <p:sp>
        <p:nvSpPr>
          <p:cNvPr id="3" name="Content Placeholder 2">
            <a:extLst>
              <a:ext uri="{FF2B5EF4-FFF2-40B4-BE49-F238E27FC236}">
                <a16:creationId xmlns:a16="http://schemas.microsoft.com/office/drawing/2014/main" id="{A740C31C-2791-BAFE-50B7-F4473A33BC40}"/>
              </a:ext>
            </a:extLst>
          </p:cNvPr>
          <p:cNvSpPr>
            <a:spLocks noGrp="1"/>
          </p:cNvSpPr>
          <p:nvPr>
            <p:ph idx="1"/>
          </p:nvPr>
        </p:nvSpPr>
        <p:spPr/>
        <p:txBody>
          <a:bodyPr vert="horz" lIns="91440" tIns="45720" rIns="91440" bIns="45720" rtlCol="0" anchor="t">
            <a:noAutofit/>
          </a:bodyPr>
          <a:lstStyle/>
          <a:p>
            <a:r>
              <a:rPr lang="en-US" sz="2000" dirty="0">
                <a:solidFill>
                  <a:srgbClr val="0A0A23"/>
                </a:solidFill>
                <a:latin typeface="Verdana"/>
                <a:ea typeface="Verdana"/>
              </a:rPr>
              <a:t>In Java, before we can use methods of other classes, we first need to create the object of that class (i.e. class A needs to create an instance of class B).</a:t>
            </a:r>
            <a:endParaRPr lang="en-US" sz="2000" dirty="0">
              <a:latin typeface="Verdana"/>
              <a:ea typeface="Verdana"/>
            </a:endParaRPr>
          </a:p>
          <a:p>
            <a:endParaRPr lang="en-US" sz="2000" b="1" dirty="0">
              <a:latin typeface="Verdana"/>
              <a:ea typeface="Verdana"/>
            </a:endParaRPr>
          </a:p>
          <a:p>
            <a:r>
              <a:rPr lang="en-US" sz="2000" b="1" dirty="0">
                <a:latin typeface="Verdana"/>
                <a:ea typeface="Verdana"/>
              </a:rPr>
              <a:t>So, transferring the task of creating the object to someone else and directly using the dependency is called dependency injection.</a:t>
            </a:r>
            <a:endParaRPr lang="en-US" sz="2000" dirty="0">
              <a:latin typeface="Verdana"/>
              <a:ea typeface="Verdana"/>
            </a:endParaRPr>
          </a:p>
          <a:p>
            <a:endParaRPr lang="en-US" sz="2000" dirty="0"/>
          </a:p>
          <a:p>
            <a:r>
              <a:rPr lang="en-US" sz="2000" dirty="0">
                <a:solidFill>
                  <a:srgbClr val="0A0A23"/>
                </a:solidFill>
                <a:latin typeface="Verdana"/>
                <a:ea typeface="Verdana"/>
              </a:rPr>
              <a:t>When class A uses some functionality of class B, then its said that class A has a dependency of class B.</a:t>
            </a:r>
          </a:p>
          <a:p>
            <a:endParaRPr lang="en-US" sz="2000" dirty="0">
              <a:solidFill>
                <a:srgbClr val="0A0A23"/>
              </a:solidFill>
              <a:latin typeface="Verdana"/>
              <a:ea typeface="Verdana"/>
            </a:endParaRPr>
          </a:p>
          <a:p>
            <a:r>
              <a:rPr lang="en-US" sz="2000" dirty="0">
                <a:ea typeface="+mn-lt"/>
                <a:cs typeface="+mn-lt"/>
              </a:rPr>
              <a:t>Dependencies can be injected at runtime rather than at compile time</a:t>
            </a:r>
          </a:p>
        </p:txBody>
      </p:sp>
    </p:spTree>
    <p:extLst>
      <p:ext uri="{BB962C8B-B14F-4D97-AF65-F5344CB8AC3E}">
        <p14:creationId xmlns:p14="http://schemas.microsoft.com/office/powerpoint/2010/main" val="2167461114"/>
      </p:ext>
    </p:extLst>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51740-E902-923E-15A1-B80F91ABBAC5}"/>
              </a:ext>
            </a:extLst>
          </p:cNvPr>
          <p:cNvSpPr>
            <a:spLocks noGrp="1"/>
          </p:cNvSpPr>
          <p:nvPr>
            <p:ph type="title"/>
          </p:nvPr>
        </p:nvSpPr>
        <p:spPr/>
        <p:txBody>
          <a:bodyPr>
            <a:normAutofit/>
          </a:bodyPr>
          <a:lstStyle/>
          <a:p>
            <a:r>
              <a:rPr lang="en-US" sz="3600" b="1">
                <a:ea typeface="+mj-lt"/>
                <a:cs typeface="+mj-lt"/>
              </a:rPr>
              <a:t>Dependency Injection (DI) in Spring</a:t>
            </a:r>
            <a:endParaRPr lang="en-US" sz="3600" b="1"/>
          </a:p>
        </p:txBody>
      </p:sp>
      <p:sp>
        <p:nvSpPr>
          <p:cNvPr id="3" name="Content Placeholder 2">
            <a:extLst>
              <a:ext uri="{FF2B5EF4-FFF2-40B4-BE49-F238E27FC236}">
                <a16:creationId xmlns:a16="http://schemas.microsoft.com/office/drawing/2014/main" id="{019CB821-6195-0247-3A91-FF8C4714490D}"/>
              </a:ext>
            </a:extLst>
          </p:cNvPr>
          <p:cNvSpPr>
            <a:spLocks noGrp="1"/>
          </p:cNvSpPr>
          <p:nvPr>
            <p:ph idx="1"/>
          </p:nvPr>
        </p:nvSpPr>
        <p:spPr/>
        <p:txBody>
          <a:bodyPr vert="horz" lIns="91440" tIns="45720" rIns="91440" bIns="45720" rtlCol="0" anchor="t">
            <a:normAutofit/>
          </a:bodyPr>
          <a:lstStyle/>
          <a:p>
            <a:r>
              <a:rPr lang="en-US" sz="2400">
                <a:ea typeface="+mn-lt"/>
                <a:cs typeface="+mn-lt"/>
              </a:rPr>
              <a:t>Dependency Injection (DI) is a </a:t>
            </a:r>
            <a:r>
              <a:rPr lang="en-US" sz="2400" b="1">
                <a:ea typeface="+mn-lt"/>
                <a:cs typeface="+mn-lt"/>
              </a:rPr>
              <a:t>design pattern used to implement IoC</a:t>
            </a:r>
            <a:r>
              <a:rPr lang="en-US" sz="2400">
                <a:ea typeface="+mn-lt"/>
                <a:cs typeface="+mn-lt"/>
              </a:rPr>
              <a:t>, where dependencies are injected into objects rather than the objects creating them themselves. </a:t>
            </a:r>
          </a:p>
          <a:p>
            <a:endParaRPr lang="en-US" sz="2400">
              <a:ea typeface="+mn-lt"/>
              <a:cs typeface="+mn-lt"/>
            </a:endParaRPr>
          </a:p>
          <a:p>
            <a:r>
              <a:rPr lang="en-US" sz="2400">
                <a:ea typeface="+mn-lt"/>
                <a:cs typeface="+mn-lt"/>
              </a:rPr>
              <a:t>In the context of Spring, </a:t>
            </a:r>
            <a:r>
              <a:rPr lang="en-US" sz="2400" b="1">
                <a:ea typeface="+mn-lt"/>
                <a:cs typeface="+mn-lt"/>
              </a:rPr>
              <a:t>IoC is managed through the IoC container</a:t>
            </a:r>
            <a:r>
              <a:rPr lang="en-US" sz="2400">
                <a:ea typeface="+mn-lt"/>
                <a:cs typeface="+mn-lt"/>
              </a:rPr>
              <a:t>, which creates and maintains objects. </a:t>
            </a:r>
            <a:endParaRPr lang="en-US" sz="2400"/>
          </a:p>
          <a:p>
            <a:endParaRPr lang="en-US" sz="2400">
              <a:ea typeface="+mn-lt"/>
              <a:cs typeface="+mn-lt"/>
            </a:endParaRPr>
          </a:p>
          <a:p>
            <a:r>
              <a:rPr lang="en-US" sz="2400">
                <a:ea typeface="+mn-lt"/>
                <a:cs typeface="+mn-lt"/>
              </a:rPr>
              <a:t>DI then ensures that these objects are correctly linked and injected where needed, thereby </a:t>
            </a:r>
            <a:r>
              <a:rPr lang="en-US" sz="2400" b="1">
                <a:ea typeface="+mn-lt"/>
                <a:cs typeface="+mn-lt"/>
              </a:rPr>
              <a:t>facilitating a clean separation of concerns and enhancing modularity</a:t>
            </a:r>
            <a:r>
              <a:rPr lang="en-US" sz="2400">
                <a:ea typeface="+mn-lt"/>
                <a:cs typeface="+mn-lt"/>
              </a:rPr>
              <a:t>.</a:t>
            </a:r>
            <a:endParaRPr lang="en-US" sz="2400"/>
          </a:p>
        </p:txBody>
      </p:sp>
    </p:spTree>
    <p:extLst>
      <p:ext uri="{BB962C8B-B14F-4D97-AF65-F5344CB8AC3E}">
        <p14:creationId xmlns:p14="http://schemas.microsoft.com/office/powerpoint/2010/main" val="2406641897"/>
      </p:ext>
    </p:extLst>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D1B88-F814-8C64-3224-44122BD77BE3}"/>
              </a:ext>
            </a:extLst>
          </p:cNvPr>
          <p:cNvSpPr>
            <a:spLocks noGrp="1"/>
          </p:cNvSpPr>
          <p:nvPr>
            <p:ph type="title"/>
          </p:nvPr>
        </p:nvSpPr>
        <p:spPr/>
        <p:txBody>
          <a:bodyPr/>
          <a:lstStyle/>
          <a:p>
            <a:endParaRPr lang="en-US"/>
          </a:p>
        </p:txBody>
      </p:sp>
      <p:pic>
        <p:nvPicPr>
          <p:cNvPr id="4" name="Content Placeholder 3" descr="A screenshot of a computer&#10;&#10;Description automatically generated">
            <a:extLst>
              <a:ext uri="{FF2B5EF4-FFF2-40B4-BE49-F238E27FC236}">
                <a16:creationId xmlns:a16="http://schemas.microsoft.com/office/drawing/2014/main" id="{B0B9B0B2-FA88-2504-38CA-E6F09D788EB8}"/>
              </a:ext>
            </a:extLst>
          </p:cNvPr>
          <p:cNvPicPr>
            <a:picLocks noGrp="1" noChangeAspect="1"/>
          </p:cNvPicPr>
          <p:nvPr>
            <p:ph idx="1"/>
          </p:nvPr>
        </p:nvPicPr>
        <p:blipFill>
          <a:blip r:embed="rId2"/>
          <a:stretch>
            <a:fillRect/>
          </a:stretch>
        </p:blipFill>
        <p:spPr>
          <a:xfrm>
            <a:off x="100642" y="145405"/>
            <a:ext cx="11990716" cy="6734119"/>
          </a:xfrm>
        </p:spPr>
      </p:pic>
    </p:spTree>
    <p:extLst>
      <p:ext uri="{BB962C8B-B14F-4D97-AF65-F5344CB8AC3E}">
        <p14:creationId xmlns:p14="http://schemas.microsoft.com/office/powerpoint/2010/main" val="36215541"/>
      </p:ext>
    </p:extLst>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611C2-AE73-2B8B-CA21-5266F595F7C0}"/>
              </a:ext>
            </a:extLst>
          </p:cNvPr>
          <p:cNvSpPr>
            <a:spLocks noGrp="1"/>
          </p:cNvSpPr>
          <p:nvPr>
            <p:ph type="title"/>
          </p:nvPr>
        </p:nvSpPr>
        <p:spPr/>
        <p:txBody>
          <a:bodyPr/>
          <a:lstStyle/>
          <a:p>
            <a:endParaRPr lang="en-US"/>
          </a:p>
        </p:txBody>
      </p:sp>
      <p:pic>
        <p:nvPicPr>
          <p:cNvPr id="4" name="Content Placeholder 3" descr="A screenshot of a computer&#10;&#10;Description automatically generated">
            <a:extLst>
              <a:ext uri="{FF2B5EF4-FFF2-40B4-BE49-F238E27FC236}">
                <a16:creationId xmlns:a16="http://schemas.microsoft.com/office/drawing/2014/main" id="{B4052262-D669-6C8A-305D-87EF344B210F}"/>
              </a:ext>
            </a:extLst>
          </p:cNvPr>
          <p:cNvPicPr>
            <a:picLocks noGrp="1" noChangeAspect="1"/>
          </p:cNvPicPr>
          <p:nvPr>
            <p:ph idx="1"/>
          </p:nvPr>
        </p:nvPicPr>
        <p:blipFill>
          <a:blip r:embed="rId2"/>
          <a:stretch>
            <a:fillRect/>
          </a:stretch>
        </p:blipFill>
        <p:spPr>
          <a:xfrm>
            <a:off x="244416" y="231669"/>
            <a:ext cx="11688791" cy="6475326"/>
          </a:xfrm>
        </p:spPr>
      </p:pic>
    </p:spTree>
    <p:extLst>
      <p:ext uri="{BB962C8B-B14F-4D97-AF65-F5344CB8AC3E}">
        <p14:creationId xmlns:p14="http://schemas.microsoft.com/office/powerpoint/2010/main" val="3486535073"/>
      </p:ext>
    </p:extLst>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5145F-E0FA-7457-0EDE-7B1ED3307D1B}"/>
              </a:ext>
            </a:extLst>
          </p:cNvPr>
          <p:cNvSpPr>
            <a:spLocks noGrp="1"/>
          </p:cNvSpPr>
          <p:nvPr>
            <p:ph type="title"/>
          </p:nvPr>
        </p:nvSpPr>
        <p:spPr/>
        <p:txBody>
          <a:bodyPr/>
          <a:lstStyle/>
          <a:p>
            <a:endParaRPr lang="en-US"/>
          </a:p>
        </p:txBody>
      </p:sp>
      <p:pic>
        <p:nvPicPr>
          <p:cNvPr id="4" name="Content Placeholder 3" descr="A computer screen shot of a program&#10;&#10;Description automatically generated">
            <a:extLst>
              <a:ext uri="{FF2B5EF4-FFF2-40B4-BE49-F238E27FC236}">
                <a16:creationId xmlns:a16="http://schemas.microsoft.com/office/drawing/2014/main" id="{EB662B81-AB32-7E8C-47F8-0A3EB3A77E8F}"/>
              </a:ext>
            </a:extLst>
          </p:cNvPr>
          <p:cNvPicPr>
            <a:picLocks noGrp="1" noChangeAspect="1"/>
          </p:cNvPicPr>
          <p:nvPr>
            <p:ph idx="1"/>
          </p:nvPr>
        </p:nvPicPr>
        <p:blipFill>
          <a:blip r:embed="rId2"/>
          <a:stretch>
            <a:fillRect/>
          </a:stretch>
        </p:blipFill>
        <p:spPr>
          <a:xfrm>
            <a:off x="129396" y="202915"/>
            <a:ext cx="11918829" cy="6446571"/>
          </a:xfrm>
        </p:spPr>
      </p:pic>
    </p:spTree>
    <p:extLst>
      <p:ext uri="{BB962C8B-B14F-4D97-AF65-F5344CB8AC3E}">
        <p14:creationId xmlns:p14="http://schemas.microsoft.com/office/powerpoint/2010/main" val="675277075"/>
      </p:ext>
    </p:extLst>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5F96F-9286-36AC-6143-84014FF5132A}"/>
              </a:ext>
            </a:extLst>
          </p:cNvPr>
          <p:cNvSpPr>
            <a:spLocks noGrp="1"/>
          </p:cNvSpPr>
          <p:nvPr>
            <p:ph type="title"/>
          </p:nvPr>
        </p:nvSpPr>
        <p:spPr/>
        <p:txBody>
          <a:bodyPr/>
          <a:lstStyle/>
          <a:p>
            <a:endParaRPr lang="en-US"/>
          </a:p>
        </p:txBody>
      </p:sp>
      <p:pic>
        <p:nvPicPr>
          <p:cNvPr id="4" name="Content Placeholder 3" descr="A computer screen shot of a program&#10;&#10;Description automatically generated">
            <a:extLst>
              <a:ext uri="{FF2B5EF4-FFF2-40B4-BE49-F238E27FC236}">
                <a16:creationId xmlns:a16="http://schemas.microsoft.com/office/drawing/2014/main" id="{85539F31-D4D8-7966-24F6-575338405037}"/>
              </a:ext>
            </a:extLst>
          </p:cNvPr>
          <p:cNvPicPr>
            <a:picLocks noGrp="1" noChangeAspect="1"/>
          </p:cNvPicPr>
          <p:nvPr>
            <p:ph idx="1"/>
          </p:nvPr>
        </p:nvPicPr>
        <p:blipFill>
          <a:blip r:embed="rId2"/>
          <a:stretch>
            <a:fillRect/>
          </a:stretch>
        </p:blipFill>
        <p:spPr>
          <a:xfrm>
            <a:off x="115020" y="260424"/>
            <a:ext cx="11918829" cy="6504080"/>
          </a:xfrm>
        </p:spPr>
      </p:pic>
    </p:spTree>
    <p:extLst>
      <p:ext uri="{BB962C8B-B14F-4D97-AF65-F5344CB8AC3E}">
        <p14:creationId xmlns:p14="http://schemas.microsoft.com/office/powerpoint/2010/main" val="599841798"/>
      </p:ext>
    </p:extLst>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08DF7-65BC-A0E2-7803-227F7D346C87}"/>
              </a:ext>
            </a:extLst>
          </p:cNvPr>
          <p:cNvSpPr>
            <a:spLocks noGrp="1"/>
          </p:cNvSpPr>
          <p:nvPr>
            <p:ph type="title"/>
          </p:nvPr>
        </p:nvSpPr>
        <p:spPr>
          <a:xfrm>
            <a:off x="838200" y="365125"/>
            <a:ext cx="6990184" cy="1325563"/>
          </a:xfrm>
          <a:solidFill>
            <a:srgbClr val="FFFF00"/>
          </a:solidFill>
        </p:spPr>
        <p:txBody>
          <a:bodyPr/>
          <a:lstStyle/>
          <a:p>
            <a:r>
              <a:rPr lang="en-US" dirty="0"/>
              <a:t>Dependency Injection</a:t>
            </a:r>
          </a:p>
        </p:txBody>
      </p:sp>
      <p:pic>
        <p:nvPicPr>
          <p:cNvPr id="11" name="Content Placeholder 10" descr="Laptop with solid fill">
            <a:extLst>
              <a:ext uri="{FF2B5EF4-FFF2-40B4-BE49-F238E27FC236}">
                <a16:creationId xmlns:a16="http://schemas.microsoft.com/office/drawing/2014/main" id="{81DC6AB4-4D1B-6D21-CD7A-296F4953BECE}"/>
              </a:ext>
            </a:extLst>
          </p:cNvPr>
          <p:cNvPicPr>
            <a:picLocks noGrp="1" noChangeAspect="1"/>
          </p:cNvPicPr>
          <p:nvPr>
            <p:ph idx="1"/>
          </p:nvPr>
        </p:nvPicPr>
        <p:blipFill>
          <a:blip r:embed="rId2">
            <a:extLst>
              <a:ext uri="{96DAC541-7B7A-43D3-8B79-37D633B846F1}">
                <asvg:svgBlip xmlns:asvg="http://schemas.microsoft.com/office/drawing/2016/SVG/main" xmlns="" r:embed="rId3"/>
              </a:ext>
            </a:extLst>
          </a:blip>
          <a:stretch>
            <a:fillRect/>
          </a:stretch>
        </p:blipFill>
        <p:spPr>
          <a:xfrm>
            <a:off x="2911415" y="1116823"/>
            <a:ext cx="4566248" cy="4063040"/>
          </a:xfrm>
        </p:spPr>
      </p:pic>
      <p:pic>
        <p:nvPicPr>
          <p:cNvPr id="12" name="Picture 11" descr="A close-up of a hard drive&#10;&#10;Description automatically generated">
            <a:extLst>
              <a:ext uri="{FF2B5EF4-FFF2-40B4-BE49-F238E27FC236}">
                <a16:creationId xmlns:a16="http://schemas.microsoft.com/office/drawing/2014/main" id="{5B43A6D4-D564-DA03-8030-EECCF39CC7D6}"/>
              </a:ext>
            </a:extLst>
          </p:cNvPr>
          <p:cNvPicPr>
            <a:picLocks noChangeAspect="1"/>
          </p:cNvPicPr>
          <p:nvPr/>
        </p:nvPicPr>
        <p:blipFill>
          <a:blip r:embed="rId4"/>
          <a:stretch>
            <a:fillRect/>
          </a:stretch>
        </p:blipFill>
        <p:spPr>
          <a:xfrm>
            <a:off x="8663797" y="2848155"/>
            <a:ext cx="3318294" cy="3131387"/>
          </a:xfrm>
          <a:prstGeom prst="rect">
            <a:avLst/>
          </a:prstGeom>
        </p:spPr>
      </p:pic>
      <p:sp>
        <p:nvSpPr>
          <p:cNvPr id="13" name="Rectangle 12">
            <a:extLst>
              <a:ext uri="{FF2B5EF4-FFF2-40B4-BE49-F238E27FC236}">
                <a16:creationId xmlns:a16="http://schemas.microsoft.com/office/drawing/2014/main" id="{C0456BCF-7D52-4590-B575-6A7F3FEE512E}"/>
              </a:ext>
            </a:extLst>
          </p:cNvPr>
          <p:cNvSpPr/>
          <p:nvPr/>
        </p:nvSpPr>
        <p:spPr>
          <a:xfrm>
            <a:off x="8574833" y="1018255"/>
            <a:ext cx="3022508" cy="9719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t>HDD interface</a:t>
            </a:r>
          </a:p>
          <a:p>
            <a:pPr algn="ctr"/>
            <a:r>
              <a:rPr lang="en-US" sz="2800" b="1" dirty="0" err="1"/>
              <a:t>SaveData</a:t>
            </a:r>
            <a:r>
              <a:rPr lang="en-US" sz="2800" b="1" dirty="0"/>
              <a:t>()</a:t>
            </a:r>
          </a:p>
        </p:txBody>
      </p:sp>
      <p:sp>
        <p:nvSpPr>
          <p:cNvPr id="14" name="Arrow: Down 13">
            <a:extLst>
              <a:ext uri="{FF2B5EF4-FFF2-40B4-BE49-F238E27FC236}">
                <a16:creationId xmlns:a16="http://schemas.microsoft.com/office/drawing/2014/main" id="{1E9AE3D9-ABB3-8315-B8B1-511F741CB95F}"/>
              </a:ext>
            </a:extLst>
          </p:cNvPr>
          <p:cNvSpPr/>
          <p:nvPr/>
        </p:nvSpPr>
        <p:spPr>
          <a:xfrm>
            <a:off x="10427137" y="1979340"/>
            <a:ext cx="340038" cy="1739716"/>
          </a:xfrm>
          <a:prstGeom prst="downArrow">
            <a:avLst/>
          </a:prstGeom>
          <a:solidFill>
            <a:srgbClr val="FF00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Left 15">
            <a:extLst>
              <a:ext uri="{FF2B5EF4-FFF2-40B4-BE49-F238E27FC236}">
                <a16:creationId xmlns:a16="http://schemas.microsoft.com/office/drawing/2014/main" id="{8EB352FC-0F13-BF13-7AB6-1A53755CC45E}"/>
              </a:ext>
            </a:extLst>
          </p:cNvPr>
          <p:cNvSpPr/>
          <p:nvPr/>
        </p:nvSpPr>
        <p:spPr>
          <a:xfrm>
            <a:off x="6968564" y="3442447"/>
            <a:ext cx="3095811" cy="78889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4952111"/>
      </p:ext>
    </p:extLst>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62125-8296-9FEB-38CF-608FADACB414}"/>
              </a:ext>
            </a:extLst>
          </p:cNvPr>
          <p:cNvSpPr>
            <a:spLocks noGrp="1"/>
          </p:cNvSpPr>
          <p:nvPr>
            <p:ph type="title"/>
          </p:nvPr>
        </p:nvSpPr>
        <p:spPr/>
        <p:txBody>
          <a:bodyPr/>
          <a:lstStyle/>
          <a:p>
            <a:endParaRPr lang="en-US"/>
          </a:p>
        </p:txBody>
      </p:sp>
      <p:pic>
        <p:nvPicPr>
          <p:cNvPr id="4" name="Content Placeholder 3" descr="A computer screen shot of a program&#10;&#10;Description automatically generated">
            <a:extLst>
              <a:ext uri="{FF2B5EF4-FFF2-40B4-BE49-F238E27FC236}">
                <a16:creationId xmlns:a16="http://schemas.microsoft.com/office/drawing/2014/main" id="{F052DF4F-D8EE-8C0C-7848-568E97601E7E}"/>
              </a:ext>
            </a:extLst>
          </p:cNvPr>
          <p:cNvPicPr>
            <a:picLocks noGrp="1" noChangeAspect="1"/>
          </p:cNvPicPr>
          <p:nvPr>
            <p:ph idx="1"/>
          </p:nvPr>
        </p:nvPicPr>
        <p:blipFill>
          <a:blip r:embed="rId2"/>
          <a:stretch>
            <a:fillRect/>
          </a:stretch>
        </p:blipFill>
        <p:spPr>
          <a:xfrm>
            <a:off x="1" y="1631"/>
            <a:ext cx="12307017" cy="6863515"/>
          </a:xfrm>
        </p:spPr>
      </p:pic>
    </p:spTree>
    <p:extLst>
      <p:ext uri="{BB962C8B-B14F-4D97-AF65-F5344CB8AC3E}">
        <p14:creationId xmlns:p14="http://schemas.microsoft.com/office/powerpoint/2010/main" val="248562527"/>
      </p:ext>
    </p:extLst>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F729D8-53A9-F9A6-3FF6-983A485F1157}"/>
              </a:ext>
            </a:extLst>
          </p:cNvPr>
          <p:cNvSpPr>
            <a:spLocks noGrp="1"/>
          </p:cNvSpPr>
          <p:nvPr>
            <p:ph idx="1"/>
          </p:nvPr>
        </p:nvSpPr>
        <p:spPr>
          <a:xfrm>
            <a:off x="219975" y="244116"/>
            <a:ext cx="11967711" cy="5932847"/>
          </a:xfrm>
        </p:spPr>
        <p:txBody>
          <a:bodyPr vert="horz" lIns="91440" tIns="45720" rIns="91440" bIns="45720" rtlCol="0" anchor="t">
            <a:normAutofit/>
          </a:bodyPr>
          <a:lstStyle/>
          <a:p>
            <a:pPr>
              <a:buNone/>
            </a:pPr>
            <a:r>
              <a:rPr lang="en-US" sz="1800">
                <a:latin typeface="Consolas"/>
              </a:rPr>
              <a:t>package </a:t>
            </a:r>
            <a:r>
              <a:rPr lang="en-US" sz="1800" err="1">
                <a:latin typeface="Consolas"/>
              </a:rPr>
              <a:t>com.atuluttam.DependencyInjectionAnnotation</a:t>
            </a:r>
            <a:r>
              <a:rPr lang="en-US" sz="1800" b="1">
                <a:latin typeface="Consolas"/>
              </a:rPr>
              <a:t>;</a:t>
            </a:r>
            <a:br>
              <a:rPr lang="en-US" sz="1800" b="1">
                <a:latin typeface="Consolas"/>
              </a:rPr>
            </a:br>
            <a:endParaRPr lang="en-US" sz="1800" b="1">
              <a:latin typeface="Consolas"/>
            </a:endParaRPr>
          </a:p>
          <a:p>
            <a:pPr>
              <a:buNone/>
            </a:pPr>
            <a:r>
              <a:rPr lang="en-US" sz="1800" b="1">
                <a:latin typeface="Consolas"/>
              </a:rPr>
              <a:t>import </a:t>
            </a:r>
            <a:r>
              <a:rPr lang="en-US" sz="1800" err="1">
                <a:latin typeface="Consolas"/>
              </a:rPr>
              <a:t>org.springframework.boot.SpringApplication</a:t>
            </a:r>
            <a:r>
              <a:rPr lang="en-US" sz="1800" b="1">
                <a:latin typeface="Consolas"/>
              </a:rPr>
              <a:t>;</a:t>
            </a:r>
          </a:p>
          <a:p>
            <a:pPr>
              <a:buNone/>
            </a:pPr>
            <a:r>
              <a:rPr lang="en-US" sz="1800" b="1">
                <a:latin typeface="Consolas"/>
              </a:rPr>
              <a:t>import </a:t>
            </a:r>
            <a:r>
              <a:rPr lang="en-US" sz="1800" err="1">
                <a:latin typeface="Consolas"/>
              </a:rPr>
              <a:t>org.springframework.boot.autoconfigure.SpringBootApplication</a:t>
            </a:r>
            <a:r>
              <a:rPr lang="en-US" sz="1800" b="1">
                <a:latin typeface="Consolas"/>
              </a:rPr>
              <a:t>;</a:t>
            </a:r>
          </a:p>
          <a:p>
            <a:pPr>
              <a:buNone/>
            </a:pPr>
            <a:r>
              <a:rPr lang="en-US" sz="1800" b="1">
                <a:latin typeface="Consolas"/>
              </a:rPr>
              <a:t>import </a:t>
            </a:r>
            <a:r>
              <a:rPr lang="en-US" sz="1800" err="1">
                <a:latin typeface="Consolas"/>
              </a:rPr>
              <a:t>org.springframework.context.ApplicationContext</a:t>
            </a:r>
            <a:r>
              <a:rPr lang="en-US" sz="1800" b="1">
                <a:latin typeface="Consolas"/>
              </a:rPr>
              <a:t>;</a:t>
            </a:r>
            <a:br>
              <a:rPr lang="en-US" sz="1800" b="1">
                <a:latin typeface="Consolas"/>
              </a:rPr>
            </a:br>
            <a:endParaRPr lang="en-US" sz="1800" b="1">
              <a:latin typeface="Consolas"/>
            </a:endParaRPr>
          </a:p>
          <a:p>
            <a:pPr>
              <a:buNone/>
            </a:pPr>
            <a:r>
              <a:rPr lang="en-US" sz="1800" b="1">
                <a:latin typeface="Consolas"/>
              </a:rPr>
              <a:t>@SpringBootApplication</a:t>
            </a:r>
            <a:endParaRPr lang="en-US" sz="1800">
              <a:latin typeface="Aptos" panose="02110004020202020204"/>
            </a:endParaRPr>
          </a:p>
          <a:p>
            <a:pPr>
              <a:buNone/>
            </a:pPr>
            <a:r>
              <a:rPr lang="en-US" sz="1800" b="1">
                <a:latin typeface="Consolas"/>
              </a:rPr>
              <a:t>public class </a:t>
            </a:r>
            <a:r>
              <a:rPr lang="en-US" sz="1800" err="1">
                <a:latin typeface="Consolas"/>
              </a:rPr>
              <a:t>DependencyInjectionAnnotationApplication</a:t>
            </a:r>
            <a:r>
              <a:rPr lang="en-US" sz="1800">
                <a:latin typeface="Consolas"/>
              </a:rPr>
              <a:t> {</a:t>
            </a:r>
            <a:endParaRPr lang="en-US" sz="1800">
              <a:latin typeface="Aptos" panose="02110004020202020204"/>
            </a:endParaRPr>
          </a:p>
          <a:p>
            <a:pPr>
              <a:buNone/>
            </a:pPr>
            <a:r>
              <a:rPr lang="en-US" sz="1800">
                <a:latin typeface="Consolas"/>
              </a:rPr>
              <a:t>    public static void main(String[] </a:t>
            </a:r>
            <a:r>
              <a:rPr lang="en-US" sz="1800" err="1">
                <a:latin typeface="Consolas"/>
              </a:rPr>
              <a:t>args</a:t>
            </a:r>
            <a:r>
              <a:rPr lang="en-US" sz="1800">
                <a:latin typeface="Consolas"/>
              </a:rPr>
              <a:t>) {</a:t>
            </a:r>
            <a:endParaRPr lang="en-US" sz="1800">
              <a:latin typeface="Aptos" panose="02110004020202020204"/>
            </a:endParaRPr>
          </a:p>
          <a:p>
            <a:pPr>
              <a:buNone/>
            </a:pPr>
            <a:r>
              <a:rPr lang="en-US" sz="1800" err="1">
                <a:latin typeface="Consolas"/>
              </a:rPr>
              <a:t>ApplicationContext</a:t>
            </a:r>
            <a:r>
              <a:rPr lang="en-US" sz="1800">
                <a:latin typeface="Consolas"/>
              </a:rPr>
              <a:t> context = </a:t>
            </a:r>
            <a:r>
              <a:rPr lang="en-US" sz="1800" err="1">
                <a:latin typeface="Consolas"/>
              </a:rPr>
              <a:t>SpringApplication.</a:t>
            </a:r>
            <a:r>
              <a:rPr lang="en-US" sz="1800" i="1" err="1">
                <a:latin typeface="Consolas"/>
              </a:rPr>
              <a:t>run</a:t>
            </a:r>
            <a:r>
              <a:rPr lang="en-US" sz="1800">
                <a:latin typeface="Consolas"/>
              </a:rPr>
              <a:t>(</a:t>
            </a:r>
            <a:r>
              <a:rPr lang="en-US" sz="1800" err="1">
                <a:latin typeface="Consolas"/>
              </a:rPr>
              <a:t>DependencyInjectionAnnotationApplication.class</a:t>
            </a:r>
            <a:r>
              <a:rPr lang="en-US" sz="1800" b="1">
                <a:latin typeface="Consolas"/>
              </a:rPr>
              <a:t>, </a:t>
            </a:r>
            <a:r>
              <a:rPr lang="en-US" sz="1800" err="1">
                <a:latin typeface="Consolas"/>
              </a:rPr>
              <a:t>args</a:t>
            </a:r>
            <a:r>
              <a:rPr lang="en-US" sz="1800">
                <a:latin typeface="Consolas"/>
              </a:rPr>
              <a:t>)</a:t>
            </a:r>
            <a:r>
              <a:rPr lang="en-US" sz="1800" b="1">
                <a:latin typeface="Consolas"/>
              </a:rPr>
              <a:t>;</a:t>
            </a:r>
            <a:endParaRPr lang="en-US" sz="1800">
              <a:latin typeface="Aptos" panose="02110004020202020204"/>
            </a:endParaRPr>
          </a:p>
          <a:p>
            <a:pPr>
              <a:buNone/>
            </a:pPr>
            <a:r>
              <a:rPr lang="en-US" sz="1800" b="1">
                <a:latin typeface="Consolas"/>
              </a:rPr>
              <a:t/>
            </a:r>
            <a:br>
              <a:rPr lang="en-US" sz="1800" b="1">
                <a:latin typeface="Consolas"/>
              </a:rPr>
            </a:br>
            <a:r>
              <a:rPr lang="en-US" sz="1800" b="1">
                <a:latin typeface="Consolas"/>
              </a:rPr>
              <a:t>       </a:t>
            </a:r>
            <a:r>
              <a:rPr lang="en-US" sz="1800">
                <a:latin typeface="Consolas"/>
              </a:rPr>
              <a:t>Laptop </a:t>
            </a:r>
            <a:r>
              <a:rPr lang="en-US" sz="1800" err="1">
                <a:latin typeface="Consolas"/>
              </a:rPr>
              <a:t>macbook</a:t>
            </a:r>
            <a:r>
              <a:rPr lang="en-US" sz="1800">
                <a:latin typeface="Consolas"/>
              </a:rPr>
              <a:t> =  </a:t>
            </a:r>
            <a:r>
              <a:rPr lang="en-US" sz="1800" err="1">
                <a:latin typeface="Consolas"/>
              </a:rPr>
              <a:t>context.getBean</a:t>
            </a:r>
            <a:r>
              <a:rPr lang="en-US" sz="1800">
                <a:latin typeface="Consolas"/>
              </a:rPr>
              <a:t>(</a:t>
            </a:r>
            <a:r>
              <a:rPr lang="en-US" sz="1800" err="1">
                <a:latin typeface="Consolas"/>
              </a:rPr>
              <a:t>Laptop.class</a:t>
            </a:r>
            <a:r>
              <a:rPr lang="en-US" sz="1800">
                <a:latin typeface="Consolas"/>
              </a:rPr>
              <a:t>)</a:t>
            </a:r>
            <a:r>
              <a:rPr lang="en-US" sz="1800" b="1">
                <a:latin typeface="Consolas"/>
              </a:rPr>
              <a:t>;</a:t>
            </a:r>
            <a:br>
              <a:rPr lang="en-US" sz="1800" b="1">
                <a:latin typeface="Consolas"/>
              </a:rPr>
            </a:br>
            <a:endParaRPr lang="en-US" sz="1800" b="1">
              <a:latin typeface="Consolas"/>
            </a:endParaRPr>
          </a:p>
          <a:p>
            <a:pPr>
              <a:buNone/>
            </a:pPr>
            <a:r>
              <a:rPr lang="en-US" sz="1800" b="1">
                <a:latin typeface="Consolas"/>
              </a:rPr>
              <a:t>       </a:t>
            </a:r>
            <a:r>
              <a:rPr lang="en-US" sz="1800" err="1">
                <a:latin typeface="Consolas"/>
              </a:rPr>
              <a:t>macbook.writeData</a:t>
            </a:r>
            <a:r>
              <a:rPr lang="en-US" sz="1800">
                <a:latin typeface="Consolas"/>
              </a:rPr>
              <a:t>()</a:t>
            </a:r>
            <a:r>
              <a:rPr lang="en-US" sz="1800" b="1">
                <a:latin typeface="Consolas"/>
              </a:rPr>
              <a:t>;</a:t>
            </a:r>
            <a:br>
              <a:rPr lang="en-US" sz="1800" b="1">
                <a:latin typeface="Consolas"/>
              </a:rPr>
            </a:br>
            <a:r>
              <a:rPr lang="en-US" sz="1800" b="1">
                <a:latin typeface="Consolas"/>
              </a:rPr>
              <a:t>    </a:t>
            </a:r>
            <a:r>
              <a:rPr lang="en-US" sz="1800">
                <a:latin typeface="Consolas"/>
              </a:rPr>
              <a:t>}</a:t>
            </a:r>
            <a:br>
              <a:rPr lang="en-US" sz="1800">
                <a:latin typeface="Consolas"/>
              </a:rPr>
            </a:br>
            <a:r>
              <a:rPr lang="en-US" sz="1800">
                <a:latin typeface="Consolas"/>
              </a:rPr>
              <a:t>}</a:t>
            </a:r>
            <a:endParaRPr lang="en-US" sz="1800"/>
          </a:p>
          <a:p>
            <a:pPr marL="0" indent="0">
              <a:buNone/>
            </a:pPr>
            <a:endParaRPr lang="en-US" sz="5400"/>
          </a:p>
        </p:txBody>
      </p:sp>
    </p:spTree>
    <p:extLst>
      <p:ext uri="{BB962C8B-B14F-4D97-AF65-F5344CB8AC3E}">
        <p14:creationId xmlns:p14="http://schemas.microsoft.com/office/powerpoint/2010/main" val="2369505947"/>
      </p:ext>
    </p:extLst>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C466A-9D7C-6514-32E4-E92D9A429911}"/>
              </a:ext>
            </a:extLst>
          </p:cNvPr>
          <p:cNvSpPr>
            <a:spLocks noGrp="1"/>
          </p:cNvSpPr>
          <p:nvPr>
            <p:ph type="title"/>
          </p:nvPr>
        </p:nvSpPr>
        <p:spPr/>
        <p:txBody>
          <a:bodyPr/>
          <a:lstStyle/>
          <a:p>
            <a:endParaRPr lang="en-US"/>
          </a:p>
        </p:txBody>
      </p:sp>
      <p:pic>
        <p:nvPicPr>
          <p:cNvPr id="4" name="Content Placeholder 3" descr="A computer screen shot of a program&#10;&#10;Description automatically generated">
            <a:extLst>
              <a:ext uri="{FF2B5EF4-FFF2-40B4-BE49-F238E27FC236}">
                <a16:creationId xmlns:a16="http://schemas.microsoft.com/office/drawing/2014/main" id="{8828F6EF-8ADB-66B3-7D40-8155E223BAE9}"/>
              </a:ext>
            </a:extLst>
          </p:cNvPr>
          <p:cNvPicPr>
            <a:picLocks noGrp="1" noChangeAspect="1"/>
          </p:cNvPicPr>
          <p:nvPr>
            <p:ph idx="1"/>
          </p:nvPr>
        </p:nvPicPr>
        <p:blipFill>
          <a:blip r:embed="rId2"/>
          <a:stretch>
            <a:fillRect/>
          </a:stretch>
        </p:blipFill>
        <p:spPr>
          <a:xfrm>
            <a:off x="1" y="-12745"/>
            <a:ext cx="12191999" cy="6748495"/>
          </a:xfrm>
        </p:spPr>
      </p:pic>
    </p:spTree>
    <p:extLst>
      <p:ext uri="{BB962C8B-B14F-4D97-AF65-F5344CB8AC3E}">
        <p14:creationId xmlns:p14="http://schemas.microsoft.com/office/powerpoint/2010/main" val="2926502391"/>
      </p:ext>
    </p:extLst>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964815-264B-4C95-F6F4-9C7DA0299289}"/>
              </a:ext>
            </a:extLst>
          </p:cNvPr>
          <p:cNvSpPr>
            <a:spLocks noGrp="1"/>
          </p:cNvSpPr>
          <p:nvPr>
            <p:ph idx="1"/>
          </p:nvPr>
        </p:nvSpPr>
        <p:spPr>
          <a:xfrm>
            <a:off x="694426" y="732946"/>
            <a:ext cx="10515600" cy="4351338"/>
          </a:xfrm>
        </p:spPr>
        <p:txBody>
          <a:bodyPr vert="horz" lIns="91440" tIns="45720" rIns="91440" bIns="45720" rtlCol="0" anchor="t">
            <a:noAutofit/>
          </a:bodyPr>
          <a:lstStyle/>
          <a:p>
            <a:pPr marL="0" indent="0">
              <a:buNone/>
            </a:pPr>
            <a:r>
              <a:rPr lang="en-US" sz="2000">
                <a:latin typeface="Consolas"/>
              </a:rPr>
              <a:t>package </a:t>
            </a:r>
            <a:r>
              <a:rPr lang="en-US" sz="2000" err="1">
                <a:latin typeface="Consolas"/>
              </a:rPr>
              <a:t>com.atuluttam.DependencyInjectionAnnotation</a:t>
            </a:r>
            <a:r>
              <a:rPr lang="en-US" sz="2000" b="1">
                <a:latin typeface="Consolas"/>
              </a:rPr>
              <a:t>;</a:t>
            </a:r>
            <a:br>
              <a:rPr lang="en-US" sz="2000" b="1">
                <a:latin typeface="Consolas"/>
              </a:rPr>
            </a:br>
            <a:endParaRPr lang="en-US" sz="2000" b="1">
              <a:latin typeface="Consolas"/>
            </a:endParaRPr>
          </a:p>
          <a:p>
            <a:pPr marL="0" indent="0">
              <a:buNone/>
            </a:pPr>
            <a:r>
              <a:rPr lang="en-US" sz="2000" b="1">
                <a:latin typeface="Consolas"/>
              </a:rPr>
              <a:t>public interface </a:t>
            </a:r>
            <a:r>
              <a:rPr lang="en-US" sz="2000" err="1">
                <a:latin typeface="Consolas"/>
              </a:rPr>
              <a:t>HardDisk</a:t>
            </a:r>
            <a:r>
              <a:rPr lang="en-US" sz="2000">
                <a:latin typeface="Consolas"/>
              </a:rPr>
              <a:t> </a:t>
            </a:r>
            <a:endParaRPr lang="en-US" sz="2000">
              <a:latin typeface="Aptos" panose="02110004020202020204"/>
            </a:endParaRPr>
          </a:p>
          <a:p>
            <a:pPr marL="0" indent="0">
              <a:buNone/>
            </a:pPr>
            <a:r>
              <a:rPr lang="en-US" sz="2000">
                <a:latin typeface="Consolas"/>
              </a:rPr>
              <a:t>{</a:t>
            </a:r>
            <a:br>
              <a:rPr lang="en-US" sz="2000">
                <a:latin typeface="Consolas"/>
              </a:rPr>
            </a:br>
            <a:r>
              <a:rPr lang="en-US" sz="2000">
                <a:latin typeface="Consolas"/>
              </a:rPr>
              <a:t>    void </a:t>
            </a:r>
            <a:r>
              <a:rPr lang="en-US" sz="2000" err="1">
                <a:latin typeface="Consolas"/>
              </a:rPr>
              <a:t>saveData</a:t>
            </a:r>
            <a:r>
              <a:rPr lang="en-US" sz="2000">
                <a:latin typeface="Consolas"/>
              </a:rPr>
              <a:t>()</a:t>
            </a:r>
            <a:r>
              <a:rPr lang="en-US" sz="2000" b="1">
                <a:latin typeface="Consolas"/>
              </a:rPr>
              <a:t>;</a:t>
            </a:r>
            <a:br>
              <a:rPr lang="en-US" sz="2000" b="1">
                <a:latin typeface="Consolas"/>
              </a:rPr>
            </a:br>
            <a:r>
              <a:rPr lang="en-US" sz="2000" b="1">
                <a:latin typeface="Consolas"/>
              </a:rPr>
              <a:t>}</a:t>
            </a:r>
          </a:p>
          <a:p>
            <a:pPr marL="0" indent="0">
              <a:buNone/>
            </a:pPr>
            <a:endParaRPr lang="en-US" sz="2000" b="1">
              <a:latin typeface="Consolas"/>
            </a:endParaRPr>
          </a:p>
        </p:txBody>
      </p:sp>
    </p:spTree>
    <p:extLst>
      <p:ext uri="{BB962C8B-B14F-4D97-AF65-F5344CB8AC3E}">
        <p14:creationId xmlns:p14="http://schemas.microsoft.com/office/powerpoint/2010/main" val="3577198231"/>
      </p:ext>
    </p:extLst>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D762C-FDD0-46E8-5B89-DCCA1775FB1D}"/>
              </a:ext>
            </a:extLst>
          </p:cNvPr>
          <p:cNvSpPr>
            <a:spLocks noGrp="1"/>
          </p:cNvSpPr>
          <p:nvPr>
            <p:ph type="title"/>
          </p:nvPr>
        </p:nvSpPr>
        <p:spPr/>
        <p:txBody>
          <a:bodyPr/>
          <a:lstStyle/>
          <a:p>
            <a:endParaRPr lang="en-US"/>
          </a:p>
        </p:txBody>
      </p:sp>
      <p:pic>
        <p:nvPicPr>
          <p:cNvPr id="4" name="Content Placeholder 3" descr="A computer screen shot of a program&#10;&#10;Description automatically generated">
            <a:extLst>
              <a:ext uri="{FF2B5EF4-FFF2-40B4-BE49-F238E27FC236}">
                <a16:creationId xmlns:a16="http://schemas.microsoft.com/office/drawing/2014/main" id="{C5BDD2E5-0F1E-AAB4-984D-1A67F1E63BEF}"/>
              </a:ext>
            </a:extLst>
          </p:cNvPr>
          <p:cNvPicPr>
            <a:picLocks noGrp="1" noChangeAspect="1"/>
          </p:cNvPicPr>
          <p:nvPr>
            <p:ph idx="1"/>
          </p:nvPr>
        </p:nvPicPr>
        <p:blipFill>
          <a:blip r:embed="rId2"/>
          <a:stretch>
            <a:fillRect/>
          </a:stretch>
        </p:blipFill>
        <p:spPr>
          <a:xfrm>
            <a:off x="172529" y="102273"/>
            <a:ext cx="12019470" cy="6762874"/>
          </a:xfrm>
        </p:spPr>
      </p:pic>
    </p:spTree>
    <p:extLst>
      <p:ext uri="{BB962C8B-B14F-4D97-AF65-F5344CB8AC3E}">
        <p14:creationId xmlns:p14="http://schemas.microsoft.com/office/powerpoint/2010/main" val="3605611526"/>
      </p:ext>
    </p:extLst>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2AE91-E918-248B-65B2-D23022F9D3B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830A478-9C58-DF82-0E9B-159FAC3EDE70}"/>
              </a:ext>
            </a:extLst>
          </p:cNvPr>
          <p:cNvSpPr>
            <a:spLocks noGrp="1"/>
          </p:cNvSpPr>
          <p:nvPr>
            <p:ph idx="1"/>
          </p:nvPr>
        </p:nvSpPr>
        <p:spPr/>
        <p:txBody>
          <a:bodyPr vert="horz" lIns="91440" tIns="45720" rIns="91440" bIns="45720" rtlCol="0" anchor="t">
            <a:noAutofit/>
          </a:bodyPr>
          <a:lstStyle/>
          <a:p>
            <a:pPr marL="0" indent="0">
              <a:buNone/>
            </a:pPr>
            <a:r>
              <a:rPr lang="en-US" sz="2000">
                <a:latin typeface="Consolas"/>
              </a:rPr>
              <a:t>package </a:t>
            </a:r>
            <a:r>
              <a:rPr lang="en-US" sz="2000" err="1">
                <a:latin typeface="Consolas"/>
              </a:rPr>
              <a:t>com.atuluttam.DependencyInjectionAnnotation</a:t>
            </a:r>
            <a:r>
              <a:rPr lang="en-US" sz="2000" b="1">
                <a:latin typeface="Consolas"/>
              </a:rPr>
              <a:t>;</a:t>
            </a:r>
            <a:br>
              <a:rPr lang="en-US" sz="2000" b="1">
                <a:latin typeface="Consolas"/>
              </a:rPr>
            </a:br>
            <a:r>
              <a:rPr lang="en-US" sz="2000" b="1">
                <a:latin typeface="Consolas"/>
              </a:rPr>
              <a:t/>
            </a:r>
            <a:br>
              <a:rPr lang="en-US" sz="2000" b="1">
                <a:latin typeface="Consolas"/>
              </a:rPr>
            </a:br>
            <a:r>
              <a:rPr lang="en-US" sz="2000" b="1">
                <a:latin typeface="Consolas"/>
              </a:rPr>
              <a:t>import </a:t>
            </a:r>
            <a:r>
              <a:rPr lang="en-US" sz="2000" err="1">
                <a:latin typeface="Consolas"/>
              </a:rPr>
              <a:t>org.springframework.stereotype.Component</a:t>
            </a:r>
            <a:r>
              <a:rPr lang="en-US" sz="2000" b="1">
                <a:latin typeface="Consolas"/>
              </a:rPr>
              <a:t>;</a:t>
            </a:r>
            <a:br>
              <a:rPr lang="en-US" sz="2000" b="1">
                <a:latin typeface="Consolas"/>
              </a:rPr>
            </a:br>
            <a:r>
              <a:rPr lang="en-US" sz="2000" b="1">
                <a:latin typeface="Consolas"/>
              </a:rPr>
              <a:t/>
            </a:r>
            <a:br>
              <a:rPr lang="en-US" sz="2000" b="1">
                <a:latin typeface="Consolas"/>
              </a:rPr>
            </a:br>
            <a:r>
              <a:rPr lang="en-US" sz="2000" b="1">
                <a:latin typeface="Consolas"/>
              </a:rPr>
              <a:t>@Component</a:t>
            </a:r>
            <a:br>
              <a:rPr lang="en-US" sz="2000" b="1">
                <a:latin typeface="Consolas"/>
              </a:rPr>
            </a:br>
            <a:r>
              <a:rPr lang="en-US" sz="2000" b="1">
                <a:latin typeface="Consolas"/>
              </a:rPr>
              <a:t>public class </a:t>
            </a:r>
            <a:r>
              <a:rPr lang="en-US" sz="2000">
                <a:latin typeface="Consolas"/>
              </a:rPr>
              <a:t>SanDisk implements </a:t>
            </a:r>
            <a:r>
              <a:rPr lang="en-US" sz="2000" err="1">
                <a:latin typeface="Consolas"/>
              </a:rPr>
              <a:t>HardDisk</a:t>
            </a:r>
            <a:r>
              <a:rPr lang="en-US" sz="2000">
                <a:latin typeface="Consolas"/>
              </a:rPr>
              <a:t>{</a:t>
            </a:r>
            <a:br>
              <a:rPr lang="en-US" sz="2000">
                <a:latin typeface="Consolas"/>
              </a:rPr>
            </a:br>
            <a:r>
              <a:rPr lang="en-US" sz="2000" b="1">
                <a:latin typeface="Consolas"/>
              </a:rPr>
              <a:t>  @Override</a:t>
            </a:r>
            <a:br>
              <a:rPr lang="en-US" sz="2000" b="1">
                <a:latin typeface="Consolas"/>
              </a:rPr>
            </a:br>
            <a:r>
              <a:rPr lang="en-US" sz="2000">
                <a:latin typeface="Consolas"/>
              </a:rPr>
              <a:t> public void </a:t>
            </a:r>
            <a:r>
              <a:rPr lang="en-US" sz="2000" err="1">
                <a:latin typeface="Consolas"/>
              </a:rPr>
              <a:t>saveData</a:t>
            </a:r>
            <a:r>
              <a:rPr lang="en-US" sz="2000">
                <a:latin typeface="Consolas"/>
              </a:rPr>
              <a:t>()</a:t>
            </a:r>
            <a:br>
              <a:rPr lang="en-US" sz="2000">
                <a:latin typeface="Consolas"/>
              </a:rPr>
            </a:br>
            <a:r>
              <a:rPr lang="en-US" sz="2000">
                <a:latin typeface="Consolas"/>
              </a:rPr>
              <a:t> {</a:t>
            </a:r>
            <a:br>
              <a:rPr lang="en-US" sz="2000">
                <a:latin typeface="Consolas"/>
              </a:rPr>
            </a:br>
            <a:r>
              <a:rPr lang="en-US" sz="2000">
                <a:latin typeface="Consolas"/>
              </a:rPr>
              <a:t> </a:t>
            </a:r>
            <a:r>
              <a:rPr lang="en-US" sz="2000" err="1">
                <a:latin typeface="Consolas"/>
              </a:rPr>
              <a:t>System.</a:t>
            </a:r>
            <a:r>
              <a:rPr lang="en-US" sz="2000" i="1" err="1">
                <a:latin typeface="Consolas"/>
              </a:rPr>
              <a:t>out</a:t>
            </a:r>
            <a:r>
              <a:rPr lang="en-US" sz="2000" err="1">
                <a:latin typeface="Consolas"/>
              </a:rPr>
              <a:t>.println</a:t>
            </a:r>
            <a:r>
              <a:rPr lang="en-US" sz="2000">
                <a:latin typeface="Consolas"/>
              </a:rPr>
              <a:t>("Your Data is Saved!! in SanDisk")</a:t>
            </a:r>
            <a:r>
              <a:rPr lang="en-US" sz="2000" b="1">
                <a:latin typeface="Consolas"/>
              </a:rPr>
              <a:t>;</a:t>
            </a:r>
            <a:br>
              <a:rPr lang="en-US" sz="2000" b="1">
                <a:latin typeface="Consolas"/>
              </a:rPr>
            </a:br>
            <a:r>
              <a:rPr lang="en-US" sz="2000" b="1">
                <a:latin typeface="Consolas"/>
              </a:rPr>
              <a:t> </a:t>
            </a:r>
            <a:r>
              <a:rPr lang="en-US" sz="2000">
                <a:latin typeface="Consolas"/>
              </a:rPr>
              <a:t>}</a:t>
            </a:r>
            <a:br>
              <a:rPr lang="en-US" sz="2000">
                <a:latin typeface="Consolas"/>
              </a:rPr>
            </a:br>
            <a:r>
              <a:rPr lang="en-US" sz="2000">
                <a:latin typeface="Consolas"/>
              </a:rPr>
              <a:t/>
            </a:r>
            <a:br>
              <a:rPr lang="en-US" sz="2000">
                <a:latin typeface="Consolas"/>
              </a:rPr>
            </a:br>
            <a:r>
              <a:rPr lang="en-US" sz="2000">
                <a:latin typeface="Consolas"/>
              </a:rPr>
              <a:t>}</a:t>
            </a:r>
            <a:br>
              <a:rPr lang="en-US" sz="2000">
                <a:latin typeface="Consolas"/>
              </a:rPr>
            </a:br>
            <a:endParaRPr lang="en-US" sz="2000">
              <a:latin typeface="Consolas"/>
            </a:endParaRPr>
          </a:p>
          <a:p>
            <a:endParaRPr lang="en-US"/>
          </a:p>
        </p:txBody>
      </p:sp>
    </p:spTree>
    <p:extLst>
      <p:ext uri="{BB962C8B-B14F-4D97-AF65-F5344CB8AC3E}">
        <p14:creationId xmlns:p14="http://schemas.microsoft.com/office/powerpoint/2010/main" val="1656507352"/>
      </p:ext>
    </p:extLst>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EAF21-FB9E-2CDC-AF0F-7E58F2E24828}"/>
              </a:ext>
            </a:extLst>
          </p:cNvPr>
          <p:cNvSpPr>
            <a:spLocks noGrp="1"/>
          </p:cNvSpPr>
          <p:nvPr>
            <p:ph type="title"/>
          </p:nvPr>
        </p:nvSpPr>
        <p:spPr/>
        <p:txBody>
          <a:bodyPr/>
          <a:lstStyle/>
          <a:p>
            <a:endParaRPr lang="en-US"/>
          </a:p>
        </p:txBody>
      </p:sp>
      <p:pic>
        <p:nvPicPr>
          <p:cNvPr id="4" name="Content Placeholder 3" descr="A computer screen shot of a program&#10;&#10;Description automatically generated">
            <a:extLst>
              <a:ext uri="{FF2B5EF4-FFF2-40B4-BE49-F238E27FC236}">
                <a16:creationId xmlns:a16="http://schemas.microsoft.com/office/drawing/2014/main" id="{9AC5FCD4-678D-7AD3-85A5-20361868CFF1}"/>
              </a:ext>
            </a:extLst>
          </p:cNvPr>
          <p:cNvPicPr>
            <a:picLocks noGrp="1" noChangeAspect="1"/>
          </p:cNvPicPr>
          <p:nvPr>
            <p:ph idx="1"/>
          </p:nvPr>
        </p:nvPicPr>
        <p:blipFill>
          <a:blip r:embed="rId2"/>
          <a:stretch>
            <a:fillRect/>
          </a:stretch>
        </p:blipFill>
        <p:spPr>
          <a:xfrm>
            <a:off x="158152" y="174160"/>
            <a:ext cx="12033848" cy="6504081"/>
          </a:xfrm>
        </p:spPr>
      </p:pic>
    </p:spTree>
    <p:extLst>
      <p:ext uri="{BB962C8B-B14F-4D97-AF65-F5344CB8AC3E}">
        <p14:creationId xmlns:p14="http://schemas.microsoft.com/office/powerpoint/2010/main" val="3710571705"/>
      </p:ext>
    </p:extLst>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87A02-2B85-233C-69D7-3E4D66ECBC6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193B36C-FB39-548F-2442-160FDE3533AB}"/>
              </a:ext>
            </a:extLst>
          </p:cNvPr>
          <p:cNvSpPr>
            <a:spLocks noGrp="1"/>
          </p:cNvSpPr>
          <p:nvPr>
            <p:ph idx="1"/>
          </p:nvPr>
        </p:nvSpPr>
        <p:spPr/>
        <p:txBody>
          <a:bodyPr vert="horz" lIns="91440" tIns="45720" rIns="91440" bIns="45720" rtlCol="0" anchor="t">
            <a:normAutofit lnSpcReduction="10000"/>
          </a:bodyPr>
          <a:lstStyle/>
          <a:p>
            <a:pPr marL="0" indent="0">
              <a:buNone/>
            </a:pPr>
            <a:r>
              <a:rPr lang="en-US" sz="2000">
                <a:latin typeface="Consolas"/>
              </a:rPr>
              <a:t>package </a:t>
            </a:r>
            <a:r>
              <a:rPr lang="en-US" sz="2000" err="1">
                <a:latin typeface="Consolas"/>
              </a:rPr>
              <a:t>com.atuluttam.DependencyInjectionAnnotation</a:t>
            </a:r>
            <a:r>
              <a:rPr lang="en-US" sz="2000" b="1">
                <a:latin typeface="Consolas"/>
              </a:rPr>
              <a:t>;</a:t>
            </a:r>
            <a:br>
              <a:rPr lang="en-US" sz="2000" b="1">
                <a:latin typeface="Consolas"/>
              </a:rPr>
            </a:br>
            <a:r>
              <a:rPr lang="en-US" sz="2000" b="1">
                <a:latin typeface="Consolas"/>
              </a:rPr>
              <a:t>import </a:t>
            </a:r>
            <a:r>
              <a:rPr lang="en-US" sz="2000" err="1">
                <a:latin typeface="Consolas"/>
              </a:rPr>
              <a:t>org.springframework.stereotype.Component</a:t>
            </a:r>
            <a:r>
              <a:rPr lang="en-US" sz="2000" b="1">
                <a:latin typeface="Consolas"/>
              </a:rPr>
              <a:t>;</a:t>
            </a:r>
            <a:br>
              <a:rPr lang="en-US" sz="2000" b="1">
                <a:latin typeface="Consolas"/>
              </a:rPr>
            </a:br>
            <a:r>
              <a:rPr lang="en-US" sz="2000" b="1">
                <a:latin typeface="Consolas"/>
              </a:rPr>
              <a:t>@Component</a:t>
            </a:r>
            <a:br>
              <a:rPr lang="en-US" sz="2000" b="1">
                <a:latin typeface="Consolas"/>
              </a:rPr>
            </a:br>
            <a:r>
              <a:rPr lang="en-US" sz="2000" b="1">
                <a:latin typeface="Consolas"/>
              </a:rPr>
              <a:t>public class </a:t>
            </a:r>
            <a:r>
              <a:rPr lang="en-US" sz="2000">
                <a:latin typeface="Consolas"/>
              </a:rPr>
              <a:t>Laptop {</a:t>
            </a:r>
          </a:p>
          <a:p>
            <a:pPr marL="0" indent="0">
              <a:buNone/>
            </a:pPr>
            <a:r>
              <a:rPr lang="en-US" sz="2000">
                <a:latin typeface="Consolas"/>
              </a:rPr>
              <a:t/>
            </a:r>
            <a:br>
              <a:rPr lang="en-US" sz="2000">
                <a:latin typeface="Consolas"/>
              </a:rPr>
            </a:br>
            <a:r>
              <a:rPr lang="en-US" sz="2000">
                <a:latin typeface="Consolas"/>
              </a:rPr>
              <a:t>    private </a:t>
            </a:r>
            <a:r>
              <a:rPr lang="en-US" sz="2000" err="1">
                <a:latin typeface="Consolas"/>
              </a:rPr>
              <a:t>HardDisk</a:t>
            </a:r>
            <a:r>
              <a:rPr lang="en-US" sz="2000">
                <a:latin typeface="Consolas"/>
              </a:rPr>
              <a:t> HDD</a:t>
            </a:r>
            <a:r>
              <a:rPr lang="en-US" sz="2000" b="1">
                <a:latin typeface="Consolas"/>
              </a:rPr>
              <a:t>;</a:t>
            </a:r>
            <a:br>
              <a:rPr lang="en-US" sz="2000" b="1">
                <a:latin typeface="Consolas"/>
              </a:rPr>
            </a:br>
            <a:r>
              <a:rPr lang="en-US" sz="2000" b="1">
                <a:latin typeface="Consolas"/>
              </a:rPr>
              <a:t>    </a:t>
            </a:r>
            <a:r>
              <a:rPr lang="en-US" sz="2000">
                <a:latin typeface="Consolas"/>
              </a:rPr>
              <a:t>public Laptop(</a:t>
            </a:r>
            <a:r>
              <a:rPr lang="en-US" sz="2000" err="1">
                <a:latin typeface="Consolas"/>
              </a:rPr>
              <a:t>HardDisk</a:t>
            </a:r>
            <a:r>
              <a:rPr lang="en-US" sz="2000">
                <a:latin typeface="Consolas"/>
              </a:rPr>
              <a:t> HDD)</a:t>
            </a:r>
            <a:br>
              <a:rPr lang="en-US" sz="2000">
                <a:latin typeface="Consolas"/>
              </a:rPr>
            </a:br>
            <a:r>
              <a:rPr lang="en-US" sz="2000">
                <a:latin typeface="Consolas"/>
              </a:rPr>
              <a:t>    {</a:t>
            </a:r>
            <a:br>
              <a:rPr lang="en-US" sz="2000">
                <a:latin typeface="Consolas"/>
              </a:rPr>
            </a:br>
            <a:r>
              <a:rPr lang="en-US" sz="2000">
                <a:latin typeface="Consolas"/>
              </a:rPr>
              <a:t>        </a:t>
            </a:r>
            <a:r>
              <a:rPr lang="en-US" sz="2000" err="1">
                <a:latin typeface="Consolas"/>
              </a:rPr>
              <a:t>this.HDD</a:t>
            </a:r>
            <a:r>
              <a:rPr lang="en-US" sz="2000">
                <a:latin typeface="Consolas"/>
              </a:rPr>
              <a:t> = HDD</a:t>
            </a:r>
            <a:r>
              <a:rPr lang="en-US" sz="2000" b="1">
                <a:latin typeface="Consolas"/>
              </a:rPr>
              <a:t>;</a:t>
            </a:r>
            <a:br>
              <a:rPr lang="en-US" sz="2000" b="1">
                <a:latin typeface="Consolas"/>
              </a:rPr>
            </a:br>
            <a:r>
              <a:rPr lang="en-US" sz="2000" b="1">
                <a:latin typeface="Consolas"/>
              </a:rPr>
              <a:t>    </a:t>
            </a:r>
            <a:r>
              <a:rPr lang="en-US" sz="2000">
                <a:latin typeface="Consolas"/>
              </a:rPr>
              <a:t>}</a:t>
            </a:r>
            <a:br>
              <a:rPr lang="en-US" sz="2000">
                <a:latin typeface="Consolas"/>
              </a:rPr>
            </a:br>
            <a:r>
              <a:rPr lang="en-US" sz="2000">
                <a:latin typeface="Consolas"/>
              </a:rPr>
              <a:t>    public void </a:t>
            </a:r>
            <a:r>
              <a:rPr lang="en-US" sz="2000" err="1">
                <a:latin typeface="Consolas"/>
              </a:rPr>
              <a:t>writeData</a:t>
            </a:r>
            <a:r>
              <a:rPr lang="en-US" sz="2000">
                <a:latin typeface="Consolas"/>
              </a:rPr>
              <a:t>()</a:t>
            </a:r>
            <a:br>
              <a:rPr lang="en-US" sz="2000">
                <a:latin typeface="Consolas"/>
              </a:rPr>
            </a:br>
            <a:r>
              <a:rPr lang="en-US" sz="2000">
                <a:latin typeface="Consolas"/>
              </a:rPr>
              <a:t>    {</a:t>
            </a:r>
            <a:br>
              <a:rPr lang="en-US" sz="2000">
                <a:latin typeface="Consolas"/>
              </a:rPr>
            </a:br>
            <a:r>
              <a:rPr lang="en-US" sz="2000">
                <a:latin typeface="Consolas"/>
              </a:rPr>
              <a:t>        </a:t>
            </a:r>
            <a:r>
              <a:rPr lang="en-US" sz="2000" err="1">
                <a:latin typeface="Consolas"/>
              </a:rPr>
              <a:t>HDD.saveData</a:t>
            </a:r>
            <a:r>
              <a:rPr lang="en-US" sz="2000">
                <a:latin typeface="Consolas"/>
              </a:rPr>
              <a:t>()</a:t>
            </a:r>
            <a:r>
              <a:rPr lang="en-US" sz="2000" b="1">
                <a:latin typeface="Consolas"/>
              </a:rPr>
              <a:t>;</a:t>
            </a:r>
            <a:br>
              <a:rPr lang="en-US" sz="2000" b="1">
                <a:latin typeface="Consolas"/>
              </a:rPr>
            </a:br>
            <a:r>
              <a:rPr lang="en-US" sz="2000" b="1">
                <a:latin typeface="Consolas"/>
              </a:rPr>
              <a:t>    </a:t>
            </a:r>
            <a:r>
              <a:rPr lang="en-US" sz="2000">
                <a:latin typeface="Consolas"/>
              </a:rPr>
              <a:t>}</a:t>
            </a:r>
            <a:br>
              <a:rPr lang="en-US" sz="2000">
                <a:latin typeface="Consolas"/>
              </a:rPr>
            </a:br>
            <a:r>
              <a:rPr lang="en-US" sz="2000">
                <a:latin typeface="Consolas"/>
              </a:rPr>
              <a:t>}</a:t>
            </a:r>
            <a:br>
              <a:rPr lang="en-US" sz="2000">
                <a:latin typeface="Consolas"/>
              </a:rPr>
            </a:br>
            <a:endParaRPr lang="en-US" sz="2000">
              <a:latin typeface="Consolas"/>
            </a:endParaRPr>
          </a:p>
          <a:p>
            <a:endParaRPr lang="en-US" sz="6000"/>
          </a:p>
        </p:txBody>
      </p:sp>
    </p:spTree>
    <p:extLst>
      <p:ext uri="{BB962C8B-B14F-4D97-AF65-F5344CB8AC3E}">
        <p14:creationId xmlns:p14="http://schemas.microsoft.com/office/powerpoint/2010/main" val="519057373"/>
      </p:ext>
    </p:extLst>
  </p:cSld>
  <p:clrMapOvr>
    <a:masterClrMapping/>
  </p:clrMapOvr>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C79F1-4738-FA3D-FE61-00ABC4B9323D}"/>
              </a:ext>
            </a:extLst>
          </p:cNvPr>
          <p:cNvSpPr>
            <a:spLocks noGrp="1"/>
          </p:cNvSpPr>
          <p:nvPr>
            <p:ph type="title"/>
          </p:nvPr>
        </p:nvSpPr>
        <p:spPr>
          <a:xfrm>
            <a:off x="838200" y="365126"/>
            <a:ext cx="10852355" cy="407180"/>
          </a:xfrm>
          <a:solidFill>
            <a:srgbClr val="FFFF00"/>
          </a:solidFill>
        </p:spPr>
        <p:txBody>
          <a:bodyPr>
            <a:normAutofit fontScale="90000"/>
          </a:bodyPr>
          <a:lstStyle/>
          <a:p>
            <a:pPr algn="ctr"/>
            <a:r>
              <a:rPr lang="en-US" sz="2400" b="1" dirty="0"/>
              <a:t>Let we have two implementation of HDD interface.....???</a:t>
            </a:r>
            <a:endParaRPr lang="en-US" sz="3600" dirty="0"/>
          </a:p>
        </p:txBody>
      </p:sp>
      <p:sp>
        <p:nvSpPr>
          <p:cNvPr id="4" name="TextBox 3">
            <a:extLst>
              <a:ext uri="{FF2B5EF4-FFF2-40B4-BE49-F238E27FC236}">
                <a16:creationId xmlns:a16="http://schemas.microsoft.com/office/drawing/2014/main" id="{7E8CEBB5-5DC9-18C5-FABE-E5294FFDF1BF}"/>
              </a:ext>
            </a:extLst>
          </p:cNvPr>
          <p:cNvSpPr txBox="1"/>
          <p:nvPr/>
        </p:nvSpPr>
        <p:spPr>
          <a:xfrm>
            <a:off x="0" y="2262996"/>
            <a:ext cx="5891842" cy="3970318"/>
          </a:xfrm>
          <a:prstGeom prst="rect">
            <a:avLst/>
          </a:prstGeom>
          <a:solidFill>
            <a:schemeClr val="tx1"/>
          </a:solidFill>
          <a:ln>
            <a:solidFill>
              <a:srgbClr val="00206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ED864A"/>
                </a:solidFill>
              </a:rPr>
              <a:t>package </a:t>
            </a:r>
            <a:r>
              <a:rPr lang="en-US" dirty="0" err="1">
                <a:solidFill>
                  <a:srgbClr val="FFFFFF"/>
                </a:solidFill>
              </a:rPr>
              <a:t>com.atuluttam.DependencyInjectionAnnotation</a:t>
            </a:r>
            <a:r>
              <a:rPr lang="en-US" b="1" dirty="0">
                <a:solidFill>
                  <a:srgbClr val="ED864A"/>
                </a:solidFill>
              </a:rPr>
              <a:t>;</a:t>
            </a:r>
            <a:r>
              <a:rPr lang="en-US" b="1" dirty="0"/>
              <a:t/>
            </a:r>
            <a:br>
              <a:rPr lang="en-US" b="1" dirty="0"/>
            </a:br>
            <a:r>
              <a:rPr lang="en-US" dirty="0">
                <a:solidFill>
                  <a:srgbClr val="ED864A"/>
                </a:solidFill>
              </a:rPr>
              <a:t>import </a:t>
            </a:r>
            <a:r>
              <a:rPr lang="en-US" dirty="0" err="1">
                <a:solidFill>
                  <a:srgbClr val="FFFFFF"/>
                </a:solidFill>
              </a:rPr>
              <a:t>org.springframework.stereotype.</a:t>
            </a:r>
            <a:r>
              <a:rPr lang="en-US" dirty="0" err="1">
                <a:solidFill>
                  <a:srgbClr val="A9B837"/>
                </a:solidFill>
              </a:rPr>
              <a:t>Component</a:t>
            </a:r>
            <a:r>
              <a:rPr lang="en-US" b="1" dirty="0">
                <a:solidFill>
                  <a:srgbClr val="ED864A"/>
                </a:solidFill>
              </a:rPr>
              <a:t>;</a:t>
            </a:r>
            <a:r>
              <a:rPr lang="en-US" b="1" dirty="0"/>
              <a:t/>
            </a:r>
            <a:br>
              <a:rPr lang="en-US" b="1" dirty="0"/>
            </a:br>
            <a:r>
              <a:rPr lang="en-US" dirty="0">
                <a:solidFill>
                  <a:srgbClr val="A9B837"/>
                </a:solidFill>
              </a:rPr>
              <a:t>@Component</a:t>
            </a:r>
            <a:r>
              <a:rPr lang="en-US" dirty="0"/>
              <a:t/>
            </a:r>
            <a:br>
              <a:rPr lang="en-US" dirty="0"/>
            </a:br>
            <a:r>
              <a:rPr lang="en-US" dirty="0">
                <a:solidFill>
                  <a:srgbClr val="ED864A"/>
                </a:solidFill>
              </a:rPr>
              <a:t>public class </a:t>
            </a:r>
            <a:r>
              <a:rPr lang="en-US" dirty="0">
                <a:solidFill>
                  <a:srgbClr val="FFFFFF"/>
                </a:solidFill>
              </a:rPr>
              <a:t>SanDisk </a:t>
            </a:r>
            <a:r>
              <a:rPr lang="en-US" dirty="0">
                <a:solidFill>
                  <a:srgbClr val="ED864A"/>
                </a:solidFill>
              </a:rPr>
              <a:t>implements </a:t>
            </a:r>
            <a:r>
              <a:rPr lang="en-US" dirty="0" err="1">
                <a:solidFill>
                  <a:srgbClr val="FFFFFF"/>
                </a:solidFill>
              </a:rPr>
              <a:t>HardDisk</a:t>
            </a:r>
            <a:r>
              <a:rPr lang="en-US" dirty="0">
                <a:solidFill>
                  <a:srgbClr val="EBEBEB"/>
                </a:solidFill>
              </a:rPr>
              <a:t>{</a:t>
            </a:r>
            <a:r>
              <a:rPr lang="en-US" dirty="0"/>
              <a:t/>
            </a:r>
            <a:br>
              <a:rPr lang="en-US" dirty="0"/>
            </a:br>
            <a:r>
              <a:rPr lang="en-US" dirty="0">
                <a:solidFill>
                  <a:srgbClr val="A9B837"/>
                </a:solidFill>
              </a:rPr>
              <a:t>@Override</a:t>
            </a:r>
            <a:r>
              <a:rPr lang="en-US" dirty="0"/>
              <a:t/>
            </a:r>
            <a:br>
              <a:rPr lang="en-US" dirty="0"/>
            </a:br>
            <a:r>
              <a:rPr lang="en-US" dirty="0">
                <a:solidFill>
                  <a:srgbClr val="ED864A"/>
                </a:solidFill>
              </a:rPr>
              <a:t>public void </a:t>
            </a:r>
            <a:r>
              <a:rPr lang="en-US" dirty="0" err="1">
                <a:solidFill>
                  <a:srgbClr val="FFCF40"/>
                </a:solidFill>
              </a:rPr>
              <a:t>saveData</a:t>
            </a:r>
            <a:r>
              <a:rPr lang="en-US" dirty="0">
                <a:solidFill>
                  <a:srgbClr val="EBEBEB"/>
                </a:solidFill>
              </a:rPr>
              <a:t>()</a:t>
            </a:r>
            <a:r>
              <a:rPr lang="en-US" dirty="0"/>
              <a:t/>
            </a:r>
            <a:br>
              <a:rPr lang="en-US" dirty="0"/>
            </a:br>
            <a:r>
              <a:rPr lang="en-US" dirty="0">
                <a:solidFill>
                  <a:srgbClr val="EBEBEB"/>
                </a:solidFill>
              </a:rPr>
              <a:t>{</a:t>
            </a:r>
            <a:r>
              <a:rPr lang="en-US" dirty="0"/>
              <a:t/>
            </a:r>
            <a:br>
              <a:rPr lang="en-US" dirty="0"/>
            </a:br>
            <a:r>
              <a:rPr lang="en-US" dirty="0" err="1">
                <a:solidFill>
                  <a:srgbClr val="FFFFFF"/>
                </a:solidFill>
              </a:rPr>
              <a:t>System</a:t>
            </a:r>
            <a:r>
              <a:rPr lang="en-US" dirty="0" err="1">
                <a:solidFill>
                  <a:srgbClr val="EBEBEB"/>
                </a:solidFill>
              </a:rPr>
              <a:t>.</a:t>
            </a:r>
            <a:r>
              <a:rPr lang="en-US" i="1" dirty="0" err="1">
                <a:solidFill>
                  <a:srgbClr val="ED94FF"/>
                </a:solidFill>
              </a:rPr>
              <a:t>out</a:t>
            </a:r>
            <a:r>
              <a:rPr lang="en-US" dirty="0" err="1">
                <a:solidFill>
                  <a:srgbClr val="EBEBEB"/>
                </a:solidFill>
              </a:rPr>
              <a:t>.println</a:t>
            </a:r>
            <a:r>
              <a:rPr lang="en-US" dirty="0">
                <a:solidFill>
                  <a:srgbClr val="EBEBEB"/>
                </a:solidFill>
              </a:rPr>
              <a:t>(</a:t>
            </a:r>
            <a:r>
              <a:rPr lang="en-US" dirty="0">
                <a:solidFill>
                  <a:srgbClr val="54B33E"/>
                </a:solidFill>
              </a:rPr>
              <a:t>"</a:t>
            </a:r>
            <a:r>
              <a:rPr lang="en-US" dirty="0" err="1" smtClean="0">
                <a:solidFill>
                  <a:srgbClr val="54B33E"/>
                </a:solidFill>
              </a:rPr>
              <a:t>Yo</a:t>
            </a:r>
            <a:endParaRPr lang="en-US" dirty="0" smtClean="0">
              <a:solidFill>
                <a:srgbClr val="54B33E"/>
              </a:solidFill>
            </a:endParaRPr>
          </a:p>
          <a:p>
            <a:r>
              <a:rPr lang="en-US" dirty="0" err="1" smtClean="0">
                <a:solidFill>
                  <a:srgbClr val="54B33E"/>
                </a:solidFill>
              </a:rPr>
              <a:t>ur</a:t>
            </a:r>
            <a:r>
              <a:rPr lang="en-US" dirty="0" smtClean="0">
                <a:solidFill>
                  <a:srgbClr val="54B33E"/>
                </a:solidFill>
              </a:rPr>
              <a:t> </a:t>
            </a:r>
            <a:r>
              <a:rPr lang="en-US" dirty="0">
                <a:solidFill>
                  <a:srgbClr val="54B33E"/>
                </a:solidFill>
              </a:rPr>
              <a:t>Data is Saved!! in </a:t>
            </a:r>
            <a:r>
              <a:rPr lang="en-US" dirty="0" smtClean="0">
                <a:solidFill>
                  <a:srgbClr val="54B33E"/>
                </a:solidFill>
              </a:rPr>
              <a:t>SanDisk HDD"</a:t>
            </a:r>
            <a:r>
              <a:rPr lang="en-US" dirty="0" smtClean="0">
                <a:solidFill>
                  <a:srgbClr val="EBEBEB"/>
                </a:solidFill>
              </a:rPr>
              <a:t>)</a:t>
            </a:r>
            <a:r>
              <a:rPr lang="en-US" b="1" dirty="0" smtClean="0">
                <a:solidFill>
                  <a:srgbClr val="ED864A"/>
                </a:solidFill>
              </a:rPr>
              <a:t>;</a:t>
            </a:r>
            <a:r>
              <a:rPr lang="en-US" b="1" dirty="0"/>
              <a:t/>
            </a:r>
            <a:br>
              <a:rPr lang="en-US" b="1" dirty="0"/>
            </a:br>
            <a:r>
              <a:rPr lang="en-US" dirty="0">
                <a:solidFill>
                  <a:srgbClr val="EBEBEB"/>
                </a:solidFill>
              </a:rPr>
              <a:t>}</a:t>
            </a:r>
            <a:r>
              <a:rPr lang="en-US" dirty="0"/>
              <a:t/>
            </a:r>
            <a:br>
              <a:rPr lang="en-US" dirty="0"/>
            </a:br>
            <a:r>
              <a:rPr lang="en-US" dirty="0">
                <a:solidFill>
                  <a:srgbClr val="EBEBEB"/>
                </a:solidFill>
              </a:rPr>
              <a:t>}</a:t>
            </a:r>
          </a:p>
        </p:txBody>
      </p:sp>
      <p:sp>
        <p:nvSpPr>
          <p:cNvPr id="5" name="TextBox 4">
            <a:extLst>
              <a:ext uri="{FF2B5EF4-FFF2-40B4-BE49-F238E27FC236}">
                <a16:creationId xmlns:a16="http://schemas.microsoft.com/office/drawing/2014/main" id="{7A20D6E2-8E1C-16EC-BD9F-BD3A031CDB40}"/>
              </a:ext>
            </a:extLst>
          </p:cNvPr>
          <p:cNvSpPr txBox="1"/>
          <p:nvPr/>
        </p:nvSpPr>
        <p:spPr>
          <a:xfrm>
            <a:off x="5976807" y="2262996"/>
            <a:ext cx="6093125" cy="4247317"/>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ED864A"/>
                </a:solidFill>
              </a:rPr>
              <a:t>package </a:t>
            </a:r>
            <a:r>
              <a:rPr lang="en-US" dirty="0" err="1">
                <a:solidFill>
                  <a:srgbClr val="FFFFFF"/>
                </a:solidFill>
              </a:rPr>
              <a:t>com.atuluttam.DependencyInjectionAnnotation</a:t>
            </a:r>
            <a:r>
              <a:rPr lang="en-US" b="1" dirty="0">
                <a:solidFill>
                  <a:srgbClr val="ED864A"/>
                </a:solidFill>
              </a:rPr>
              <a:t>;</a:t>
            </a:r>
            <a:br>
              <a:rPr lang="en-US" b="1" dirty="0">
                <a:solidFill>
                  <a:srgbClr val="ED864A"/>
                </a:solidFill>
              </a:rPr>
            </a:br>
            <a:r>
              <a:rPr lang="en-US" dirty="0">
                <a:solidFill>
                  <a:srgbClr val="ED864A"/>
                </a:solidFill>
              </a:rPr>
              <a:t>import </a:t>
            </a:r>
            <a:r>
              <a:rPr lang="en-US" dirty="0" err="1">
                <a:solidFill>
                  <a:srgbClr val="FFFFFF"/>
                </a:solidFill>
              </a:rPr>
              <a:t>org.springframework.stereotype.</a:t>
            </a:r>
            <a:r>
              <a:rPr lang="en-US" dirty="0" err="1">
                <a:solidFill>
                  <a:srgbClr val="A9B837"/>
                </a:solidFill>
              </a:rPr>
              <a:t>Component</a:t>
            </a:r>
            <a:r>
              <a:rPr lang="en-US" b="1" dirty="0">
                <a:solidFill>
                  <a:srgbClr val="ED864A"/>
                </a:solidFill>
              </a:rPr>
              <a:t>;</a:t>
            </a:r>
            <a:br>
              <a:rPr lang="en-US" b="1" dirty="0">
                <a:solidFill>
                  <a:srgbClr val="ED864A"/>
                </a:solidFill>
              </a:rPr>
            </a:br>
            <a:r>
              <a:rPr lang="en-US" dirty="0">
                <a:solidFill>
                  <a:srgbClr val="A9B837"/>
                </a:solidFill>
              </a:rPr>
              <a:t>@Component</a:t>
            </a:r>
            <a:br>
              <a:rPr lang="en-US" dirty="0">
                <a:solidFill>
                  <a:srgbClr val="A9B837"/>
                </a:solidFill>
              </a:rPr>
            </a:br>
            <a:r>
              <a:rPr lang="en-US" dirty="0">
                <a:solidFill>
                  <a:srgbClr val="ED864A"/>
                </a:solidFill>
              </a:rPr>
              <a:t>public class </a:t>
            </a:r>
            <a:r>
              <a:rPr lang="en-US" dirty="0">
                <a:solidFill>
                  <a:srgbClr val="FFFFFF"/>
                </a:solidFill>
              </a:rPr>
              <a:t>Samsung </a:t>
            </a:r>
            <a:r>
              <a:rPr lang="en-US" dirty="0">
                <a:solidFill>
                  <a:srgbClr val="ED864A"/>
                </a:solidFill>
              </a:rPr>
              <a:t>implements </a:t>
            </a:r>
            <a:r>
              <a:rPr lang="en-US" dirty="0" err="1">
                <a:solidFill>
                  <a:srgbClr val="FFFFFF"/>
                </a:solidFill>
              </a:rPr>
              <a:t>HardDisk</a:t>
            </a:r>
            <a:r>
              <a:rPr lang="en-US" dirty="0">
                <a:solidFill>
                  <a:srgbClr val="EBEBEB"/>
                </a:solidFill>
              </a:rPr>
              <a:t>{</a:t>
            </a:r>
            <a:br>
              <a:rPr lang="en-US" dirty="0">
                <a:solidFill>
                  <a:srgbClr val="EBEBEB"/>
                </a:solidFill>
              </a:rPr>
            </a:br>
            <a:r>
              <a:rPr lang="en-US" dirty="0">
                <a:solidFill>
                  <a:srgbClr val="A9B837"/>
                </a:solidFill>
              </a:rPr>
              <a:t>@Override</a:t>
            </a:r>
            <a:br>
              <a:rPr lang="en-US" dirty="0">
                <a:solidFill>
                  <a:srgbClr val="A9B837"/>
                </a:solidFill>
              </a:rPr>
            </a:br>
            <a:r>
              <a:rPr lang="en-US" dirty="0">
                <a:solidFill>
                  <a:srgbClr val="ED864A"/>
                </a:solidFill>
              </a:rPr>
              <a:t>public void </a:t>
            </a:r>
            <a:r>
              <a:rPr lang="en-US" dirty="0" err="1">
                <a:solidFill>
                  <a:srgbClr val="FFCF40"/>
                </a:solidFill>
              </a:rPr>
              <a:t>saveData</a:t>
            </a:r>
            <a:r>
              <a:rPr lang="en-US" dirty="0">
                <a:solidFill>
                  <a:srgbClr val="EBEBEB"/>
                </a:solidFill>
              </a:rPr>
              <a:t>()</a:t>
            </a:r>
            <a:br>
              <a:rPr lang="en-US" dirty="0">
                <a:solidFill>
                  <a:srgbClr val="EBEBEB"/>
                </a:solidFill>
              </a:rPr>
            </a:br>
            <a:r>
              <a:rPr lang="en-US" dirty="0" smtClean="0">
                <a:solidFill>
                  <a:srgbClr val="EBEBEB"/>
                </a:solidFill>
              </a:rPr>
              <a:t>{</a:t>
            </a:r>
          </a:p>
          <a:p>
            <a:r>
              <a:rPr lang="en-US" dirty="0">
                <a:solidFill>
                  <a:srgbClr val="EBEBEB"/>
                </a:solidFill>
              </a:rPr>
              <a:t/>
            </a:r>
            <a:br>
              <a:rPr lang="en-US" dirty="0">
                <a:solidFill>
                  <a:srgbClr val="EBEBEB"/>
                </a:solidFill>
              </a:rPr>
            </a:br>
            <a:r>
              <a:rPr lang="en-US" dirty="0" err="1">
                <a:solidFill>
                  <a:srgbClr val="FFFFFF"/>
                </a:solidFill>
              </a:rPr>
              <a:t>System</a:t>
            </a:r>
            <a:r>
              <a:rPr lang="en-US" dirty="0" err="1">
                <a:solidFill>
                  <a:srgbClr val="EBEBEB"/>
                </a:solidFill>
              </a:rPr>
              <a:t>.</a:t>
            </a:r>
            <a:r>
              <a:rPr lang="en-US" i="1" dirty="0" err="1">
                <a:solidFill>
                  <a:srgbClr val="ED94FF"/>
                </a:solidFill>
              </a:rPr>
              <a:t>out</a:t>
            </a:r>
            <a:r>
              <a:rPr lang="en-US" dirty="0" err="1">
                <a:solidFill>
                  <a:srgbClr val="EBEBEB"/>
                </a:solidFill>
              </a:rPr>
              <a:t>.println</a:t>
            </a:r>
            <a:r>
              <a:rPr lang="en-US" dirty="0">
                <a:solidFill>
                  <a:srgbClr val="EBEBEB"/>
                </a:solidFill>
              </a:rPr>
              <a:t>(</a:t>
            </a:r>
            <a:r>
              <a:rPr lang="en-US" dirty="0">
                <a:solidFill>
                  <a:srgbClr val="54B33E"/>
                </a:solidFill>
              </a:rPr>
              <a:t>"Your Data is Saved!! in </a:t>
            </a:r>
            <a:r>
              <a:rPr lang="en-US" dirty="0" smtClean="0">
                <a:solidFill>
                  <a:srgbClr val="54B33E"/>
                </a:solidFill>
              </a:rPr>
              <a:t>Samsung HDD"</a:t>
            </a:r>
            <a:r>
              <a:rPr lang="en-US" dirty="0" smtClean="0">
                <a:solidFill>
                  <a:srgbClr val="EBEBEB"/>
                </a:solidFill>
              </a:rPr>
              <a:t>)</a:t>
            </a:r>
            <a:r>
              <a:rPr lang="en-US" b="1" dirty="0" smtClean="0">
                <a:solidFill>
                  <a:srgbClr val="ED864A"/>
                </a:solidFill>
              </a:rPr>
              <a:t>;</a:t>
            </a:r>
            <a:r>
              <a:rPr lang="en-US" b="1" dirty="0">
                <a:solidFill>
                  <a:srgbClr val="ED864A"/>
                </a:solidFill>
              </a:rPr>
              <a:t/>
            </a:r>
            <a:br>
              <a:rPr lang="en-US" b="1" dirty="0">
                <a:solidFill>
                  <a:srgbClr val="ED864A"/>
                </a:solidFill>
              </a:rPr>
            </a:br>
            <a:r>
              <a:rPr lang="en-US" dirty="0">
                <a:solidFill>
                  <a:srgbClr val="EBEBEB"/>
                </a:solidFill>
              </a:rPr>
              <a:t>}</a:t>
            </a:r>
            <a:br>
              <a:rPr lang="en-US" dirty="0">
                <a:solidFill>
                  <a:srgbClr val="EBEBEB"/>
                </a:solidFill>
              </a:rPr>
            </a:br>
            <a:r>
              <a:rPr lang="en-US" dirty="0">
                <a:solidFill>
                  <a:srgbClr val="EBEBEB"/>
                </a:solidFill>
              </a:rPr>
              <a:t>}</a:t>
            </a:r>
          </a:p>
        </p:txBody>
      </p:sp>
      <p:sp>
        <p:nvSpPr>
          <p:cNvPr id="6" name="TextBox 5">
            <a:extLst>
              <a:ext uri="{FF2B5EF4-FFF2-40B4-BE49-F238E27FC236}">
                <a16:creationId xmlns:a16="http://schemas.microsoft.com/office/drawing/2014/main" id="{F18B062F-F5F3-A211-CD55-BE338C9FD60D}"/>
              </a:ext>
            </a:extLst>
          </p:cNvPr>
          <p:cNvSpPr txBox="1"/>
          <p:nvPr/>
        </p:nvSpPr>
        <p:spPr>
          <a:xfrm>
            <a:off x="1268361" y="929716"/>
            <a:ext cx="7496633" cy="1200329"/>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ED864A"/>
                </a:solidFill>
              </a:rPr>
              <a:t>package </a:t>
            </a:r>
            <a:r>
              <a:rPr lang="en-US" dirty="0" err="1">
                <a:solidFill>
                  <a:srgbClr val="FFFFFF"/>
                </a:solidFill>
              </a:rPr>
              <a:t>com.atuluttam.DependencyInjectionAnnotation</a:t>
            </a:r>
            <a:r>
              <a:rPr lang="en-US" b="1" dirty="0">
                <a:solidFill>
                  <a:srgbClr val="ED864A"/>
                </a:solidFill>
              </a:rPr>
              <a:t>;</a:t>
            </a:r>
            <a:br>
              <a:rPr lang="en-US" b="1" dirty="0">
                <a:solidFill>
                  <a:srgbClr val="ED864A"/>
                </a:solidFill>
              </a:rPr>
            </a:br>
            <a:r>
              <a:rPr lang="en-US" dirty="0">
                <a:solidFill>
                  <a:srgbClr val="ED864A"/>
                </a:solidFill>
              </a:rPr>
              <a:t>public interface </a:t>
            </a:r>
            <a:r>
              <a:rPr lang="en-US" dirty="0" err="1">
                <a:solidFill>
                  <a:srgbClr val="FFFFFF"/>
                </a:solidFill>
              </a:rPr>
              <a:t>HardDisk</a:t>
            </a:r>
            <a:r>
              <a:rPr lang="en-US" dirty="0">
                <a:solidFill>
                  <a:srgbClr val="FFFFFF"/>
                </a:solidFill>
              </a:rPr>
              <a:t> </a:t>
            </a:r>
            <a:r>
              <a:rPr lang="en-US" dirty="0">
                <a:solidFill>
                  <a:srgbClr val="EBEBEB"/>
                </a:solidFill>
              </a:rPr>
              <a:t>{</a:t>
            </a:r>
            <a:br>
              <a:rPr lang="en-US" dirty="0">
                <a:solidFill>
                  <a:srgbClr val="EBEBEB"/>
                </a:solidFill>
              </a:rPr>
            </a:br>
            <a:r>
              <a:rPr lang="en-US" dirty="0">
                <a:solidFill>
                  <a:srgbClr val="ED864A"/>
                </a:solidFill>
              </a:rPr>
              <a:t>void </a:t>
            </a:r>
            <a:r>
              <a:rPr lang="en-US" dirty="0" err="1">
                <a:solidFill>
                  <a:srgbClr val="FFCF40"/>
                </a:solidFill>
              </a:rPr>
              <a:t>saveData</a:t>
            </a:r>
            <a:r>
              <a:rPr lang="en-US" dirty="0" smtClean="0">
                <a:solidFill>
                  <a:srgbClr val="EBEBEB"/>
                </a:solidFill>
              </a:rPr>
              <a:t>()</a:t>
            </a:r>
            <a:r>
              <a:rPr lang="en-US" b="1" dirty="0" smtClean="0">
                <a:solidFill>
                  <a:srgbClr val="ED864A"/>
                </a:solidFill>
              </a:rPr>
              <a:t>;</a:t>
            </a:r>
            <a:r>
              <a:rPr lang="en-US" b="1" dirty="0">
                <a:solidFill>
                  <a:srgbClr val="ED864A"/>
                </a:solidFill>
              </a:rPr>
              <a:t/>
            </a:r>
            <a:br>
              <a:rPr lang="en-US" b="1" dirty="0">
                <a:solidFill>
                  <a:srgbClr val="ED864A"/>
                </a:solidFill>
              </a:rPr>
            </a:br>
            <a:r>
              <a:rPr lang="en-US" dirty="0">
                <a:solidFill>
                  <a:srgbClr val="EBEBEB"/>
                </a:solidFill>
              </a:rPr>
              <a:t>}</a:t>
            </a:r>
          </a:p>
        </p:txBody>
      </p:sp>
      <p:sp>
        <p:nvSpPr>
          <p:cNvPr id="7" name="TextBox 6">
            <a:extLst>
              <a:ext uri="{FF2B5EF4-FFF2-40B4-BE49-F238E27FC236}">
                <a16:creationId xmlns:a16="http://schemas.microsoft.com/office/drawing/2014/main" id="{FDDDEDA4-7C08-ADDB-1F1E-F3410AC6CFC1}"/>
              </a:ext>
            </a:extLst>
          </p:cNvPr>
          <p:cNvSpPr txBox="1"/>
          <p:nvPr/>
        </p:nvSpPr>
        <p:spPr>
          <a:xfrm>
            <a:off x="1169112" y="6298391"/>
            <a:ext cx="8479765" cy="369332"/>
          </a:xfrm>
          <a:prstGeom prst="rect">
            <a:avLst/>
          </a:prstGeom>
          <a:solidFill>
            <a:srgbClr val="FF00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FFFF00"/>
                </a:solidFill>
              </a:rPr>
              <a:t>expected single matching bean but found 2: </a:t>
            </a:r>
            <a:r>
              <a:rPr lang="en-US" b="1" dirty="0" err="1">
                <a:solidFill>
                  <a:srgbClr val="FFFF00"/>
                </a:solidFill>
              </a:rPr>
              <a:t>samsung</a:t>
            </a:r>
            <a:r>
              <a:rPr lang="en-US" b="1" dirty="0">
                <a:solidFill>
                  <a:srgbClr val="FFFF00"/>
                </a:solidFill>
              </a:rPr>
              <a:t>, </a:t>
            </a:r>
            <a:r>
              <a:rPr lang="en-US" b="1" dirty="0" err="1">
                <a:solidFill>
                  <a:srgbClr val="FFFF00"/>
                </a:solidFill>
              </a:rPr>
              <a:t>sanDisk</a:t>
            </a:r>
            <a:endParaRPr lang="en-US" b="1" dirty="0">
              <a:solidFill>
                <a:srgbClr val="FFFF00"/>
              </a:solidFill>
            </a:endParaRPr>
          </a:p>
        </p:txBody>
      </p:sp>
    </p:spTree>
    <p:extLst>
      <p:ext uri="{BB962C8B-B14F-4D97-AF65-F5344CB8AC3E}">
        <p14:creationId xmlns:p14="http://schemas.microsoft.com/office/powerpoint/2010/main" val="3539307414"/>
      </p:ext>
    </p:extLst>
  </p:cSld>
  <p:clrMapOvr>
    <a:masterClrMapping/>
  </p:clrMapOvr>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188BD-E572-723F-6002-F357DE88FE89}"/>
              </a:ext>
            </a:extLst>
          </p:cNvPr>
          <p:cNvSpPr>
            <a:spLocks noGrp="1"/>
          </p:cNvSpPr>
          <p:nvPr>
            <p:ph type="title"/>
          </p:nvPr>
        </p:nvSpPr>
        <p:spPr/>
        <p:txBody>
          <a:bodyPr/>
          <a:lstStyle/>
          <a:p>
            <a:r>
              <a:rPr lang="en-US"/>
              <a:t>To Resolve it........</a:t>
            </a:r>
          </a:p>
        </p:txBody>
      </p:sp>
      <p:sp>
        <p:nvSpPr>
          <p:cNvPr id="3" name="Content Placeholder 2">
            <a:extLst>
              <a:ext uri="{FF2B5EF4-FFF2-40B4-BE49-F238E27FC236}">
                <a16:creationId xmlns:a16="http://schemas.microsoft.com/office/drawing/2014/main" id="{A4822946-485F-A046-EC37-F7D88E853419}"/>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1. </a:t>
            </a:r>
            <a:r>
              <a:rPr lang="en-US" b="1" dirty="0">
                <a:ea typeface="+mn-lt"/>
                <a:cs typeface="+mn-lt"/>
              </a:rPr>
              <a:t>Use </a:t>
            </a:r>
            <a:r>
              <a:rPr lang="en-US" b="1" dirty="0">
                <a:solidFill>
                  <a:srgbClr val="FF0000"/>
                </a:solidFill>
                <a:latin typeface="Consolas"/>
              </a:rPr>
              <a:t>@Qualifier</a:t>
            </a:r>
            <a:r>
              <a:rPr lang="en-US" b="1" dirty="0">
                <a:solidFill>
                  <a:srgbClr val="FF0000"/>
                </a:solidFill>
                <a:ea typeface="+mn-lt"/>
                <a:cs typeface="+mn-lt"/>
              </a:rPr>
              <a:t> </a:t>
            </a:r>
            <a:r>
              <a:rPr lang="en-US" b="1" dirty="0">
                <a:ea typeface="+mn-lt"/>
                <a:cs typeface="+mn-lt"/>
              </a:rPr>
              <a:t>Annotation</a:t>
            </a:r>
          </a:p>
          <a:p>
            <a:pPr marL="0" indent="0">
              <a:buNone/>
            </a:pPr>
            <a:r>
              <a:rPr lang="en-US" dirty="0">
                <a:ea typeface="+mn-lt"/>
                <a:cs typeface="+mn-lt"/>
              </a:rPr>
              <a:t>2. </a:t>
            </a:r>
            <a:r>
              <a:rPr lang="en-US" b="1" dirty="0">
                <a:ea typeface="+mn-lt"/>
                <a:cs typeface="+mn-lt"/>
              </a:rPr>
              <a:t>Set a Primary Bean Using </a:t>
            </a:r>
            <a:r>
              <a:rPr lang="en-US" b="1" dirty="0">
                <a:solidFill>
                  <a:srgbClr val="FF0000"/>
                </a:solidFill>
                <a:latin typeface="Consolas"/>
              </a:rPr>
              <a:t>@Primary</a:t>
            </a:r>
          </a:p>
          <a:p>
            <a:pPr marL="0" indent="0">
              <a:buNone/>
            </a:pPr>
            <a:r>
              <a:rPr lang="en-US" dirty="0">
                <a:ea typeface="+mn-lt"/>
                <a:cs typeface="+mn-lt"/>
              </a:rPr>
              <a:t>3. </a:t>
            </a:r>
            <a:r>
              <a:rPr lang="en-US" b="1" dirty="0">
                <a:ea typeface="+mn-lt"/>
                <a:cs typeface="+mn-lt"/>
              </a:rPr>
              <a:t>Use Constructor Injection with Explicit Beans</a:t>
            </a:r>
            <a:endParaRPr lang="en-US" dirty="0"/>
          </a:p>
        </p:txBody>
      </p:sp>
    </p:spTree>
    <p:extLst>
      <p:ext uri="{BB962C8B-B14F-4D97-AF65-F5344CB8AC3E}">
        <p14:creationId xmlns:p14="http://schemas.microsoft.com/office/powerpoint/2010/main" val="1957668991"/>
      </p:ext>
    </p:extLst>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E3300-E2DF-C42F-0DCD-053DC8A28D14}"/>
              </a:ext>
            </a:extLst>
          </p:cNvPr>
          <p:cNvSpPr>
            <a:spLocks noGrp="1"/>
          </p:cNvSpPr>
          <p:nvPr>
            <p:ph type="title"/>
          </p:nvPr>
        </p:nvSpPr>
        <p:spPr>
          <a:xfrm>
            <a:off x="682191" y="809622"/>
            <a:ext cx="6147817" cy="750469"/>
          </a:xfrm>
        </p:spPr>
        <p:txBody>
          <a:bodyPr/>
          <a:lstStyle/>
          <a:p>
            <a:r>
              <a:rPr lang="en-US" sz="2800" dirty="0">
                <a:ea typeface="+mj-lt"/>
                <a:cs typeface="+mj-lt"/>
              </a:rPr>
              <a:t>1. </a:t>
            </a:r>
            <a:r>
              <a:rPr lang="en-US" sz="2800" b="1" dirty="0">
                <a:ea typeface="+mj-lt"/>
                <a:cs typeface="+mj-lt"/>
              </a:rPr>
              <a:t>Use </a:t>
            </a:r>
            <a:r>
              <a:rPr lang="en-US" sz="2800" b="1" dirty="0">
                <a:latin typeface="Consolas"/>
              </a:rPr>
              <a:t>@Qualifier</a:t>
            </a:r>
            <a:r>
              <a:rPr lang="en-US" sz="2800" b="1" dirty="0">
                <a:ea typeface="+mj-lt"/>
                <a:cs typeface="+mj-lt"/>
              </a:rPr>
              <a:t> Annotation</a:t>
            </a:r>
            <a:endParaRPr lang="en-US" dirty="0"/>
          </a:p>
        </p:txBody>
      </p:sp>
      <p:sp>
        <p:nvSpPr>
          <p:cNvPr id="4" name="TextBox 3">
            <a:extLst>
              <a:ext uri="{FF2B5EF4-FFF2-40B4-BE49-F238E27FC236}">
                <a16:creationId xmlns:a16="http://schemas.microsoft.com/office/drawing/2014/main" id="{201C75AF-5B96-49AD-08CB-39B4AD392909}"/>
              </a:ext>
            </a:extLst>
          </p:cNvPr>
          <p:cNvSpPr txBox="1"/>
          <p:nvPr/>
        </p:nvSpPr>
        <p:spPr>
          <a:xfrm>
            <a:off x="305505" y="1893820"/>
            <a:ext cx="11268973"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package </a:t>
            </a:r>
            <a:r>
              <a:rPr lang="en-US" dirty="0" err="1"/>
              <a:t>com.atuluttam.DependencyInjectionAnnotation</a:t>
            </a:r>
            <a:r>
              <a:rPr lang="en-US" dirty="0"/>
              <a:t>;</a:t>
            </a:r>
          </a:p>
          <a:p>
            <a:endParaRPr lang="en-US" dirty="0"/>
          </a:p>
          <a:p>
            <a:r>
              <a:rPr lang="en-US" b="1" dirty="0"/>
              <a:t>@Component</a:t>
            </a:r>
          </a:p>
          <a:p>
            <a:r>
              <a:rPr lang="en-US" dirty="0"/>
              <a:t>public class Laptop {</a:t>
            </a:r>
          </a:p>
          <a:p>
            <a:endParaRPr lang="en-US" dirty="0"/>
          </a:p>
          <a:p>
            <a:r>
              <a:rPr lang="en-US" dirty="0"/>
              <a:t>    private final </a:t>
            </a:r>
            <a:r>
              <a:rPr lang="en-US" dirty="0" err="1"/>
              <a:t>HardDisk</a:t>
            </a:r>
            <a:r>
              <a:rPr lang="en-US" dirty="0"/>
              <a:t> HDD;</a:t>
            </a:r>
          </a:p>
          <a:p>
            <a:endParaRPr lang="en-US" dirty="0"/>
          </a:p>
          <a:p>
            <a:r>
              <a:rPr lang="en-US" dirty="0"/>
              <a:t>   </a:t>
            </a:r>
            <a:r>
              <a:rPr lang="en-US" b="1" dirty="0"/>
              <a:t> @</a:t>
            </a:r>
            <a:r>
              <a:rPr lang="en-US" b="1" dirty="0" err="1"/>
              <a:t>Autowired</a:t>
            </a:r>
            <a:endParaRPr lang="en-US" b="1" dirty="0"/>
          </a:p>
          <a:p>
            <a:r>
              <a:rPr lang="en-US" dirty="0">
                <a:solidFill>
                  <a:srgbClr val="000000"/>
                </a:solidFill>
                <a:highlight>
                  <a:srgbClr val="FFFF00"/>
                </a:highlight>
              </a:rPr>
              <a:t>    public Laptop(</a:t>
            </a:r>
            <a:r>
              <a:rPr lang="en-US" b="1" dirty="0">
                <a:solidFill>
                  <a:srgbClr val="000000"/>
                </a:solidFill>
                <a:highlight>
                  <a:srgbClr val="FFFF00"/>
                </a:highlight>
              </a:rPr>
              <a:t>@Qualifier("</a:t>
            </a:r>
            <a:r>
              <a:rPr lang="en-US" b="1" dirty="0" err="1">
                <a:solidFill>
                  <a:srgbClr val="000000"/>
                </a:solidFill>
                <a:highlight>
                  <a:srgbClr val="FFFF00"/>
                </a:highlight>
              </a:rPr>
              <a:t>sanDisk</a:t>
            </a:r>
            <a:r>
              <a:rPr lang="en-US" b="1" dirty="0">
                <a:solidFill>
                  <a:srgbClr val="000000"/>
                </a:solidFill>
                <a:highlight>
                  <a:srgbClr val="FFFF00"/>
                </a:highlight>
              </a:rPr>
              <a:t>") </a:t>
            </a:r>
            <a:r>
              <a:rPr lang="en-US" dirty="0" err="1">
                <a:solidFill>
                  <a:srgbClr val="000000"/>
                </a:solidFill>
                <a:highlight>
                  <a:srgbClr val="FFFF00"/>
                </a:highlight>
              </a:rPr>
              <a:t>HardDisk</a:t>
            </a:r>
            <a:r>
              <a:rPr lang="en-US" dirty="0">
                <a:solidFill>
                  <a:srgbClr val="000000"/>
                </a:solidFill>
                <a:highlight>
                  <a:srgbClr val="FFFF00"/>
                </a:highlight>
              </a:rPr>
              <a:t> HDD) </a:t>
            </a:r>
            <a:r>
              <a:rPr lang="en-US" sz="1600" dirty="0" smtClean="0">
                <a:solidFill>
                  <a:srgbClr val="FF0000"/>
                </a:solidFill>
                <a:highlight>
                  <a:srgbClr val="FFFF00"/>
                </a:highlight>
              </a:rPr>
              <a:t> </a:t>
            </a:r>
            <a:r>
              <a:rPr lang="en-US" sz="1600" b="1" dirty="0">
                <a:solidFill>
                  <a:srgbClr val="FF0000"/>
                </a:solidFill>
                <a:highlight>
                  <a:srgbClr val="FFFF00"/>
                </a:highlight>
              </a:rPr>
              <a:t>// Use the name of the bean</a:t>
            </a:r>
            <a:endParaRPr lang="en-US" b="1" dirty="0">
              <a:solidFill>
                <a:srgbClr val="FF0000"/>
              </a:solidFill>
              <a:highlight>
                <a:srgbClr val="FFFF00"/>
              </a:highlight>
            </a:endParaRPr>
          </a:p>
          <a:p>
            <a:r>
              <a:rPr lang="en-US" dirty="0"/>
              <a:t>        </a:t>
            </a:r>
            <a:r>
              <a:rPr lang="en-US" dirty="0" err="1"/>
              <a:t>this.HDD</a:t>
            </a:r>
            <a:r>
              <a:rPr lang="en-US" dirty="0"/>
              <a:t> = HDD;</a:t>
            </a:r>
          </a:p>
          <a:p>
            <a:r>
              <a:rPr lang="en-US" dirty="0"/>
              <a:t>    }</a:t>
            </a:r>
          </a:p>
          <a:p>
            <a:endParaRPr lang="en-US" dirty="0"/>
          </a:p>
          <a:p>
            <a:r>
              <a:rPr lang="en-US" dirty="0"/>
              <a:t>    public void </a:t>
            </a:r>
            <a:r>
              <a:rPr lang="en-US" dirty="0" err="1"/>
              <a:t>writeData</a:t>
            </a:r>
            <a:r>
              <a:rPr lang="en-US" dirty="0"/>
              <a:t>() {</a:t>
            </a:r>
          </a:p>
          <a:p>
            <a:r>
              <a:rPr lang="en-US" dirty="0"/>
              <a:t>        </a:t>
            </a:r>
            <a:r>
              <a:rPr lang="en-US" dirty="0" err="1"/>
              <a:t>HDD.saveData</a:t>
            </a:r>
            <a:r>
              <a:rPr lang="en-US" dirty="0"/>
              <a:t>();</a:t>
            </a:r>
          </a:p>
          <a:p>
            <a:r>
              <a:rPr lang="en-US" dirty="0"/>
              <a:t>    }</a:t>
            </a:r>
          </a:p>
          <a:p>
            <a:r>
              <a:rPr lang="en-US" dirty="0"/>
              <a:t>}</a:t>
            </a:r>
          </a:p>
          <a:p>
            <a:endParaRPr lang="en-US" dirty="0"/>
          </a:p>
        </p:txBody>
      </p:sp>
      <p:sp>
        <p:nvSpPr>
          <p:cNvPr id="5" name="TextBox 4">
            <a:extLst>
              <a:ext uri="{FF2B5EF4-FFF2-40B4-BE49-F238E27FC236}">
                <a16:creationId xmlns:a16="http://schemas.microsoft.com/office/drawing/2014/main" id="{D30D7D37-F99E-74D1-8D98-EE7422CF0934}"/>
              </a:ext>
            </a:extLst>
          </p:cNvPr>
          <p:cNvSpPr txBox="1"/>
          <p:nvPr/>
        </p:nvSpPr>
        <p:spPr>
          <a:xfrm>
            <a:off x="8347495" y="468702"/>
            <a:ext cx="3661003" cy="3151576"/>
          </a:xfrm>
          <a:prstGeom prst="rect">
            <a:avLst/>
          </a:prstGeom>
          <a:solidFill>
            <a:srgbClr val="FFFF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FF0000"/>
                </a:solidFill>
              </a:rPr>
              <a:t>@Qualifier("</a:t>
            </a:r>
            <a:r>
              <a:rPr lang="en-US" b="1" dirty="0" err="1">
                <a:solidFill>
                  <a:srgbClr val="FF0000"/>
                </a:solidFill>
              </a:rPr>
              <a:t>sanDisk</a:t>
            </a:r>
            <a:r>
              <a:rPr lang="en-US" b="1" dirty="0">
                <a:solidFill>
                  <a:srgbClr val="FF0000"/>
                </a:solidFill>
              </a:rPr>
              <a:t>")</a:t>
            </a:r>
            <a:r>
              <a:rPr lang="en-US" b="1" dirty="0"/>
              <a:t> specifies that the SanDisk implementation should be injected into the Laptop class. The name used in </a:t>
            </a:r>
            <a:r>
              <a:rPr lang="en-US" b="1" dirty="0">
                <a:solidFill>
                  <a:srgbClr val="FF0000"/>
                </a:solidFill>
              </a:rPr>
              <a:t>@Qualifier</a:t>
            </a:r>
            <a:r>
              <a:rPr lang="en-US" b="1" dirty="0"/>
              <a:t> corresponds to the bean name, which by default is the class name with the first letter in lowercase.</a:t>
            </a:r>
          </a:p>
        </p:txBody>
      </p:sp>
    </p:spTree>
    <p:extLst>
      <p:ext uri="{BB962C8B-B14F-4D97-AF65-F5344CB8AC3E}">
        <p14:creationId xmlns:p14="http://schemas.microsoft.com/office/powerpoint/2010/main" val="3912663965"/>
      </p:ext>
    </p:extLst>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2181F-2A1A-AFCE-828A-5487331BB43B}"/>
              </a:ext>
            </a:extLst>
          </p:cNvPr>
          <p:cNvSpPr>
            <a:spLocks noGrp="1"/>
          </p:cNvSpPr>
          <p:nvPr>
            <p:ph type="title"/>
          </p:nvPr>
        </p:nvSpPr>
        <p:spPr>
          <a:xfrm>
            <a:off x="838200" y="365125"/>
            <a:ext cx="10515600" cy="491677"/>
          </a:xfrm>
        </p:spPr>
        <p:txBody>
          <a:bodyPr>
            <a:normAutofit fontScale="90000"/>
          </a:bodyPr>
          <a:lstStyle/>
          <a:p>
            <a:r>
              <a:rPr lang="en-US" sz="3200">
                <a:ea typeface="+mj-lt"/>
                <a:cs typeface="+mj-lt"/>
              </a:rPr>
              <a:t>2. </a:t>
            </a:r>
            <a:r>
              <a:rPr lang="en-US" sz="3200" b="1">
                <a:ea typeface="+mj-lt"/>
                <a:cs typeface="+mj-lt"/>
              </a:rPr>
              <a:t>Set a Primary Bean Using </a:t>
            </a:r>
            <a:r>
              <a:rPr lang="en-US" sz="3200" b="1">
                <a:latin typeface="Consolas"/>
              </a:rPr>
              <a:t>@Primary</a:t>
            </a:r>
            <a:endParaRPr lang="en-US" sz="3200"/>
          </a:p>
        </p:txBody>
      </p:sp>
      <p:sp>
        <p:nvSpPr>
          <p:cNvPr id="3" name="Content Placeholder 2">
            <a:extLst>
              <a:ext uri="{FF2B5EF4-FFF2-40B4-BE49-F238E27FC236}">
                <a16:creationId xmlns:a16="http://schemas.microsoft.com/office/drawing/2014/main" id="{DF70FBFE-7FFC-D51D-C56A-548F4F2F59B7}"/>
              </a:ext>
            </a:extLst>
          </p:cNvPr>
          <p:cNvSpPr>
            <a:spLocks noGrp="1"/>
          </p:cNvSpPr>
          <p:nvPr>
            <p:ph idx="1"/>
          </p:nvPr>
        </p:nvSpPr>
        <p:spPr>
          <a:xfrm>
            <a:off x="531962" y="2117689"/>
            <a:ext cx="10961298" cy="3605345"/>
          </a:xfrm>
        </p:spPr>
        <p:txBody>
          <a:bodyPr vert="horz" lIns="91440" tIns="45720" rIns="91440" bIns="45720" rtlCol="0" anchor="t">
            <a:noAutofit/>
          </a:bodyPr>
          <a:lstStyle/>
          <a:p>
            <a:pPr>
              <a:buNone/>
            </a:pPr>
            <a:r>
              <a:rPr lang="en-US" sz="1800" dirty="0">
                <a:ea typeface="+mn-lt"/>
                <a:cs typeface="+mn-lt"/>
              </a:rPr>
              <a:t>package </a:t>
            </a:r>
            <a:r>
              <a:rPr lang="en-US" sz="1800" dirty="0" err="1">
                <a:ea typeface="+mn-lt"/>
                <a:cs typeface="+mn-lt"/>
              </a:rPr>
              <a:t>com.atuluttam.DependencyInjectionAnnotation</a:t>
            </a:r>
            <a:r>
              <a:rPr lang="en-US" sz="1800" dirty="0">
                <a:ea typeface="+mn-lt"/>
                <a:cs typeface="+mn-lt"/>
              </a:rPr>
              <a:t>;</a:t>
            </a:r>
            <a:endParaRPr lang="en-US" sz="1800" dirty="0"/>
          </a:p>
          <a:p>
            <a:pPr>
              <a:buNone/>
            </a:pPr>
            <a:r>
              <a:rPr lang="en-US" sz="1800" b="1" dirty="0" smtClean="0">
                <a:ea typeface="+mn-lt"/>
                <a:cs typeface="+mn-lt"/>
              </a:rPr>
              <a:t>@</a:t>
            </a:r>
            <a:r>
              <a:rPr lang="en-US" sz="1800" b="1" dirty="0">
                <a:ea typeface="+mn-lt"/>
                <a:cs typeface="+mn-lt"/>
              </a:rPr>
              <a:t>Component</a:t>
            </a:r>
            <a:endParaRPr lang="en-US" sz="1800" b="1" dirty="0"/>
          </a:p>
          <a:p>
            <a:pPr>
              <a:buNone/>
            </a:pPr>
            <a:r>
              <a:rPr lang="en-US" sz="1800" b="1" dirty="0">
                <a:ea typeface="+mn-lt"/>
                <a:cs typeface="+mn-lt"/>
              </a:rPr>
              <a:t>@Primary</a:t>
            </a:r>
            <a:endParaRPr lang="en-US" sz="1800" b="1" dirty="0"/>
          </a:p>
          <a:p>
            <a:pPr>
              <a:buNone/>
            </a:pPr>
            <a:r>
              <a:rPr lang="en-US" sz="1800" dirty="0">
                <a:ea typeface="+mn-lt"/>
                <a:cs typeface="+mn-lt"/>
              </a:rPr>
              <a:t>public class SanDisk implements </a:t>
            </a:r>
            <a:r>
              <a:rPr lang="en-US" sz="1800" dirty="0" err="1">
                <a:ea typeface="+mn-lt"/>
                <a:cs typeface="+mn-lt"/>
              </a:rPr>
              <a:t>HardDisk</a:t>
            </a:r>
            <a:r>
              <a:rPr lang="en-US" sz="1800" dirty="0">
                <a:ea typeface="+mn-lt"/>
                <a:cs typeface="+mn-lt"/>
              </a:rPr>
              <a:t> {</a:t>
            </a:r>
            <a:endParaRPr lang="en-US" sz="1800" dirty="0"/>
          </a:p>
          <a:p>
            <a:pPr>
              <a:buNone/>
            </a:pPr>
            <a:r>
              <a:rPr lang="en-US" sz="1800" dirty="0">
                <a:ea typeface="+mn-lt"/>
                <a:cs typeface="+mn-lt"/>
              </a:rPr>
              <a:t>    </a:t>
            </a:r>
            <a:r>
              <a:rPr lang="en-US" sz="1800" b="1" dirty="0">
                <a:ea typeface="+mn-lt"/>
                <a:cs typeface="+mn-lt"/>
              </a:rPr>
              <a:t>@Override</a:t>
            </a:r>
            <a:endParaRPr lang="en-US" sz="1800" b="1" dirty="0"/>
          </a:p>
          <a:p>
            <a:pPr>
              <a:buNone/>
            </a:pPr>
            <a:r>
              <a:rPr lang="en-US" sz="1800" dirty="0">
                <a:ea typeface="+mn-lt"/>
                <a:cs typeface="+mn-lt"/>
              </a:rPr>
              <a:t>    public void </a:t>
            </a:r>
            <a:r>
              <a:rPr lang="en-US" sz="1800" dirty="0" err="1">
                <a:ea typeface="+mn-lt"/>
                <a:cs typeface="+mn-lt"/>
              </a:rPr>
              <a:t>saveData</a:t>
            </a:r>
            <a:r>
              <a:rPr lang="en-US" sz="1800" dirty="0">
                <a:ea typeface="+mn-lt"/>
                <a:cs typeface="+mn-lt"/>
              </a:rPr>
              <a:t>() {</a:t>
            </a:r>
            <a:endParaRPr lang="en-US" sz="1800" dirty="0"/>
          </a:p>
          <a:p>
            <a:pPr>
              <a:buNone/>
            </a:pPr>
            <a:r>
              <a:rPr lang="en-US" sz="1800" dirty="0">
                <a:ea typeface="+mn-lt"/>
                <a:cs typeface="+mn-lt"/>
              </a:rPr>
              <a:t>        </a:t>
            </a:r>
            <a:r>
              <a:rPr lang="en-US" sz="1800" dirty="0" err="1">
                <a:ea typeface="+mn-lt"/>
                <a:cs typeface="+mn-lt"/>
              </a:rPr>
              <a:t>System.out.println</a:t>
            </a:r>
            <a:r>
              <a:rPr lang="en-US" sz="1800" dirty="0">
                <a:ea typeface="+mn-lt"/>
                <a:cs typeface="+mn-lt"/>
              </a:rPr>
              <a:t>("Your Data is Saved!! in SanDisk");</a:t>
            </a:r>
            <a:endParaRPr lang="en-US" sz="1800" dirty="0"/>
          </a:p>
          <a:p>
            <a:pPr>
              <a:buNone/>
            </a:pPr>
            <a:r>
              <a:rPr lang="en-US" sz="1800" dirty="0">
                <a:ea typeface="+mn-lt"/>
                <a:cs typeface="+mn-lt"/>
              </a:rPr>
              <a:t>    }</a:t>
            </a:r>
            <a:endParaRPr lang="en-US" sz="1800" dirty="0"/>
          </a:p>
          <a:p>
            <a:pPr>
              <a:buNone/>
            </a:pPr>
            <a:r>
              <a:rPr lang="en-US" sz="1800" dirty="0" smtClean="0"/>
              <a:t>}</a:t>
            </a:r>
          </a:p>
          <a:p>
            <a:pPr>
              <a:buNone/>
            </a:pPr>
            <a:endParaRPr lang="en-US" sz="1800" dirty="0"/>
          </a:p>
        </p:txBody>
      </p:sp>
      <p:sp>
        <p:nvSpPr>
          <p:cNvPr id="4" name="TextBox 3">
            <a:extLst>
              <a:ext uri="{FF2B5EF4-FFF2-40B4-BE49-F238E27FC236}">
                <a16:creationId xmlns:a16="http://schemas.microsoft.com/office/drawing/2014/main" id="{3072EAE2-EFCE-B372-D4EB-59A66DFB010E}"/>
              </a:ext>
            </a:extLst>
          </p:cNvPr>
          <p:cNvSpPr txBox="1"/>
          <p:nvPr/>
        </p:nvSpPr>
        <p:spPr>
          <a:xfrm>
            <a:off x="8001087" y="887081"/>
            <a:ext cx="4063393" cy="1200329"/>
          </a:xfrm>
          <a:prstGeom prst="rect">
            <a:avLst/>
          </a:prstGeom>
          <a:solidFill>
            <a:srgbClr val="FFFF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@Primary</a:t>
            </a:r>
            <a:r>
              <a:rPr lang="en-US" dirty="0"/>
              <a:t> annotation. This tells Spring to inject this bean by default if no other specific bean is specified.</a:t>
            </a:r>
          </a:p>
        </p:txBody>
      </p:sp>
      <p:sp>
        <p:nvSpPr>
          <p:cNvPr id="5" name="Rectangle 4">
            <a:extLst>
              <a:ext uri="{FF2B5EF4-FFF2-40B4-BE49-F238E27FC236}">
                <a16:creationId xmlns:a16="http://schemas.microsoft.com/office/drawing/2014/main" id="{4E72424F-C15D-83B6-6DB9-D360A9BC728B}"/>
              </a:ext>
            </a:extLst>
          </p:cNvPr>
          <p:cNvSpPr/>
          <p:nvPr/>
        </p:nvSpPr>
        <p:spPr>
          <a:xfrm>
            <a:off x="2388636" y="5523722"/>
            <a:ext cx="9402411" cy="10950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But what if both </a:t>
            </a:r>
            <a:r>
              <a:rPr lang="en-US" sz="2400" b="1" dirty="0"/>
              <a:t>@Qualifier("</a:t>
            </a:r>
            <a:r>
              <a:rPr lang="en-US" sz="2400" b="1" dirty="0" err="1"/>
              <a:t>samsung</a:t>
            </a:r>
            <a:r>
              <a:rPr lang="en-US" sz="2400" b="1" dirty="0"/>
              <a:t>")</a:t>
            </a:r>
            <a:r>
              <a:rPr lang="en-US" sz="2400" dirty="0"/>
              <a:t> and </a:t>
            </a:r>
            <a:r>
              <a:rPr lang="en-US" sz="2400" b="1" dirty="0"/>
              <a:t>@Primary  </a:t>
            </a:r>
            <a:r>
              <a:rPr lang="en-US" sz="2400" dirty="0"/>
              <a:t>at </a:t>
            </a:r>
            <a:r>
              <a:rPr lang="en-US" sz="2400" dirty="0" err="1"/>
              <a:t>Sandisk</a:t>
            </a:r>
            <a:r>
              <a:rPr lang="en-US" sz="2400" dirty="0"/>
              <a:t> Class, then which one will be preferred........?????  </a:t>
            </a:r>
          </a:p>
        </p:txBody>
      </p:sp>
    </p:spTree>
    <p:extLst>
      <p:ext uri="{BB962C8B-B14F-4D97-AF65-F5344CB8AC3E}">
        <p14:creationId xmlns:p14="http://schemas.microsoft.com/office/powerpoint/2010/main" val="2948599674"/>
      </p:ext>
    </p:extLst>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2181F-2A1A-AFCE-828A-5487331BB43B}"/>
              </a:ext>
            </a:extLst>
          </p:cNvPr>
          <p:cNvSpPr>
            <a:spLocks noGrp="1"/>
          </p:cNvSpPr>
          <p:nvPr>
            <p:ph type="title"/>
          </p:nvPr>
        </p:nvSpPr>
        <p:spPr>
          <a:xfrm>
            <a:off x="838200" y="365125"/>
            <a:ext cx="10515600" cy="491677"/>
          </a:xfrm>
        </p:spPr>
        <p:txBody>
          <a:bodyPr>
            <a:normAutofit fontScale="90000"/>
          </a:bodyPr>
          <a:lstStyle/>
          <a:p>
            <a:r>
              <a:rPr lang="en-US" sz="3200">
                <a:ea typeface="+mj-lt"/>
                <a:cs typeface="+mj-lt"/>
              </a:rPr>
              <a:t>2. </a:t>
            </a:r>
            <a:r>
              <a:rPr lang="en-US" sz="3200" b="1">
                <a:ea typeface="+mj-lt"/>
                <a:cs typeface="+mj-lt"/>
              </a:rPr>
              <a:t>Set a Primary Bean Using </a:t>
            </a:r>
            <a:r>
              <a:rPr lang="en-US" sz="3200" b="1">
                <a:latin typeface="Consolas"/>
              </a:rPr>
              <a:t>@Primary</a:t>
            </a:r>
            <a:endParaRPr lang="en-US" sz="3200"/>
          </a:p>
        </p:txBody>
      </p:sp>
      <p:sp>
        <p:nvSpPr>
          <p:cNvPr id="6" name="Rectangle 5">
            <a:extLst>
              <a:ext uri="{FF2B5EF4-FFF2-40B4-BE49-F238E27FC236}">
                <a16:creationId xmlns:a16="http://schemas.microsoft.com/office/drawing/2014/main" id="{FC883BB8-A4C2-074B-7F9D-5B75B4400D60}"/>
              </a:ext>
            </a:extLst>
          </p:cNvPr>
          <p:cNvSpPr/>
          <p:nvPr/>
        </p:nvSpPr>
        <p:spPr>
          <a:xfrm>
            <a:off x="1786961" y="2990178"/>
            <a:ext cx="6591930" cy="9287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dirty="0">
                <a:solidFill>
                  <a:srgbClr val="FF0000"/>
                </a:solidFill>
              </a:rPr>
              <a:t>@Qualifier </a:t>
            </a:r>
            <a:r>
              <a:rPr lang="en-US" sz="3200" dirty="0"/>
              <a:t>will be preferred</a:t>
            </a:r>
          </a:p>
        </p:txBody>
      </p:sp>
    </p:spTree>
    <p:extLst>
      <p:ext uri="{BB962C8B-B14F-4D97-AF65-F5344CB8AC3E}">
        <p14:creationId xmlns:p14="http://schemas.microsoft.com/office/powerpoint/2010/main" val="2815292499"/>
      </p:ext>
    </p:extLst>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3635D-C1C3-DF41-49D6-7C07CCF11C37}"/>
              </a:ext>
            </a:extLst>
          </p:cNvPr>
          <p:cNvSpPr>
            <a:spLocks noGrp="1"/>
          </p:cNvSpPr>
          <p:nvPr>
            <p:ph type="title"/>
          </p:nvPr>
        </p:nvSpPr>
        <p:spPr>
          <a:xfrm>
            <a:off x="838200" y="365125"/>
            <a:ext cx="10515600" cy="434167"/>
          </a:xfrm>
        </p:spPr>
        <p:txBody>
          <a:bodyPr>
            <a:normAutofit fontScale="90000"/>
          </a:bodyPr>
          <a:lstStyle/>
          <a:p>
            <a:r>
              <a:rPr lang="en-US" sz="2800">
                <a:ea typeface="+mj-lt"/>
                <a:cs typeface="+mj-lt"/>
              </a:rPr>
              <a:t>3. </a:t>
            </a:r>
            <a:r>
              <a:rPr lang="en-US" sz="2800" b="1">
                <a:ea typeface="+mj-lt"/>
                <a:cs typeface="+mj-lt"/>
              </a:rPr>
              <a:t>Use Constructor Injection with Explicit Beans</a:t>
            </a:r>
            <a:endParaRPr lang="en-US" sz="2800"/>
          </a:p>
        </p:txBody>
      </p:sp>
      <p:sp>
        <p:nvSpPr>
          <p:cNvPr id="3" name="Content Placeholder 2">
            <a:extLst>
              <a:ext uri="{FF2B5EF4-FFF2-40B4-BE49-F238E27FC236}">
                <a16:creationId xmlns:a16="http://schemas.microsoft.com/office/drawing/2014/main" id="{DDEA734D-4A08-D4E9-3ED3-8669C9A823C1}"/>
              </a:ext>
            </a:extLst>
          </p:cNvPr>
          <p:cNvSpPr>
            <a:spLocks noGrp="1"/>
          </p:cNvSpPr>
          <p:nvPr>
            <p:ph idx="1"/>
          </p:nvPr>
        </p:nvSpPr>
        <p:spPr>
          <a:xfrm>
            <a:off x="277484" y="891097"/>
            <a:ext cx="11752051" cy="5285866"/>
          </a:xfrm>
        </p:spPr>
        <p:txBody>
          <a:bodyPr vert="horz" lIns="91440" tIns="45720" rIns="91440" bIns="45720" rtlCol="0" anchor="t">
            <a:normAutofit/>
          </a:bodyPr>
          <a:lstStyle/>
          <a:p>
            <a:r>
              <a:rPr lang="en-US" sz="2000" dirty="0">
                <a:ea typeface="+mn-lt"/>
                <a:cs typeface="+mn-lt"/>
              </a:rPr>
              <a:t>You can also specify the exact bean to be injected by defining the beans explicitly in a configuration class:</a:t>
            </a:r>
            <a:endParaRPr lang="en-US" sz="2000" dirty="0"/>
          </a:p>
        </p:txBody>
      </p:sp>
      <p:sp>
        <p:nvSpPr>
          <p:cNvPr id="4" name="TextBox 3">
            <a:extLst>
              <a:ext uri="{FF2B5EF4-FFF2-40B4-BE49-F238E27FC236}">
                <a16:creationId xmlns:a16="http://schemas.microsoft.com/office/drawing/2014/main" id="{FAB57DFA-C9FF-FDC9-8470-23FC4A8D7C02}"/>
              </a:ext>
            </a:extLst>
          </p:cNvPr>
          <p:cNvSpPr txBox="1"/>
          <p:nvPr/>
        </p:nvSpPr>
        <p:spPr>
          <a:xfrm>
            <a:off x="659921" y="1929646"/>
            <a:ext cx="5274348"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smtClean="0"/>
              <a:t>@</a:t>
            </a:r>
            <a:r>
              <a:rPr lang="en-US" b="1" dirty="0"/>
              <a:t>Configuration</a:t>
            </a:r>
          </a:p>
          <a:p>
            <a:r>
              <a:rPr lang="en-US" dirty="0"/>
              <a:t>public class </a:t>
            </a:r>
            <a:r>
              <a:rPr lang="en-US" b="1" dirty="0" err="1"/>
              <a:t>HardDiskConfig</a:t>
            </a:r>
            <a:r>
              <a:rPr lang="en-US" dirty="0"/>
              <a:t> </a:t>
            </a:r>
            <a:endParaRPr lang="en-US" dirty="0" smtClean="0"/>
          </a:p>
          <a:p>
            <a:r>
              <a:rPr lang="en-US" dirty="0" smtClean="0"/>
              <a:t>{</a:t>
            </a:r>
            <a:endParaRPr lang="en-US" dirty="0"/>
          </a:p>
          <a:p>
            <a:endParaRPr lang="en-US" dirty="0"/>
          </a:p>
          <a:p>
            <a:r>
              <a:rPr lang="en-US" dirty="0"/>
              <a:t>    </a:t>
            </a:r>
            <a:r>
              <a:rPr lang="en-US" b="1" dirty="0"/>
              <a:t>@Bean</a:t>
            </a:r>
          </a:p>
          <a:p>
            <a:r>
              <a:rPr lang="en-US" dirty="0"/>
              <a:t>    public </a:t>
            </a:r>
            <a:r>
              <a:rPr lang="en-US" dirty="0" err="1"/>
              <a:t>HardDisk</a:t>
            </a:r>
            <a:r>
              <a:rPr lang="en-US" dirty="0"/>
              <a:t>  </a:t>
            </a:r>
            <a:r>
              <a:rPr lang="en-US" b="1" dirty="0" err="1"/>
              <a:t>sanDisk</a:t>
            </a:r>
            <a:r>
              <a:rPr lang="en-US" b="1" dirty="0"/>
              <a:t>()</a:t>
            </a:r>
            <a:r>
              <a:rPr lang="en-US" dirty="0"/>
              <a:t> </a:t>
            </a:r>
            <a:endParaRPr lang="en-US" dirty="0" smtClean="0"/>
          </a:p>
          <a:p>
            <a:r>
              <a:rPr lang="en-US" dirty="0"/>
              <a:t> </a:t>
            </a:r>
            <a:r>
              <a:rPr lang="en-US" dirty="0" smtClean="0"/>
              <a:t>   {</a:t>
            </a:r>
            <a:endParaRPr lang="en-US" dirty="0"/>
          </a:p>
          <a:p>
            <a:r>
              <a:rPr lang="en-US" dirty="0"/>
              <a:t>        return </a:t>
            </a:r>
            <a:r>
              <a:rPr lang="en-US" b="1" dirty="0"/>
              <a:t>new SanDisk()</a:t>
            </a:r>
            <a:r>
              <a:rPr lang="en-US" dirty="0"/>
              <a:t>;</a:t>
            </a:r>
          </a:p>
          <a:p>
            <a:r>
              <a:rPr lang="en-US" dirty="0"/>
              <a:t>    }</a:t>
            </a:r>
          </a:p>
          <a:p>
            <a:endParaRPr lang="en-US" dirty="0"/>
          </a:p>
          <a:p>
            <a:r>
              <a:rPr lang="en-US" dirty="0"/>
              <a:t>   </a:t>
            </a:r>
            <a:r>
              <a:rPr lang="en-US" b="1" dirty="0"/>
              <a:t> @Bean</a:t>
            </a:r>
          </a:p>
          <a:p>
            <a:r>
              <a:rPr lang="en-US" dirty="0"/>
              <a:t>    public </a:t>
            </a:r>
            <a:r>
              <a:rPr lang="en-US" dirty="0" err="1"/>
              <a:t>HardDisk</a:t>
            </a:r>
            <a:r>
              <a:rPr lang="en-US" dirty="0"/>
              <a:t>  </a:t>
            </a:r>
            <a:r>
              <a:rPr lang="en-US" b="1" dirty="0" err="1"/>
              <a:t>samsung</a:t>
            </a:r>
            <a:r>
              <a:rPr lang="en-US" b="1" dirty="0"/>
              <a:t>()</a:t>
            </a:r>
            <a:r>
              <a:rPr lang="en-US" dirty="0"/>
              <a:t> </a:t>
            </a:r>
            <a:endParaRPr lang="en-US" dirty="0" smtClean="0"/>
          </a:p>
          <a:p>
            <a:r>
              <a:rPr lang="en-US" dirty="0"/>
              <a:t> </a:t>
            </a:r>
            <a:r>
              <a:rPr lang="en-US" dirty="0" smtClean="0"/>
              <a:t>   {</a:t>
            </a:r>
            <a:endParaRPr lang="en-US" dirty="0"/>
          </a:p>
          <a:p>
            <a:r>
              <a:rPr lang="en-US" dirty="0"/>
              <a:t>        return </a:t>
            </a:r>
            <a:r>
              <a:rPr lang="en-US" b="1" dirty="0"/>
              <a:t>new Samsung();</a:t>
            </a:r>
          </a:p>
          <a:p>
            <a:r>
              <a:rPr lang="en-US" dirty="0"/>
              <a:t>    }</a:t>
            </a:r>
          </a:p>
          <a:p>
            <a:r>
              <a:rPr lang="en-US" dirty="0"/>
              <a:t>}</a:t>
            </a:r>
          </a:p>
          <a:p>
            <a:endParaRPr lang="en-US" dirty="0"/>
          </a:p>
        </p:txBody>
      </p:sp>
      <p:sp>
        <p:nvSpPr>
          <p:cNvPr id="5" name="TextBox 4">
            <a:extLst>
              <a:ext uri="{FF2B5EF4-FFF2-40B4-BE49-F238E27FC236}">
                <a16:creationId xmlns:a16="http://schemas.microsoft.com/office/drawing/2014/main" id="{6213CB1F-BBBB-5EFD-7A22-21706FFAF8A0}"/>
              </a:ext>
            </a:extLst>
          </p:cNvPr>
          <p:cNvSpPr txBox="1"/>
          <p:nvPr/>
        </p:nvSpPr>
        <p:spPr>
          <a:xfrm>
            <a:off x="6820678" y="2878113"/>
            <a:ext cx="5103903" cy="923330"/>
          </a:xfrm>
          <a:prstGeom prst="rect">
            <a:avLst/>
          </a:prstGeom>
          <a:solidFill>
            <a:srgbClr val="FFFF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Explicit Beans</a:t>
            </a:r>
            <a:r>
              <a:rPr lang="en-US" dirty="0"/>
              <a:t>: Define beans in a configuration class and inject them explicitly using @Qualifier.</a:t>
            </a:r>
          </a:p>
        </p:txBody>
      </p:sp>
      <p:sp>
        <p:nvSpPr>
          <p:cNvPr id="6" name="TextBox 5">
            <a:extLst>
              <a:ext uri="{FF2B5EF4-FFF2-40B4-BE49-F238E27FC236}">
                <a16:creationId xmlns:a16="http://schemas.microsoft.com/office/drawing/2014/main" id="{3CAF7F83-ED12-B01E-F9FA-5235DE346DAC}"/>
              </a:ext>
            </a:extLst>
          </p:cNvPr>
          <p:cNvSpPr txBox="1"/>
          <p:nvPr/>
        </p:nvSpPr>
        <p:spPr>
          <a:xfrm>
            <a:off x="6377797" y="4019707"/>
            <a:ext cx="5546784"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highlight>
                  <a:srgbClr val="FFFF00"/>
                </a:highlight>
                <a:latin typeface="SFMono-Regular"/>
              </a:rPr>
              <a:t>@Bean</a:t>
            </a:r>
            <a:r>
              <a:rPr lang="en-US" sz="2000" dirty="0">
                <a:solidFill>
                  <a:srgbClr val="24292E"/>
                </a:solidFill>
                <a:highlight>
                  <a:srgbClr val="FFFF00"/>
                </a:highlight>
                <a:latin typeface="SFMono-Regular"/>
              </a:rPr>
              <a:t> </a:t>
            </a:r>
          </a:p>
          <a:p>
            <a:r>
              <a:rPr lang="en-US" sz="2000" b="1" dirty="0">
                <a:highlight>
                  <a:srgbClr val="FFFF00"/>
                </a:highlight>
                <a:latin typeface="SFMono-Regular"/>
              </a:rPr>
              <a:t>@Scope</a:t>
            </a:r>
            <a:r>
              <a:rPr lang="en-US" sz="2000" b="1" dirty="0">
                <a:solidFill>
                  <a:srgbClr val="24292E"/>
                </a:solidFill>
                <a:highlight>
                  <a:srgbClr val="FFFF00"/>
                </a:highlight>
                <a:latin typeface="SFMono-Regular"/>
              </a:rPr>
              <a:t>(</a:t>
            </a:r>
            <a:r>
              <a:rPr lang="en-US" sz="2000" b="1" dirty="0">
                <a:highlight>
                  <a:srgbClr val="FFFF00"/>
                </a:highlight>
                <a:latin typeface="SFMono-Regular"/>
              </a:rPr>
              <a:t>"prototype"</a:t>
            </a:r>
            <a:r>
              <a:rPr lang="en-US" sz="2000" b="1" dirty="0">
                <a:solidFill>
                  <a:srgbClr val="24292E"/>
                </a:solidFill>
                <a:highlight>
                  <a:srgbClr val="FFFF00"/>
                </a:highlight>
                <a:latin typeface="SFMono-Regular"/>
              </a:rPr>
              <a:t>)</a:t>
            </a:r>
          </a:p>
          <a:p>
            <a:endParaRPr lang="en-US" sz="2000" b="1" dirty="0">
              <a:solidFill>
                <a:srgbClr val="24292E"/>
              </a:solidFill>
              <a:highlight>
                <a:srgbClr val="FFFF00"/>
              </a:highlight>
              <a:latin typeface="SFMono-Regular"/>
            </a:endParaRPr>
          </a:p>
          <a:p>
            <a:endParaRPr lang="en-US" sz="2000" dirty="0">
              <a:solidFill>
                <a:srgbClr val="24292E"/>
              </a:solidFill>
              <a:highlight>
                <a:srgbClr val="FFFF00"/>
              </a:highlight>
              <a:latin typeface="SFMono-Regular"/>
            </a:endParaRPr>
          </a:p>
          <a:p>
            <a:r>
              <a:rPr lang="en-US" sz="2000" dirty="0">
                <a:solidFill>
                  <a:srgbClr val="191E1E"/>
                </a:solidFill>
                <a:highlight>
                  <a:srgbClr val="FFFF00"/>
                </a:highlight>
                <a:ea typeface="+mn-lt"/>
                <a:cs typeface="+mn-lt"/>
              </a:rPr>
              <a:t>The default scope is </a:t>
            </a:r>
            <a:r>
              <a:rPr lang="en-US" sz="2000" dirty="0">
                <a:solidFill>
                  <a:srgbClr val="191E1E"/>
                </a:solidFill>
                <a:highlight>
                  <a:srgbClr val="FFFF00"/>
                </a:highlight>
                <a:latin typeface="Consolas"/>
              </a:rPr>
              <a:t>singleton</a:t>
            </a:r>
            <a:r>
              <a:rPr lang="en-US" sz="2000" dirty="0">
                <a:solidFill>
                  <a:srgbClr val="191E1E"/>
                </a:solidFill>
                <a:highlight>
                  <a:srgbClr val="FFFF00"/>
                </a:highlight>
                <a:ea typeface="+mn-lt"/>
                <a:cs typeface="+mn-lt"/>
              </a:rPr>
              <a:t>, but you can override this with the </a:t>
            </a:r>
            <a:r>
              <a:rPr lang="en-US" sz="2000" b="1" dirty="0">
                <a:solidFill>
                  <a:srgbClr val="191E1E"/>
                </a:solidFill>
                <a:highlight>
                  <a:srgbClr val="FFFF00"/>
                </a:highlight>
                <a:latin typeface="Consolas"/>
              </a:rPr>
              <a:t>@Scope</a:t>
            </a:r>
            <a:r>
              <a:rPr lang="en-US" sz="2000" dirty="0">
                <a:solidFill>
                  <a:srgbClr val="191E1E"/>
                </a:solidFill>
                <a:highlight>
                  <a:srgbClr val="FFFF00"/>
                </a:highlight>
                <a:ea typeface="+mn-lt"/>
                <a:cs typeface="+mn-lt"/>
              </a:rPr>
              <a:t> annotation</a:t>
            </a:r>
            <a:endParaRPr lang="en-US" sz="2000" dirty="0">
              <a:highlight>
                <a:srgbClr val="FFFF00"/>
              </a:highlight>
            </a:endParaRPr>
          </a:p>
        </p:txBody>
      </p:sp>
    </p:spTree>
    <p:extLst>
      <p:ext uri="{BB962C8B-B14F-4D97-AF65-F5344CB8AC3E}">
        <p14:creationId xmlns:p14="http://schemas.microsoft.com/office/powerpoint/2010/main" val="1553431357"/>
      </p:ext>
    </p:extLst>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21BD7F8-FCE5-176B-66E1-CFD7CC111856}"/>
              </a:ext>
            </a:extLst>
          </p:cNvPr>
          <p:cNvSpPr txBox="1"/>
          <p:nvPr/>
        </p:nvSpPr>
        <p:spPr>
          <a:xfrm>
            <a:off x="614649" y="828605"/>
            <a:ext cx="8827932"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dirty="0" smtClean="0"/>
          </a:p>
          <a:p>
            <a:r>
              <a:rPr lang="en-US" b="1" dirty="0" smtClean="0"/>
              <a:t>@</a:t>
            </a:r>
            <a:r>
              <a:rPr lang="en-US" b="1" dirty="0"/>
              <a:t>Component</a:t>
            </a:r>
          </a:p>
          <a:p>
            <a:r>
              <a:rPr lang="en-US" dirty="0"/>
              <a:t>public class </a:t>
            </a:r>
            <a:r>
              <a:rPr lang="en-US" b="1" dirty="0"/>
              <a:t>Laptop</a:t>
            </a:r>
            <a:r>
              <a:rPr lang="en-US" dirty="0"/>
              <a:t> {</a:t>
            </a:r>
          </a:p>
          <a:p>
            <a:endParaRPr lang="en-US" dirty="0"/>
          </a:p>
          <a:p>
            <a:r>
              <a:rPr lang="en-US" dirty="0"/>
              <a:t>    private final </a:t>
            </a:r>
            <a:r>
              <a:rPr lang="en-US" b="1" dirty="0" err="1"/>
              <a:t>HardDisk</a:t>
            </a:r>
            <a:r>
              <a:rPr lang="en-US" dirty="0"/>
              <a:t>   </a:t>
            </a:r>
            <a:r>
              <a:rPr lang="en-US" b="1" dirty="0"/>
              <a:t>HDD</a:t>
            </a:r>
            <a:r>
              <a:rPr lang="en-US" dirty="0"/>
              <a:t>;</a:t>
            </a:r>
          </a:p>
          <a:p>
            <a:endParaRPr lang="en-US" dirty="0"/>
          </a:p>
          <a:p>
            <a:r>
              <a:rPr lang="en-US" b="1" dirty="0"/>
              <a:t>    </a:t>
            </a:r>
            <a:r>
              <a:rPr lang="en-US" b="1" dirty="0">
                <a:highlight>
                  <a:srgbClr val="FFFF00"/>
                </a:highlight>
              </a:rPr>
              <a:t>@</a:t>
            </a:r>
            <a:r>
              <a:rPr lang="en-US" b="1" dirty="0" err="1">
                <a:highlight>
                  <a:srgbClr val="FFFF00"/>
                </a:highlight>
              </a:rPr>
              <a:t>Autowired</a:t>
            </a:r>
            <a:endParaRPr lang="en-US" b="1" dirty="0">
              <a:highlight>
                <a:srgbClr val="FFFF00"/>
              </a:highlight>
            </a:endParaRPr>
          </a:p>
          <a:p>
            <a:r>
              <a:rPr lang="en-US" dirty="0">
                <a:highlight>
                  <a:srgbClr val="FFFF00"/>
                </a:highlight>
              </a:rPr>
              <a:t>    public Laptop(</a:t>
            </a:r>
            <a:r>
              <a:rPr lang="en-US" b="1" dirty="0">
                <a:highlight>
                  <a:srgbClr val="FFFF00"/>
                </a:highlight>
              </a:rPr>
              <a:t>@Qualifier("</a:t>
            </a:r>
            <a:r>
              <a:rPr lang="en-US" b="1" dirty="0" err="1">
                <a:highlight>
                  <a:srgbClr val="FFFF00"/>
                </a:highlight>
              </a:rPr>
              <a:t>samsung</a:t>
            </a:r>
            <a:r>
              <a:rPr lang="en-US" b="1" dirty="0">
                <a:highlight>
                  <a:srgbClr val="FFFF00"/>
                </a:highlight>
              </a:rPr>
              <a:t>")</a:t>
            </a:r>
            <a:r>
              <a:rPr lang="en-US" dirty="0">
                <a:highlight>
                  <a:srgbClr val="FFFF00"/>
                </a:highlight>
              </a:rPr>
              <a:t> </a:t>
            </a:r>
            <a:r>
              <a:rPr lang="en-US" dirty="0" err="1">
                <a:highlight>
                  <a:srgbClr val="FFFF00"/>
                </a:highlight>
              </a:rPr>
              <a:t>HardDisk</a:t>
            </a:r>
            <a:r>
              <a:rPr lang="en-US" dirty="0">
                <a:highlight>
                  <a:srgbClr val="FFFF00"/>
                </a:highlight>
              </a:rPr>
              <a:t> HDD)  </a:t>
            </a:r>
            <a:endParaRPr lang="en-US" dirty="0" smtClean="0">
              <a:highlight>
                <a:srgbClr val="FFFF00"/>
              </a:highlight>
            </a:endParaRPr>
          </a:p>
          <a:p>
            <a:r>
              <a:rPr lang="en-US" dirty="0" smtClean="0">
                <a:highlight>
                  <a:srgbClr val="FFFF00"/>
                </a:highlight>
              </a:rPr>
              <a:t>   {</a:t>
            </a:r>
            <a:r>
              <a:rPr lang="en-US" dirty="0">
                <a:highlight>
                  <a:srgbClr val="FFFF00"/>
                </a:highlight>
              </a:rPr>
              <a:t>         </a:t>
            </a:r>
            <a:endParaRPr lang="en-US" dirty="0"/>
          </a:p>
          <a:p>
            <a:r>
              <a:rPr lang="en-US" dirty="0">
                <a:highlight>
                  <a:srgbClr val="FFFF00"/>
                </a:highlight>
              </a:rPr>
              <a:t>        </a:t>
            </a:r>
            <a:r>
              <a:rPr lang="en-US" dirty="0" err="1">
                <a:highlight>
                  <a:srgbClr val="FFFF00"/>
                </a:highlight>
              </a:rPr>
              <a:t>this.HDD</a:t>
            </a:r>
            <a:r>
              <a:rPr lang="en-US" dirty="0">
                <a:highlight>
                  <a:srgbClr val="FFFF00"/>
                </a:highlight>
              </a:rPr>
              <a:t> = HDD;</a:t>
            </a:r>
          </a:p>
          <a:p>
            <a:r>
              <a:rPr lang="en-US" dirty="0">
                <a:highlight>
                  <a:srgbClr val="FFFF00"/>
                </a:highlight>
              </a:rPr>
              <a:t>    }</a:t>
            </a:r>
          </a:p>
          <a:p>
            <a:endParaRPr lang="en-US" dirty="0">
              <a:highlight>
                <a:srgbClr val="FFFF00"/>
              </a:highlight>
            </a:endParaRPr>
          </a:p>
          <a:p>
            <a:r>
              <a:rPr lang="en-US" dirty="0"/>
              <a:t>    public void </a:t>
            </a:r>
            <a:r>
              <a:rPr lang="en-US" dirty="0" err="1"/>
              <a:t>writeData</a:t>
            </a:r>
            <a:r>
              <a:rPr lang="en-US" dirty="0"/>
              <a:t>() {</a:t>
            </a:r>
          </a:p>
          <a:p>
            <a:r>
              <a:rPr lang="en-US" dirty="0"/>
              <a:t>        </a:t>
            </a:r>
            <a:r>
              <a:rPr lang="en-US" dirty="0" err="1"/>
              <a:t>HDD.saveData</a:t>
            </a:r>
            <a:r>
              <a:rPr lang="en-US" dirty="0"/>
              <a:t>();</a:t>
            </a:r>
          </a:p>
          <a:p>
            <a:r>
              <a:rPr lang="en-US" dirty="0"/>
              <a:t>    }</a:t>
            </a:r>
          </a:p>
          <a:p>
            <a:r>
              <a:rPr lang="en-US" dirty="0"/>
              <a:t>}</a:t>
            </a:r>
          </a:p>
          <a:p>
            <a:endParaRPr lang="en-US" dirty="0"/>
          </a:p>
        </p:txBody>
      </p:sp>
      <p:sp>
        <p:nvSpPr>
          <p:cNvPr id="2" name="Rectangle 1"/>
          <p:cNvSpPr/>
          <p:nvPr/>
        </p:nvSpPr>
        <p:spPr>
          <a:xfrm>
            <a:off x="8917413" y="1312897"/>
            <a:ext cx="2335305" cy="923330"/>
          </a:xfrm>
          <a:prstGeom prst="rect">
            <a:avLst/>
          </a:prstGeom>
          <a:solidFill>
            <a:srgbClr val="FFC000"/>
          </a:solidFill>
        </p:spPr>
        <p:txBody>
          <a:bodyPr wrap="square">
            <a:spAutoFit/>
          </a:bodyPr>
          <a:lstStyle/>
          <a:p>
            <a:r>
              <a:rPr lang="en-US" b="1" dirty="0">
                <a:highlight>
                  <a:srgbClr val="FFFF00"/>
                </a:highlight>
                <a:ea typeface="+mn-lt"/>
                <a:cs typeface="+mn-lt"/>
              </a:rPr>
              <a:t>// Use the name of the bean explicitly</a:t>
            </a:r>
          </a:p>
        </p:txBody>
      </p:sp>
    </p:spTree>
    <p:extLst>
      <p:ext uri="{BB962C8B-B14F-4D97-AF65-F5344CB8AC3E}">
        <p14:creationId xmlns:p14="http://schemas.microsoft.com/office/powerpoint/2010/main" val="1889161200"/>
      </p:ext>
    </p:extLst>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5B049D8-4907-EBD0-AB8E-EC410942E5C1}"/>
              </a:ext>
            </a:extLst>
          </p:cNvPr>
          <p:cNvPicPr>
            <a:picLocks noChangeAspect="1"/>
          </p:cNvPicPr>
          <p:nvPr/>
        </p:nvPicPr>
        <p:blipFill>
          <a:blip r:embed="rId2">
            <a:duotone>
              <a:schemeClr val="bg2">
                <a:shade val="45000"/>
                <a:satMod val="135000"/>
              </a:schemeClr>
              <a:prstClr val="white"/>
            </a:duotone>
          </a:blip>
          <a:srcRect l="3235" t="23278" r="5850" b="-7"/>
          <a:stretch/>
        </p:blipFill>
        <p:spPr>
          <a:xfrm>
            <a:off x="497634" y="279918"/>
            <a:ext cx="10680439" cy="6007748"/>
          </a:xfrm>
          <a:prstGeom prst="rect">
            <a:avLst/>
          </a:prstGeom>
        </p:spPr>
      </p:pic>
      <p:sp>
        <p:nvSpPr>
          <p:cNvPr id="2" name="Title 1">
            <a:extLst>
              <a:ext uri="{FF2B5EF4-FFF2-40B4-BE49-F238E27FC236}">
                <a16:creationId xmlns:a16="http://schemas.microsoft.com/office/drawing/2014/main" id="{23386386-3410-A5B4-588F-123A4295DC09}"/>
              </a:ext>
            </a:extLst>
          </p:cNvPr>
          <p:cNvSpPr>
            <a:spLocks noGrp="1"/>
          </p:cNvSpPr>
          <p:nvPr>
            <p:ph type="title"/>
          </p:nvPr>
        </p:nvSpPr>
        <p:spPr>
          <a:xfrm>
            <a:off x="838200" y="365125"/>
            <a:ext cx="10993016" cy="1325563"/>
          </a:xfrm>
        </p:spPr>
        <p:txBody>
          <a:bodyPr>
            <a:normAutofit/>
          </a:bodyPr>
          <a:lstStyle/>
          <a:p>
            <a:r>
              <a:rPr lang="en-US" sz="2800" b="1" dirty="0">
                <a:highlight>
                  <a:srgbClr val="FFFF00"/>
                </a:highlight>
              </a:rPr>
              <a:t>Types of dependency injection in spring boot</a:t>
            </a:r>
          </a:p>
        </p:txBody>
      </p:sp>
      <p:graphicFrame>
        <p:nvGraphicFramePr>
          <p:cNvPr id="5" name="Content Placeholder 2">
            <a:extLst>
              <a:ext uri="{FF2B5EF4-FFF2-40B4-BE49-F238E27FC236}">
                <a16:creationId xmlns:a16="http://schemas.microsoft.com/office/drawing/2014/main" id="{CA556FDA-4866-5C0C-336A-99B554239004}"/>
              </a:ext>
            </a:extLst>
          </p:cNvPr>
          <p:cNvGraphicFramePr>
            <a:graphicFrameLocks noGrp="1"/>
          </p:cNvGraphicFramePr>
          <p:nvPr>
            <p:ph idx="1"/>
            <p:extLst/>
          </p:nvPr>
        </p:nvGraphicFramePr>
        <p:xfrm>
          <a:off x="1231641" y="1690688"/>
          <a:ext cx="9787812" cy="38847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38649108"/>
      </p:ext>
    </p:extLst>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B0C22-3508-288B-FD4A-8B438F9D6C85}"/>
              </a:ext>
            </a:extLst>
          </p:cNvPr>
          <p:cNvSpPr>
            <a:spLocks noGrp="1"/>
          </p:cNvSpPr>
          <p:nvPr>
            <p:ph type="ctrTitle"/>
          </p:nvPr>
        </p:nvSpPr>
        <p:spPr>
          <a:xfrm>
            <a:off x="643467" y="3181739"/>
            <a:ext cx="7875381" cy="2028865"/>
          </a:xfrm>
        </p:spPr>
        <p:txBody>
          <a:bodyPr>
            <a:normAutofit/>
          </a:bodyPr>
          <a:lstStyle/>
          <a:p>
            <a:pPr algn="l"/>
            <a:r>
              <a:rPr lang="en-US" sz="4400" b="1" dirty="0"/>
              <a:t>Injection using Annotations and </a:t>
            </a:r>
            <a:r>
              <a:rPr lang="en-US" sz="4400" b="1" dirty="0" err="1"/>
              <a:t>Autowiring</a:t>
            </a:r>
            <a:endParaRPr lang="en-US" sz="4400" b="1" dirty="0"/>
          </a:p>
        </p:txBody>
      </p:sp>
      <p:pic>
        <p:nvPicPr>
          <p:cNvPr id="5" name="Picture 4">
            <a:extLst>
              <a:ext uri="{FF2B5EF4-FFF2-40B4-BE49-F238E27FC236}">
                <a16:creationId xmlns:a16="http://schemas.microsoft.com/office/drawing/2014/main" id="{86E3E250-F1DB-FBB1-833A-00042B2BC391}"/>
              </a:ext>
            </a:extLst>
          </p:cNvPr>
          <p:cNvPicPr>
            <a:picLocks noChangeAspect="1"/>
          </p:cNvPicPr>
          <p:nvPr/>
        </p:nvPicPr>
        <p:blipFill>
          <a:blip r:embed="rId2"/>
          <a:srcRect l="5487" r="31040" b="-6"/>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250319227"/>
      </p:ext>
    </p:extLst>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53DBB-A14B-3940-1EB1-3E62029ED1C0}"/>
              </a:ext>
            </a:extLst>
          </p:cNvPr>
          <p:cNvSpPr>
            <a:spLocks noGrp="1"/>
          </p:cNvSpPr>
          <p:nvPr>
            <p:ph type="title"/>
          </p:nvPr>
        </p:nvSpPr>
        <p:spPr/>
        <p:txBody>
          <a:bodyPr/>
          <a:lstStyle/>
          <a:p>
            <a:r>
              <a:rPr lang="en-US" b="1" err="1"/>
              <a:t>Autowiring</a:t>
            </a:r>
          </a:p>
        </p:txBody>
      </p:sp>
      <p:sp>
        <p:nvSpPr>
          <p:cNvPr id="3" name="Content Placeholder 2">
            <a:extLst>
              <a:ext uri="{FF2B5EF4-FFF2-40B4-BE49-F238E27FC236}">
                <a16:creationId xmlns:a16="http://schemas.microsoft.com/office/drawing/2014/main" id="{AABE268A-9566-3E96-6321-579E883DA1FF}"/>
              </a:ext>
            </a:extLst>
          </p:cNvPr>
          <p:cNvSpPr>
            <a:spLocks noGrp="1"/>
          </p:cNvSpPr>
          <p:nvPr>
            <p:ph idx="1"/>
          </p:nvPr>
        </p:nvSpPr>
        <p:spPr>
          <a:xfrm>
            <a:off x="391886" y="1418253"/>
            <a:ext cx="11523306" cy="4758710"/>
          </a:xfrm>
        </p:spPr>
        <p:txBody>
          <a:bodyPr vert="horz" lIns="91440" tIns="45720" rIns="91440" bIns="45720" rtlCol="0" anchor="t">
            <a:noAutofit/>
          </a:bodyPr>
          <a:lstStyle/>
          <a:p>
            <a:r>
              <a:rPr lang="en-US" sz="2400" dirty="0">
                <a:ea typeface="+mn-lt"/>
                <a:cs typeface="+mn-lt"/>
              </a:rPr>
              <a:t>Spring can automatically find beans by matching the type (class or interface) and inject it automatically.</a:t>
            </a:r>
            <a:endParaRPr lang="en-US" sz="2400" dirty="0"/>
          </a:p>
          <a:p>
            <a:r>
              <a:rPr lang="en-US" sz="2400" dirty="0">
                <a:ea typeface="+mn-lt"/>
                <a:cs typeface="+mn-lt"/>
              </a:rPr>
              <a:t>So, if you want to inject a </a:t>
            </a:r>
            <a:r>
              <a:rPr lang="en-US" sz="2400" dirty="0" err="1">
                <a:latin typeface="Consolas"/>
              </a:rPr>
              <a:t>HardDisk</a:t>
            </a:r>
            <a:r>
              <a:rPr lang="en-US" sz="2400" dirty="0">
                <a:ea typeface="+mn-lt"/>
                <a:cs typeface="+mn-lt"/>
              </a:rPr>
              <a:t> implementation into </a:t>
            </a:r>
            <a:r>
              <a:rPr lang="en-US" sz="2400" dirty="0">
                <a:latin typeface="Consolas"/>
              </a:rPr>
              <a:t>Laptop</a:t>
            </a:r>
            <a:r>
              <a:rPr lang="en-US" sz="2400" dirty="0">
                <a:ea typeface="+mn-lt"/>
                <a:cs typeface="+mn-lt"/>
              </a:rPr>
              <a:t>, you can annotate the </a:t>
            </a:r>
            <a:r>
              <a:rPr lang="en-US" sz="2400" dirty="0" err="1">
                <a:latin typeface="Consolas"/>
              </a:rPr>
              <a:t>HardDisk</a:t>
            </a:r>
            <a:r>
              <a:rPr lang="en-US" sz="2400" dirty="0">
                <a:ea typeface="+mn-lt"/>
                <a:cs typeface="+mn-lt"/>
              </a:rPr>
              <a:t> attribute of </a:t>
            </a:r>
            <a:r>
              <a:rPr lang="en-US" sz="2400" dirty="0">
                <a:latin typeface="Consolas"/>
              </a:rPr>
              <a:t>Laptop</a:t>
            </a:r>
            <a:r>
              <a:rPr lang="en-US" sz="2400" dirty="0">
                <a:ea typeface="+mn-lt"/>
                <a:cs typeface="+mn-lt"/>
              </a:rPr>
              <a:t> class with </a:t>
            </a:r>
            <a:r>
              <a:rPr lang="en-US" sz="2400" dirty="0">
                <a:latin typeface="Consolas"/>
              </a:rPr>
              <a:t>@</a:t>
            </a:r>
            <a:r>
              <a:rPr lang="en-US" sz="2400" dirty="0" err="1">
                <a:latin typeface="Consolas"/>
              </a:rPr>
              <a:t>Autowired</a:t>
            </a:r>
            <a:r>
              <a:rPr lang="en-US" sz="2400" dirty="0">
                <a:ea typeface="+mn-lt"/>
                <a:cs typeface="+mn-lt"/>
              </a:rPr>
              <a:t>.</a:t>
            </a:r>
            <a:endParaRPr lang="en-US" sz="2400" dirty="0"/>
          </a:p>
          <a:p>
            <a:r>
              <a:rPr lang="en-US" sz="2400" dirty="0">
                <a:ea typeface="+mn-lt"/>
                <a:cs typeface="+mn-lt"/>
              </a:rPr>
              <a:t>This will tell spring to scan all the components in your code, find a bean which matches the class of type </a:t>
            </a:r>
            <a:r>
              <a:rPr lang="en-US" sz="2400" dirty="0" err="1">
                <a:latin typeface="Consolas"/>
              </a:rPr>
              <a:t>HardDisk</a:t>
            </a:r>
            <a:r>
              <a:rPr lang="en-US" sz="2400" dirty="0">
                <a:ea typeface="+mn-lt"/>
                <a:cs typeface="+mn-lt"/>
              </a:rPr>
              <a:t>, and inject it into the </a:t>
            </a:r>
            <a:r>
              <a:rPr lang="en-US" sz="2400" dirty="0">
                <a:latin typeface="Consolas"/>
              </a:rPr>
              <a:t>Laptop</a:t>
            </a:r>
            <a:r>
              <a:rPr lang="en-US" sz="2400" dirty="0">
                <a:ea typeface="+mn-lt"/>
                <a:cs typeface="+mn-lt"/>
              </a:rPr>
              <a:t>.</a:t>
            </a:r>
            <a:endParaRPr lang="en-US" sz="2400" dirty="0"/>
          </a:p>
          <a:p>
            <a:r>
              <a:rPr lang="en-US" sz="2400" dirty="0">
                <a:ea typeface="+mn-lt"/>
                <a:cs typeface="+mn-lt"/>
              </a:rPr>
              <a:t>For </a:t>
            </a:r>
            <a:r>
              <a:rPr lang="en-US" sz="2400" dirty="0" err="1">
                <a:ea typeface="+mn-lt"/>
                <a:cs typeface="+mn-lt"/>
              </a:rPr>
              <a:t>eg</a:t>
            </a:r>
            <a:r>
              <a:rPr lang="en-US" sz="2400" dirty="0">
                <a:ea typeface="+mn-lt"/>
                <a:cs typeface="+mn-lt"/>
              </a:rPr>
              <a:t>: If you annotate </a:t>
            </a:r>
            <a:r>
              <a:rPr lang="en-US" sz="2400" dirty="0" err="1">
                <a:latin typeface="Consolas"/>
              </a:rPr>
              <a:t>HitachiHD</a:t>
            </a:r>
            <a:r>
              <a:rPr lang="en-US" sz="2400" dirty="0">
                <a:ea typeface="+mn-lt"/>
                <a:cs typeface="+mn-lt"/>
              </a:rPr>
              <a:t> with </a:t>
            </a:r>
            <a:r>
              <a:rPr lang="en-US" sz="2400" dirty="0">
                <a:latin typeface="Consolas"/>
              </a:rPr>
              <a:t>@Component</a:t>
            </a:r>
            <a:r>
              <a:rPr lang="en-US" sz="2400" dirty="0">
                <a:ea typeface="+mn-lt"/>
                <a:cs typeface="+mn-lt"/>
              </a:rPr>
              <a:t>, it will inject </a:t>
            </a:r>
            <a:r>
              <a:rPr lang="en-US" sz="2400" dirty="0" err="1">
                <a:latin typeface="Consolas"/>
              </a:rPr>
              <a:t>HitachiHD</a:t>
            </a:r>
            <a:r>
              <a:rPr lang="en-US" sz="2400" dirty="0">
                <a:ea typeface="+mn-lt"/>
                <a:cs typeface="+mn-lt"/>
              </a:rPr>
              <a:t> into </a:t>
            </a:r>
            <a:r>
              <a:rPr lang="en-US" sz="2400" dirty="0">
                <a:latin typeface="Consolas"/>
              </a:rPr>
              <a:t>Laptop</a:t>
            </a:r>
            <a:r>
              <a:rPr lang="en-US" sz="2400" dirty="0">
                <a:ea typeface="+mn-lt"/>
                <a:cs typeface="+mn-lt"/>
              </a:rPr>
              <a:t>.</a:t>
            </a:r>
            <a:endParaRPr lang="en-US" sz="2400" dirty="0"/>
          </a:p>
          <a:p>
            <a:r>
              <a:rPr lang="en-US" sz="2400" dirty="0">
                <a:ea typeface="+mn-lt"/>
                <a:cs typeface="+mn-lt"/>
              </a:rPr>
              <a:t>Now, there are three ways of </a:t>
            </a:r>
            <a:r>
              <a:rPr lang="en-US" sz="2400" dirty="0" err="1">
                <a:ea typeface="+mn-lt"/>
                <a:cs typeface="+mn-lt"/>
              </a:rPr>
              <a:t>autowiring</a:t>
            </a:r>
            <a:r>
              <a:rPr lang="en-US" sz="2400" dirty="0">
                <a:ea typeface="+mn-lt"/>
                <a:cs typeface="+mn-lt"/>
              </a:rPr>
              <a:t> beans:</a:t>
            </a:r>
            <a:endParaRPr lang="en-US" sz="2400" dirty="0"/>
          </a:p>
          <a:p>
            <a:pPr lvl="1">
              <a:buFont typeface="Courier New" panose="020B0604020202020204" pitchFamily="34" charset="0"/>
              <a:buChar char="o"/>
            </a:pPr>
            <a:r>
              <a:rPr lang="en-US" sz="1800" b="1" dirty="0">
                <a:ea typeface="+mn-lt"/>
                <a:cs typeface="+mn-lt"/>
              </a:rPr>
              <a:t>Field injection</a:t>
            </a:r>
            <a:endParaRPr lang="en-US" sz="1800" b="1" dirty="0"/>
          </a:p>
          <a:p>
            <a:pPr lvl="1">
              <a:buFont typeface="Courier New" panose="020B0604020202020204" pitchFamily="34" charset="0"/>
              <a:buChar char="o"/>
            </a:pPr>
            <a:r>
              <a:rPr lang="en-US" sz="1800" b="1" dirty="0">
                <a:ea typeface="+mn-lt"/>
                <a:cs typeface="+mn-lt"/>
              </a:rPr>
              <a:t>Constructor injection</a:t>
            </a:r>
            <a:endParaRPr lang="en-US" sz="1800" b="1" dirty="0"/>
          </a:p>
          <a:p>
            <a:pPr lvl="1">
              <a:buFont typeface="Courier New" panose="020B0604020202020204" pitchFamily="34" charset="0"/>
              <a:buChar char="o"/>
            </a:pPr>
            <a:r>
              <a:rPr lang="en-US" sz="1800" b="1" dirty="0">
                <a:ea typeface="+mn-lt"/>
                <a:cs typeface="+mn-lt"/>
              </a:rPr>
              <a:t>Setter injection</a:t>
            </a:r>
            <a:endParaRPr lang="en-US" sz="1800" b="1" dirty="0"/>
          </a:p>
        </p:txBody>
      </p:sp>
    </p:spTree>
    <p:extLst>
      <p:ext uri="{BB962C8B-B14F-4D97-AF65-F5344CB8AC3E}">
        <p14:creationId xmlns:p14="http://schemas.microsoft.com/office/powerpoint/2010/main" val="2249278389"/>
      </p:ext>
    </p:extLst>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EEEA5-966B-3092-DEFE-E72542BAA76E}"/>
              </a:ext>
            </a:extLst>
          </p:cNvPr>
          <p:cNvSpPr>
            <a:spLocks noGrp="1"/>
          </p:cNvSpPr>
          <p:nvPr>
            <p:ph type="title"/>
          </p:nvPr>
        </p:nvSpPr>
        <p:spPr>
          <a:xfrm>
            <a:off x="838199" y="365126"/>
            <a:ext cx="11002347" cy="903838"/>
          </a:xfrm>
          <a:solidFill>
            <a:srgbClr val="FFFF00"/>
          </a:solidFill>
        </p:spPr>
        <p:txBody>
          <a:bodyPr/>
          <a:lstStyle/>
          <a:p>
            <a:r>
              <a:rPr lang="en-US" b="1" dirty="0">
                <a:solidFill>
                  <a:srgbClr val="15171A"/>
                </a:solidFill>
              </a:rPr>
              <a:t>Field Injection using Annotation</a:t>
            </a:r>
            <a:endParaRPr lang="en-US" b="1" dirty="0"/>
          </a:p>
        </p:txBody>
      </p:sp>
      <p:sp>
        <p:nvSpPr>
          <p:cNvPr id="3" name="Content Placeholder 2">
            <a:extLst>
              <a:ext uri="{FF2B5EF4-FFF2-40B4-BE49-F238E27FC236}">
                <a16:creationId xmlns:a16="http://schemas.microsoft.com/office/drawing/2014/main" id="{C24C67CB-687B-5FE6-A57E-53508918C0D7}"/>
              </a:ext>
            </a:extLst>
          </p:cNvPr>
          <p:cNvSpPr>
            <a:spLocks noGrp="1"/>
          </p:cNvSpPr>
          <p:nvPr>
            <p:ph idx="1"/>
          </p:nvPr>
        </p:nvSpPr>
        <p:spPr/>
        <p:txBody>
          <a:bodyPr vert="horz" lIns="91440" tIns="45720" rIns="91440" bIns="45720" rtlCol="0" anchor="t">
            <a:normAutofit/>
          </a:bodyPr>
          <a:lstStyle/>
          <a:p>
            <a:r>
              <a:rPr lang="en-US">
                <a:ea typeface="+mn-lt"/>
                <a:cs typeface="+mn-lt"/>
              </a:rPr>
              <a:t>Field injection directly injects dependencies into fields.</a:t>
            </a:r>
            <a:endParaRPr lang="en-US"/>
          </a:p>
          <a:p>
            <a:r>
              <a:rPr lang="en-US" b="1">
                <a:ea typeface="+mn-lt"/>
                <a:cs typeface="+mn-lt"/>
              </a:rPr>
              <a:t>Using Java Annotations (@Autowired)</a:t>
            </a:r>
            <a:endParaRPr lang="en-US"/>
          </a:p>
          <a:p>
            <a:pPr lvl="1"/>
            <a:r>
              <a:rPr lang="en-US">
                <a:ea typeface="+mn-lt"/>
                <a:cs typeface="+mn-lt"/>
              </a:rPr>
              <a:t>You annotate the field with </a:t>
            </a:r>
            <a:r>
              <a:rPr lang="en-US">
                <a:latin typeface="Consolas"/>
              </a:rPr>
              <a:t>@Autowired</a:t>
            </a:r>
            <a:r>
              <a:rPr lang="en-US">
                <a:ea typeface="+mn-lt"/>
                <a:cs typeface="+mn-lt"/>
              </a:rPr>
              <a:t> to inject the dependency.</a:t>
            </a:r>
            <a:endParaRPr lang="en-US"/>
          </a:p>
          <a:p>
            <a:endParaRPr lang="en-US"/>
          </a:p>
        </p:txBody>
      </p:sp>
      <p:sp>
        <p:nvSpPr>
          <p:cNvPr id="4" name="TextBox 3">
            <a:extLst>
              <a:ext uri="{FF2B5EF4-FFF2-40B4-BE49-F238E27FC236}">
                <a16:creationId xmlns:a16="http://schemas.microsoft.com/office/drawing/2014/main" id="{9BC6D49B-3ECB-DA59-FACF-26DBBBB64A61}"/>
              </a:ext>
            </a:extLst>
          </p:cNvPr>
          <p:cNvSpPr txBox="1"/>
          <p:nvPr/>
        </p:nvSpPr>
        <p:spPr>
          <a:xfrm>
            <a:off x="559250" y="3701026"/>
            <a:ext cx="4914181"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@Component </a:t>
            </a:r>
          </a:p>
          <a:p>
            <a:r>
              <a:rPr lang="en-US" b="1" dirty="0"/>
              <a:t>public class Laptop </a:t>
            </a:r>
          </a:p>
          <a:p>
            <a:r>
              <a:rPr lang="en-US" b="1" dirty="0"/>
              <a:t>{ </a:t>
            </a:r>
          </a:p>
          <a:p>
            <a:r>
              <a:rPr lang="en-US" b="1" dirty="0">
                <a:solidFill>
                  <a:srgbClr val="FF0000"/>
                </a:solidFill>
              </a:rPr>
              <a:t>@</a:t>
            </a:r>
            <a:r>
              <a:rPr lang="en-US" b="1" dirty="0" err="1">
                <a:solidFill>
                  <a:srgbClr val="FF0000"/>
                </a:solidFill>
              </a:rPr>
              <a:t>Autowired</a:t>
            </a:r>
            <a:r>
              <a:rPr lang="en-US" b="1" dirty="0">
                <a:solidFill>
                  <a:srgbClr val="FF0000"/>
                </a:solidFill>
              </a:rPr>
              <a:t> </a:t>
            </a:r>
          </a:p>
          <a:p>
            <a:r>
              <a:rPr lang="en-US" b="1" dirty="0">
                <a:highlight>
                  <a:srgbClr val="FFFF00"/>
                </a:highlight>
              </a:rPr>
              <a:t>private </a:t>
            </a:r>
            <a:r>
              <a:rPr lang="en-US" b="1" dirty="0" err="1">
                <a:highlight>
                  <a:srgbClr val="FFFF00"/>
                </a:highlight>
              </a:rPr>
              <a:t>HardDisk</a:t>
            </a:r>
            <a:r>
              <a:rPr lang="en-US" b="1" dirty="0">
                <a:highlight>
                  <a:srgbClr val="FFFF00"/>
                </a:highlight>
              </a:rPr>
              <a:t> </a:t>
            </a:r>
            <a:r>
              <a:rPr lang="en-US" b="1" dirty="0" err="1">
                <a:highlight>
                  <a:srgbClr val="FFFF00"/>
                </a:highlight>
              </a:rPr>
              <a:t>hardDisk</a:t>
            </a:r>
            <a:r>
              <a:rPr lang="en-US" b="1" dirty="0">
                <a:highlight>
                  <a:srgbClr val="FFFF00"/>
                </a:highlight>
              </a:rPr>
              <a:t>; </a:t>
            </a:r>
          </a:p>
          <a:p>
            <a:r>
              <a:rPr lang="en-US" b="1" dirty="0"/>
              <a:t>public void </a:t>
            </a:r>
            <a:r>
              <a:rPr lang="en-US" b="1" dirty="0" err="1"/>
              <a:t>saveData</a:t>
            </a:r>
            <a:r>
              <a:rPr lang="en-US" b="1" dirty="0"/>
              <a:t>()</a:t>
            </a:r>
          </a:p>
          <a:p>
            <a:r>
              <a:rPr lang="en-US" b="1" dirty="0"/>
              <a:t>{ </a:t>
            </a:r>
          </a:p>
          <a:p>
            <a:r>
              <a:rPr lang="en-US" b="1" dirty="0"/>
              <a:t> </a:t>
            </a:r>
            <a:r>
              <a:rPr lang="en-US" b="1" dirty="0" err="1"/>
              <a:t>hardDisk.saveData</a:t>
            </a:r>
            <a:r>
              <a:rPr lang="en-US" b="1" dirty="0"/>
              <a:t>(); </a:t>
            </a:r>
          </a:p>
          <a:p>
            <a:r>
              <a:rPr lang="en-US" b="1" dirty="0"/>
              <a:t>} </a:t>
            </a:r>
          </a:p>
          <a:p>
            <a:r>
              <a:rPr lang="en-US" b="1" dirty="0"/>
              <a:t>}</a:t>
            </a:r>
          </a:p>
        </p:txBody>
      </p:sp>
      <p:sp>
        <p:nvSpPr>
          <p:cNvPr id="6" name="TextBox 5">
            <a:extLst>
              <a:ext uri="{FF2B5EF4-FFF2-40B4-BE49-F238E27FC236}">
                <a16:creationId xmlns:a16="http://schemas.microsoft.com/office/drawing/2014/main" id="{DEBBCF86-020C-4EFA-D060-3D66177AE1A8}"/>
              </a:ext>
            </a:extLst>
          </p:cNvPr>
          <p:cNvSpPr txBox="1"/>
          <p:nvPr/>
        </p:nvSpPr>
        <p:spPr>
          <a:xfrm>
            <a:off x="6137209" y="3801667"/>
            <a:ext cx="6006507"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@Component </a:t>
            </a:r>
          </a:p>
          <a:p>
            <a:r>
              <a:rPr lang="en-US" b="1" dirty="0"/>
              <a:t>public class </a:t>
            </a:r>
            <a:r>
              <a:rPr lang="en-US" b="1" dirty="0" err="1"/>
              <a:t>HitachiHD</a:t>
            </a:r>
            <a:r>
              <a:rPr lang="en-US" b="1" dirty="0"/>
              <a:t> implements </a:t>
            </a:r>
            <a:r>
              <a:rPr lang="en-US" b="1" dirty="0" err="1"/>
              <a:t>HardDisk</a:t>
            </a:r>
            <a:r>
              <a:rPr lang="en-US" b="1" dirty="0"/>
              <a:t> { </a:t>
            </a:r>
          </a:p>
          <a:p>
            <a:r>
              <a:rPr lang="en-US" b="1" dirty="0"/>
              <a:t>public void </a:t>
            </a:r>
            <a:r>
              <a:rPr lang="en-US" b="1" dirty="0" err="1"/>
              <a:t>saveData</a:t>
            </a:r>
            <a:r>
              <a:rPr lang="en-US" b="1" dirty="0"/>
              <a:t>()</a:t>
            </a:r>
          </a:p>
          <a:p>
            <a:r>
              <a:rPr lang="en-US" b="1" dirty="0"/>
              <a:t>{ </a:t>
            </a:r>
          </a:p>
          <a:p>
            <a:r>
              <a:rPr lang="en-US" b="1" dirty="0" err="1"/>
              <a:t>System.out.println</a:t>
            </a:r>
            <a:r>
              <a:rPr lang="en-US" b="1" dirty="0"/>
              <a:t>("</a:t>
            </a:r>
            <a:r>
              <a:rPr lang="en-US" b="1" dirty="0" err="1"/>
              <a:t>HitachiHD</a:t>
            </a:r>
            <a:r>
              <a:rPr lang="en-US" b="1" dirty="0"/>
              <a:t>: </a:t>
            </a:r>
            <a:r>
              <a:rPr lang="en-US" b="1" dirty="0" err="1"/>
              <a:t>saveData</a:t>
            </a:r>
            <a:r>
              <a:rPr lang="en-US" b="1" dirty="0"/>
              <a:t>"); </a:t>
            </a:r>
          </a:p>
          <a:p>
            <a:r>
              <a:rPr lang="en-US" b="1" dirty="0"/>
              <a:t>} </a:t>
            </a:r>
          </a:p>
          <a:p>
            <a:r>
              <a:rPr lang="en-US" b="1" dirty="0"/>
              <a:t>}</a:t>
            </a:r>
          </a:p>
        </p:txBody>
      </p:sp>
    </p:spTree>
    <p:extLst>
      <p:ext uri="{BB962C8B-B14F-4D97-AF65-F5344CB8AC3E}">
        <p14:creationId xmlns:p14="http://schemas.microsoft.com/office/powerpoint/2010/main" val="1459886365"/>
      </p:ext>
    </p:extLst>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C3FFD-C04E-D1DB-26B8-DFB02DFC21BC}"/>
              </a:ext>
            </a:extLst>
          </p:cNvPr>
          <p:cNvSpPr>
            <a:spLocks noGrp="1"/>
          </p:cNvSpPr>
          <p:nvPr>
            <p:ph type="title"/>
          </p:nvPr>
        </p:nvSpPr>
        <p:spPr>
          <a:xfrm>
            <a:off x="838200" y="365126"/>
            <a:ext cx="10515600" cy="875846"/>
          </a:xfrm>
        </p:spPr>
        <p:txBody>
          <a:bodyPr>
            <a:normAutofit/>
          </a:bodyPr>
          <a:lstStyle/>
          <a:p>
            <a:r>
              <a:rPr lang="en-US" b="1" dirty="0">
                <a:solidFill>
                  <a:srgbClr val="15171A"/>
                </a:solidFill>
              </a:rPr>
              <a:t>Constructor Injection using Annotation</a:t>
            </a:r>
            <a:endParaRPr lang="en-US" b="1" dirty="0"/>
          </a:p>
        </p:txBody>
      </p:sp>
      <p:sp>
        <p:nvSpPr>
          <p:cNvPr id="3" name="Content Placeholder 2">
            <a:extLst>
              <a:ext uri="{FF2B5EF4-FFF2-40B4-BE49-F238E27FC236}">
                <a16:creationId xmlns:a16="http://schemas.microsoft.com/office/drawing/2014/main" id="{2141E2C0-1421-BCA3-876A-C7C48CC25691}"/>
              </a:ext>
            </a:extLst>
          </p:cNvPr>
          <p:cNvSpPr>
            <a:spLocks noGrp="1"/>
          </p:cNvSpPr>
          <p:nvPr>
            <p:ph idx="1"/>
          </p:nvPr>
        </p:nvSpPr>
        <p:spPr>
          <a:xfrm>
            <a:off x="289249" y="1352939"/>
            <a:ext cx="11064551" cy="4824024"/>
          </a:xfrm>
        </p:spPr>
        <p:txBody>
          <a:bodyPr vert="horz" lIns="91440" tIns="45720" rIns="91440" bIns="45720" rtlCol="0" anchor="t">
            <a:noAutofit/>
          </a:bodyPr>
          <a:lstStyle/>
          <a:p>
            <a:pPr marL="0" indent="0">
              <a:buNone/>
            </a:pPr>
            <a:r>
              <a:rPr lang="en-US" sz="2000" b="1" dirty="0">
                <a:solidFill>
                  <a:srgbClr val="15171A"/>
                </a:solidFill>
                <a:latin typeface="Consolas"/>
              </a:rPr>
              <a:t>@Component</a:t>
            </a:r>
            <a:r>
              <a:rPr lang="en-US" sz="2000" dirty="0">
                <a:solidFill>
                  <a:srgbClr val="15171A"/>
                </a:solidFill>
                <a:latin typeface="Consolas"/>
              </a:rPr>
              <a:t>
 public class Laptop {
     private </a:t>
            </a:r>
            <a:r>
              <a:rPr lang="en-US" sz="2000" dirty="0" err="1">
                <a:solidFill>
                  <a:srgbClr val="15171A"/>
                </a:solidFill>
                <a:latin typeface="Consolas"/>
              </a:rPr>
              <a:t>HardDisk</a:t>
            </a:r>
            <a:r>
              <a:rPr lang="en-US" sz="2000" dirty="0">
                <a:solidFill>
                  <a:srgbClr val="15171A"/>
                </a:solidFill>
                <a:latin typeface="Consolas"/>
              </a:rPr>
              <a:t> </a:t>
            </a:r>
            <a:r>
              <a:rPr lang="en-US" sz="2000" dirty="0" err="1">
                <a:solidFill>
                  <a:srgbClr val="15171A"/>
                </a:solidFill>
                <a:latin typeface="Consolas"/>
              </a:rPr>
              <a:t>hardDisk</a:t>
            </a:r>
            <a:r>
              <a:rPr lang="en-US" sz="2000" dirty="0">
                <a:solidFill>
                  <a:srgbClr val="15171A"/>
                </a:solidFill>
                <a:latin typeface="Consolas"/>
              </a:rPr>
              <a:t>;
</a:t>
            </a:r>
            <a:r>
              <a:rPr lang="en-US" sz="2000" b="1" dirty="0">
                <a:solidFill>
                  <a:srgbClr val="FF0000"/>
                </a:solidFill>
                <a:latin typeface="Consolas"/>
              </a:rPr>
              <a:t>     @</a:t>
            </a:r>
            <a:r>
              <a:rPr lang="en-US" sz="2000" b="1" dirty="0" err="1">
                <a:solidFill>
                  <a:srgbClr val="FF0000"/>
                </a:solidFill>
                <a:latin typeface="Consolas"/>
              </a:rPr>
              <a:t>Autowired</a:t>
            </a:r>
            <a:r>
              <a:rPr lang="en-US" sz="2000" b="1" dirty="0">
                <a:solidFill>
                  <a:srgbClr val="FF0000"/>
                </a:solidFill>
                <a:latin typeface="Consolas"/>
              </a:rPr>
              <a:t>
</a:t>
            </a:r>
            <a:r>
              <a:rPr lang="en-US" sz="2000" b="1" dirty="0">
                <a:solidFill>
                  <a:srgbClr val="15171A"/>
                </a:solidFill>
                <a:highlight>
                  <a:srgbClr val="FFFF00"/>
                </a:highlight>
                <a:latin typeface="Consolas"/>
              </a:rPr>
              <a:t>     public Laptop(</a:t>
            </a:r>
            <a:r>
              <a:rPr lang="en-US" sz="2000" b="1" dirty="0" err="1">
                <a:solidFill>
                  <a:srgbClr val="15171A"/>
                </a:solidFill>
                <a:highlight>
                  <a:srgbClr val="FFFF00"/>
                </a:highlight>
                <a:latin typeface="Consolas"/>
              </a:rPr>
              <a:t>HardDisk</a:t>
            </a:r>
            <a:r>
              <a:rPr lang="en-US" sz="2000" b="1" dirty="0">
                <a:solidFill>
                  <a:srgbClr val="15171A"/>
                </a:solidFill>
                <a:highlight>
                  <a:srgbClr val="FFFF00"/>
                </a:highlight>
                <a:latin typeface="Consolas"/>
              </a:rPr>
              <a:t> </a:t>
            </a:r>
            <a:r>
              <a:rPr lang="en-US" sz="2000" b="1" dirty="0" err="1">
                <a:solidFill>
                  <a:srgbClr val="15171A"/>
                </a:solidFill>
                <a:highlight>
                  <a:srgbClr val="FFFF00"/>
                </a:highlight>
                <a:latin typeface="Consolas"/>
              </a:rPr>
              <a:t>hardDisk</a:t>
            </a:r>
            <a:r>
              <a:rPr lang="en-US" sz="2000" b="1" dirty="0">
                <a:solidFill>
                  <a:srgbClr val="15171A"/>
                </a:solidFill>
                <a:highlight>
                  <a:srgbClr val="FFFF00"/>
                </a:highlight>
                <a:latin typeface="Consolas"/>
              </a:rPr>
              <a:t>) </a:t>
            </a:r>
            <a:endParaRPr lang="en-US" sz="2000" dirty="0">
              <a:solidFill>
                <a:srgbClr val="000000"/>
              </a:solidFill>
              <a:latin typeface="Aptos" panose="02110004020202020204"/>
            </a:endParaRPr>
          </a:p>
          <a:p>
            <a:pPr marL="0" indent="0">
              <a:buNone/>
            </a:pPr>
            <a:r>
              <a:rPr lang="en-US" sz="2000" b="1" dirty="0">
                <a:solidFill>
                  <a:srgbClr val="15171A"/>
                </a:solidFill>
                <a:highlight>
                  <a:srgbClr val="FFFF00"/>
                </a:highlight>
                <a:latin typeface="Consolas"/>
              </a:rPr>
              <a:t>     {
         </a:t>
            </a:r>
            <a:r>
              <a:rPr lang="en-US" sz="2000" b="1" dirty="0" err="1">
                <a:solidFill>
                  <a:srgbClr val="15171A"/>
                </a:solidFill>
                <a:highlight>
                  <a:srgbClr val="FFFF00"/>
                </a:highlight>
                <a:latin typeface="Consolas"/>
              </a:rPr>
              <a:t>this.hardDisk</a:t>
            </a:r>
            <a:r>
              <a:rPr lang="en-US" sz="2000" b="1" dirty="0">
                <a:solidFill>
                  <a:srgbClr val="15171A"/>
                </a:solidFill>
                <a:highlight>
                  <a:srgbClr val="FFFF00"/>
                </a:highlight>
                <a:latin typeface="Consolas"/>
              </a:rPr>
              <a:t> = </a:t>
            </a:r>
            <a:r>
              <a:rPr lang="en-US" sz="2000" b="1" dirty="0" err="1">
                <a:solidFill>
                  <a:srgbClr val="15171A"/>
                </a:solidFill>
                <a:highlight>
                  <a:srgbClr val="FFFF00"/>
                </a:highlight>
                <a:latin typeface="Consolas"/>
              </a:rPr>
              <a:t>hardDisk</a:t>
            </a:r>
            <a:r>
              <a:rPr lang="en-US" sz="2000" b="1" dirty="0">
                <a:solidFill>
                  <a:srgbClr val="15171A"/>
                </a:solidFill>
                <a:highlight>
                  <a:srgbClr val="FFFF00"/>
                </a:highlight>
                <a:latin typeface="Consolas"/>
              </a:rPr>
              <a:t>;
     }
</a:t>
            </a:r>
            <a:r>
              <a:rPr lang="en-US" sz="2000" dirty="0" smtClean="0">
                <a:solidFill>
                  <a:srgbClr val="15171A"/>
                </a:solidFill>
                <a:latin typeface="Consolas"/>
              </a:rPr>
              <a:t>     </a:t>
            </a:r>
            <a:r>
              <a:rPr lang="en-US" sz="2000" dirty="0">
                <a:solidFill>
                  <a:srgbClr val="15171A"/>
                </a:solidFill>
                <a:latin typeface="Consolas"/>
              </a:rPr>
              <a:t>public void </a:t>
            </a:r>
            <a:r>
              <a:rPr lang="en-US" sz="2000" dirty="0" err="1">
                <a:solidFill>
                  <a:srgbClr val="15171A"/>
                </a:solidFill>
                <a:latin typeface="Consolas"/>
              </a:rPr>
              <a:t>saveData</a:t>
            </a:r>
            <a:r>
              <a:rPr lang="en-US" sz="2000" dirty="0">
                <a:solidFill>
                  <a:srgbClr val="15171A"/>
                </a:solidFill>
                <a:latin typeface="Consolas"/>
              </a:rPr>
              <a:t>(){
         </a:t>
            </a:r>
            <a:r>
              <a:rPr lang="en-US" sz="2000" dirty="0" err="1">
                <a:solidFill>
                  <a:srgbClr val="15171A"/>
                </a:solidFill>
                <a:latin typeface="Consolas"/>
              </a:rPr>
              <a:t>hardDisk.saveData</a:t>
            </a:r>
            <a:r>
              <a:rPr lang="en-US" sz="2000" dirty="0">
                <a:solidFill>
                  <a:srgbClr val="15171A"/>
                </a:solidFill>
                <a:latin typeface="Consolas"/>
              </a:rPr>
              <a:t>();
     }
 }</a:t>
            </a:r>
            <a:endParaRPr lang="en-US" sz="2000" dirty="0"/>
          </a:p>
        </p:txBody>
      </p:sp>
      <p:sp>
        <p:nvSpPr>
          <p:cNvPr id="4" name="TextBox 3">
            <a:extLst>
              <a:ext uri="{FF2B5EF4-FFF2-40B4-BE49-F238E27FC236}">
                <a16:creationId xmlns:a16="http://schemas.microsoft.com/office/drawing/2014/main" id="{1ADFEAA8-48D9-FE8D-12D9-67D86926020F}"/>
              </a:ext>
            </a:extLst>
          </p:cNvPr>
          <p:cNvSpPr txBox="1"/>
          <p:nvPr/>
        </p:nvSpPr>
        <p:spPr>
          <a:xfrm>
            <a:off x="7959306" y="1820173"/>
            <a:ext cx="4065916"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highlight>
                  <a:srgbClr val="FFFF00"/>
                </a:highlight>
                <a:latin typeface="-apple-system"/>
              </a:rPr>
              <a:t>As of Spring Framework 4.3, an </a:t>
            </a:r>
            <a:r>
              <a:rPr lang="en-US" b="1" dirty="0">
                <a:highlight>
                  <a:srgbClr val="FFFF00"/>
                </a:highlight>
              </a:rPr>
              <a:t>@</a:t>
            </a:r>
            <a:r>
              <a:rPr lang="en-US" b="1" dirty="0" err="1">
                <a:highlight>
                  <a:srgbClr val="FFFF00"/>
                </a:highlight>
              </a:rPr>
              <a:t>Autowired</a:t>
            </a:r>
            <a:r>
              <a:rPr lang="en-US" b="1" dirty="0">
                <a:highlight>
                  <a:srgbClr val="FFFF00"/>
                </a:highlight>
                <a:latin typeface="-apple-system"/>
              </a:rPr>
              <a:t> annotation on such a constructor is no longer necessary if the target bean defines only one constructor to begin with.</a:t>
            </a:r>
            <a:r>
              <a:rPr lang="en-US" dirty="0">
                <a:highlight>
                  <a:srgbClr val="FFFF00"/>
                </a:highlight>
                <a:latin typeface="-apple-system"/>
              </a:rPr>
              <a:t> </a:t>
            </a:r>
            <a:endParaRPr lang="en-US" dirty="0">
              <a:highlight>
                <a:srgbClr val="FFFF00"/>
              </a:highlight>
              <a:latin typeface="Aptos" panose="02110004020202020204"/>
            </a:endParaRPr>
          </a:p>
          <a:p>
            <a:endParaRPr lang="en-US" dirty="0">
              <a:highlight>
                <a:srgbClr val="FFFF00"/>
              </a:highlight>
              <a:latin typeface="-apple-system"/>
            </a:endParaRPr>
          </a:p>
          <a:p>
            <a:r>
              <a:rPr lang="en-US" dirty="0">
                <a:highlight>
                  <a:srgbClr val="FFFF00"/>
                </a:highlight>
                <a:latin typeface="-apple-system"/>
              </a:rPr>
              <a:t>However, if several constructors are available and there is no primary/default constructor, at least one of the constructors must be annotated with </a:t>
            </a:r>
            <a:r>
              <a:rPr lang="en-US" dirty="0">
                <a:highlight>
                  <a:srgbClr val="FFFF00"/>
                </a:highlight>
              </a:rPr>
              <a:t>@</a:t>
            </a:r>
            <a:r>
              <a:rPr lang="en-US" dirty="0" err="1">
                <a:highlight>
                  <a:srgbClr val="FFFF00"/>
                </a:highlight>
              </a:rPr>
              <a:t>Autowired</a:t>
            </a:r>
            <a:r>
              <a:rPr lang="en-US" dirty="0">
                <a:highlight>
                  <a:srgbClr val="FFFF00"/>
                </a:highlight>
                <a:latin typeface="-apple-system"/>
              </a:rPr>
              <a:t> in order to instruct the container which one to use.</a:t>
            </a:r>
            <a:endParaRPr lang="en-US" dirty="0">
              <a:highlight>
                <a:srgbClr val="FFFF00"/>
              </a:highlight>
            </a:endParaRPr>
          </a:p>
        </p:txBody>
      </p:sp>
    </p:spTree>
    <p:extLst>
      <p:ext uri="{BB962C8B-B14F-4D97-AF65-F5344CB8AC3E}">
        <p14:creationId xmlns:p14="http://schemas.microsoft.com/office/powerpoint/2010/main" val="2118507052"/>
      </p:ext>
    </p:extLst>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B4BD0-673C-12DF-4777-672AE974D625}"/>
              </a:ext>
            </a:extLst>
          </p:cNvPr>
          <p:cNvSpPr>
            <a:spLocks noGrp="1"/>
          </p:cNvSpPr>
          <p:nvPr>
            <p:ph type="title"/>
          </p:nvPr>
        </p:nvSpPr>
        <p:spPr>
          <a:xfrm>
            <a:off x="390331" y="367204"/>
            <a:ext cx="11353800" cy="745218"/>
          </a:xfrm>
          <a:solidFill>
            <a:srgbClr val="FFFF00"/>
          </a:solidFill>
        </p:spPr>
        <p:txBody>
          <a:bodyPr/>
          <a:lstStyle/>
          <a:p>
            <a:r>
              <a:rPr lang="en-US" b="1" dirty="0">
                <a:solidFill>
                  <a:srgbClr val="15171A"/>
                </a:solidFill>
              </a:rPr>
              <a:t>Setter Injection </a:t>
            </a:r>
            <a:r>
              <a:rPr lang="en-US" b="1" dirty="0">
                <a:solidFill>
                  <a:srgbClr val="15171A"/>
                </a:solidFill>
                <a:ea typeface="+mj-lt"/>
                <a:cs typeface="+mj-lt"/>
              </a:rPr>
              <a:t>using Annotation</a:t>
            </a:r>
            <a:endParaRPr lang="en-US" dirty="0">
              <a:solidFill>
                <a:srgbClr val="000000"/>
              </a:solidFill>
              <a:ea typeface="+mj-lt"/>
              <a:cs typeface="+mj-lt"/>
            </a:endParaRPr>
          </a:p>
        </p:txBody>
      </p:sp>
      <p:sp>
        <p:nvSpPr>
          <p:cNvPr id="3" name="Content Placeholder 2">
            <a:extLst>
              <a:ext uri="{FF2B5EF4-FFF2-40B4-BE49-F238E27FC236}">
                <a16:creationId xmlns:a16="http://schemas.microsoft.com/office/drawing/2014/main" id="{10BE24E1-8C11-E724-7FE9-AFA0FD8A6576}"/>
              </a:ext>
            </a:extLst>
          </p:cNvPr>
          <p:cNvSpPr>
            <a:spLocks noGrp="1"/>
          </p:cNvSpPr>
          <p:nvPr>
            <p:ph idx="1"/>
          </p:nvPr>
        </p:nvSpPr>
        <p:spPr>
          <a:xfrm>
            <a:off x="737558" y="1250530"/>
            <a:ext cx="10515600" cy="4351338"/>
          </a:xfrm>
        </p:spPr>
        <p:txBody>
          <a:bodyPr vert="horz" lIns="91440" tIns="45720" rIns="91440" bIns="45720" rtlCol="0" anchor="t">
            <a:normAutofit/>
          </a:bodyPr>
          <a:lstStyle/>
          <a:p>
            <a:r>
              <a:rPr lang="en-US" sz="2000">
                <a:solidFill>
                  <a:srgbClr val="15171A"/>
                </a:solidFill>
                <a:latin typeface="Times New Roman"/>
                <a:ea typeface="+mn-lt"/>
                <a:cs typeface="+mn-lt"/>
              </a:rPr>
              <a:t>Here you annotate the setter method of the relevant attribute with</a:t>
            </a:r>
            <a:r>
              <a:rPr lang="en-US" sz="1400">
                <a:solidFill>
                  <a:srgbClr val="15171A"/>
                </a:solidFill>
                <a:latin typeface="Times New Roman"/>
                <a:ea typeface="+mn-lt"/>
                <a:cs typeface="+mn-lt"/>
              </a:rPr>
              <a:t> </a:t>
            </a:r>
            <a:r>
              <a:rPr lang="en-US" sz="1400">
                <a:solidFill>
                  <a:srgbClr val="15171A"/>
                </a:solidFill>
                <a:latin typeface="Times New Roman"/>
                <a:cs typeface="Times New Roman"/>
              </a:rPr>
              <a:t>  </a:t>
            </a:r>
            <a:r>
              <a:rPr lang="en-US" sz="3200">
                <a:solidFill>
                  <a:srgbClr val="15171A"/>
                </a:solidFill>
                <a:latin typeface="Times New Roman"/>
                <a:cs typeface="Times New Roman"/>
              </a:rPr>
              <a:t>@Autowired</a:t>
            </a:r>
            <a:r>
              <a:rPr lang="en-US" sz="1400">
                <a:solidFill>
                  <a:srgbClr val="15171A"/>
                </a:solidFill>
                <a:latin typeface="Times New Roman"/>
                <a:ea typeface="+mn-lt"/>
                <a:cs typeface="+mn-lt"/>
              </a:rPr>
              <a:t>.</a:t>
            </a:r>
            <a:endParaRPr lang="en-US" sz="1400">
              <a:latin typeface="Times New Roman"/>
              <a:cs typeface="Times New Roman"/>
            </a:endParaRPr>
          </a:p>
        </p:txBody>
      </p:sp>
      <p:sp>
        <p:nvSpPr>
          <p:cNvPr id="4" name="TextBox 3">
            <a:extLst>
              <a:ext uri="{FF2B5EF4-FFF2-40B4-BE49-F238E27FC236}">
                <a16:creationId xmlns:a16="http://schemas.microsoft.com/office/drawing/2014/main" id="{50755BC3-71FE-8C62-B5A7-250352BB6B86}"/>
              </a:ext>
            </a:extLst>
          </p:cNvPr>
          <p:cNvSpPr txBox="1"/>
          <p:nvPr/>
        </p:nvSpPr>
        <p:spPr>
          <a:xfrm>
            <a:off x="928777" y="1719532"/>
            <a:ext cx="9820088"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@Component </a:t>
            </a:r>
            <a:endParaRPr lang="en-US" sz="2000" dirty="0"/>
          </a:p>
          <a:p>
            <a:r>
              <a:rPr lang="en-US" sz="2000" b="1" dirty="0"/>
              <a:t>public class Laptop </a:t>
            </a:r>
            <a:endParaRPr lang="en-US" sz="2000" dirty="0"/>
          </a:p>
          <a:p>
            <a:r>
              <a:rPr lang="en-US" sz="2000" b="1" dirty="0"/>
              <a:t>{ </a:t>
            </a:r>
            <a:endParaRPr lang="en-US" sz="2000" dirty="0"/>
          </a:p>
          <a:p>
            <a:r>
              <a:rPr lang="en-US" sz="2000" b="1" dirty="0"/>
              <a:t>  private </a:t>
            </a:r>
            <a:r>
              <a:rPr lang="en-US" sz="2000" b="1" dirty="0" err="1"/>
              <a:t>HardDisk</a:t>
            </a:r>
            <a:r>
              <a:rPr lang="en-US" sz="2000" b="1" dirty="0"/>
              <a:t> </a:t>
            </a:r>
            <a:r>
              <a:rPr lang="en-US" sz="2000" b="1" dirty="0" err="1"/>
              <a:t>hardDisk</a:t>
            </a:r>
            <a:r>
              <a:rPr lang="en-US" sz="2000" b="1" dirty="0"/>
              <a:t>; </a:t>
            </a:r>
            <a:endParaRPr lang="en-US" sz="2000" dirty="0"/>
          </a:p>
          <a:p>
            <a:r>
              <a:rPr lang="en-US" sz="2000" b="1" dirty="0">
                <a:solidFill>
                  <a:srgbClr val="FF0000"/>
                </a:solidFill>
              </a:rPr>
              <a:t>  </a:t>
            </a:r>
            <a:endParaRPr lang="en-US" sz="2000" dirty="0">
              <a:solidFill>
                <a:srgbClr val="FF0000"/>
              </a:solidFill>
            </a:endParaRPr>
          </a:p>
          <a:p>
            <a:r>
              <a:rPr lang="en-US" sz="2000" b="1" dirty="0">
                <a:solidFill>
                  <a:srgbClr val="FF0000"/>
                </a:solidFill>
              </a:rPr>
              <a:t>  @</a:t>
            </a:r>
            <a:r>
              <a:rPr lang="en-US" sz="2000" b="1" dirty="0" err="1">
                <a:solidFill>
                  <a:srgbClr val="FF0000"/>
                </a:solidFill>
              </a:rPr>
              <a:t>Autowired</a:t>
            </a:r>
            <a:r>
              <a:rPr lang="en-US" sz="2000" b="1" dirty="0">
                <a:solidFill>
                  <a:srgbClr val="FF0000"/>
                </a:solidFill>
              </a:rPr>
              <a:t> </a:t>
            </a:r>
            <a:endParaRPr lang="en-US" sz="2000" dirty="0">
              <a:solidFill>
                <a:srgbClr val="FF0000"/>
              </a:solidFill>
            </a:endParaRPr>
          </a:p>
          <a:p>
            <a:r>
              <a:rPr lang="en-US" sz="2000" b="1" dirty="0">
                <a:highlight>
                  <a:srgbClr val="FFFF00"/>
                </a:highlight>
              </a:rPr>
              <a:t>  public void </a:t>
            </a:r>
            <a:r>
              <a:rPr lang="en-US" sz="2000" b="1" dirty="0" err="1">
                <a:highlight>
                  <a:srgbClr val="FFFF00"/>
                </a:highlight>
              </a:rPr>
              <a:t>setHardDisk</a:t>
            </a:r>
            <a:r>
              <a:rPr lang="en-US" sz="2000" b="1" dirty="0">
                <a:highlight>
                  <a:srgbClr val="FFFF00"/>
                </a:highlight>
              </a:rPr>
              <a:t>(</a:t>
            </a:r>
            <a:r>
              <a:rPr lang="en-US" sz="2000" b="1" dirty="0" err="1">
                <a:highlight>
                  <a:srgbClr val="FFFF00"/>
                </a:highlight>
              </a:rPr>
              <a:t>HardDisk</a:t>
            </a:r>
            <a:r>
              <a:rPr lang="en-US" sz="2000" b="1" dirty="0">
                <a:highlight>
                  <a:srgbClr val="FFFF00"/>
                </a:highlight>
              </a:rPr>
              <a:t> </a:t>
            </a:r>
            <a:r>
              <a:rPr lang="en-US" sz="2000" b="1" dirty="0" err="1">
                <a:highlight>
                  <a:srgbClr val="FFFF00"/>
                </a:highlight>
              </a:rPr>
              <a:t>hardDisk</a:t>
            </a:r>
            <a:r>
              <a:rPr lang="en-US" sz="2000" b="1" dirty="0">
                <a:highlight>
                  <a:srgbClr val="FFFF00"/>
                </a:highlight>
              </a:rPr>
              <a:t>) </a:t>
            </a:r>
            <a:endParaRPr lang="en-US" sz="2000" dirty="0">
              <a:highlight>
                <a:srgbClr val="FFFF00"/>
              </a:highlight>
            </a:endParaRPr>
          </a:p>
          <a:p>
            <a:r>
              <a:rPr lang="en-US" sz="2000" b="1" dirty="0">
                <a:highlight>
                  <a:srgbClr val="FFFF00"/>
                </a:highlight>
              </a:rPr>
              <a:t>  { </a:t>
            </a:r>
            <a:endParaRPr lang="en-US" sz="2000" dirty="0">
              <a:highlight>
                <a:srgbClr val="FFFF00"/>
              </a:highlight>
            </a:endParaRPr>
          </a:p>
          <a:p>
            <a:r>
              <a:rPr lang="en-US" sz="2000" b="1" dirty="0">
                <a:highlight>
                  <a:srgbClr val="FFFF00"/>
                </a:highlight>
              </a:rPr>
              <a:t>   </a:t>
            </a:r>
            <a:r>
              <a:rPr lang="en-US" sz="2000" b="1" dirty="0" err="1">
                <a:highlight>
                  <a:srgbClr val="FFFF00"/>
                </a:highlight>
              </a:rPr>
              <a:t>this.hardDisk</a:t>
            </a:r>
            <a:r>
              <a:rPr lang="en-US" sz="2000" b="1" dirty="0">
                <a:highlight>
                  <a:srgbClr val="FFFF00"/>
                </a:highlight>
              </a:rPr>
              <a:t> = </a:t>
            </a:r>
            <a:r>
              <a:rPr lang="en-US" sz="2000" b="1" dirty="0" err="1">
                <a:highlight>
                  <a:srgbClr val="FFFF00"/>
                </a:highlight>
              </a:rPr>
              <a:t>hardDisk</a:t>
            </a:r>
            <a:r>
              <a:rPr lang="en-US" sz="2000" b="1" dirty="0">
                <a:highlight>
                  <a:srgbClr val="FFFF00"/>
                </a:highlight>
              </a:rPr>
              <a:t>; </a:t>
            </a:r>
            <a:endParaRPr lang="en-US" sz="2000" dirty="0">
              <a:highlight>
                <a:srgbClr val="FFFF00"/>
              </a:highlight>
            </a:endParaRPr>
          </a:p>
          <a:p>
            <a:r>
              <a:rPr lang="en-US" sz="2000" b="1" dirty="0">
                <a:highlight>
                  <a:srgbClr val="FFFF00"/>
                </a:highlight>
              </a:rPr>
              <a:t>  } </a:t>
            </a:r>
            <a:endParaRPr lang="en-US" sz="2000" dirty="0">
              <a:highlight>
                <a:srgbClr val="FFFF00"/>
              </a:highlight>
            </a:endParaRPr>
          </a:p>
          <a:p>
            <a:r>
              <a:rPr lang="en-US" sz="2000" b="1" dirty="0"/>
              <a:t>  </a:t>
            </a:r>
            <a:endParaRPr lang="en-US" sz="2000" dirty="0"/>
          </a:p>
          <a:p>
            <a:r>
              <a:rPr lang="en-US" sz="2000" b="1" dirty="0"/>
              <a:t>  public void </a:t>
            </a:r>
            <a:r>
              <a:rPr lang="en-US" sz="2000" b="1" dirty="0" err="1"/>
              <a:t>saveData</a:t>
            </a:r>
            <a:r>
              <a:rPr lang="en-US" sz="2000" b="1" dirty="0"/>
              <a:t>()</a:t>
            </a:r>
            <a:endParaRPr lang="en-US" sz="2000" dirty="0"/>
          </a:p>
          <a:p>
            <a:r>
              <a:rPr lang="en-US" sz="2000" b="1" dirty="0"/>
              <a:t>  { </a:t>
            </a:r>
            <a:endParaRPr lang="en-US" sz="2000" dirty="0"/>
          </a:p>
          <a:p>
            <a:r>
              <a:rPr lang="en-US" sz="2000" b="1" dirty="0"/>
              <a:t>   </a:t>
            </a:r>
            <a:r>
              <a:rPr lang="en-US" sz="2000" b="1" dirty="0" err="1"/>
              <a:t>hardDisk.saveData</a:t>
            </a:r>
            <a:r>
              <a:rPr lang="en-US" sz="2000" b="1" dirty="0"/>
              <a:t>(); </a:t>
            </a:r>
            <a:endParaRPr lang="en-US" sz="2000" dirty="0"/>
          </a:p>
          <a:p>
            <a:r>
              <a:rPr lang="en-US" sz="2000" b="1" dirty="0"/>
              <a:t>  }  </a:t>
            </a:r>
            <a:endParaRPr lang="en-US" sz="2000" dirty="0"/>
          </a:p>
          <a:p>
            <a:r>
              <a:rPr lang="en-US" sz="2000" b="1" dirty="0"/>
              <a:t>}</a:t>
            </a:r>
            <a:endParaRPr lang="en-US" sz="2000" dirty="0"/>
          </a:p>
        </p:txBody>
      </p:sp>
    </p:spTree>
    <p:extLst>
      <p:ext uri="{BB962C8B-B14F-4D97-AF65-F5344CB8AC3E}">
        <p14:creationId xmlns:p14="http://schemas.microsoft.com/office/powerpoint/2010/main" val="3400366960"/>
      </p:ext>
    </p:extLst>
  </p:cSld>
  <p:clrMapOvr>
    <a:masterClrMapping/>
  </p:clrMapOvr>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7E2CA-4034-3D67-01F2-4C11DC6D7DF0}"/>
              </a:ext>
            </a:extLst>
          </p:cNvPr>
          <p:cNvSpPr>
            <a:spLocks noGrp="1"/>
          </p:cNvSpPr>
          <p:nvPr>
            <p:ph type="title"/>
          </p:nvPr>
        </p:nvSpPr>
        <p:spPr/>
        <p:txBody>
          <a:bodyPr>
            <a:noAutofit/>
          </a:bodyPr>
          <a:lstStyle/>
          <a:p>
            <a:r>
              <a:rPr lang="en-US" sz="4000" b="1">
                <a:solidFill>
                  <a:srgbClr val="15171A"/>
                </a:solidFill>
                <a:highlight>
                  <a:srgbClr val="FFFF00"/>
                </a:highlight>
              </a:rPr>
              <a:t>Dependency Injection with XML configuration</a:t>
            </a:r>
            <a:endParaRPr lang="en-US" sz="4000" b="1">
              <a:highlight>
                <a:srgbClr val="FFFF00"/>
              </a:highlight>
            </a:endParaRPr>
          </a:p>
        </p:txBody>
      </p:sp>
      <p:sp>
        <p:nvSpPr>
          <p:cNvPr id="3" name="Content Placeholder 2">
            <a:extLst>
              <a:ext uri="{FF2B5EF4-FFF2-40B4-BE49-F238E27FC236}">
                <a16:creationId xmlns:a16="http://schemas.microsoft.com/office/drawing/2014/main" id="{2EEE3099-1D2F-1F3E-033C-66331FD05002}"/>
              </a:ext>
            </a:extLst>
          </p:cNvPr>
          <p:cNvSpPr>
            <a:spLocks noGrp="1"/>
          </p:cNvSpPr>
          <p:nvPr>
            <p:ph idx="1"/>
          </p:nvPr>
        </p:nvSpPr>
        <p:spPr/>
        <p:txBody>
          <a:bodyPr vert="horz" lIns="91440" tIns="45720" rIns="91440" bIns="45720" rtlCol="0" anchor="t">
            <a:normAutofit/>
          </a:bodyPr>
          <a:lstStyle/>
          <a:p>
            <a:r>
              <a:rPr lang="en-US" sz="2400">
                <a:ea typeface="+mn-lt"/>
                <a:cs typeface="+mn-lt"/>
              </a:rPr>
              <a:t>Another way to configure Spring runtime with constructor-based dependency injection is to use an XML configuration file.</a:t>
            </a:r>
            <a:endParaRPr lang="en-US" sz="2400"/>
          </a:p>
          <a:p>
            <a:r>
              <a:rPr lang="en-US" sz="2400">
                <a:ea typeface="+mn-lt"/>
                <a:cs typeface="+mn-lt"/>
              </a:rPr>
              <a:t>In this case, we need to bootstrap our Spring application context using </a:t>
            </a:r>
            <a:r>
              <a:rPr lang="en-US" sz="2400" err="1">
                <a:latin typeface="Consolas"/>
              </a:rPr>
              <a:t>ClassPathXmlApplicationContext</a:t>
            </a:r>
            <a:r>
              <a:rPr lang="en-US" sz="2400">
                <a:ea typeface="+mn-lt"/>
                <a:cs typeface="+mn-lt"/>
              </a:rPr>
              <a:t>.</a:t>
            </a:r>
            <a:endParaRPr lang="en-US" sz="2400"/>
          </a:p>
          <a:p>
            <a:r>
              <a:rPr lang="en-US" sz="2400">
                <a:ea typeface="+mn-lt"/>
                <a:cs typeface="+mn-lt"/>
              </a:rPr>
              <a:t>This approach is not used commonly, and you’ll see it rarely in professional codebases. This is because for large projects, defining each bean in XML configuration file is not practical.</a:t>
            </a:r>
            <a:endParaRPr lang="en-US" sz="2400"/>
          </a:p>
        </p:txBody>
      </p:sp>
    </p:spTree>
    <p:extLst>
      <p:ext uri="{BB962C8B-B14F-4D97-AF65-F5344CB8AC3E}">
        <p14:creationId xmlns:p14="http://schemas.microsoft.com/office/powerpoint/2010/main" val="702534459"/>
      </p:ext>
    </p:extLst>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7301D-DBCB-12B7-063F-C49B9416B976}"/>
              </a:ext>
            </a:extLst>
          </p:cNvPr>
          <p:cNvSpPr>
            <a:spLocks noGrp="1"/>
          </p:cNvSpPr>
          <p:nvPr>
            <p:ph type="title"/>
          </p:nvPr>
        </p:nvSpPr>
        <p:spPr>
          <a:xfrm>
            <a:off x="838199" y="365125"/>
            <a:ext cx="10974355" cy="885177"/>
          </a:xfrm>
          <a:solidFill>
            <a:srgbClr val="FFFF00"/>
          </a:solidFill>
        </p:spPr>
        <p:txBody>
          <a:bodyPr/>
          <a:lstStyle/>
          <a:p>
            <a:r>
              <a:rPr lang="en-US" b="1" dirty="0">
                <a:solidFill>
                  <a:srgbClr val="15171A"/>
                </a:solidFill>
              </a:rPr>
              <a:t>Constructor Injection </a:t>
            </a:r>
            <a:r>
              <a:rPr lang="en-US" b="1" dirty="0">
                <a:solidFill>
                  <a:srgbClr val="15171A"/>
                </a:solidFill>
                <a:ea typeface="+mj-lt"/>
                <a:cs typeface="+mj-lt"/>
              </a:rPr>
              <a:t>using XML</a:t>
            </a:r>
            <a:endParaRPr lang="en-US" dirty="0">
              <a:solidFill>
                <a:srgbClr val="000000"/>
              </a:solidFill>
              <a:ea typeface="+mj-lt"/>
              <a:cs typeface="+mj-lt"/>
            </a:endParaRPr>
          </a:p>
        </p:txBody>
      </p:sp>
      <p:sp>
        <p:nvSpPr>
          <p:cNvPr id="3" name="Content Placeholder 2">
            <a:extLst>
              <a:ext uri="{FF2B5EF4-FFF2-40B4-BE49-F238E27FC236}">
                <a16:creationId xmlns:a16="http://schemas.microsoft.com/office/drawing/2014/main" id="{3FB33E05-FC5C-9EDC-DDD5-E95412ED318F}"/>
              </a:ext>
            </a:extLst>
          </p:cNvPr>
          <p:cNvSpPr>
            <a:spLocks noGrp="1"/>
          </p:cNvSpPr>
          <p:nvPr>
            <p:ph idx="1"/>
          </p:nvPr>
        </p:nvSpPr>
        <p:spPr/>
        <p:txBody>
          <a:bodyPr vert="horz" lIns="91440" tIns="45720" rIns="91440" bIns="45720" rtlCol="0" anchor="t">
            <a:normAutofit/>
          </a:bodyPr>
          <a:lstStyle/>
          <a:p>
            <a:r>
              <a:rPr lang="en-US" sz="2000" dirty="0">
                <a:ea typeface="+mn-lt"/>
                <a:cs typeface="+mn-lt"/>
              </a:rPr>
              <a:t>For injecting a bean into a class,</a:t>
            </a:r>
            <a:endParaRPr lang="en-US" sz="2000" dirty="0"/>
          </a:p>
          <a:p>
            <a:r>
              <a:rPr lang="en-US" sz="2000" dirty="0">
                <a:ea typeface="+mn-lt"/>
                <a:cs typeface="+mn-lt"/>
              </a:rPr>
              <a:t>You have to define the beans you want to inject into </a:t>
            </a:r>
            <a:r>
              <a:rPr lang="en-US" sz="2000" dirty="0">
                <a:latin typeface="Consolas"/>
              </a:rPr>
              <a:t>Laptop</a:t>
            </a:r>
            <a:r>
              <a:rPr lang="en-US" sz="2000" dirty="0">
                <a:ea typeface="+mn-lt"/>
                <a:cs typeface="+mn-lt"/>
              </a:rPr>
              <a:t> object using </a:t>
            </a:r>
            <a:r>
              <a:rPr lang="en-US" sz="2000" dirty="0" smtClean="0">
                <a:latin typeface="Consolas"/>
              </a:rPr>
              <a:t>constructor-</a:t>
            </a:r>
            <a:r>
              <a:rPr lang="en-US" sz="2000" dirty="0" err="1" smtClean="0">
                <a:latin typeface="Consolas"/>
              </a:rPr>
              <a:t>arg</a:t>
            </a:r>
            <a:r>
              <a:rPr lang="en-US" sz="2000" dirty="0">
                <a:ea typeface="+mn-lt"/>
                <a:cs typeface="+mn-lt"/>
              </a:rPr>
              <a:t> in </a:t>
            </a:r>
            <a:r>
              <a:rPr lang="en-US" sz="2000" dirty="0">
                <a:latin typeface="Consolas"/>
              </a:rPr>
              <a:t>applicationContext.xml</a:t>
            </a:r>
            <a:r>
              <a:rPr lang="en-US" sz="2000" dirty="0">
                <a:ea typeface="+mn-lt"/>
                <a:cs typeface="+mn-lt"/>
              </a:rPr>
              <a:t> file. </a:t>
            </a:r>
            <a:endParaRPr lang="en-US" sz="2000" dirty="0" smtClean="0">
              <a:ea typeface="+mn-lt"/>
              <a:cs typeface="+mn-lt"/>
            </a:endParaRPr>
          </a:p>
          <a:p>
            <a:r>
              <a:rPr lang="en-US" sz="2000" dirty="0" smtClean="0">
                <a:latin typeface="Consolas"/>
              </a:rPr>
              <a:t>applicationContext.xml</a:t>
            </a:r>
            <a:r>
              <a:rPr lang="en-US" sz="2000" dirty="0">
                <a:ea typeface="+mn-lt"/>
                <a:cs typeface="+mn-lt"/>
              </a:rPr>
              <a:t> is a spring </a:t>
            </a:r>
            <a:r>
              <a:rPr lang="en-US" sz="2000" dirty="0" err="1">
                <a:ea typeface="+mn-lt"/>
                <a:cs typeface="+mn-lt"/>
              </a:rPr>
              <a:t>config</a:t>
            </a:r>
            <a:r>
              <a:rPr lang="en-US" sz="2000" dirty="0">
                <a:ea typeface="+mn-lt"/>
                <a:cs typeface="+mn-lt"/>
              </a:rPr>
              <a:t> file from which we can the set different properties for our Spring container.</a:t>
            </a:r>
            <a:endParaRPr lang="en-US" sz="2000" dirty="0"/>
          </a:p>
        </p:txBody>
      </p:sp>
    </p:spTree>
    <p:extLst>
      <p:ext uri="{BB962C8B-B14F-4D97-AF65-F5344CB8AC3E}">
        <p14:creationId xmlns:p14="http://schemas.microsoft.com/office/powerpoint/2010/main" val="2159308512"/>
      </p:ext>
    </p:extLst>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48782-4293-6853-8465-4285CEFFDE33}"/>
              </a:ext>
            </a:extLst>
          </p:cNvPr>
          <p:cNvSpPr>
            <a:spLocks noGrp="1"/>
          </p:cNvSpPr>
          <p:nvPr>
            <p:ph type="title"/>
          </p:nvPr>
        </p:nvSpPr>
        <p:spPr/>
        <p:txBody>
          <a:bodyPr/>
          <a:lstStyle/>
          <a:p>
            <a:endParaRPr lang="en-US"/>
          </a:p>
        </p:txBody>
      </p:sp>
      <p:pic>
        <p:nvPicPr>
          <p:cNvPr id="4" name="Content Placeholder 3" descr="A computer code on a black background&#10;&#10;Description automatically generated">
            <a:extLst>
              <a:ext uri="{FF2B5EF4-FFF2-40B4-BE49-F238E27FC236}">
                <a16:creationId xmlns:a16="http://schemas.microsoft.com/office/drawing/2014/main" id="{92D9C484-E63C-22DE-0830-AFD5F0E6C49B}"/>
              </a:ext>
            </a:extLst>
          </p:cNvPr>
          <p:cNvPicPr>
            <a:picLocks noGrp="1" noChangeAspect="1"/>
          </p:cNvPicPr>
          <p:nvPr>
            <p:ph idx="1"/>
          </p:nvPr>
        </p:nvPicPr>
        <p:blipFill>
          <a:blip r:embed="rId2"/>
          <a:stretch>
            <a:fillRect/>
          </a:stretch>
        </p:blipFill>
        <p:spPr>
          <a:xfrm>
            <a:off x="2789208" y="366518"/>
            <a:ext cx="6369169" cy="1317325"/>
          </a:xfrm>
        </p:spPr>
      </p:pic>
      <p:pic>
        <p:nvPicPr>
          <p:cNvPr id="5" name="Picture 4" descr="A black screen with white text&#10;&#10;Description automatically generated">
            <a:extLst>
              <a:ext uri="{FF2B5EF4-FFF2-40B4-BE49-F238E27FC236}">
                <a16:creationId xmlns:a16="http://schemas.microsoft.com/office/drawing/2014/main" id="{7D8B0FB6-7F20-1C03-894B-B2C1D5993D2C}"/>
              </a:ext>
            </a:extLst>
          </p:cNvPr>
          <p:cNvPicPr>
            <a:picLocks noChangeAspect="1"/>
          </p:cNvPicPr>
          <p:nvPr/>
        </p:nvPicPr>
        <p:blipFill>
          <a:blip r:embed="rId3"/>
          <a:stretch>
            <a:fillRect/>
          </a:stretch>
        </p:blipFill>
        <p:spPr>
          <a:xfrm>
            <a:off x="106663" y="2039069"/>
            <a:ext cx="5882675" cy="2779862"/>
          </a:xfrm>
          <a:prstGeom prst="rect">
            <a:avLst/>
          </a:prstGeom>
        </p:spPr>
      </p:pic>
      <p:pic>
        <p:nvPicPr>
          <p:cNvPr id="6" name="Picture 5" descr="A computer code on a black background&#10;&#10;Description automatically generated">
            <a:extLst>
              <a:ext uri="{FF2B5EF4-FFF2-40B4-BE49-F238E27FC236}">
                <a16:creationId xmlns:a16="http://schemas.microsoft.com/office/drawing/2014/main" id="{79F3954C-4927-CAC7-1D41-F6A8D5B41AAB}"/>
              </a:ext>
            </a:extLst>
          </p:cNvPr>
          <p:cNvPicPr>
            <a:picLocks noChangeAspect="1"/>
          </p:cNvPicPr>
          <p:nvPr/>
        </p:nvPicPr>
        <p:blipFill>
          <a:blip r:embed="rId4"/>
          <a:stretch>
            <a:fillRect/>
          </a:stretch>
        </p:blipFill>
        <p:spPr>
          <a:xfrm>
            <a:off x="6279582" y="2043832"/>
            <a:ext cx="5815102" cy="2770337"/>
          </a:xfrm>
          <a:prstGeom prst="rect">
            <a:avLst/>
          </a:prstGeom>
        </p:spPr>
      </p:pic>
    </p:spTree>
    <p:extLst>
      <p:ext uri="{BB962C8B-B14F-4D97-AF65-F5344CB8AC3E}">
        <p14:creationId xmlns:p14="http://schemas.microsoft.com/office/powerpoint/2010/main" val="2118936490"/>
      </p:ext>
    </p:extLst>
  </p:cSld>
  <p:clrMapOvr>
    <a:masterClrMapping/>
  </p:clrMapOvr>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56415-C399-A1DC-E9B8-5C33992FC819}"/>
              </a:ext>
            </a:extLst>
          </p:cNvPr>
          <p:cNvSpPr>
            <a:spLocks noGrp="1"/>
          </p:cNvSpPr>
          <p:nvPr>
            <p:ph type="title"/>
          </p:nvPr>
        </p:nvSpPr>
        <p:spPr/>
        <p:txBody>
          <a:bodyPr/>
          <a:lstStyle/>
          <a:p>
            <a:endParaRPr lang="en-US"/>
          </a:p>
        </p:txBody>
      </p:sp>
      <p:pic>
        <p:nvPicPr>
          <p:cNvPr id="4" name="Content Placeholder 3" descr="A computer code on a black background&#10;&#10;Description automatically generated">
            <a:extLst>
              <a:ext uri="{FF2B5EF4-FFF2-40B4-BE49-F238E27FC236}">
                <a16:creationId xmlns:a16="http://schemas.microsoft.com/office/drawing/2014/main" id="{2F97FED4-1936-085C-9F9A-9A82E49F33D2}"/>
              </a:ext>
            </a:extLst>
          </p:cNvPr>
          <p:cNvPicPr>
            <a:picLocks noGrp="1" noChangeAspect="1"/>
          </p:cNvPicPr>
          <p:nvPr>
            <p:ph idx="1"/>
          </p:nvPr>
        </p:nvPicPr>
        <p:blipFill>
          <a:blip r:embed="rId2"/>
          <a:stretch>
            <a:fillRect/>
          </a:stretch>
        </p:blipFill>
        <p:spPr>
          <a:xfrm>
            <a:off x="1084861" y="1709903"/>
            <a:ext cx="8368880" cy="3820782"/>
          </a:xfrm>
        </p:spPr>
      </p:pic>
    </p:spTree>
    <p:extLst>
      <p:ext uri="{BB962C8B-B14F-4D97-AF65-F5344CB8AC3E}">
        <p14:creationId xmlns:p14="http://schemas.microsoft.com/office/powerpoint/2010/main" val="2274676425"/>
      </p:ext>
    </p:extLst>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A636E-BE23-10E3-8D72-6B9E168E2B24}"/>
              </a:ext>
            </a:extLst>
          </p:cNvPr>
          <p:cNvSpPr>
            <a:spLocks noGrp="1"/>
          </p:cNvSpPr>
          <p:nvPr>
            <p:ph type="title"/>
          </p:nvPr>
        </p:nvSpPr>
        <p:spPr/>
        <p:txBody>
          <a:bodyPr/>
          <a:lstStyle/>
          <a:p>
            <a:endParaRPr lang="en-US"/>
          </a:p>
        </p:txBody>
      </p:sp>
      <p:pic>
        <p:nvPicPr>
          <p:cNvPr id="4" name="Content Placeholder 3" descr="A computer screen with text on it&#10;&#10;Description automatically generated">
            <a:extLst>
              <a:ext uri="{FF2B5EF4-FFF2-40B4-BE49-F238E27FC236}">
                <a16:creationId xmlns:a16="http://schemas.microsoft.com/office/drawing/2014/main" id="{7C05CB1F-D278-986E-BF1B-CB8C2C01D75C}"/>
              </a:ext>
            </a:extLst>
          </p:cNvPr>
          <p:cNvPicPr>
            <a:picLocks noGrp="1" noChangeAspect="1"/>
          </p:cNvPicPr>
          <p:nvPr>
            <p:ph idx="1"/>
          </p:nvPr>
        </p:nvPicPr>
        <p:blipFill>
          <a:blip r:embed="rId2"/>
          <a:stretch>
            <a:fillRect/>
          </a:stretch>
        </p:blipFill>
        <p:spPr>
          <a:xfrm>
            <a:off x="675736" y="509090"/>
            <a:ext cx="10955547" cy="5977992"/>
          </a:xfrm>
        </p:spPr>
      </p:pic>
    </p:spTree>
    <p:extLst>
      <p:ext uri="{BB962C8B-B14F-4D97-AF65-F5344CB8AC3E}">
        <p14:creationId xmlns:p14="http://schemas.microsoft.com/office/powerpoint/2010/main" val="375330979"/>
      </p:ext>
    </p:extLst>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473762-24D0-1B8D-5247-CBCAA883EAB3}"/>
              </a:ext>
            </a:extLst>
          </p:cNvPr>
          <p:cNvSpPr>
            <a:spLocks noGrp="1"/>
          </p:cNvSpPr>
          <p:nvPr>
            <p:ph idx="1"/>
          </p:nvPr>
        </p:nvSpPr>
        <p:spPr>
          <a:xfrm>
            <a:off x="320615" y="517285"/>
            <a:ext cx="11665788" cy="4351338"/>
          </a:xfrm>
        </p:spPr>
        <p:txBody>
          <a:bodyPr vert="horz" lIns="91440" tIns="45720" rIns="91440" bIns="45720" rtlCol="0" anchor="t">
            <a:noAutofit/>
          </a:bodyPr>
          <a:lstStyle/>
          <a:p>
            <a:pPr marL="0" indent="0">
              <a:buNone/>
            </a:pPr>
            <a:r>
              <a:rPr lang="en-US" sz="1600">
                <a:ea typeface="+mn-lt"/>
                <a:cs typeface="+mn-lt"/>
              </a:rPr>
              <a:t>import </a:t>
            </a:r>
            <a:r>
              <a:rPr lang="en-US" sz="1600" err="1">
                <a:ea typeface="+mn-lt"/>
                <a:cs typeface="+mn-lt"/>
              </a:rPr>
              <a:t>org.springframework.context.ApplicationContext</a:t>
            </a:r>
            <a:r>
              <a:rPr lang="en-US" sz="1600">
                <a:ea typeface="+mn-lt"/>
                <a:cs typeface="+mn-lt"/>
              </a:rPr>
              <a:t>;</a:t>
            </a:r>
            <a:endParaRPr lang="en-US" sz="1600"/>
          </a:p>
          <a:p>
            <a:pPr marL="0" indent="0">
              <a:buNone/>
            </a:pPr>
            <a:r>
              <a:rPr lang="en-US" sz="1600">
                <a:ea typeface="+mn-lt"/>
                <a:cs typeface="+mn-lt"/>
              </a:rPr>
              <a:t>import org.springframework.context.support.ClassPathXmlApplicationContext;</a:t>
            </a:r>
            <a:endParaRPr lang="en-US" sz="1600"/>
          </a:p>
          <a:p>
            <a:pPr marL="0" indent="0">
              <a:buNone/>
            </a:pPr>
            <a:endParaRPr lang="en-US" sz="1600"/>
          </a:p>
          <a:p>
            <a:pPr marL="0" indent="0">
              <a:buNone/>
            </a:pPr>
            <a:r>
              <a:rPr lang="en-US" sz="1600">
                <a:ea typeface="+mn-lt"/>
                <a:cs typeface="+mn-lt"/>
              </a:rPr>
              <a:t>public class Main {</a:t>
            </a:r>
            <a:endParaRPr lang="en-US" sz="1600"/>
          </a:p>
          <a:p>
            <a:pPr marL="0" indent="0">
              <a:buNone/>
            </a:pPr>
            <a:r>
              <a:rPr lang="en-US" sz="1600">
                <a:ea typeface="+mn-lt"/>
                <a:cs typeface="+mn-lt"/>
              </a:rPr>
              <a:t>    public static void main(String[] </a:t>
            </a:r>
            <a:r>
              <a:rPr lang="en-US" sz="1600" err="1">
                <a:ea typeface="+mn-lt"/>
                <a:cs typeface="+mn-lt"/>
              </a:rPr>
              <a:t>args</a:t>
            </a:r>
            <a:r>
              <a:rPr lang="en-US" sz="1600">
                <a:ea typeface="+mn-lt"/>
                <a:cs typeface="+mn-lt"/>
              </a:rPr>
              <a:t>) {</a:t>
            </a:r>
            <a:endParaRPr lang="en-US" sz="1600"/>
          </a:p>
          <a:p>
            <a:pPr marL="0" indent="0">
              <a:buNone/>
            </a:pPr>
            <a:r>
              <a:rPr lang="en-US" sz="1600">
                <a:ea typeface="+mn-lt"/>
                <a:cs typeface="+mn-lt"/>
              </a:rPr>
              <a:t>        // Load the Spring context from the XML configuration file</a:t>
            </a:r>
            <a:endParaRPr lang="en-US" sz="1600"/>
          </a:p>
          <a:p>
            <a:pPr marL="0" indent="0">
              <a:buNone/>
            </a:pPr>
            <a:r>
              <a:rPr lang="en-US" sz="1600">
                <a:ea typeface="+mn-lt"/>
                <a:cs typeface="+mn-lt"/>
              </a:rPr>
              <a:t>        </a:t>
            </a:r>
            <a:r>
              <a:rPr lang="en-US" sz="1600" err="1">
                <a:ea typeface="+mn-lt"/>
                <a:cs typeface="+mn-lt"/>
              </a:rPr>
              <a:t>ApplicationContext</a:t>
            </a:r>
            <a:r>
              <a:rPr lang="en-US" sz="1600">
                <a:ea typeface="+mn-lt"/>
                <a:cs typeface="+mn-lt"/>
              </a:rPr>
              <a:t> context = new </a:t>
            </a:r>
            <a:r>
              <a:rPr lang="en-US" sz="1600" err="1">
                <a:ea typeface="+mn-lt"/>
                <a:cs typeface="+mn-lt"/>
              </a:rPr>
              <a:t>ClassPathXmlApplicationContext</a:t>
            </a:r>
            <a:r>
              <a:rPr lang="en-US" sz="1600">
                <a:ea typeface="+mn-lt"/>
                <a:cs typeface="+mn-lt"/>
              </a:rPr>
              <a:t>("spring-config.xml");</a:t>
            </a:r>
            <a:endParaRPr lang="en-US" sz="1600"/>
          </a:p>
          <a:p>
            <a:pPr marL="0" indent="0">
              <a:buNone/>
            </a:pPr>
            <a:endParaRPr lang="en-US" sz="1600"/>
          </a:p>
          <a:p>
            <a:pPr marL="0" indent="0">
              <a:buNone/>
            </a:pPr>
            <a:r>
              <a:rPr lang="en-US" sz="1600" b="1">
                <a:ea typeface="+mn-lt"/>
                <a:cs typeface="+mn-lt"/>
              </a:rPr>
              <a:t>        // Get the Laptop bean from the context</a:t>
            </a:r>
            <a:endParaRPr lang="en-US" sz="1600" b="1"/>
          </a:p>
          <a:p>
            <a:pPr marL="0" indent="0">
              <a:buNone/>
            </a:pPr>
            <a:r>
              <a:rPr lang="en-US" sz="1600">
                <a:ea typeface="+mn-lt"/>
                <a:cs typeface="+mn-lt"/>
              </a:rPr>
              <a:t>        Laptop </a:t>
            </a:r>
            <a:r>
              <a:rPr lang="en-US" sz="1600" err="1">
                <a:ea typeface="+mn-lt"/>
                <a:cs typeface="+mn-lt"/>
              </a:rPr>
              <a:t>laptop</a:t>
            </a:r>
            <a:r>
              <a:rPr lang="en-US" sz="1600">
                <a:ea typeface="+mn-lt"/>
                <a:cs typeface="+mn-lt"/>
              </a:rPr>
              <a:t> = (Laptop) </a:t>
            </a:r>
            <a:r>
              <a:rPr lang="en-US" sz="1600" err="1">
                <a:ea typeface="+mn-lt"/>
                <a:cs typeface="+mn-lt"/>
              </a:rPr>
              <a:t>context.getBean</a:t>
            </a:r>
            <a:r>
              <a:rPr lang="en-US" sz="1600">
                <a:ea typeface="+mn-lt"/>
                <a:cs typeface="+mn-lt"/>
              </a:rPr>
              <a:t>("laptop");</a:t>
            </a:r>
            <a:endParaRPr lang="en-US" sz="1600"/>
          </a:p>
          <a:p>
            <a:pPr marL="0" indent="0">
              <a:buNone/>
            </a:pPr>
            <a:endParaRPr lang="en-US" sz="1600"/>
          </a:p>
          <a:p>
            <a:pPr marL="0" indent="0">
              <a:buNone/>
            </a:pPr>
            <a:r>
              <a:rPr lang="en-US" sz="1600" b="1">
                <a:ea typeface="+mn-lt"/>
                <a:cs typeface="+mn-lt"/>
              </a:rPr>
              <a:t>        // Use the Laptop object to save data using the injected </a:t>
            </a:r>
            <a:r>
              <a:rPr lang="en-US" sz="1600" b="1" err="1">
                <a:ea typeface="+mn-lt"/>
                <a:cs typeface="+mn-lt"/>
              </a:rPr>
              <a:t>Hdd</a:t>
            </a:r>
            <a:r>
              <a:rPr lang="en-US" sz="1600" b="1">
                <a:ea typeface="+mn-lt"/>
                <a:cs typeface="+mn-lt"/>
              </a:rPr>
              <a:t> implementation</a:t>
            </a:r>
            <a:endParaRPr lang="en-US" sz="1600" b="1"/>
          </a:p>
          <a:p>
            <a:pPr marL="0" indent="0">
              <a:buNone/>
            </a:pPr>
            <a:r>
              <a:rPr lang="en-US" sz="1600">
                <a:ea typeface="+mn-lt"/>
                <a:cs typeface="+mn-lt"/>
              </a:rPr>
              <a:t>        </a:t>
            </a:r>
            <a:r>
              <a:rPr lang="en-US" sz="1600" err="1">
                <a:ea typeface="+mn-lt"/>
                <a:cs typeface="+mn-lt"/>
              </a:rPr>
              <a:t>laptop.saveDataOnHdd</a:t>
            </a:r>
            <a:r>
              <a:rPr lang="en-US" sz="1600">
                <a:ea typeface="+mn-lt"/>
                <a:cs typeface="+mn-lt"/>
              </a:rPr>
              <a:t>("Hello, World!");</a:t>
            </a:r>
            <a:endParaRPr lang="en-US" sz="1600"/>
          </a:p>
          <a:p>
            <a:pPr marL="0" indent="0">
              <a:buNone/>
            </a:pPr>
            <a:r>
              <a:rPr lang="en-US" sz="1600">
                <a:ea typeface="+mn-lt"/>
                <a:cs typeface="+mn-lt"/>
              </a:rPr>
              <a:t>   }</a:t>
            </a:r>
            <a:endParaRPr lang="en-US" sz="1600"/>
          </a:p>
          <a:p>
            <a:pPr marL="0" indent="0">
              <a:buNone/>
            </a:pPr>
            <a:r>
              <a:rPr lang="en-US" sz="1600">
                <a:ea typeface="+mn-lt"/>
                <a:cs typeface="+mn-lt"/>
              </a:rPr>
              <a:t>}</a:t>
            </a:r>
            <a:endParaRPr lang="en-US" sz="1600"/>
          </a:p>
          <a:p>
            <a:pPr marL="0" indent="0">
              <a:buNone/>
            </a:pPr>
            <a:endParaRPr lang="en-US" sz="1600"/>
          </a:p>
        </p:txBody>
      </p:sp>
    </p:spTree>
    <p:extLst>
      <p:ext uri="{BB962C8B-B14F-4D97-AF65-F5344CB8AC3E}">
        <p14:creationId xmlns:p14="http://schemas.microsoft.com/office/powerpoint/2010/main" val="1631114872"/>
      </p:ext>
    </p:extLst>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4681F-850E-3C16-9E62-8D597DE7D023}"/>
              </a:ext>
            </a:extLst>
          </p:cNvPr>
          <p:cNvSpPr>
            <a:spLocks noGrp="1"/>
          </p:cNvSpPr>
          <p:nvPr>
            <p:ph type="title"/>
          </p:nvPr>
        </p:nvSpPr>
        <p:spPr>
          <a:xfrm>
            <a:off x="694426" y="120711"/>
            <a:ext cx="10515600" cy="849674"/>
          </a:xfrm>
          <a:solidFill>
            <a:srgbClr val="FFFF00"/>
          </a:solidFill>
        </p:spPr>
        <p:txBody>
          <a:bodyPr>
            <a:normAutofit/>
          </a:bodyPr>
          <a:lstStyle/>
          <a:p>
            <a:r>
              <a:rPr lang="en-US" sz="5400" b="1" dirty="0">
                <a:solidFill>
                  <a:srgbClr val="15171A"/>
                </a:solidFill>
              </a:rPr>
              <a:t>Setters Injection </a:t>
            </a:r>
            <a:r>
              <a:rPr lang="en-US" b="1" dirty="0">
                <a:solidFill>
                  <a:srgbClr val="15171A"/>
                </a:solidFill>
                <a:ea typeface="+mj-lt"/>
                <a:cs typeface="+mj-lt"/>
              </a:rPr>
              <a:t>using XML</a:t>
            </a:r>
            <a:endParaRPr lang="en-US" sz="5400" b="1" dirty="0"/>
          </a:p>
        </p:txBody>
      </p:sp>
      <p:sp>
        <p:nvSpPr>
          <p:cNvPr id="3" name="Content Placeholder 2">
            <a:extLst>
              <a:ext uri="{FF2B5EF4-FFF2-40B4-BE49-F238E27FC236}">
                <a16:creationId xmlns:a16="http://schemas.microsoft.com/office/drawing/2014/main" id="{C583B2DE-5031-7FED-1FB3-8BF5C291C79A}"/>
              </a:ext>
            </a:extLst>
          </p:cNvPr>
          <p:cNvSpPr>
            <a:spLocks noGrp="1"/>
          </p:cNvSpPr>
          <p:nvPr>
            <p:ph idx="1"/>
          </p:nvPr>
        </p:nvSpPr>
        <p:spPr>
          <a:xfrm>
            <a:off x="838200" y="1408682"/>
            <a:ext cx="10515600" cy="5328997"/>
          </a:xfrm>
        </p:spPr>
        <p:txBody>
          <a:bodyPr vert="horz" lIns="91440" tIns="45720" rIns="91440" bIns="45720" rtlCol="0" anchor="t">
            <a:normAutofit fontScale="62500" lnSpcReduction="20000"/>
          </a:bodyPr>
          <a:lstStyle/>
          <a:p>
            <a:pPr marL="0" indent="0">
              <a:buNone/>
            </a:pPr>
            <a:r>
              <a:rPr lang="en-US" sz="2400">
                <a:ea typeface="+mn-lt"/>
                <a:cs typeface="+mn-lt"/>
              </a:rPr>
              <a:t>public class Laptop </a:t>
            </a:r>
          </a:p>
          <a:p>
            <a:pPr marL="0" indent="0">
              <a:buNone/>
            </a:pPr>
            <a:r>
              <a:rPr lang="en-US" sz="2400">
                <a:ea typeface="+mn-lt"/>
                <a:cs typeface="+mn-lt"/>
              </a:rPr>
              <a:t>{ </a:t>
            </a:r>
          </a:p>
          <a:p>
            <a:pPr marL="0" indent="0">
              <a:buNone/>
            </a:pPr>
            <a:r>
              <a:rPr lang="en-US" sz="2400">
                <a:ea typeface="+mn-lt"/>
                <a:cs typeface="+mn-lt"/>
              </a:rPr>
              <a:t>private </a:t>
            </a:r>
            <a:r>
              <a:rPr lang="en-US" sz="2400" err="1">
                <a:ea typeface="+mn-lt"/>
                <a:cs typeface="+mn-lt"/>
              </a:rPr>
              <a:t>Hdd</a:t>
            </a:r>
            <a:r>
              <a:rPr lang="en-US" sz="2400">
                <a:ea typeface="+mn-lt"/>
                <a:cs typeface="+mn-lt"/>
              </a:rPr>
              <a:t> </a:t>
            </a:r>
            <a:r>
              <a:rPr lang="en-US" sz="2400" err="1">
                <a:ea typeface="+mn-lt"/>
                <a:cs typeface="+mn-lt"/>
              </a:rPr>
              <a:t>hdd</a:t>
            </a:r>
            <a:r>
              <a:rPr lang="en-US" sz="2400">
                <a:ea typeface="+mn-lt"/>
                <a:cs typeface="+mn-lt"/>
              </a:rPr>
              <a:t>; </a:t>
            </a:r>
          </a:p>
          <a:p>
            <a:pPr marL="0" indent="0">
              <a:buNone/>
            </a:pPr>
            <a:r>
              <a:rPr lang="en-US" sz="2400">
                <a:ea typeface="+mn-lt"/>
                <a:cs typeface="+mn-lt"/>
              </a:rPr>
              <a:t>private int Price;</a:t>
            </a:r>
          </a:p>
          <a:p>
            <a:pPr marL="0" indent="0">
              <a:buNone/>
            </a:pPr>
            <a:r>
              <a:rPr lang="en-US" sz="2400" b="1">
                <a:highlight>
                  <a:srgbClr val="FFFF00"/>
                </a:highlight>
                <a:ea typeface="+mn-lt"/>
                <a:cs typeface="+mn-lt"/>
              </a:rPr>
              <a:t> // Setter Injection </a:t>
            </a:r>
          </a:p>
          <a:p>
            <a:pPr marL="0" indent="0">
              <a:buNone/>
            </a:pPr>
            <a:r>
              <a:rPr lang="en-US" sz="2400" b="1">
                <a:highlight>
                  <a:srgbClr val="FFFF00"/>
                </a:highlight>
                <a:ea typeface="+mn-lt"/>
                <a:cs typeface="+mn-lt"/>
              </a:rPr>
              <a:t> public void </a:t>
            </a:r>
            <a:r>
              <a:rPr lang="en-US" sz="2400" b="1" err="1">
                <a:highlight>
                  <a:srgbClr val="FFFF00"/>
                </a:highlight>
                <a:ea typeface="+mn-lt"/>
                <a:cs typeface="+mn-lt"/>
              </a:rPr>
              <a:t>setHdd</a:t>
            </a:r>
            <a:r>
              <a:rPr lang="en-US" sz="2400" b="1">
                <a:highlight>
                  <a:srgbClr val="FFFF00"/>
                </a:highlight>
                <a:ea typeface="+mn-lt"/>
                <a:cs typeface="+mn-lt"/>
              </a:rPr>
              <a:t>(</a:t>
            </a:r>
            <a:r>
              <a:rPr lang="en-US" sz="2400" b="1" err="1">
                <a:highlight>
                  <a:srgbClr val="FFFF00"/>
                </a:highlight>
                <a:ea typeface="+mn-lt"/>
                <a:cs typeface="+mn-lt"/>
              </a:rPr>
              <a:t>Hdd</a:t>
            </a:r>
            <a:r>
              <a:rPr lang="en-US" sz="2400" b="1">
                <a:highlight>
                  <a:srgbClr val="FFFF00"/>
                </a:highlight>
                <a:ea typeface="+mn-lt"/>
                <a:cs typeface="+mn-lt"/>
              </a:rPr>
              <a:t> </a:t>
            </a:r>
            <a:r>
              <a:rPr lang="en-US" sz="2400" b="1" err="1">
                <a:highlight>
                  <a:srgbClr val="FFFF00"/>
                </a:highlight>
                <a:ea typeface="+mn-lt"/>
                <a:cs typeface="+mn-lt"/>
              </a:rPr>
              <a:t>hdd</a:t>
            </a:r>
            <a:r>
              <a:rPr lang="en-US" sz="2400" b="1">
                <a:highlight>
                  <a:srgbClr val="FFFF00"/>
                </a:highlight>
                <a:ea typeface="+mn-lt"/>
                <a:cs typeface="+mn-lt"/>
              </a:rPr>
              <a:t>) </a:t>
            </a:r>
          </a:p>
          <a:p>
            <a:pPr marL="0" indent="0">
              <a:buNone/>
            </a:pPr>
            <a:r>
              <a:rPr lang="en-US" sz="2400" b="1">
                <a:highlight>
                  <a:srgbClr val="FFFF00"/>
                </a:highlight>
                <a:ea typeface="+mn-lt"/>
                <a:cs typeface="+mn-lt"/>
              </a:rPr>
              <a:t> { </a:t>
            </a:r>
          </a:p>
          <a:p>
            <a:pPr marL="0" indent="0">
              <a:buNone/>
            </a:pPr>
            <a:r>
              <a:rPr lang="en-US" sz="2400" b="1">
                <a:highlight>
                  <a:srgbClr val="FFFF00"/>
                </a:highlight>
                <a:ea typeface="+mn-lt"/>
                <a:cs typeface="+mn-lt"/>
              </a:rPr>
              <a:t>  this.hdd = </a:t>
            </a:r>
            <a:r>
              <a:rPr lang="en-US" sz="2400" b="1" err="1">
                <a:highlight>
                  <a:srgbClr val="FFFF00"/>
                </a:highlight>
                <a:ea typeface="+mn-lt"/>
                <a:cs typeface="+mn-lt"/>
              </a:rPr>
              <a:t>hdd</a:t>
            </a:r>
            <a:r>
              <a:rPr lang="en-US" sz="2400" b="1">
                <a:highlight>
                  <a:srgbClr val="FFFF00"/>
                </a:highlight>
                <a:ea typeface="+mn-lt"/>
                <a:cs typeface="+mn-lt"/>
              </a:rPr>
              <a:t>; </a:t>
            </a:r>
          </a:p>
          <a:p>
            <a:pPr marL="0" indent="0">
              <a:buNone/>
            </a:pPr>
            <a:r>
              <a:rPr lang="en-US" sz="2400" b="1">
                <a:highlight>
                  <a:srgbClr val="FFFF00"/>
                </a:highlight>
                <a:ea typeface="+mn-lt"/>
                <a:cs typeface="+mn-lt"/>
              </a:rPr>
              <a:t> } </a:t>
            </a:r>
          </a:p>
          <a:p>
            <a:pPr marL="0" indent="0">
              <a:buNone/>
            </a:pPr>
            <a:r>
              <a:rPr lang="en-US" sz="2000" b="1">
                <a:highlight>
                  <a:srgbClr val="FFFF00"/>
                </a:highlight>
                <a:latin typeface="Segoe UI"/>
                <a:ea typeface="+mn-lt"/>
                <a:cs typeface="Segoe UI"/>
              </a:rPr>
              <a:t> // Setter Injection </a:t>
            </a:r>
            <a:endParaRPr lang="en-US" sz="2000">
              <a:highlight>
                <a:srgbClr val="FFFF00"/>
              </a:highlight>
              <a:latin typeface="Segoe UI"/>
              <a:ea typeface="+mn-lt"/>
              <a:cs typeface="Segoe UI"/>
            </a:endParaRPr>
          </a:p>
          <a:p>
            <a:pPr marL="0" indent="0">
              <a:buNone/>
            </a:pPr>
            <a:r>
              <a:rPr lang="en-US" sz="2000" b="1">
                <a:highlight>
                  <a:srgbClr val="FFFF00"/>
                </a:highlight>
                <a:latin typeface="Segoe UI"/>
                <a:ea typeface="+mn-lt"/>
                <a:cs typeface="Segoe UI"/>
              </a:rPr>
              <a:t> public void </a:t>
            </a:r>
            <a:r>
              <a:rPr lang="en-US" sz="2000" b="1" err="1">
                <a:highlight>
                  <a:srgbClr val="FFFF00"/>
                </a:highlight>
                <a:latin typeface="Segoe UI"/>
                <a:ea typeface="+mn-lt"/>
                <a:cs typeface="Segoe UI"/>
              </a:rPr>
              <a:t>setPrice</a:t>
            </a:r>
            <a:r>
              <a:rPr lang="en-US" sz="2000" b="1">
                <a:highlight>
                  <a:srgbClr val="FFFF00"/>
                </a:highlight>
                <a:latin typeface="Segoe UI"/>
                <a:ea typeface="+mn-lt"/>
                <a:cs typeface="Segoe UI"/>
              </a:rPr>
              <a:t>(int Price) </a:t>
            </a:r>
            <a:endParaRPr lang="en-US" sz="2000">
              <a:highlight>
                <a:srgbClr val="FFFF00"/>
              </a:highlight>
              <a:latin typeface="Segoe UI"/>
              <a:ea typeface="+mn-lt"/>
              <a:cs typeface="Segoe UI"/>
            </a:endParaRPr>
          </a:p>
          <a:p>
            <a:pPr marL="0" indent="0">
              <a:buNone/>
            </a:pPr>
            <a:r>
              <a:rPr lang="en-US" sz="2000" b="1">
                <a:highlight>
                  <a:srgbClr val="FFFF00"/>
                </a:highlight>
                <a:latin typeface="Segoe UI"/>
                <a:ea typeface="+mn-lt"/>
                <a:cs typeface="Segoe UI"/>
              </a:rPr>
              <a:t> { </a:t>
            </a:r>
            <a:endParaRPr lang="en-US" sz="2000">
              <a:highlight>
                <a:srgbClr val="FFFF00"/>
              </a:highlight>
              <a:latin typeface="Segoe UI"/>
              <a:ea typeface="+mn-lt"/>
              <a:cs typeface="Segoe UI"/>
            </a:endParaRPr>
          </a:p>
          <a:p>
            <a:pPr marL="0" indent="0">
              <a:buNone/>
            </a:pPr>
            <a:r>
              <a:rPr lang="en-US" sz="2000" b="1">
                <a:highlight>
                  <a:srgbClr val="FFFF00"/>
                </a:highlight>
                <a:latin typeface="Segoe UI"/>
                <a:ea typeface="+mn-lt"/>
                <a:cs typeface="Segoe UI"/>
              </a:rPr>
              <a:t>  this.Price = Price; </a:t>
            </a:r>
            <a:endParaRPr lang="en-US" sz="2000">
              <a:highlight>
                <a:srgbClr val="FFFF00"/>
              </a:highlight>
              <a:latin typeface="Segoe UI"/>
              <a:ea typeface="+mn-lt"/>
              <a:cs typeface="Segoe UI"/>
            </a:endParaRPr>
          </a:p>
          <a:p>
            <a:pPr marL="0" indent="0">
              <a:buNone/>
            </a:pPr>
            <a:r>
              <a:rPr lang="en-US" sz="2000" b="1">
                <a:highlight>
                  <a:srgbClr val="FFFF00"/>
                </a:highlight>
                <a:latin typeface="Segoe UI"/>
                <a:ea typeface="+mn-lt"/>
                <a:cs typeface="Segoe UI"/>
              </a:rPr>
              <a:t> } </a:t>
            </a:r>
            <a:endParaRPr lang="en-US"/>
          </a:p>
          <a:p>
            <a:pPr marL="0" indent="0">
              <a:buNone/>
            </a:pPr>
            <a:r>
              <a:rPr lang="en-US" sz="2400">
                <a:ea typeface="+mn-lt"/>
                <a:cs typeface="+mn-lt"/>
              </a:rPr>
              <a:t> public void </a:t>
            </a:r>
            <a:r>
              <a:rPr lang="en-US" sz="2400" err="1">
                <a:ea typeface="+mn-lt"/>
                <a:cs typeface="+mn-lt"/>
              </a:rPr>
              <a:t>saveDataOnHdd</a:t>
            </a:r>
            <a:r>
              <a:rPr lang="en-US" sz="2400">
                <a:ea typeface="+mn-lt"/>
                <a:cs typeface="+mn-lt"/>
              </a:rPr>
              <a:t>(String data) </a:t>
            </a:r>
          </a:p>
          <a:p>
            <a:pPr marL="0" indent="0">
              <a:buNone/>
            </a:pPr>
            <a:r>
              <a:rPr lang="en-US" sz="2400">
                <a:ea typeface="+mn-lt"/>
                <a:cs typeface="+mn-lt"/>
              </a:rPr>
              <a:t> { </a:t>
            </a:r>
          </a:p>
          <a:p>
            <a:pPr marL="0" indent="0">
              <a:buNone/>
            </a:pPr>
            <a:r>
              <a:rPr lang="en-US" sz="2400">
                <a:ea typeface="+mn-lt"/>
                <a:cs typeface="+mn-lt"/>
              </a:rPr>
              <a:t>  hdd.saveData(data); </a:t>
            </a:r>
          </a:p>
          <a:p>
            <a:pPr marL="0" indent="0">
              <a:buNone/>
            </a:pPr>
            <a:r>
              <a:rPr lang="en-US" sz="2400">
                <a:ea typeface="+mn-lt"/>
                <a:cs typeface="+mn-lt"/>
              </a:rPr>
              <a:t> } </a:t>
            </a:r>
          </a:p>
          <a:p>
            <a:pPr marL="0" indent="0">
              <a:buNone/>
            </a:pPr>
            <a:r>
              <a:rPr lang="en-US" sz="2400">
                <a:ea typeface="+mn-lt"/>
                <a:cs typeface="+mn-lt"/>
              </a:rPr>
              <a:t>}</a:t>
            </a:r>
            <a:endParaRPr lang="en-US" sz="2400"/>
          </a:p>
        </p:txBody>
      </p:sp>
    </p:spTree>
    <p:extLst>
      <p:ext uri="{BB962C8B-B14F-4D97-AF65-F5344CB8AC3E}">
        <p14:creationId xmlns:p14="http://schemas.microsoft.com/office/powerpoint/2010/main" val="4267845487"/>
      </p:ext>
    </p:extLst>
  </p:cSld>
  <p:clrMapOvr>
    <a:masterClrMapping/>
  </p:clrMapOvr>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A591B-E75F-74A6-BED3-66185B7B3E2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6CC917D-394A-DCB1-5720-650300E16CF8}"/>
              </a:ext>
            </a:extLst>
          </p:cNvPr>
          <p:cNvSpPr>
            <a:spLocks noGrp="1"/>
          </p:cNvSpPr>
          <p:nvPr>
            <p:ph idx="1"/>
          </p:nvPr>
        </p:nvSpPr>
        <p:spPr/>
        <p:txBody>
          <a:bodyPr vert="horz" lIns="91440" tIns="45720" rIns="91440" bIns="45720" rtlCol="0" anchor="t">
            <a:normAutofit fontScale="77500" lnSpcReduction="20000"/>
          </a:bodyPr>
          <a:lstStyle/>
          <a:p>
            <a:pPr marL="0" indent="0">
              <a:buNone/>
            </a:pPr>
            <a:r>
              <a:rPr lang="en-US" dirty="0">
                <a:ea typeface="+mn-lt"/>
                <a:cs typeface="+mn-lt"/>
              </a:rPr>
              <a:t>&lt;bean id = "</a:t>
            </a:r>
            <a:r>
              <a:rPr lang="en-US" b="1" dirty="0" err="1">
                <a:ea typeface="+mn-lt"/>
                <a:cs typeface="+mn-lt"/>
              </a:rPr>
              <a:t>sandisk</a:t>
            </a:r>
            <a:r>
              <a:rPr lang="en-US" dirty="0">
                <a:ea typeface="+mn-lt"/>
                <a:cs typeface="+mn-lt"/>
              </a:rPr>
              <a:t>" class = "</a:t>
            </a:r>
            <a:r>
              <a:rPr lang="en-US" dirty="0" err="1">
                <a:ea typeface="+mn-lt"/>
                <a:cs typeface="+mn-lt"/>
              </a:rPr>
              <a:t>com.example.Sandisk</a:t>
            </a:r>
            <a:r>
              <a:rPr lang="en-US" dirty="0">
                <a:ea typeface="+mn-lt"/>
                <a:cs typeface="+mn-lt"/>
              </a:rPr>
              <a:t>"/&gt; </a:t>
            </a:r>
          </a:p>
          <a:p>
            <a:pPr marL="0" indent="0">
              <a:buNone/>
            </a:pPr>
            <a:r>
              <a:rPr lang="en-US" dirty="0">
                <a:ea typeface="+mn-lt"/>
                <a:cs typeface="+mn-lt"/>
              </a:rPr>
              <a:t>&lt;bean id = "</a:t>
            </a:r>
            <a:r>
              <a:rPr lang="en-US" dirty="0" err="1">
                <a:ea typeface="+mn-lt"/>
                <a:cs typeface="+mn-lt"/>
              </a:rPr>
              <a:t>hitachi</a:t>
            </a:r>
            <a:r>
              <a:rPr lang="en-US" dirty="0">
                <a:ea typeface="+mn-lt"/>
                <a:cs typeface="+mn-lt"/>
              </a:rPr>
              <a:t>"   class = "</a:t>
            </a:r>
            <a:r>
              <a:rPr lang="en-US" dirty="0" err="1">
                <a:ea typeface="+mn-lt"/>
                <a:cs typeface="+mn-lt"/>
              </a:rPr>
              <a:t>com.example.Hitachi</a:t>
            </a:r>
            <a:r>
              <a:rPr lang="en-US" dirty="0">
                <a:ea typeface="+mn-lt"/>
                <a:cs typeface="+mn-lt"/>
              </a:rPr>
              <a:t>"/&gt; </a:t>
            </a:r>
            <a:endParaRPr lang="en-US">
              <a:ea typeface="+mn-lt"/>
              <a:cs typeface="+mn-lt"/>
            </a:endParaRPr>
          </a:p>
          <a:p>
            <a:pPr marL="0" indent="0">
              <a:buNone/>
            </a:pPr>
            <a:r>
              <a:rPr lang="en-US" sz="2000" b="1" dirty="0">
                <a:ea typeface="+mn-lt"/>
                <a:cs typeface="+mn-lt"/>
              </a:rPr>
              <a:t>&lt;!-- Define the Laptop bean and inject the </a:t>
            </a:r>
            <a:r>
              <a:rPr lang="en-US" sz="2000" b="1" dirty="0" err="1">
                <a:ea typeface="+mn-lt"/>
                <a:cs typeface="+mn-lt"/>
              </a:rPr>
              <a:t>Hdd</a:t>
            </a:r>
            <a:r>
              <a:rPr lang="en-US" sz="2000" b="1" dirty="0">
                <a:ea typeface="+mn-lt"/>
                <a:cs typeface="+mn-lt"/>
              </a:rPr>
              <a:t> dependency using setter injection --&gt;</a:t>
            </a:r>
            <a:r>
              <a:rPr lang="en-US" dirty="0">
                <a:ea typeface="+mn-lt"/>
                <a:cs typeface="+mn-lt"/>
              </a:rPr>
              <a:t> </a:t>
            </a:r>
            <a:endParaRPr lang="en-US">
              <a:ea typeface="+mn-lt"/>
              <a:cs typeface="+mn-lt"/>
            </a:endParaRPr>
          </a:p>
          <a:p>
            <a:pPr marL="0" indent="0">
              <a:buNone/>
            </a:pPr>
            <a:endParaRPr lang="en-US">
              <a:ea typeface="+mn-lt"/>
              <a:cs typeface="+mn-lt"/>
            </a:endParaRPr>
          </a:p>
          <a:p>
            <a:pPr marL="0" indent="0">
              <a:buNone/>
            </a:pPr>
            <a:r>
              <a:rPr lang="en-US" dirty="0">
                <a:ea typeface="+mn-lt"/>
                <a:cs typeface="+mn-lt"/>
              </a:rPr>
              <a:t>&lt;bean id="laptop" class="</a:t>
            </a:r>
            <a:r>
              <a:rPr lang="en-US" dirty="0" err="1">
                <a:ea typeface="+mn-lt"/>
                <a:cs typeface="+mn-lt"/>
              </a:rPr>
              <a:t>com.example.Laptop</a:t>
            </a:r>
            <a:r>
              <a:rPr lang="en-US" dirty="0">
                <a:ea typeface="+mn-lt"/>
                <a:cs typeface="+mn-lt"/>
              </a:rPr>
              <a:t>"&gt; </a:t>
            </a:r>
            <a:endParaRPr lang="en-US" dirty="0"/>
          </a:p>
          <a:p>
            <a:pPr marL="0" indent="0">
              <a:buNone/>
            </a:pPr>
            <a:r>
              <a:rPr lang="en-US" dirty="0">
                <a:ea typeface="+mn-lt"/>
                <a:cs typeface="+mn-lt"/>
              </a:rPr>
              <a:t>&lt;property  name = "</a:t>
            </a:r>
            <a:r>
              <a:rPr lang="en-US" dirty="0" err="1">
                <a:ea typeface="+mn-lt"/>
                <a:cs typeface="+mn-lt"/>
              </a:rPr>
              <a:t>hdd</a:t>
            </a:r>
            <a:r>
              <a:rPr lang="en-US" dirty="0">
                <a:ea typeface="+mn-lt"/>
                <a:cs typeface="+mn-lt"/>
              </a:rPr>
              <a:t>"  ref = "</a:t>
            </a:r>
            <a:r>
              <a:rPr lang="en-US" b="1" dirty="0" err="1">
                <a:ea typeface="+mn-lt"/>
                <a:cs typeface="+mn-lt"/>
              </a:rPr>
              <a:t>sandisk</a:t>
            </a:r>
            <a:r>
              <a:rPr lang="en-US" dirty="0">
                <a:ea typeface="+mn-lt"/>
                <a:cs typeface="+mn-lt"/>
              </a:rPr>
              <a:t>"/&gt; </a:t>
            </a:r>
            <a:endParaRPr lang="en-US">
              <a:ea typeface="+mn-lt"/>
              <a:cs typeface="+mn-lt"/>
            </a:endParaRPr>
          </a:p>
          <a:p>
            <a:pPr marL="0" indent="0">
              <a:buNone/>
            </a:pPr>
            <a:r>
              <a:rPr lang="en-US" dirty="0">
                <a:ea typeface="+mn-lt"/>
                <a:cs typeface="+mn-lt"/>
              </a:rPr>
              <a:t>&lt;property name = "Price" value = "1000"  /&gt;</a:t>
            </a:r>
            <a:endParaRPr lang="en-US">
              <a:ea typeface="+mn-lt"/>
              <a:cs typeface="+mn-lt"/>
            </a:endParaRPr>
          </a:p>
          <a:p>
            <a:pPr marL="0" indent="0">
              <a:buNone/>
            </a:pPr>
            <a:r>
              <a:rPr lang="en-US" dirty="0">
                <a:ea typeface="+mn-lt"/>
                <a:cs typeface="+mn-lt"/>
              </a:rPr>
              <a:t>&lt;/bean&gt; </a:t>
            </a:r>
            <a:endParaRPr lang="en-US" sz="2400" dirty="0">
              <a:ea typeface="+mn-lt"/>
              <a:cs typeface="+mn-lt"/>
            </a:endParaRPr>
          </a:p>
          <a:p>
            <a:pPr marL="0" indent="0">
              <a:buNone/>
            </a:pPr>
            <a:endParaRPr lang="en-US" dirty="0">
              <a:ea typeface="+mn-lt"/>
              <a:cs typeface="+mn-lt"/>
            </a:endParaRPr>
          </a:p>
          <a:p>
            <a:pPr marL="0" indent="0">
              <a:buNone/>
            </a:pPr>
            <a:r>
              <a:rPr lang="en-US" sz="2400" dirty="0">
                <a:ea typeface="+mn-lt"/>
                <a:cs typeface="+mn-lt"/>
              </a:rPr>
              <a:t>&lt;!-- If you want to use Hitachi instead, change the property ref to "</a:t>
            </a:r>
            <a:r>
              <a:rPr lang="en-US" sz="2400" dirty="0" err="1">
                <a:ea typeface="+mn-lt"/>
                <a:cs typeface="+mn-lt"/>
              </a:rPr>
              <a:t>hitachi</a:t>
            </a:r>
            <a:r>
              <a:rPr lang="en-US" sz="2400" dirty="0">
                <a:ea typeface="+mn-lt"/>
                <a:cs typeface="+mn-lt"/>
              </a:rPr>
              <a:t>" --&gt;</a:t>
            </a:r>
          </a:p>
          <a:p>
            <a:pPr marL="0" indent="0">
              <a:buNone/>
            </a:pPr>
            <a:r>
              <a:rPr lang="en-US" sz="2400" dirty="0">
                <a:ea typeface="+mn-lt"/>
                <a:cs typeface="+mn-lt"/>
              </a:rPr>
              <a:t> &lt;!-- &lt;bean id="laptop" class="</a:t>
            </a:r>
            <a:r>
              <a:rPr lang="en-US" sz="2400" dirty="0" err="1">
                <a:ea typeface="+mn-lt"/>
                <a:cs typeface="+mn-lt"/>
              </a:rPr>
              <a:t>com.example.Laptop</a:t>
            </a:r>
            <a:r>
              <a:rPr lang="en-US" sz="2400" dirty="0">
                <a:ea typeface="+mn-lt"/>
                <a:cs typeface="+mn-lt"/>
              </a:rPr>
              <a:t>"&gt; </a:t>
            </a:r>
            <a:endParaRPr lang="en-US" dirty="0"/>
          </a:p>
          <a:p>
            <a:pPr marL="0" indent="0">
              <a:buNone/>
            </a:pPr>
            <a:r>
              <a:rPr lang="en-US" sz="2400" dirty="0">
                <a:ea typeface="+mn-lt"/>
                <a:cs typeface="+mn-lt"/>
              </a:rPr>
              <a:t>&lt;property name="</a:t>
            </a:r>
            <a:r>
              <a:rPr lang="en-US" sz="2400" dirty="0" err="1">
                <a:ea typeface="+mn-lt"/>
                <a:cs typeface="+mn-lt"/>
              </a:rPr>
              <a:t>hdd</a:t>
            </a:r>
            <a:r>
              <a:rPr lang="en-US" sz="2400" dirty="0">
                <a:ea typeface="+mn-lt"/>
                <a:cs typeface="+mn-lt"/>
              </a:rPr>
              <a:t>" ref="</a:t>
            </a:r>
            <a:r>
              <a:rPr lang="en-US" sz="2400" dirty="0" err="1">
                <a:ea typeface="+mn-lt"/>
                <a:cs typeface="+mn-lt"/>
              </a:rPr>
              <a:t>hitachi</a:t>
            </a:r>
            <a:r>
              <a:rPr lang="en-US" sz="2400" dirty="0">
                <a:ea typeface="+mn-lt"/>
                <a:cs typeface="+mn-lt"/>
              </a:rPr>
              <a:t>"/&gt; &lt;/bean&gt; --&gt;</a:t>
            </a:r>
            <a:endParaRPr lang="en-US" sz="2400" dirty="0"/>
          </a:p>
        </p:txBody>
      </p:sp>
    </p:spTree>
    <p:extLst>
      <p:ext uri="{BB962C8B-B14F-4D97-AF65-F5344CB8AC3E}">
        <p14:creationId xmlns:p14="http://schemas.microsoft.com/office/powerpoint/2010/main" val="1204320226"/>
      </p:ext>
    </p:extLst>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2363E9-F53B-7BCB-93DC-F9CCA829F57F}"/>
              </a:ext>
            </a:extLst>
          </p:cNvPr>
          <p:cNvSpPr>
            <a:spLocks noGrp="1"/>
          </p:cNvSpPr>
          <p:nvPr>
            <p:ph idx="1"/>
          </p:nvPr>
        </p:nvSpPr>
        <p:spPr>
          <a:xfrm>
            <a:off x="392502" y="582599"/>
            <a:ext cx="11536392" cy="5990356"/>
          </a:xfrm>
        </p:spPr>
        <p:txBody>
          <a:bodyPr vert="horz" lIns="91440" tIns="45720" rIns="91440" bIns="45720" rtlCol="0" anchor="t">
            <a:noAutofit/>
          </a:bodyPr>
          <a:lstStyle/>
          <a:p>
            <a:pPr marL="0" indent="0">
              <a:buNone/>
            </a:pPr>
            <a:r>
              <a:rPr lang="en-US" sz="2000" dirty="0">
                <a:ea typeface="+mn-lt"/>
                <a:cs typeface="+mn-lt"/>
              </a:rPr>
              <a:t>import </a:t>
            </a:r>
            <a:r>
              <a:rPr lang="en-US" sz="2000" dirty="0" err="1">
                <a:ea typeface="+mn-lt"/>
                <a:cs typeface="+mn-lt"/>
              </a:rPr>
              <a:t>org.springframework.context.ApplicationContext</a:t>
            </a:r>
            <a:r>
              <a:rPr lang="en-US" sz="2000" dirty="0">
                <a:ea typeface="+mn-lt"/>
                <a:cs typeface="+mn-lt"/>
              </a:rPr>
              <a:t>;</a:t>
            </a:r>
            <a:endParaRPr lang="en-US" sz="2000" dirty="0"/>
          </a:p>
          <a:p>
            <a:pPr marL="0" indent="0">
              <a:buNone/>
            </a:pPr>
            <a:r>
              <a:rPr lang="en-US" sz="2000" dirty="0">
                <a:ea typeface="+mn-lt"/>
                <a:cs typeface="+mn-lt"/>
              </a:rPr>
              <a:t>import org.springframework.context.support.ClassPathXmlApplicationContext;</a:t>
            </a:r>
            <a:endParaRPr lang="en-US" sz="2000" dirty="0"/>
          </a:p>
          <a:p>
            <a:pPr marL="0" indent="0">
              <a:buNone/>
            </a:pPr>
            <a:r>
              <a:rPr lang="en-US" sz="2000" dirty="0">
                <a:ea typeface="+mn-lt"/>
                <a:cs typeface="+mn-lt"/>
              </a:rPr>
              <a:t>public class Main {</a:t>
            </a:r>
            <a:endParaRPr lang="en-US" sz="2000" dirty="0"/>
          </a:p>
          <a:p>
            <a:pPr marL="0" indent="0">
              <a:buNone/>
            </a:pPr>
            <a:r>
              <a:rPr lang="en-US" sz="2000" dirty="0">
                <a:ea typeface="+mn-lt"/>
                <a:cs typeface="+mn-lt"/>
              </a:rPr>
              <a:t>    public static void main(String[] </a:t>
            </a:r>
            <a:r>
              <a:rPr lang="en-US" sz="2000" dirty="0" err="1">
                <a:ea typeface="+mn-lt"/>
                <a:cs typeface="+mn-lt"/>
              </a:rPr>
              <a:t>args</a:t>
            </a:r>
            <a:r>
              <a:rPr lang="en-US" sz="2000" dirty="0">
                <a:ea typeface="+mn-lt"/>
                <a:cs typeface="+mn-lt"/>
              </a:rPr>
              <a:t>) {</a:t>
            </a:r>
            <a:endParaRPr lang="en-US" sz="2000" dirty="0"/>
          </a:p>
          <a:p>
            <a:pPr marL="0" indent="0">
              <a:buNone/>
            </a:pPr>
            <a:r>
              <a:rPr lang="en-US" sz="2000" b="1" dirty="0">
                <a:ea typeface="+mn-lt"/>
                <a:cs typeface="+mn-lt"/>
              </a:rPr>
              <a:t>        // Load the Spring context from the XML configuration file</a:t>
            </a:r>
            <a:endParaRPr lang="en-US" sz="2000" b="1" dirty="0"/>
          </a:p>
          <a:p>
            <a:pPr marL="0" indent="0">
              <a:buNone/>
            </a:pPr>
            <a:r>
              <a:rPr lang="en-US" sz="2000" dirty="0">
                <a:ea typeface="+mn-lt"/>
                <a:cs typeface="+mn-lt"/>
              </a:rPr>
              <a:t>        </a:t>
            </a:r>
            <a:r>
              <a:rPr lang="en-US" sz="2000" dirty="0" err="1">
                <a:ea typeface="+mn-lt"/>
                <a:cs typeface="+mn-lt"/>
              </a:rPr>
              <a:t>ApplicationContext</a:t>
            </a:r>
            <a:r>
              <a:rPr lang="en-US" sz="2000" dirty="0">
                <a:ea typeface="+mn-lt"/>
                <a:cs typeface="+mn-lt"/>
              </a:rPr>
              <a:t> context = new </a:t>
            </a:r>
            <a:r>
              <a:rPr lang="en-US" sz="2000" dirty="0" err="1">
                <a:ea typeface="+mn-lt"/>
                <a:cs typeface="+mn-lt"/>
              </a:rPr>
              <a:t>ClassPathXmlApplicationContext</a:t>
            </a:r>
            <a:r>
              <a:rPr lang="en-US" sz="2000" dirty="0">
                <a:ea typeface="+mn-lt"/>
                <a:cs typeface="+mn-lt"/>
              </a:rPr>
              <a:t>("spring-config.xml");</a:t>
            </a:r>
            <a:endParaRPr lang="en-US" sz="2000" dirty="0"/>
          </a:p>
          <a:p>
            <a:pPr marL="0" indent="0">
              <a:buNone/>
            </a:pPr>
            <a:endParaRPr lang="en-US" sz="2000" b="1" dirty="0" smtClean="0">
              <a:ea typeface="+mn-lt"/>
              <a:cs typeface="+mn-lt"/>
            </a:endParaRPr>
          </a:p>
          <a:p>
            <a:pPr marL="0" indent="0">
              <a:buNone/>
            </a:pPr>
            <a:r>
              <a:rPr lang="en-US" sz="2000" b="1" dirty="0">
                <a:ea typeface="+mn-lt"/>
                <a:cs typeface="+mn-lt"/>
              </a:rPr>
              <a:t>        // Get the Laptop bean from the context</a:t>
            </a:r>
            <a:endParaRPr lang="en-US" sz="2000" b="1" dirty="0"/>
          </a:p>
          <a:p>
            <a:pPr marL="0" indent="0">
              <a:buNone/>
            </a:pPr>
            <a:r>
              <a:rPr lang="en-US" sz="2000" dirty="0">
                <a:ea typeface="+mn-lt"/>
                <a:cs typeface="+mn-lt"/>
              </a:rPr>
              <a:t>        Laptop </a:t>
            </a:r>
            <a:r>
              <a:rPr lang="en-US" sz="2000" dirty="0" err="1">
                <a:ea typeface="+mn-lt"/>
                <a:cs typeface="+mn-lt"/>
              </a:rPr>
              <a:t>laptop</a:t>
            </a:r>
            <a:r>
              <a:rPr lang="en-US" sz="2000" dirty="0">
                <a:ea typeface="+mn-lt"/>
                <a:cs typeface="+mn-lt"/>
              </a:rPr>
              <a:t> = (Laptop) </a:t>
            </a:r>
            <a:r>
              <a:rPr lang="en-US" sz="2000" dirty="0" err="1">
                <a:ea typeface="+mn-lt"/>
                <a:cs typeface="+mn-lt"/>
              </a:rPr>
              <a:t>context.getBean</a:t>
            </a:r>
            <a:r>
              <a:rPr lang="en-US" sz="2000" dirty="0">
                <a:ea typeface="+mn-lt"/>
                <a:cs typeface="+mn-lt"/>
              </a:rPr>
              <a:t>("laptop");</a:t>
            </a:r>
            <a:endParaRPr lang="en-US" sz="2000" dirty="0"/>
          </a:p>
          <a:p>
            <a:pPr marL="0" indent="0">
              <a:buNone/>
            </a:pPr>
            <a:r>
              <a:rPr lang="en-US" sz="2000" b="1" dirty="0">
                <a:ea typeface="+mn-lt"/>
                <a:cs typeface="+mn-lt"/>
              </a:rPr>
              <a:t>        // Use the Laptop object to save data using the injected </a:t>
            </a:r>
            <a:r>
              <a:rPr lang="en-US" sz="2000" b="1" dirty="0" err="1">
                <a:ea typeface="+mn-lt"/>
                <a:cs typeface="+mn-lt"/>
              </a:rPr>
              <a:t>Hdd</a:t>
            </a:r>
            <a:r>
              <a:rPr lang="en-US" sz="2000" b="1" dirty="0">
                <a:ea typeface="+mn-lt"/>
                <a:cs typeface="+mn-lt"/>
              </a:rPr>
              <a:t> implementation</a:t>
            </a:r>
            <a:endParaRPr lang="en-US" sz="2000" b="1" dirty="0"/>
          </a:p>
          <a:p>
            <a:pPr marL="0" indent="0">
              <a:buNone/>
            </a:pPr>
            <a:r>
              <a:rPr lang="en-US" sz="2000" dirty="0">
                <a:ea typeface="+mn-lt"/>
                <a:cs typeface="+mn-lt"/>
              </a:rPr>
              <a:t>        </a:t>
            </a:r>
            <a:r>
              <a:rPr lang="en-US" sz="2000" dirty="0" err="1">
                <a:ea typeface="+mn-lt"/>
                <a:cs typeface="+mn-lt"/>
              </a:rPr>
              <a:t>laptop.saveDataOnHdd</a:t>
            </a:r>
            <a:r>
              <a:rPr lang="en-US" sz="2000" dirty="0">
                <a:ea typeface="+mn-lt"/>
                <a:cs typeface="+mn-lt"/>
              </a:rPr>
              <a:t>("Hello, World!");</a:t>
            </a:r>
            <a:endParaRPr lang="en-US" sz="2000" dirty="0"/>
          </a:p>
          <a:p>
            <a:pPr marL="0" indent="0">
              <a:buNone/>
            </a:pPr>
            <a:r>
              <a:rPr lang="en-US" sz="2000" dirty="0">
                <a:ea typeface="+mn-lt"/>
                <a:cs typeface="+mn-lt"/>
              </a:rPr>
              <a:t>    }</a:t>
            </a:r>
            <a:endParaRPr lang="en-US" sz="2000" dirty="0"/>
          </a:p>
          <a:p>
            <a:pPr marL="0" indent="0">
              <a:buNone/>
            </a:pPr>
            <a:r>
              <a:rPr lang="en-US" sz="2000" dirty="0">
                <a:ea typeface="+mn-lt"/>
                <a:cs typeface="+mn-lt"/>
              </a:rPr>
              <a:t>}</a:t>
            </a:r>
            <a:endParaRPr lang="en-US" sz="2000" dirty="0"/>
          </a:p>
          <a:p>
            <a:pPr marL="0" indent="0">
              <a:buNone/>
            </a:pPr>
            <a:endParaRPr lang="en-US" sz="2000" dirty="0"/>
          </a:p>
        </p:txBody>
      </p:sp>
    </p:spTree>
    <p:extLst>
      <p:ext uri="{BB962C8B-B14F-4D97-AF65-F5344CB8AC3E}">
        <p14:creationId xmlns:p14="http://schemas.microsoft.com/office/powerpoint/2010/main" val="3481989754"/>
      </p:ext>
    </p:extLst>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table with text on it&#10;&#10;Description automatically generated">
            <a:extLst>
              <a:ext uri="{FF2B5EF4-FFF2-40B4-BE49-F238E27FC236}">
                <a16:creationId xmlns:a16="http://schemas.microsoft.com/office/drawing/2014/main" id="{E92B3B39-8770-9261-53D6-46CD06DBF154}"/>
              </a:ext>
            </a:extLst>
          </p:cNvPr>
          <p:cNvPicPr>
            <a:picLocks noGrp="1" noChangeAspect="1"/>
          </p:cNvPicPr>
          <p:nvPr>
            <p:ph idx="1"/>
          </p:nvPr>
        </p:nvPicPr>
        <p:blipFill>
          <a:blip r:embed="rId2"/>
          <a:stretch>
            <a:fillRect/>
          </a:stretch>
        </p:blipFill>
        <p:spPr>
          <a:xfrm>
            <a:off x="169015" y="473442"/>
            <a:ext cx="11925857" cy="6155530"/>
          </a:xfrm>
          <a:prstGeom prst="rect">
            <a:avLst/>
          </a:prstGeom>
        </p:spPr>
      </p:pic>
    </p:spTree>
    <p:extLst>
      <p:ext uri="{BB962C8B-B14F-4D97-AF65-F5344CB8AC3E}">
        <p14:creationId xmlns:p14="http://schemas.microsoft.com/office/powerpoint/2010/main" val="2480893388"/>
      </p:ext>
    </p:extLst>
  </p:cSld>
  <p:clrMapOvr>
    <a:masterClrMapping/>
  </p:clrMapOvr>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E09B6-4472-F695-46F2-D53988DBE107}"/>
              </a:ext>
            </a:extLst>
          </p:cNvPr>
          <p:cNvSpPr>
            <a:spLocks noGrp="1"/>
          </p:cNvSpPr>
          <p:nvPr>
            <p:ph type="title"/>
          </p:nvPr>
        </p:nvSpPr>
        <p:spPr/>
        <p:txBody>
          <a:bodyPr>
            <a:normAutofit/>
          </a:bodyPr>
          <a:lstStyle/>
          <a:p>
            <a:r>
              <a:rPr lang="en-US" sz="3600">
                <a:ea typeface="+mj-lt"/>
                <a:cs typeface="+mj-lt"/>
              </a:rPr>
              <a:t>DI Best Practices and Managing Dependencies in Spring</a:t>
            </a:r>
            <a:endParaRPr lang="en-US" sz="3600"/>
          </a:p>
        </p:txBody>
      </p:sp>
      <p:sp>
        <p:nvSpPr>
          <p:cNvPr id="3" name="Content Placeholder 2">
            <a:extLst>
              <a:ext uri="{FF2B5EF4-FFF2-40B4-BE49-F238E27FC236}">
                <a16:creationId xmlns:a16="http://schemas.microsoft.com/office/drawing/2014/main" id="{E7E33D0D-5748-A7AC-8045-A500A24F051B}"/>
              </a:ext>
            </a:extLst>
          </p:cNvPr>
          <p:cNvSpPr>
            <a:spLocks noGrp="1"/>
          </p:cNvSpPr>
          <p:nvPr>
            <p:ph idx="1"/>
          </p:nvPr>
        </p:nvSpPr>
        <p:spPr/>
        <p:txBody>
          <a:bodyPr vert="horz" lIns="91440" tIns="45720" rIns="91440" bIns="45720" rtlCol="0" anchor="t">
            <a:normAutofit/>
          </a:bodyPr>
          <a:lstStyle/>
          <a:p>
            <a:pPr marL="0" indent="0">
              <a:buNone/>
            </a:pPr>
            <a:r>
              <a:rPr lang="en-US" sz="2400" dirty="0">
                <a:highlight>
                  <a:srgbClr val="FFFF00"/>
                </a:highlight>
                <a:ea typeface="+mn-lt"/>
                <a:cs typeface="+mn-lt"/>
              </a:rPr>
              <a:t>1. </a:t>
            </a:r>
            <a:r>
              <a:rPr lang="en-US" sz="2400" b="1" dirty="0">
                <a:highlight>
                  <a:srgbClr val="FFFF00"/>
                </a:highlight>
                <a:ea typeface="+mn-lt"/>
                <a:cs typeface="+mn-lt"/>
              </a:rPr>
              <a:t>Use Constructor Injection Over Field Injection</a:t>
            </a:r>
            <a:endParaRPr lang="en-US" sz="2400" dirty="0">
              <a:highlight>
                <a:srgbClr val="FFFF00"/>
              </a:highlight>
            </a:endParaRPr>
          </a:p>
          <a:p>
            <a:r>
              <a:rPr lang="en-US" sz="2400" dirty="0">
                <a:ea typeface="+mn-lt"/>
                <a:cs typeface="+mn-lt"/>
              </a:rPr>
              <a:t>Constructor injection is the </a:t>
            </a:r>
            <a:r>
              <a:rPr lang="en-US" sz="2400" b="1" dirty="0">
                <a:ea typeface="+mn-lt"/>
                <a:cs typeface="+mn-lt"/>
              </a:rPr>
              <a:t>preferred method for mandatory dependencies</a:t>
            </a:r>
            <a:r>
              <a:rPr lang="en-US" sz="2400" dirty="0">
                <a:ea typeface="+mn-lt"/>
                <a:cs typeface="+mn-lt"/>
              </a:rPr>
              <a:t> as it ensures that a class is always in a valid state after it's constructed. It also makes the code more testable.</a:t>
            </a:r>
            <a:endParaRPr lang="en-US" sz="2400" b="1" dirty="0"/>
          </a:p>
        </p:txBody>
      </p:sp>
      <p:pic>
        <p:nvPicPr>
          <p:cNvPr id="4" name="Picture 3" descr="A computer screen with white text&#10;&#10;Description automatically generated">
            <a:extLst>
              <a:ext uri="{FF2B5EF4-FFF2-40B4-BE49-F238E27FC236}">
                <a16:creationId xmlns:a16="http://schemas.microsoft.com/office/drawing/2014/main" id="{C6A65563-BE61-2566-CC57-824D62C648CF}"/>
              </a:ext>
            </a:extLst>
          </p:cNvPr>
          <p:cNvPicPr>
            <a:picLocks noChangeAspect="1"/>
          </p:cNvPicPr>
          <p:nvPr/>
        </p:nvPicPr>
        <p:blipFill>
          <a:blip r:embed="rId2"/>
          <a:stretch>
            <a:fillRect/>
          </a:stretch>
        </p:blipFill>
        <p:spPr>
          <a:xfrm>
            <a:off x="1850886" y="3733587"/>
            <a:ext cx="6163034" cy="2939630"/>
          </a:xfrm>
          <a:prstGeom prst="rect">
            <a:avLst/>
          </a:prstGeom>
        </p:spPr>
      </p:pic>
    </p:spTree>
    <p:extLst>
      <p:ext uri="{BB962C8B-B14F-4D97-AF65-F5344CB8AC3E}">
        <p14:creationId xmlns:p14="http://schemas.microsoft.com/office/powerpoint/2010/main" val="2461877263"/>
      </p:ext>
    </p:extLst>
  </p:cSld>
  <p:clrMapOvr>
    <a:masterClrMapping/>
  </p:clrMapOvr>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1818C-A522-05A3-95E3-FBFCABCCD6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BD06545-CE08-4721-A78A-FDB1FC8868A6}"/>
              </a:ext>
            </a:extLst>
          </p:cNvPr>
          <p:cNvSpPr>
            <a:spLocks noGrp="1"/>
          </p:cNvSpPr>
          <p:nvPr>
            <p:ph idx="1"/>
          </p:nvPr>
        </p:nvSpPr>
        <p:spPr/>
        <p:txBody>
          <a:bodyPr vert="horz" lIns="91440" tIns="45720" rIns="91440" bIns="45720" rtlCol="0" anchor="t">
            <a:normAutofit/>
          </a:bodyPr>
          <a:lstStyle/>
          <a:p>
            <a:r>
              <a:rPr lang="en-US" sz="2400" b="1">
                <a:ea typeface="+mn-lt"/>
                <a:cs typeface="+mn-lt"/>
              </a:rPr>
              <a:t>Constructor Injection Ensures All Required Dependencies Are Provided at the Time of Object Creation</a:t>
            </a:r>
          </a:p>
          <a:p>
            <a:endParaRPr lang="en-US" sz="2400" b="1">
              <a:ea typeface="+mn-lt"/>
              <a:cs typeface="+mn-lt"/>
            </a:endParaRPr>
          </a:p>
          <a:p>
            <a:endParaRPr lang="en-US" sz="2400" b="1"/>
          </a:p>
          <a:p>
            <a:endParaRPr lang="en-US" sz="2400" b="1"/>
          </a:p>
        </p:txBody>
      </p:sp>
      <p:pic>
        <p:nvPicPr>
          <p:cNvPr id="4" name="Picture 3" descr="A screen shot of a computer program&#10;&#10;Description automatically generated">
            <a:extLst>
              <a:ext uri="{FF2B5EF4-FFF2-40B4-BE49-F238E27FC236}">
                <a16:creationId xmlns:a16="http://schemas.microsoft.com/office/drawing/2014/main" id="{918F7925-32EB-9FF7-87A5-AFF926C81483}"/>
              </a:ext>
            </a:extLst>
          </p:cNvPr>
          <p:cNvPicPr>
            <a:picLocks noChangeAspect="1"/>
          </p:cNvPicPr>
          <p:nvPr/>
        </p:nvPicPr>
        <p:blipFill>
          <a:blip r:embed="rId2"/>
          <a:stretch>
            <a:fillRect/>
          </a:stretch>
        </p:blipFill>
        <p:spPr>
          <a:xfrm>
            <a:off x="394959" y="3249010"/>
            <a:ext cx="6015530" cy="2711668"/>
          </a:xfrm>
          <a:prstGeom prst="rect">
            <a:avLst/>
          </a:prstGeom>
        </p:spPr>
      </p:pic>
      <p:sp>
        <p:nvSpPr>
          <p:cNvPr id="5" name="TextBox 4">
            <a:extLst>
              <a:ext uri="{FF2B5EF4-FFF2-40B4-BE49-F238E27FC236}">
                <a16:creationId xmlns:a16="http://schemas.microsoft.com/office/drawing/2014/main" id="{70B9A5F0-57A9-49BC-B124-F6AC97D25A1B}"/>
              </a:ext>
            </a:extLst>
          </p:cNvPr>
          <p:cNvSpPr txBox="1"/>
          <p:nvPr/>
        </p:nvSpPr>
        <p:spPr>
          <a:xfrm>
            <a:off x="7207469" y="3423745"/>
            <a:ext cx="4845268"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err="1"/>
              <a:t>OrderService</a:t>
            </a:r>
            <a:r>
              <a:rPr lang="en-US" b="1"/>
              <a:t> cannot be instantiated without a </a:t>
            </a:r>
            <a:r>
              <a:rPr lang="en-US" b="1" err="1"/>
              <a:t>PaymentService</a:t>
            </a:r>
            <a:r>
              <a:rPr lang="en-US" b="1"/>
              <a:t>. </a:t>
            </a:r>
          </a:p>
          <a:p>
            <a:endParaRPr lang="en-US" b="1"/>
          </a:p>
          <a:p>
            <a:r>
              <a:rPr lang="en-US" b="1"/>
              <a:t>This ensures that the </a:t>
            </a:r>
            <a:r>
              <a:rPr lang="en-US" b="1" err="1"/>
              <a:t>OrderService</a:t>
            </a:r>
            <a:r>
              <a:rPr lang="en-US" b="1"/>
              <a:t> always has a </a:t>
            </a:r>
            <a:r>
              <a:rPr lang="en-US" b="1" err="1"/>
              <a:t>PaymentService</a:t>
            </a:r>
            <a:r>
              <a:rPr lang="en-US" b="1"/>
              <a:t> available when it's created, leading to a more reliable and predictable application behavior</a:t>
            </a:r>
          </a:p>
        </p:txBody>
      </p:sp>
    </p:spTree>
    <p:extLst>
      <p:ext uri="{BB962C8B-B14F-4D97-AF65-F5344CB8AC3E}">
        <p14:creationId xmlns:p14="http://schemas.microsoft.com/office/powerpoint/2010/main" val="2340015267"/>
      </p:ext>
    </p:extLst>
  </p:cSld>
  <p:clrMapOvr>
    <a:masterClrMapping/>
  </p:clrMapOvr>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B0878-090D-4DC0-28A6-B9A5ED61D97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BF7826A-D403-0BC4-4CE3-C48BC82F6717}"/>
              </a:ext>
            </a:extLst>
          </p:cNvPr>
          <p:cNvSpPr>
            <a:spLocks noGrp="1"/>
          </p:cNvSpPr>
          <p:nvPr>
            <p:ph idx="1"/>
          </p:nvPr>
        </p:nvSpPr>
        <p:spPr/>
        <p:txBody>
          <a:bodyPr vert="horz" lIns="91440" tIns="45720" rIns="91440" bIns="45720" rtlCol="0" anchor="t">
            <a:normAutofit/>
          </a:bodyPr>
          <a:lstStyle/>
          <a:p>
            <a:r>
              <a:rPr lang="en-US" sz="2400" b="1">
                <a:ea typeface="+mn-lt"/>
                <a:cs typeface="+mn-lt"/>
              </a:rPr>
              <a:t>Constructor Injection</a:t>
            </a:r>
            <a:r>
              <a:rPr lang="en-US">
                <a:ea typeface="+mn-lt"/>
                <a:cs typeface="+mn-lt"/>
              </a:rPr>
              <a:t> </a:t>
            </a:r>
            <a:r>
              <a:rPr lang="en-US" sz="2400" b="1">
                <a:ea typeface="+mn-lt"/>
                <a:cs typeface="+mn-lt"/>
              </a:rPr>
              <a:t>Facilitates Easier Unit Testing</a:t>
            </a:r>
          </a:p>
          <a:p>
            <a:endParaRPr lang="en-US" sz="2400" b="1"/>
          </a:p>
        </p:txBody>
      </p:sp>
      <p:pic>
        <p:nvPicPr>
          <p:cNvPr id="4" name="Picture 3" descr="A computer code on a black background&#10;&#10;Description automatically generated">
            <a:extLst>
              <a:ext uri="{FF2B5EF4-FFF2-40B4-BE49-F238E27FC236}">
                <a16:creationId xmlns:a16="http://schemas.microsoft.com/office/drawing/2014/main" id="{E92ED366-00E4-64E2-830F-9B16323AD995}"/>
              </a:ext>
            </a:extLst>
          </p:cNvPr>
          <p:cNvPicPr>
            <a:picLocks noChangeAspect="1"/>
          </p:cNvPicPr>
          <p:nvPr/>
        </p:nvPicPr>
        <p:blipFill>
          <a:blip r:embed="rId2"/>
          <a:stretch>
            <a:fillRect/>
          </a:stretch>
        </p:blipFill>
        <p:spPr>
          <a:xfrm>
            <a:off x="255533" y="2391432"/>
            <a:ext cx="6925004" cy="3388929"/>
          </a:xfrm>
          <a:prstGeom prst="rect">
            <a:avLst/>
          </a:prstGeom>
        </p:spPr>
      </p:pic>
      <p:sp>
        <p:nvSpPr>
          <p:cNvPr id="5" name="TextBox 4">
            <a:extLst>
              <a:ext uri="{FF2B5EF4-FFF2-40B4-BE49-F238E27FC236}">
                <a16:creationId xmlns:a16="http://schemas.microsoft.com/office/drawing/2014/main" id="{96A88AAE-52B7-C9A8-2F7B-7E4AF27DA804}"/>
              </a:ext>
            </a:extLst>
          </p:cNvPr>
          <p:cNvSpPr txBox="1"/>
          <p:nvPr/>
        </p:nvSpPr>
        <p:spPr>
          <a:xfrm>
            <a:off x="7657381" y="2395268"/>
            <a:ext cx="442535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err="1"/>
              <a:t>OrderService</a:t>
            </a:r>
            <a:r>
              <a:rPr lang="en-US" b="1"/>
              <a:t> is tested in isolation by providing a mock </a:t>
            </a:r>
            <a:r>
              <a:rPr lang="en-US" b="1" err="1"/>
              <a:t>PaymentService</a:t>
            </a:r>
            <a:r>
              <a:rPr lang="en-US" b="1"/>
              <a:t>. </a:t>
            </a:r>
          </a:p>
          <a:p>
            <a:endParaRPr lang="en-US" b="1"/>
          </a:p>
          <a:p>
            <a:r>
              <a:rPr lang="en-US" b="1"/>
              <a:t>This way, you can test </a:t>
            </a:r>
            <a:r>
              <a:rPr lang="en-US" b="1" err="1"/>
              <a:t>OrderService</a:t>
            </a:r>
            <a:r>
              <a:rPr lang="en-US" b="1"/>
              <a:t> without worrying about the actual implementation of </a:t>
            </a:r>
            <a:r>
              <a:rPr lang="en-US" b="1" err="1"/>
              <a:t>PaymentService</a:t>
            </a:r>
            <a:r>
              <a:rPr lang="en-US" b="1"/>
              <a:t>.</a:t>
            </a:r>
          </a:p>
        </p:txBody>
      </p:sp>
    </p:spTree>
    <p:extLst>
      <p:ext uri="{BB962C8B-B14F-4D97-AF65-F5344CB8AC3E}">
        <p14:creationId xmlns:p14="http://schemas.microsoft.com/office/powerpoint/2010/main" val="271562807"/>
      </p:ext>
    </p:extLst>
  </p:cSld>
  <p:clrMapOvr>
    <a:masterClrMapping/>
  </p:clrMapOvr>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BC82B-26B9-07F2-8D98-B7A08BB953B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C8C06BC-CA44-D1B2-C009-AF750B6924E9}"/>
              </a:ext>
            </a:extLst>
          </p:cNvPr>
          <p:cNvSpPr>
            <a:spLocks noGrp="1"/>
          </p:cNvSpPr>
          <p:nvPr>
            <p:ph idx="1"/>
          </p:nvPr>
        </p:nvSpPr>
        <p:spPr>
          <a:xfrm>
            <a:off x="838200" y="1786211"/>
            <a:ext cx="10515600" cy="4351338"/>
          </a:xfrm>
        </p:spPr>
        <p:txBody>
          <a:bodyPr vert="horz" lIns="91440" tIns="45720" rIns="91440" bIns="45720" rtlCol="0" anchor="t">
            <a:normAutofit/>
          </a:bodyPr>
          <a:lstStyle/>
          <a:p>
            <a:pPr marL="0" indent="0">
              <a:buNone/>
            </a:pPr>
            <a:r>
              <a:rPr lang="en-US" sz="2400" b="1">
                <a:highlight>
                  <a:srgbClr val="FFFF00"/>
                </a:highlight>
                <a:ea typeface="+mn-lt"/>
                <a:cs typeface="+mn-lt"/>
              </a:rPr>
              <a:t>2. Avoid Circular Dependencies</a:t>
            </a:r>
            <a:endParaRPr lang="en-US" sz="2400" b="1">
              <a:highlight>
                <a:srgbClr val="FFFF00"/>
              </a:highlight>
            </a:endParaRPr>
          </a:p>
          <a:p>
            <a:r>
              <a:rPr lang="en-US" sz="2400" b="1">
                <a:ea typeface="+mn-lt"/>
                <a:cs typeface="+mn-lt"/>
              </a:rPr>
              <a:t>Why</a:t>
            </a:r>
            <a:r>
              <a:rPr lang="en-US" sz="2400">
                <a:ea typeface="+mn-lt"/>
                <a:cs typeface="+mn-lt"/>
              </a:rPr>
              <a:t>: Circular dependencies can lead to runtime errors and make the application difficult to manage. </a:t>
            </a:r>
          </a:p>
          <a:p>
            <a:r>
              <a:rPr lang="en-US" sz="2400">
                <a:ea typeface="+mn-lt"/>
                <a:cs typeface="+mn-lt"/>
              </a:rPr>
              <a:t>Spring may not be able to resolve such dependencies, leading to </a:t>
            </a:r>
            <a:r>
              <a:rPr lang="en-US" sz="2400" err="1">
                <a:latin typeface="Consolas"/>
              </a:rPr>
              <a:t>BeanCurrentlyInCreationException</a:t>
            </a:r>
            <a:r>
              <a:rPr lang="en-US" sz="2400">
                <a:ea typeface="+mn-lt"/>
                <a:cs typeface="+mn-lt"/>
              </a:rPr>
              <a:t>.</a:t>
            </a:r>
            <a:endParaRPr lang="en-US" sz="2400"/>
          </a:p>
          <a:p>
            <a:endParaRPr lang="en-US" sz="2400" b="1">
              <a:ea typeface="+mn-lt"/>
              <a:cs typeface="+mn-lt"/>
            </a:endParaRPr>
          </a:p>
          <a:p>
            <a:r>
              <a:rPr lang="en-US" sz="2400" b="1">
                <a:ea typeface="+mn-lt"/>
                <a:cs typeface="+mn-lt"/>
              </a:rPr>
              <a:t>Solution</a:t>
            </a:r>
            <a:r>
              <a:rPr lang="en-US" sz="2400">
                <a:ea typeface="+mn-lt"/>
                <a:cs typeface="+mn-lt"/>
              </a:rPr>
              <a:t>: Refactor the design to eliminate circular dependencies, possibly by introducing a third class to manage the interaction or by revisiting the design to remove the dependency.</a:t>
            </a:r>
            <a:endParaRPr lang="en-US" sz="2400"/>
          </a:p>
          <a:p>
            <a:endParaRPr lang="en-US" sz="2400"/>
          </a:p>
        </p:txBody>
      </p:sp>
    </p:spTree>
    <p:extLst>
      <p:ext uri="{BB962C8B-B14F-4D97-AF65-F5344CB8AC3E}">
        <p14:creationId xmlns:p14="http://schemas.microsoft.com/office/powerpoint/2010/main" val="4038614288"/>
      </p:ext>
    </p:extLst>
  </p:cSld>
  <p:clrMapOvr>
    <a:masterClrMapping/>
  </p:clrMapOvr>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7FDA5-5E8F-CBE6-3DFB-57E68E52A61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0469CA2-5261-31AC-EF27-8DDC69F88D98}"/>
              </a:ext>
            </a:extLst>
          </p:cNvPr>
          <p:cNvSpPr>
            <a:spLocks noGrp="1"/>
          </p:cNvSpPr>
          <p:nvPr>
            <p:ph idx="1"/>
          </p:nvPr>
        </p:nvSpPr>
        <p:spPr/>
        <p:txBody>
          <a:bodyPr vert="horz" lIns="91440" tIns="45720" rIns="91440" bIns="45720" rtlCol="0" anchor="t">
            <a:normAutofit/>
          </a:bodyPr>
          <a:lstStyle/>
          <a:p>
            <a:pPr marL="0" indent="0">
              <a:buNone/>
            </a:pPr>
            <a:r>
              <a:rPr lang="en-US" sz="2400" b="1">
                <a:highlight>
                  <a:srgbClr val="FFFF00"/>
                </a:highlight>
                <a:ea typeface="+mn-lt"/>
                <a:cs typeface="+mn-lt"/>
              </a:rPr>
              <a:t>3. Use </a:t>
            </a:r>
            <a:r>
              <a:rPr lang="en-US" sz="2400" b="1">
                <a:highlight>
                  <a:srgbClr val="FFFF00"/>
                </a:highlight>
                <a:latin typeface="Consolas"/>
              </a:rPr>
              <a:t>@Qualifier</a:t>
            </a:r>
            <a:r>
              <a:rPr lang="en-US" sz="2400" b="1">
                <a:highlight>
                  <a:srgbClr val="FFFF00"/>
                </a:highlight>
                <a:ea typeface="+mn-lt"/>
                <a:cs typeface="+mn-lt"/>
              </a:rPr>
              <a:t> for Disambiguating Beans</a:t>
            </a:r>
            <a:endParaRPr lang="en-US">
              <a:highlight>
                <a:srgbClr val="FFFF00"/>
              </a:highlight>
            </a:endParaRPr>
          </a:p>
          <a:p>
            <a:r>
              <a:rPr lang="en-US" sz="2400" b="1">
                <a:ea typeface="+mn-lt"/>
                <a:cs typeface="+mn-lt"/>
              </a:rPr>
              <a:t>Why</a:t>
            </a:r>
            <a:r>
              <a:rPr lang="en-US" sz="2400">
                <a:ea typeface="+mn-lt"/>
                <a:cs typeface="+mn-lt"/>
              </a:rPr>
              <a:t>: When multiple beans of the same type exist, Spring might not know which one to inject. Using </a:t>
            </a:r>
            <a:r>
              <a:rPr lang="en-US" sz="2400">
                <a:latin typeface="Consolas"/>
              </a:rPr>
              <a:t>@Qualifier</a:t>
            </a:r>
            <a:r>
              <a:rPr lang="en-US" sz="2400">
                <a:ea typeface="+mn-lt"/>
                <a:cs typeface="+mn-lt"/>
              </a:rPr>
              <a:t> can resolve this ambiguity.</a:t>
            </a:r>
          </a:p>
          <a:p>
            <a:pPr marL="0" indent="0">
              <a:buNone/>
            </a:pPr>
            <a:endParaRPr lang="en-US" sz="2400">
              <a:ea typeface="+mn-lt"/>
              <a:cs typeface="+mn-lt"/>
            </a:endParaRPr>
          </a:p>
          <a:p>
            <a:pPr marL="0" indent="0">
              <a:buNone/>
            </a:pPr>
            <a:r>
              <a:rPr lang="en-US" sz="2400">
                <a:ea typeface="+mn-lt"/>
                <a:cs typeface="+mn-lt"/>
              </a:rPr>
              <a:t>@Autowired </a:t>
            </a:r>
          </a:p>
          <a:p>
            <a:pPr marL="0" indent="0">
              <a:buNone/>
            </a:pPr>
            <a:r>
              <a:rPr lang="en-US" sz="2400">
                <a:ea typeface="+mn-lt"/>
                <a:cs typeface="+mn-lt"/>
              </a:rPr>
              <a:t>@Qualifier("creditCardPaymentService") private </a:t>
            </a:r>
            <a:r>
              <a:rPr lang="en-US" sz="2400" err="1">
                <a:ea typeface="+mn-lt"/>
                <a:cs typeface="+mn-lt"/>
              </a:rPr>
              <a:t>PaymentService</a:t>
            </a:r>
            <a:r>
              <a:rPr lang="en-US" sz="2400">
                <a:ea typeface="+mn-lt"/>
                <a:cs typeface="+mn-lt"/>
              </a:rPr>
              <a:t> </a:t>
            </a:r>
            <a:r>
              <a:rPr lang="en-US" sz="2400" err="1">
                <a:ea typeface="+mn-lt"/>
                <a:cs typeface="+mn-lt"/>
              </a:rPr>
              <a:t>paymentService</a:t>
            </a:r>
            <a:r>
              <a:rPr lang="en-US" sz="2400">
                <a:ea typeface="+mn-lt"/>
                <a:cs typeface="+mn-lt"/>
              </a:rPr>
              <a:t>;</a:t>
            </a:r>
            <a:endParaRPr lang="en-US" sz="2400"/>
          </a:p>
        </p:txBody>
      </p:sp>
    </p:spTree>
    <p:extLst>
      <p:ext uri="{BB962C8B-B14F-4D97-AF65-F5344CB8AC3E}">
        <p14:creationId xmlns:p14="http://schemas.microsoft.com/office/powerpoint/2010/main" val="776031056"/>
      </p:ext>
    </p:extLst>
  </p:cSld>
  <p:clrMapOvr>
    <a:masterClrMapping/>
  </p:clrMapOvr>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F68B1-0085-4B06-7DBA-520FCA9C674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07B7B5D-7CC3-B265-579E-2538BC5428D5}"/>
              </a:ext>
            </a:extLst>
          </p:cNvPr>
          <p:cNvSpPr>
            <a:spLocks noGrp="1"/>
          </p:cNvSpPr>
          <p:nvPr>
            <p:ph idx="1"/>
          </p:nvPr>
        </p:nvSpPr>
        <p:spPr>
          <a:xfrm>
            <a:off x="838200" y="1825625"/>
            <a:ext cx="10515600" cy="4338201"/>
          </a:xfrm>
        </p:spPr>
        <p:txBody>
          <a:bodyPr vert="horz" lIns="91440" tIns="45720" rIns="91440" bIns="45720" rtlCol="0" anchor="t">
            <a:normAutofit/>
          </a:bodyPr>
          <a:lstStyle/>
          <a:p>
            <a:pPr marL="0" indent="0">
              <a:buNone/>
            </a:pPr>
            <a:r>
              <a:rPr lang="en-US" sz="2400" b="1">
                <a:highlight>
                  <a:srgbClr val="FFFF00"/>
                </a:highlight>
                <a:ea typeface="+mn-lt"/>
                <a:cs typeface="+mn-lt"/>
              </a:rPr>
              <a:t>4. Use </a:t>
            </a:r>
            <a:r>
              <a:rPr lang="en-US" sz="2400" b="1">
                <a:highlight>
                  <a:srgbClr val="FFFF00"/>
                </a:highlight>
                <a:latin typeface="Consolas"/>
              </a:rPr>
              <a:t>@Primary</a:t>
            </a:r>
            <a:r>
              <a:rPr lang="en-US" sz="2400" b="1">
                <a:highlight>
                  <a:srgbClr val="FFFF00"/>
                </a:highlight>
                <a:ea typeface="+mn-lt"/>
                <a:cs typeface="+mn-lt"/>
              </a:rPr>
              <a:t> for Preferred Beans</a:t>
            </a:r>
            <a:endParaRPr lang="en-US" b="1"/>
          </a:p>
          <a:p>
            <a:r>
              <a:rPr lang="en-US" sz="2400" b="1">
                <a:ea typeface="+mn-lt"/>
                <a:cs typeface="+mn-lt"/>
              </a:rPr>
              <a:t>Why</a:t>
            </a:r>
            <a:r>
              <a:rPr lang="en-US" sz="2400">
                <a:ea typeface="+mn-lt"/>
                <a:cs typeface="+mn-lt"/>
              </a:rPr>
              <a:t>: When multiple beans of the same type are available, you can designate one as the primary bean using </a:t>
            </a:r>
            <a:r>
              <a:rPr lang="en-US" sz="2400">
                <a:latin typeface="Consolas"/>
              </a:rPr>
              <a:t>@Primary</a:t>
            </a:r>
            <a:r>
              <a:rPr lang="en-US" sz="2400">
                <a:ea typeface="+mn-lt"/>
                <a:cs typeface="+mn-lt"/>
              </a:rPr>
              <a:t>. Spring will prefer this bean over others.</a:t>
            </a:r>
          </a:p>
          <a:p>
            <a:endParaRPr lang="en-US" sz="2400"/>
          </a:p>
        </p:txBody>
      </p:sp>
      <p:sp>
        <p:nvSpPr>
          <p:cNvPr id="4" name="TextBox 3">
            <a:extLst>
              <a:ext uri="{FF2B5EF4-FFF2-40B4-BE49-F238E27FC236}">
                <a16:creationId xmlns:a16="http://schemas.microsoft.com/office/drawing/2014/main" id="{4DA3ECD2-F53F-3723-1FD4-E26D541F44EB}"/>
              </a:ext>
            </a:extLst>
          </p:cNvPr>
          <p:cNvSpPr txBox="1"/>
          <p:nvPr/>
        </p:nvSpPr>
        <p:spPr>
          <a:xfrm>
            <a:off x="2155747" y="3899606"/>
            <a:ext cx="521313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highlight>
                  <a:srgbClr val="FFFF00"/>
                </a:highlight>
              </a:rPr>
              <a:t>@Bean </a:t>
            </a:r>
          </a:p>
          <a:p>
            <a:r>
              <a:rPr lang="en-US" b="1" dirty="0">
                <a:solidFill>
                  <a:srgbClr val="FF0000"/>
                </a:solidFill>
                <a:highlight>
                  <a:srgbClr val="FFFF00"/>
                </a:highlight>
              </a:rPr>
              <a:t>@Primary </a:t>
            </a:r>
          </a:p>
          <a:p>
            <a:r>
              <a:rPr lang="en-US" b="1" dirty="0">
                <a:highlight>
                  <a:srgbClr val="FFFF00"/>
                </a:highlight>
              </a:rPr>
              <a:t>public </a:t>
            </a:r>
            <a:r>
              <a:rPr lang="en-US" b="1" dirty="0" err="1">
                <a:highlight>
                  <a:srgbClr val="FFFF00"/>
                </a:highlight>
              </a:rPr>
              <a:t>PaymentService</a:t>
            </a:r>
            <a:r>
              <a:rPr lang="en-US" b="1" dirty="0">
                <a:highlight>
                  <a:srgbClr val="FFFF00"/>
                </a:highlight>
              </a:rPr>
              <a:t> </a:t>
            </a:r>
            <a:r>
              <a:rPr lang="en-US" b="1" dirty="0" err="1">
                <a:highlight>
                  <a:srgbClr val="FFFF00"/>
                </a:highlight>
              </a:rPr>
              <a:t>creditCardPaymentService</a:t>
            </a:r>
            <a:r>
              <a:rPr lang="en-US" b="1" dirty="0">
                <a:highlight>
                  <a:srgbClr val="FFFF00"/>
                </a:highlight>
              </a:rPr>
              <a:t>() </a:t>
            </a:r>
          </a:p>
          <a:p>
            <a:r>
              <a:rPr lang="en-US" b="1" dirty="0">
                <a:highlight>
                  <a:srgbClr val="FFFF00"/>
                </a:highlight>
              </a:rPr>
              <a:t>{ </a:t>
            </a:r>
          </a:p>
          <a:p>
            <a:r>
              <a:rPr lang="en-US" b="1" dirty="0">
                <a:highlight>
                  <a:srgbClr val="FFFF00"/>
                </a:highlight>
              </a:rPr>
              <a:t>return new </a:t>
            </a:r>
            <a:r>
              <a:rPr lang="en-US" b="1" dirty="0" err="1">
                <a:highlight>
                  <a:srgbClr val="FFFF00"/>
                </a:highlight>
              </a:rPr>
              <a:t>CreditCardPaymentService</a:t>
            </a:r>
            <a:r>
              <a:rPr lang="en-US" b="1" dirty="0">
                <a:highlight>
                  <a:srgbClr val="FFFF00"/>
                </a:highlight>
              </a:rPr>
              <a:t>(); </a:t>
            </a:r>
          </a:p>
          <a:p>
            <a:r>
              <a:rPr lang="en-US" b="1" dirty="0">
                <a:highlight>
                  <a:srgbClr val="FFFF00"/>
                </a:highlight>
              </a:rPr>
              <a:t>}</a:t>
            </a:r>
          </a:p>
        </p:txBody>
      </p:sp>
    </p:spTree>
    <p:extLst>
      <p:ext uri="{BB962C8B-B14F-4D97-AF65-F5344CB8AC3E}">
        <p14:creationId xmlns:p14="http://schemas.microsoft.com/office/powerpoint/2010/main" val="2501655400"/>
      </p:ext>
    </p:extLst>
  </p:cSld>
  <p:clrMapOvr>
    <a:masterClrMapping/>
  </p:clrMapOvr>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A379D-5603-2513-2EA1-60DCE8D4997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D33E2D3-10C1-DBDA-B6AC-4AE6C6AFE45C}"/>
              </a:ext>
            </a:extLst>
          </p:cNvPr>
          <p:cNvSpPr>
            <a:spLocks noGrp="1"/>
          </p:cNvSpPr>
          <p:nvPr>
            <p:ph idx="1"/>
          </p:nvPr>
        </p:nvSpPr>
        <p:spPr/>
        <p:txBody>
          <a:bodyPr vert="horz" lIns="91440" tIns="45720" rIns="91440" bIns="45720" rtlCol="0" anchor="t">
            <a:normAutofit/>
          </a:bodyPr>
          <a:lstStyle/>
          <a:p>
            <a:pPr marL="0" indent="0">
              <a:buNone/>
            </a:pPr>
            <a:r>
              <a:rPr lang="en-US" sz="2400" b="1">
                <a:highlight>
                  <a:srgbClr val="FFFF00"/>
                </a:highlight>
              </a:rPr>
              <a:t>5. </a:t>
            </a:r>
            <a:r>
              <a:rPr lang="en-US" sz="2400" b="1">
                <a:highlight>
                  <a:srgbClr val="FFFF00"/>
                </a:highlight>
                <a:ea typeface="+mn-lt"/>
                <a:cs typeface="+mn-lt"/>
              </a:rPr>
              <a:t>Use Scoped Beans Appropriately</a:t>
            </a:r>
            <a:endParaRPr lang="en-US" sz="2400" b="1">
              <a:highlight>
                <a:srgbClr val="FFFF00"/>
              </a:highlight>
            </a:endParaRPr>
          </a:p>
          <a:p>
            <a:r>
              <a:rPr lang="en-US" sz="2400" b="1">
                <a:ea typeface="+mn-lt"/>
                <a:cs typeface="+mn-lt"/>
              </a:rPr>
              <a:t>Why</a:t>
            </a:r>
            <a:r>
              <a:rPr lang="en-US" sz="2400">
                <a:ea typeface="+mn-lt"/>
                <a:cs typeface="+mn-lt"/>
              </a:rPr>
              <a:t>: Understanding and using the correct bean scope (</a:t>
            </a:r>
            <a:r>
              <a:rPr lang="en-US" sz="2400">
                <a:latin typeface="Consolas"/>
              </a:rPr>
              <a:t>singleton</a:t>
            </a:r>
            <a:r>
              <a:rPr lang="en-US" sz="2400">
                <a:ea typeface="+mn-lt"/>
                <a:cs typeface="+mn-lt"/>
              </a:rPr>
              <a:t>, </a:t>
            </a:r>
            <a:r>
              <a:rPr lang="en-US" sz="2400">
                <a:latin typeface="Consolas"/>
              </a:rPr>
              <a:t>prototype</a:t>
            </a:r>
            <a:r>
              <a:rPr lang="en-US" sz="2400">
                <a:ea typeface="+mn-lt"/>
                <a:cs typeface="+mn-lt"/>
              </a:rPr>
              <a:t>, </a:t>
            </a:r>
            <a:r>
              <a:rPr lang="en-US" sz="2400">
                <a:latin typeface="Consolas"/>
              </a:rPr>
              <a:t>request</a:t>
            </a:r>
            <a:r>
              <a:rPr lang="en-US" sz="2400">
                <a:ea typeface="+mn-lt"/>
                <a:cs typeface="+mn-lt"/>
              </a:rPr>
              <a:t>, </a:t>
            </a:r>
            <a:r>
              <a:rPr lang="en-US" sz="2400">
                <a:latin typeface="Consolas"/>
              </a:rPr>
              <a:t>session</a:t>
            </a:r>
            <a:r>
              <a:rPr lang="en-US" sz="2400">
                <a:ea typeface="+mn-lt"/>
                <a:cs typeface="+mn-lt"/>
              </a:rPr>
              <a:t>, etc.) is crucial for managing the lifecycle of your beans correctly.</a:t>
            </a:r>
            <a:endParaRPr lang="en-US" sz="2400"/>
          </a:p>
        </p:txBody>
      </p:sp>
      <p:sp>
        <p:nvSpPr>
          <p:cNvPr id="4" name="TextBox 3">
            <a:extLst>
              <a:ext uri="{FF2B5EF4-FFF2-40B4-BE49-F238E27FC236}">
                <a16:creationId xmlns:a16="http://schemas.microsoft.com/office/drawing/2014/main" id="{AD7D854D-6445-A2A2-9D16-14CF0F1A4A4E}"/>
              </a:ext>
            </a:extLst>
          </p:cNvPr>
          <p:cNvSpPr txBox="1"/>
          <p:nvPr/>
        </p:nvSpPr>
        <p:spPr>
          <a:xfrm>
            <a:off x="1085193" y="3791607"/>
            <a:ext cx="5751786"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FF0000"/>
                </a:solidFill>
                <a:highlight>
                  <a:srgbClr val="FFFF00"/>
                </a:highlight>
              </a:rPr>
              <a:t>@Scope("prototype") </a:t>
            </a:r>
          </a:p>
          <a:p>
            <a:r>
              <a:rPr lang="en-US" sz="2400" b="1">
                <a:highlight>
                  <a:srgbClr val="FFFF00"/>
                </a:highlight>
              </a:rPr>
              <a:t>@Bean </a:t>
            </a:r>
          </a:p>
          <a:p>
            <a:r>
              <a:rPr lang="en-US" sz="2400" b="1">
                <a:highlight>
                  <a:srgbClr val="FFFF00"/>
                </a:highlight>
              </a:rPr>
              <a:t>public </a:t>
            </a:r>
            <a:r>
              <a:rPr lang="en-US" sz="2400" b="1" err="1">
                <a:highlight>
                  <a:srgbClr val="FFFF00"/>
                </a:highlight>
              </a:rPr>
              <a:t>MyPrototypeBean</a:t>
            </a:r>
            <a:r>
              <a:rPr lang="en-US" sz="2400" b="1">
                <a:highlight>
                  <a:srgbClr val="FFFF00"/>
                </a:highlight>
              </a:rPr>
              <a:t> </a:t>
            </a:r>
            <a:r>
              <a:rPr lang="en-US" sz="2400" b="1" err="1">
                <a:highlight>
                  <a:srgbClr val="FFFF00"/>
                </a:highlight>
              </a:rPr>
              <a:t>myPrototypeBean</a:t>
            </a:r>
            <a:r>
              <a:rPr lang="en-US" sz="2400" b="1">
                <a:highlight>
                  <a:srgbClr val="FFFF00"/>
                </a:highlight>
              </a:rPr>
              <a:t>() </a:t>
            </a:r>
          </a:p>
          <a:p>
            <a:r>
              <a:rPr lang="en-US" sz="2400" b="1">
                <a:highlight>
                  <a:srgbClr val="FFFF00"/>
                </a:highlight>
              </a:rPr>
              <a:t>{ </a:t>
            </a:r>
          </a:p>
          <a:p>
            <a:r>
              <a:rPr lang="en-US" sz="2400" b="1">
                <a:highlight>
                  <a:srgbClr val="FFFF00"/>
                </a:highlight>
              </a:rPr>
              <a:t>return new </a:t>
            </a:r>
            <a:r>
              <a:rPr lang="en-US" sz="2400" b="1" err="1">
                <a:highlight>
                  <a:srgbClr val="FFFF00"/>
                </a:highlight>
              </a:rPr>
              <a:t>MyPrototypeBean</a:t>
            </a:r>
            <a:r>
              <a:rPr lang="en-US" sz="2400" b="1">
                <a:highlight>
                  <a:srgbClr val="FFFF00"/>
                </a:highlight>
              </a:rPr>
              <a:t>(); </a:t>
            </a:r>
          </a:p>
          <a:p>
            <a:r>
              <a:rPr lang="en-US" sz="2400" b="1">
                <a:highlight>
                  <a:srgbClr val="FFFF00"/>
                </a:highlight>
              </a:rPr>
              <a:t>}</a:t>
            </a:r>
          </a:p>
        </p:txBody>
      </p:sp>
    </p:spTree>
    <p:extLst>
      <p:ext uri="{BB962C8B-B14F-4D97-AF65-F5344CB8AC3E}">
        <p14:creationId xmlns:p14="http://schemas.microsoft.com/office/powerpoint/2010/main" val="4159882717"/>
      </p:ext>
    </p:extLst>
  </p:cSld>
  <p:clrMapOvr>
    <a:masterClrMapping/>
  </p:clrMapOvr>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6CAB5-B42A-5D3A-58FE-B23E1283283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083EAF1-8681-8671-EAED-B562377E66FC}"/>
              </a:ext>
            </a:extLst>
          </p:cNvPr>
          <p:cNvSpPr>
            <a:spLocks noGrp="1"/>
          </p:cNvSpPr>
          <p:nvPr>
            <p:ph idx="1"/>
          </p:nvPr>
        </p:nvSpPr>
        <p:spPr/>
        <p:txBody>
          <a:bodyPr vert="horz" lIns="91440" tIns="45720" rIns="91440" bIns="45720" rtlCol="0" anchor="t">
            <a:normAutofit lnSpcReduction="10000"/>
          </a:bodyPr>
          <a:lstStyle/>
          <a:p>
            <a:pPr marL="0" indent="0">
              <a:buNone/>
            </a:pPr>
            <a:r>
              <a:rPr lang="en-US" sz="2400" b="1" dirty="0">
                <a:highlight>
                  <a:srgbClr val="FFFF00"/>
                </a:highlight>
                <a:ea typeface="+mn-lt"/>
                <a:cs typeface="+mn-lt"/>
              </a:rPr>
              <a:t>6. Use </a:t>
            </a:r>
            <a:r>
              <a:rPr lang="en-US" sz="2400" b="1" dirty="0">
                <a:highlight>
                  <a:srgbClr val="FFFF00"/>
                </a:highlight>
                <a:latin typeface="Consolas"/>
              </a:rPr>
              <a:t>@Lazy</a:t>
            </a:r>
            <a:r>
              <a:rPr lang="en-US" sz="2400" b="1" dirty="0">
                <a:highlight>
                  <a:srgbClr val="FFFF00"/>
                </a:highlight>
                <a:ea typeface="+mn-lt"/>
                <a:cs typeface="+mn-lt"/>
              </a:rPr>
              <a:t> for Deferred Initialization</a:t>
            </a:r>
            <a:endParaRPr lang="en-US" dirty="0">
              <a:highlight>
                <a:srgbClr val="FFFF00"/>
              </a:highlight>
            </a:endParaRPr>
          </a:p>
          <a:p>
            <a:r>
              <a:rPr lang="en-US" sz="2400" b="1" dirty="0">
                <a:ea typeface="+mn-lt"/>
                <a:cs typeface="+mn-lt"/>
              </a:rPr>
              <a:t>Why</a:t>
            </a:r>
            <a:r>
              <a:rPr lang="en-US" sz="2400" dirty="0">
                <a:ea typeface="+mn-lt"/>
                <a:cs typeface="+mn-lt"/>
              </a:rPr>
              <a:t>: By default, Spring initializes all singleton beans at startup. </a:t>
            </a:r>
          </a:p>
          <a:p>
            <a:r>
              <a:rPr lang="en-US" sz="2400" dirty="0">
                <a:ea typeface="+mn-lt"/>
                <a:cs typeface="+mn-lt"/>
              </a:rPr>
              <a:t>Using </a:t>
            </a:r>
            <a:r>
              <a:rPr lang="en-US" sz="2400" dirty="0">
                <a:latin typeface="Consolas"/>
                <a:ea typeface="+mn-lt"/>
                <a:cs typeface="+mn-lt"/>
              </a:rPr>
              <a:t>@Lazy</a:t>
            </a:r>
            <a:r>
              <a:rPr lang="en-US" sz="2400" dirty="0">
                <a:ea typeface="+mn-lt"/>
                <a:cs typeface="+mn-lt"/>
              </a:rPr>
              <a:t> defers bean creation until it is actually needed.</a:t>
            </a:r>
          </a:p>
          <a:p>
            <a:endParaRPr lang="en-US" sz="2400" dirty="0"/>
          </a:p>
          <a:p>
            <a:endParaRPr lang="en-US" sz="2400" dirty="0"/>
          </a:p>
          <a:p>
            <a:endParaRPr lang="en-US" sz="2400" dirty="0"/>
          </a:p>
          <a:p>
            <a:endParaRPr lang="en-US" sz="2400" dirty="0"/>
          </a:p>
          <a:p>
            <a:pPr marL="0" indent="0">
              <a:buNone/>
            </a:pPr>
            <a:r>
              <a:rPr lang="en-US" sz="2400" b="1" dirty="0">
                <a:ea typeface="+mn-lt"/>
                <a:cs typeface="+mn-lt"/>
              </a:rPr>
              <a:t>Advantages</a:t>
            </a:r>
            <a:r>
              <a:rPr lang="en-US" sz="2400" dirty="0">
                <a:ea typeface="+mn-lt"/>
                <a:cs typeface="+mn-lt"/>
              </a:rPr>
              <a:t>:</a:t>
            </a:r>
            <a:endParaRPr lang="en-US" sz="2400" dirty="0"/>
          </a:p>
          <a:p>
            <a:r>
              <a:rPr lang="en-US" sz="2400" dirty="0">
                <a:ea typeface="+mn-lt"/>
                <a:cs typeface="+mn-lt"/>
              </a:rPr>
              <a:t>Reduces startup time.</a:t>
            </a:r>
            <a:endParaRPr lang="en-US" dirty="0"/>
          </a:p>
          <a:p>
            <a:r>
              <a:rPr lang="en-US" sz="2400" dirty="0">
                <a:ea typeface="+mn-lt"/>
                <a:cs typeface="+mn-lt"/>
              </a:rPr>
              <a:t>Saves resources by creating beans only when necessary.</a:t>
            </a:r>
            <a:endParaRPr lang="en-US" dirty="0"/>
          </a:p>
          <a:p>
            <a:endParaRPr lang="en-US" sz="2400" dirty="0"/>
          </a:p>
        </p:txBody>
      </p:sp>
      <p:sp>
        <p:nvSpPr>
          <p:cNvPr id="4" name="TextBox 3">
            <a:extLst>
              <a:ext uri="{FF2B5EF4-FFF2-40B4-BE49-F238E27FC236}">
                <a16:creationId xmlns:a16="http://schemas.microsoft.com/office/drawing/2014/main" id="{50441BFF-D977-D0AC-A837-69C1DDF3E0FF}"/>
              </a:ext>
            </a:extLst>
          </p:cNvPr>
          <p:cNvSpPr txBox="1"/>
          <p:nvPr/>
        </p:nvSpPr>
        <p:spPr>
          <a:xfrm>
            <a:off x="1085193" y="3423745"/>
            <a:ext cx="615536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rgbClr val="FF0000"/>
                </a:solidFill>
                <a:highlight>
                  <a:srgbClr val="FFFF00"/>
                </a:highlight>
              </a:rPr>
              <a:t>@Lazy</a:t>
            </a:r>
            <a:r>
              <a:rPr lang="en-US" sz="2400" b="1" dirty="0">
                <a:highlight>
                  <a:srgbClr val="FFFF00"/>
                </a:highlight>
              </a:rPr>
              <a:t> </a:t>
            </a:r>
          </a:p>
          <a:p>
            <a:r>
              <a:rPr lang="en-US" sz="2400" b="1" dirty="0">
                <a:highlight>
                  <a:srgbClr val="FFFF00"/>
                </a:highlight>
              </a:rPr>
              <a:t>@</a:t>
            </a:r>
            <a:r>
              <a:rPr lang="en-US" sz="2400" b="1" dirty="0" err="1">
                <a:highlight>
                  <a:srgbClr val="FFFF00"/>
                </a:highlight>
              </a:rPr>
              <a:t>Autowired</a:t>
            </a:r>
            <a:r>
              <a:rPr lang="en-US" sz="2400" b="1" dirty="0">
                <a:highlight>
                  <a:srgbClr val="FFFF00"/>
                </a:highlight>
              </a:rPr>
              <a:t> </a:t>
            </a:r>
          </a:p>
          <a:p>
            <a:r>
              <a:rPr lang="en-US" sz="2400" b="1" dirty="0">
                <a:highlight>
                  <a:srgbClr val="FFFF00"/>
                </a:highlight>
              </a:rPr>
              <a:t>private </a:t>
            </a:r>
            <a:r>
              <a:rPr lang="en-US" sz="2400" b="1" dirty="0" err="1">
                <a:highlight>
                  <a:srgbClr val="FFFF00"/>
                </a:highlight>
              </a:rPr>
              <a:t>MyService</a:t>
            </a:r>
            <a:r>
              <a:rPr lang="en-US" sz="2400" b="1" dirty="0">
                <a:highlight>
                  <a:srgbClr val="FFFF00"/>
                </a:highlight>
              </a:rPr>
              <a:t> </a:t>
            </a:r>
            <a:r>
              <a:rPr lang="en-US" sz="2400" b="1" dirty="0" err="1">
                <a:highlight>
                  <a:srgbClr val="FFFF00"/>
                </a:highlight>
              </a:rPr>
              <a:t>myService</a:t>
            </a:r>
            <a:r>
              <a:rPr lang="en-US" sz="2400" b="1" dirty="0">
                <a:highlight>
                  <a:srgbClr val="FFFF00"/>
                </a:highlight>
              </a:rPr>
              <a:t>;</a:t>
            </a:r>
          </a:p>
        </p:txBody>
      </p:sp>
    </p:spTree>
    <p:extLst>
      <p:ext uri="{BB962C8B-B14F-4D97-AF65-F5344CB8AC3E}">
        <p14:creationId xmlns:p14="http://schemas.microsoft.com/office/powerpoint/2010/main" val="21168048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6804</Words>
  <Application>Microsoft Office PowerPoint</Application>
  <PresentationFormat>Widescreen</PresentationFormat>
  <Paragraphs>1215</Paragraphs>
  <Slides>236</Slides>
  <Notes>2</Notes>
  <HiddenSlides>67</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236</vt:i4>
      </vt:variant>
    </vt:vector>
  </HeadingPairs>
  <TitlesOfParts>
    <vt:vector size="254" baseType="lpstr">
      <vt:lpstr>-apple-system</vt:lpstr>
      <vt:lpstr>Aptos</vt:lpstr>
      <vt:lpstr>Arial</vt:lpstr>
      <vt:lpstr>Arial Unicode MS</vt:lpstr>
      <vt:lpstr>Bahnschrift</vt:lpstr>
      <vt:lpstr>Calibri</vt:lpstr>
      <vt:lpstr>Calibri Light</vt:lpstr>
      <vt:lpstr>Consolas</vt:lpstr>
      <vt:lpstr>Courier New</vt:lpstr>
      <vt:lpstr>Courier New,monospace</vt:lpstr>
      <vt:lpstr>inter-bold</vt:lpstr>
      <vt:lpstr>Nunito</vt:lpstr>
      <vt:lpstr>Segoe UI</vt:lpstr>
      <vt:lpstr>SFMono-Regular</vt:lpstr>
      <vt:lpstr>times new roman</vt:lpstr>
      <vt:lpstr>times new roman</vt:lpstr>
      <vt:lpstr>Verdana</vt:lpstr>
      <vt:lpstr>Office Theme</vt:lpstr>
      <vt:lpstr>PowerPoint Presentation</vt:lpstr>
      <vt:lpstr>PowerPoint Presentation</vt:lpstr>
      <vt:lpstr>PowerPoint Presentation</vt:lpstr>
      <vt:lpstr>PowerPoint Presentation</vt:lpstr>
      <vt:lpstr>🔄 Interactions of M V C</vt:lpstr>
      <vt:lpstr>Understanding MVC</vt:lpstr>
      <vt:lpstr>Understanding MVC</vt:lpstr>
      <vt:lpstr>Understanding MVP(Model-View-Presenter)</vt:lpstr>
      <vt:lpstr>PowerPoint Presentation</vt:lpstr>
      <vt:lpstr>PowerPoint Presentation</vt:lpstr>
      <vt:lpstr>Understanding MVVM (Model-View-ViewModel)</vt:lpstr>
      <vt:lpstr>PowerPoint Presentation</vt:lpstr>
      <vt:lpstr>3. Comparison with Traditional Monolithic Architecture</vt:lpstr>
      <vt:lpstr>PowerPoint Presentation</vt:lpstr>
      <vt:lpstr>PowerPoint Presentation</vt:lpstr>
      <vt:lpstr>PowerPoint Presentation</vt:lpstr>
      <vt:lpstr>PowerPoint Presentation</vt:lpstr>
      <vt:lpstr>Maven Installation</vt:lpstr>
      <vt:lpstr>IntelliJ IDEA Installation</vt:lpstr>
      <vt:lpstr>PowerPoint Presentation</vt:lpstr>
      <vt:lpstr>PowerPoint Presentation</vt:lpstr>
      <vt:lpstr>Maven Lifecycle</vt:lpstr>
      <vt:lpstr>Types of Maven Build Lifecycles</vt:lpstr>
      <vt:lpstr>PowerPoint Presentation</vt:lpstr>
      <vt:lpstr>PowerPoint Presentation</vt:lpstr>
      <vt:lpstr>PowerPoint Presentation</vt:lpstr>
      <vt:lpstr>Apache Tomcat</vt:lpstr>
      <vt:lpstr>2. Features and Capabilities</vt:lpstr>
      <vt:lpstr>PowerPoint Presentation</vt:lpstr>
      <vt:lpstr>Based on application development we have:</vt:lpstr>
      <vt:lpstr>PowerPoint Presentation</vt:lpstr>
      <vt:lpstr>Spring Framework</vt:lpstr>
      <vt:lpstr>Spring MVC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Hello World !!! In Spring Boot Using STS</vt:lpstr>
      <vt:lpstr>PowerPoint Presentation</vt:lpstr>
      <vt:lpstr>Lecture 01:Understanding MVC Concepts </vt:lpstr>
      <vt:lpstr>Why Model-View-(C or P or VM)?</vt:lpstr>
      <vt:lpstr>PowerPoint Presentation</vt:lpstr>
      <vt:lpstr>History and Evolution of MVC</vt:lpstr>
      <vt:lpstr>PowerPoint Presentation</vt:lpstr>
      <vt:lpstr>PowerPoint Presentation</vt:lpstr>
      <vt:lpstr>How It Works</vt:lpstr>
      <vt:lpstr>Comparison with Traditional Monolithic Architecture</vt:lpstr>
      <vt:lpstr>Advantages of MVC</vt:lpstr>
      <vt:lpstr>Disadvantages</vt:lpstr>
      <vt:lpstr>MVC –     Model View Controller MVP –      Model View Presenter MVVM –  Model View View-Model</vt:lpstr>
      <vt:lpstr>Model–View–Presenter</vt:lpstr>
      <vt:lpstr>PowerPoint Presentation</vt:lpstr>
      <vt:lpstr>MVP</vt:lpstr>
      <vt:lpstr>Model-View-ViewModel</vt:lpstr>
      <vt:lpstr>PowerPoint Presentation</vt:lpstr>
      <vt:lpstr>PowerPoint Presentation</vt:lpstr>
      <vt:lpstr>PowerPoint Presentation</vt:lpstr>
      <vt:lpstr>Why Do We Need Maven?</vt:lpstr>
      <vt:lpstr>Dependency Management</vt:lpstr>
      <vt:lpstr>Maven vs. Manual Management</vt:lpstr>
      <vt:lpstr>PowerPoint Presentation</vt:lpstr>
      <vt:lpstr>Get the required jar file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Maven Workflow</vt:lpstr>
      <vt:lpstr>PowerPoint Presentation</vt:lpstr>
      <vt:lpstr>Alternatives to Maven</vt:lpstr>
      <vt:lpstr>Objective Questions on Maven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Maven Project Structure (Standard Directory Layout)</vt:lpstr>
      <vt:lpstr>PowerPoint Presentation</vt:lpstr>
      <vt:lpstr>PowerPoint Presentation</vt:lpstr>
      <vt:lpstr>POM (Project Object Model) File Structure</vt:lpstr>
      <vt:lpstr>Elements of maven pom.xml file</vt:lpstr>
      <vt:lpstr>PowerPoint Presentation</vt:lpstr>
      <vt:lpstr>Maven pom.xml file with additional elements</vt:lpstr>
      <vt:lpstr>PowerPoint Presentation</vt:lpstr>
      <vt:lpstr>PowerPoint Presentation</vt:lpstr>
      <vt:lpstr>PowerPoint Presentation</vt:lpstr>
      <vt:lpstr>Importance of Web Applications</vt:lpstr>
      <vt:lpstr>Spring Framework</vt:lpstr>
      <vt:lpstr>Building Web Applications</vt:lpstr>
      <vt:lpstr>Servlets</vt:lpstr>
      <vt:lpstr>Apache Tomcat</vt:lpstr>
      <vt:lpstr>Relation Between Spring and Servlets</vt:lpstr>
      <vt:lpstr>Key Features</vt:lpstr>
      <vt:lpstr>History of Apache Tomcat</vt:lpstr>
      <vt:lpstr> Key primary terminologies and functionalities</vt:lpstr>
      <vt:lpstr>PowerPoint Presentation</vt:lpstr>
      <vt:lpstr>Spring Framework</vt:lpstr>
      <vt:lpstr>Why to use Spring?</vt:lpstr>
      <vt:lpstr>Dependency Injection</vt:lpstr>
      <vt:lpstr>AOP Support</vt:lpstr>
      <vt:lpstr>Bean in Spring</vt:lpstr>
      <vt:lpstr>Mark a class as a Bean in Spring</vt:lpstr>
      <vt:lpstr>Key Attributes of the &lt;bean&gt; Tag</vt:lpstr>
      <vt:lpstr>PowerPoint Presentation</vt:lpstr>
      <vt:lpstr>PowerPoint Presentation</vt:lpstr>
      <vt:lpstr>no (Manual Wiring) This is the default mode, where no autowiring takes place. You manually wire dependencies using the &lt;property&gt; element. </vt:lpstr>
      <vt:lpstr>PowerPoint Presentation</vt:lpstr>
      <vt:lpstr>2. byName In this mode, Spring attempts to autowire by matching the property name to a bean name in the context. </vt:lpstr>
      <vt:lpstr>PowerPoint Presentation</vt:lpstr>
      <vt:lpstr>3. byType Spring matches the type of the property with the type of the bean available in the container. If there is exactly one matching bean, it will be injected. If there are multiple matching beans, you will get an exception. </vt:lpstr>
      <vt:lpstr>PowerPoint Presentation</vt:lpstr>
      <vt:lpstr>4. constructor With this mode, Spring autowires dependencies via the constructor of the bean. It attempts to match the constructor arguments with the beans available in the Spring context by type.</vt:lpstr>
      <vt:lpstr>PowerPoint Presentation</vt:lpstr>
      <vt:lpstr>PowerPoint Presentation</vt:lpstr>
      <vt:lpstr>PowerPoint Presentation</vt:lpstr>
      <vt:lpstr>PowerPoint Presentation</vt:lpstr>
      <vt:lpstr>Mark a class as a Bean in Spring</vt:lpstr>
      <vt:lpstr>Mark a class as a Bean in Spring</vt:lpstr>
      <vt:lpstr>Mark a class as a Bean in Spring</vt:lpstr>
      <vt:lpstr>PowerPoint Presentation</vt:lpstr>
      <vt:lpstr>Spring Container</vt:lpstr>
      <vt:lpstr>Types Of Spring Containers</vt:lpstr>
      <vt:lpstr>Bean Factory</vt:lpstr>
      <vt:lpstr>ApplicationContext</vt:lpstr>
      <vt:lpstr>Create a Spring Container</vt:lpstr>
      <vt:lpstr>Get Bean from Spring Container</vt:lpstr>
      <vt:lpstr>Spring Bean</vt:lpstr>
      <vt:lpstr>PowerPoint Presentation</vt:lpstr>
      <vt:lpstr>Spring container requires:</vt:lpstr>
      <vt:lpstr>XML-based Configuration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Annotation-based Configuration</vt:lpstr>
      <vt:lpstr>Annotation-based Configuration</vt:lpstr>
      <vt:lpstr>PowerPoint Presentation</vt:lpstr>
      <vt:lpstr>PowerPoint Presentation</vt:lpstr>
      <vt:lpstr>PowerPoint Presentation</vt:lpstr>
      <vt:lpstr>PowerPoint Presentation</vt:lpstr>
      <vt:lpstr>Java-based Configuration</vt:lpstr>
      <vt:lpstr>Java-based Configuration</vt:lpstr>
      <vt:lpstr>PowerPoint Presentation</vt:lpstr>
      <vt:lpstr>PowerPoint Presentation</vt:lpstr>
      <vt:lpstr>PowerPoint Presentation</vt:lpstr>
      <vt:lpstr>PowerPoint Presentation</vt:lpstr>
      <vt:lpstr>PowerPoint Presentation</vt:lpstr>
      <vt:lpstr>PowerPoint Presentation</vt:lpstr>
      <vt:lpstr>Dependency Injection in Spring</vt:lpstr>
      <vt:lpstr>Dependency</vt:lpstr>
      <vt:lpstr>Introduction to Inversion of Control (IoC)</vt:lpstr>
      <vt:lpstr>Dependency Injection (DI) in Spring</vt:lpstr>
      <vt:lpstr>Dependency Injection (DI) in Spring</vt:lpstr>
      <vt:lpstr>PowerPoint Presentation</vt:lpstr>
      <vt:lpstr>PowerPoint Presentation</vt:lpstr>
      <vt:lpstr>PowerPoint Presentation</vt:lpstr>
      <vt:lpstr>PowerPoint Presentation</vt:lpstr>
      <vt:lpstr>Dependency Injection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Let we have two implementation of HDD interface.....???</vt:lpstr>
      <vt:lpstr>To Resolve it........</vt:lpstr>
      <vt:lpstr>1. Use @Qualifier Annotation</vt:lpstr>
      <vt:lpstr>2. Set a Primary Bean Using @Primary</vt:lpstr>
      <vt:lpstr>2. Set a Primary Bean Using @Primary</vt:lpstr>
      <vt:lpstr>3. Use Constructor Injection with Explicit Beans</vt:lpstr>
      <vt:lpstr>PowerPoint Presentation</vt:lpstr>
      <vt:lpstr>Types of dependency injection in spring boot</vt:lpstr>
      <vt:lpstr>Injection using Annotations and Autowiring</vt:lpstr>
      <vt:lpstr>Autowiring</vt:lpstr>
      <vt:lpstr>Field Injection using Annotation</vt:lpstr>
      <vt:lpstr>Constructor Injection using Annotation</vt:lpstr>
      <vt:lpstr>Setter Injection using Annotation</vt:lpstr>
      <vt:lpstr>Dependency Injection with XML configuration</vt:lpstr>
      <vt:lpstr>Constructor Injection using XML</vt:lpstr>
      <vt:lpstr>PowerPoint Presentation</vt:lpstr>
      <vt:lpstr>PowerPoint Presentation</vt:lpstr>
      <vt:lpstr>PowerPoint Presentation</vt:lpstr>
      <vt:lpstr>PowerPoint Presentation</vt:lpstr>
      <vt:lpstr>Setters Injection using XML</vt:lpstr>
      <vt:lpstr>PowerPoint Presentation</vt:lpstr>
      <vt:lpstr>PowerPoint Presentation</vt:lpstr>
      <vt:lpstr>PowerPoint Presentation</vt:lpstr>
      <vt:lpstr>DI Best Practices and Managing Dependencies in Spring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Atul Uttam</dc:creator>
  <cp:lastModifiedBy>Atul Uttam</cp:lastModifiedBy>
  <cp:revision>7</cp:revision>
  <dcterms:created xsi:type="dcterms:W3CDTF">2026-09-08T14:14:21Z</dcterms:created>
  <dcterms:modified xsi:type="dcterms:W3CDTF">2026-09-08T14:22:00Z</dcterms:modified>
</cp:coreProperties>
</file>